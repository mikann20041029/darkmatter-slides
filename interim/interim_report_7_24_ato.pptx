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71" r:id="rId5"/>
    <p:sldId id="268" r:id="rId6"/>
    <p:sldId id="260" r:id="rId7"/>
    <p:sldId id="267" r:id="rId8"/>
    <p:sldId id="270" r:id="rId9"/>
    <p:sldId id="259" r:id="rId10"/>
    <p:sldId id="262" r:id="rId11"/>
    <p:sldId id="263" r:id="rId12"/>
    <p:sldId id="269"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7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923" autoAdjust="0"/>
    <p:restoredTop sz="75909" autoAdjust="0"/>
  </p:normalViewPr>
  <p:slideViewPr>
    <p:cSldViewPr snapToGrid="0" snapToObjects="1">
      <p:cViewPr>
        <p:scale>
          <a:sx n="80" d="100"/>
          <a:sy n="80" d="100"/>
        </p:scale>
        <p:origin x="48" y="48"/>
      </p:cViewPr>
      <p:guideLst>
        <p:guide orient="horz" pos="2160"/>
        <p:guide pos="3768"/>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7506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ctr">
              <a:defRPr sz="4000" b="1">
                <a:solidFill>
                  <a:srgbClr val="FFFFFF"/>
                </a:solidFill>
              </a:defRPr>
            </a:pPr>
            <a:r>
              <a:rPr lang="ja-JP" altLang="en-US" sz="1200"/>
              <a:t>銀河中心におけるガンマ線過剰：</a:t>
            </a:r>
          </a:p>
          <a:p>
            <a:pPr algn="ctr">
              <a:defRPr sz="4000" b="1">
                <a:solidFill>
                  <a:srgbClr val="FFFFFF"/>
                </a:solidFill>
              </a:defRPr>
            </a:pPr>
            <a:r>
              <a:rPr lang="ja-JP" altLang="en-US" sz="1200"/>
              <a:t>ダークマター起源説の統計的検証ということで、で発表を始めます。なかむらせいいちです。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これが目次になります。このような進め方で進みたいと考えています（ここまで</a:t>
            </a:r>
            <a:r>
              <a:rPr lang="en-US" altLang="ja-JP"/>
              <a:t>30</a:t>
            </a:r>
            <a:r>
              <a:rPr lang="ja-JP" altLang="en-US"/>
              <a:t>秒）</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altLang="ja-JP"/>
          </a:p>
          <a:p>
            <a:r>
              <a:rPr lang="ja-JP" altLang="en-US"/>
              <a:t>まず、導入として銀河中心観測の目的というものについてお話したいと思います。</a:t>
            </a:r>
          </a:p>
          <a:p>
            <a:r>
              <a:rPr lang="ja-JP" altLang="en-US"/>
              <a:t>目的としては多くあるのですが、</a:t>
            </a:r>
          </a:p>
          <a:p>
            <a:r>
              <a:rPr lang="ja-JP" altLang="en-US"/>
              <a:t>そのひとつとして「銀河中心方向のガンマ線過剰の正体を突き止めること」があげられます。</a:t>
            </a:r>
            <a:endParaRPr lang="en-US" altLang="ja-JP"/>
          </a:p>
          <a:p>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rPr>
              <a:t>銀河中心方向</a:t>
            </a:r>
            <a:r>
              <a:rPr lang="ja-JP" altLang="en-US" sz="1200">
                <a:solidFill>
                  <a:schemeClr val="bg1"/>
                </a:solidFill>
              </a:rPr>
              <a:t>の</a:t>
            </a:r>
            <a:r>
              <a:rPr lang="ja-JP" altLang="en-US"/>
              <a:t>観測結果の光子データから原因の分かっている成分を差し引くと、</a:t>
            </a:r>
            <a:r>
              <a:rPr lang="en-US" sz="1200" b="1" i="0" kern="1200">
                <a:solidFill>
                  <a:schemeClr val="tx1"/>
                </a:solidFill>
                <a:effectLst/>
                <a:latin typeface="+mn-lt"/>
                <a:ea typeface="+mn-ea"/>
                <a:cs typeface="+mn-cs"/>
              </a:rPr>
              <a:t>引ききれずに残る成分</a:t>
            </a:r>
            <a:r>
              <a:rPr lang="en-US" sz="1200" b="0" i="0" kern="1200">
                <a:solidFill>
                  <a:schemeClr val="tx1"/>
                </a:solidFill>
                <a:effectLst/>
                <a:latin typeface="+mn-lt"/>
                <a:ea typeface="+mn-ea"/>
                <a:cs typeface="+mn-cs"/>
              </a:rPr>
              <a:t>が出ます。</a:t>
            </a:r>
            <a:r>
              <a:rPr lang="ja-JP" altLang="en-US"/>
              <a:t>これを過剰と呼んでいます。</a:t>
            </a:r>
          </a:p>
          <a:p>
            <a:endParaRPr lang="en-US" altLang="ja-JP"/>
          </a:p>
          <a:p>
            <a:r>
              <a:rPr lang="ja-JP" altLang="en-US"/>
              <a:t>この目的を果たすために使用する観測機は多くありますが、</a:t>
            </a:r>
          </a:p>
          <a:p>
            <a:r>
              <a:rPr lang="ja-JP" altLang="en-US"/>
              <a:t>今回は</a:t>
            </a:r>
            <a:r>
              <a:rPr lang="en-US" altLang="ja-JP"/>
              <a:t>FermiLAT</a:t>
            </a:r>
            <a:r>
              <a:rPr lang="ja-JP" altLang="en-US"/>
              <a:t>による観測結果を使用しました。</a:t>
            </a:r>
          </a:p>
          <a:p>
            <a:endParaRPr lang="ja-JP" altLang="en-US"/>
          </a:p>
          <a:p>
            <a:endParaRPr lang="en-US"/>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FEEF6-61C7-FD2A-6D43-1B0274FCF3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22DB3-7949-21F1-5AEA-652F477D0EE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73A7329-6537-CA4D-9760-CB25324CCA14}"/>
              </a:ext>
            </a:extLst>
          </p:cNvPr>
          <p:cNvSpPr>
            <a:spLocks noGrp="1"/>
          </p:cNvSpPr>
          <p:nvPr>
            <p:ph type="body" sz="quarter" idx="3"/>
          </p:nvPr>
        </p:nvSpPr>
        <p:spPr/>
        <p:txBody>
          <a:bodyPr/>
          <a:lstStyle/>
          <a:p>
            <a:r>
              <a:rPr lang="ja-JP" altLang="en-US" sz="1200" b="0" i="0" kern="1200">
                <a:solidFill>
                  <a:schemeClr val="tx1"/>
                </a:solidFill>
                <a:effectLst/>
                <a:latin typeface="+mn-lt"/>
                <a:ea typeface="+mn-ea"/>
                <a:cs typeface="+mn-cs"/>
              </a:rPr>
              <a:t>そして、</a:t>
            </a:r>
            <a:r>
              <a:rPr lang="en-US" sz="1200" b="0" i="0" kern="1200">
                <a:solidFill>
                  <a:schemeClr val="tx1"/>
                </a:solidFill>
                <a:effectLst/>
                <a:latin typeface="+mn-lt"/>
                <a:ea typeface="+mn-ea"/>
                <a:cs typeface="+mn-cs"/>
              </a:rPr>
              <a:t>その過剰を説明する有力候補</a:t>
            </a:r>
            <a:r>
              <a:rPr lang="ja-JP" altLang="en-US" sz="1200" b="0" i="0" kern="1200">
                <a:solidFill>
                  <a:schemeClr val="tx1"/>
                </a:solidFill>
                <a:effectLst/>
                <a:latin typeface="+mn-lt"/>
                <a:ea typeface="+mn-ea"/>
                <a:cs typeface="+mn-cs"/>
              </a:rPr>
              <a:t>の一つが</a:t>
            </a:r>
            <a:r>
              <a:rPr lang="en-US" sz="1200" b="0" i="0" kern="1200">
                <a:solidFill>
                  <a:schemeClr val="tx1"/>
                </a:solidFill>
                <a:effectLst/>
                <a:latin typeface="+mn-lt"/>
                <a:ea typeface="+mn-ea"/>
                <a:cs typeface="+mn-cs"/>
              </a:rPr>
              <a:t>ダークマター対消滅</a:t>
            </a:r>
            <a:r>
              <a:rPr lang="ja-JP" altLang="en-US" sz="1200" b="0" i="0" kern="1200">
                <a:solidFill>
                  <a:schemeClr val="tx1"/>
                </a:solidFill>
                <a:effectLst/>
                <a:latin typeface="+mn-lt"/>
                <a:ea typeface="+mn-ea"/>
                <a:cs typeface="+mn-cs"/>
              </a:rPr>
              <a:t>です。</a:t>
            </a:r>
            <a:endParaRPr lang="en-US" altLang="ja-JP"/>
          </a:p>
          <a:p>
            <a:endParaRPr lang="en-US" altLang="ja-JP"/>
          </a:p>
          <a:p>
            <a:endParaRPr lang="ja-JP" altLang="en-US"/>
          </a:p>
          <a:p>
            <a:r>
              <a:rPr lang="ja-JP" altLang="en-US"/>
              <a:t>まず、左図の</a:t>
            </a:r>
            <a:r>
              <a:rPr lang="en-US" altLang="ja-JP"/>
              <a:t>NFW</a:t>
            </a:r>
            <a:r>
              <a:rPr lang="ja-JP" altLang="en-US"/>
              <a:t>プロファイルについて説明します。</a:t>
            </a:r>
          </a:p>
          <a:p>
            <a:r>
              <a:rPr lang="ja-JP" altLang="en-US"/>
              <a:t>これはダークマターが銀河内でどう分布しているかを示す、スーパーコンピュータを使ったダークマターの形成シミュレーション結果から導き出した経験則です。</a:t>
            </a:r>
          </a:p>
          <a:p>
            <a:r>
              <a:rPr lang="ja-JP" altLang="en-US"/>
              <a:t>このモデルを見るとわかるように、銀河の中心に近づくにつれて、ダークマターの密度は急激に跳ね上がります。</a:t>
            </a:r>
          </a:p>
          <a:p>
            <a:r>
              <a:rPr lang="ja-JP" altLang="en-US"/>
              <a:t>では。</a:t>
            </a:r>
            <a:r>
              <a:rPr lang="en-US" altLang="ja-JP"/>
              <a:t>DM</a:t>
            </a:r>
            <a:r>
              <a:rPr lang="ja-JP" altLang="en-US"/>
              <a:t>密度とガンマ線にどのような関係があるのか詳しく解説します。</a:t>
            </a:r>
          </a:p>
          <a:p>
            <a:r>
              <a:rPr lang="ja-JP" altLang="en-US"/>
              <a:t>（ここが</a:t>
            </a:r>
            <a:r>
              <a:rPr lang="en-US" altLang="ja-JP"/>
              <a:t>1</a:t>
            </a:r>
            <a:r>
              <a:rPr lang="ja-JP" altLang="en-US"/>
              <a:t>分</a:t>
            </a:r>
            <a:r>
              <a:rPr lang="en-US" altLang="ja-JP"/>
              <a:t>30</a:t>
            </a:r>
            <a:r>
              <a:rPr lang="ja-JP" altLang="en-US"/>
              <a:t>　でここまで</a:t>
            </a:r>
            <a:r>
              <a:rPr lang="en-US" altLang="ja-JP"/>
              <a:t>2</a:t>
            </a:r>
            <a:r>
              <a:rPr lang="ja-JP" altLang="en-US"/>
              <a:t>分）</a:t>
            </a:r>
            <a:endParaRPr lang="en-US" altLang="ja-JP"/>
          </a:p>
          <a:p>
            <a:endParaRPr lang="en-US"/>
          </a:p>
          <a:p>
            <a:endParaRPr/>
          </a:p>
        </p:txBody>
      </p:sp>
      <p:sp>
        <p:nvSpPr>
          <p:cNvPr id="4" name="Slide Number Placeholder 3">
            <a:extLst>
              <a:ext uri="{FF2B5EF4-FFF2-40B4-BE49-F238E27FC236}">
                <a16:creationId xmlns:a16="http://schemas.microsoft.com/office/drawing/2014/main" id="{774B00D1-E2ED-0377-2E46-9BFEF7F5DA30}"/>
              </a:ext>
            </a:extLst>
          </p:cNvPr>
          <p:cNvSpPr>
            <a:spLocks noGrp="1"/>
          </p:cNvSpPr>
          <p:nvPr>
            <p:ph type="sldNum" sz="quarter" idx="5"/>
          </p:nvPr>
        </p:nvSpPr>
        <p:spPr/>
      </p:sp>
    </p:spTree>
    <p:extLst>
      <p:ext uri="{BB962C8B-B14F-4D97-AF65-F5344CB8AC3E}">
        <p14:creationId xmlns:p14="http://schemas.microsoft.com/office/powerpoint/2010/main" val="2307810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8D1D0-6A87-B760-5ECA-50BE74DFC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04733-CF22-12AA-074F-803CAD1E96B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9671730-E97F-C244-5256-301656AF9A32}"/>
              </a:ext>
            </a:extLst>
          </p:cNvPr>
          <p:cNvSpPr>
            <a:spLocks noGrp="1"/>
          </p:cNvSpPr>
          <p:nvPr>
            <p:ph type="body" sz="quarter" idx="3"/>
          </p:nvPr>
        </p:nvSpPr>
        <p:spPr/>
        <p:txBody>
          <a:bodyPr/>
          <a:lstStyle/>
          <a:p>
            <a:r>
              <a:rPr lang="ja-JP" altLang="en-US"/>
              <a:t>ガンマ線過剰 と ダークマター</a:t>
            </a:r>
          </a:p>
          <a:p>
            <a:r>
              <a:rPr lang="ja-JP" altLang="en-US"/>
              <a:t>がどのように繋がるか は</a:t>
            </a:r>
          </a:p>
          <a:p>
            <a:r>
              <a:rPr lang="ja-JP" altLang="en-US"/>
              <a:t>ダークマターの理論的性質を通して説明できます。</a:t>
            </a:r>
          </a:p>
          <a:p>
            <a:endParaRPr lang="ja-JP" altLang="en-US"/>
          </a:p>
          <a:p>
            <a:r>
              <a:rPr lang="ja-JP" altLang="en-US"/>
              <a:t>ダークマターには候補の素粒子がいくつかあり今回注目しているのは</a:t>
            </a:r>
            <a:r>
              <a:rPr lang="en-US" altLang="ja-JP"/>
              <a:t>WIMP</a:t>
            </a:r>
            <a:r>
              <a:rPr lang="ja-JP" altLang="en-US"/>
              <a:t>です。</a:t>
            </a:r>
            <a:endParaRPr lang="en-US" altLang="ja-JP"/>
          </a:p>
          <a:p>
            <a:endParaRPr lang="ja-JP" altLang="en-US"/>
          </a:p>
          <a:p>
            <a:r>
              <a:rPr lang="ja-JP" altLang="en-US"/>
              <a:t>この</a:t>
            </a:r>
            <a:r>
              <a:rPr lang="en-US" altLang="ja-JP"/>
              <a:t>WIMP</a:t>
            </a:r>
            <a:r>
              <a:rPr lang="ja-JP" altLang="en-US"/>
              <a:t>は「対消滅」という性質を持ちます。ふたつの</a:t>
            </a:r>
            <a:r>
              <a:rPr lang="en-US" altLang="ja-JP"/>
              <a:t>WIMP</a:t>
            </a:r>
            <a:r>
              <a:rPr lang="ja-JP" altLang="en-US"/>
              <a:t>が対消滅するとクォーク対を経て、ハドロン化</a:t>
            </a:r>
            <a:r>
              <a:rPr lang="en-US" altLang="ja-JP"/>
              <a:t>(</a:t>
            </a:r>
            <a:r>
              <a:rPr lang="ja-JP" altLang="en-US"/>
              <a:t>下に説明あり</a:t>
            </a:r>
            <a:r>
              <a:rPr lang="en-US" altLang="ja-JP"/>
              <a:t>)</a:t>
            </a:r>
            <a:r>
              <a:rPr lang="ja-JP" altLang="en-US"/>
              <a:t>、中性パイオンが</a:t>
            </a:r>
            <a:r>
              <a:rPr lang="en-US" altLang="ja-JP"/>
              <a:t>2</a:t>
            </a:r>
            <a:r>
              <a:rPr lang="ja-JP" altLang="en-US"/>
              <a:t>本のガンマ線に崩壊する というのがガンマ線の標準的な生成過程です。</a:t>
            </a:r>
            <a:r>
              <a:rPr lang="en-US" altLang="ja-JP"/>
              <a:t>WIMP</a:t>
            </a:r>
            <a:r>
              <a:rPr lang="ja-JP" altLang="en-US"/>
              <a:t>にはパラメーターがありこのパラメーターに、生成されるガンマ線のエネルギー帯が変わります。</a:t>
            </a:r>
          </a:p>
          <a:p>
            <a:r>
              <a:rPr lang="ja-JP" altLang="en-US"/>
              <a:t>加えて、対消滅は密度の</a:t>
            </a:r>
            <a:r>
              <a:rPr lang="en-US" altLang="ja-JP"/>
              <a:t>2</a:t>
            </a:r>
            <a:r>
              <a:rPr lang="ja-JP" altLang="en-US"/>
              <a:t>乗に比例し起きやすくなるとされているので、高密度な天の川銀河中心から</a:t>
            </a:r>
          </a:p>
          <a:p>
            <a:r>
              <a:rPr lang="ja-JP" altLang="en-US"/>
              <a:t>ダークマター由来のガンマ線信号が捉えられることが期待されています。（ここが</a:t>
            </a:r>
            <a:r>
              <a:rPr lang="en-US" altLang="ja-JP"/>
              <a:t>40</a:t>
            </a:r>
            <a:r>
              <a:rPr lang="ja-JP" altLang="en-US"/>
              <a:t>秒　ここまで</a:t>
            </a:r>
            <a:r>
              <a:rPr lang="en-US" altLang="ja-JP"/>
              <a:t>2</a:t>
            </a:r>
            <a:r>
              <a:rPr lang="ja-JP" altLang="en-US"/>
              <a:t>分</a:t>
            </a:r>
            <a:r>
              <a:rPr lang="en-US" altLang="ja-JP"/>
              <a:t>40</a:t>
            </a:r>
            <a:r>
              <a:rPr lang="ja-JP" altLang="en-US"/>
              <a:t>）</a:t>
            </a:r>
          </a:p>
          <a:p>
            <a:endParaRPr lang="ja-JP" altLang="en-US"/>
          </a:p>
          <a:p>
            <a:r>
              <a:rPr lang="ja-JP" altLang="en-US"/>
              <a:t>┈┈┈┈┈┈┈┈┈┈┈┈┈┈┈┈┈┈┈┈</a:t>
            </a:r>
          </a:p>
          <a:p>
            <a:endParaRPr lang="ja-JP" altLang="en-US"/>
          </a:p>
          <a:p>
            <a:r>
              <a:rPr lang="ja-JP" altLang="en-US"/>
              <a:t>クォークはぼっちになれない（色閉じ込め）</a:t>
            </a:r>
          </a:p>
          <a:p>
            <a:r>
              <a:rPr lang="ja-JP" altLang="en-US"/>
              <a:t>素粒子の標準模型において、クォークは「強い力」で結びついており、宇宙空間に単独でポツンと存在することができません。必ずいくつかセットになって「ハドロン（陽子や中性子、パイ中間子などの総称）」という状態になるルールがあります。</a:t>
            </a:r>
          </a:p>
          <a:p>
            <a:r>
              <a:rPr lang="en-US" altLang="ja-JP"/>
              <a:t>2. </a:t>
            </a:r>
            <a:r>
              <a:rPr lang="ja-JP" altLang="en-US"/>
              <a:t>ゴムひもが引きちぎれる（ハドロン化の瞬間）</a:t>
            </a:r>
          </a:p>
          <a:p>
            <a:r>
              <a:rPr lang="en-US" altLang="ja-JP"/>
              <a:t>WIMP</a:t>
            </a:r>
            <a:r>
              <a:rPr lang="ja-JP" altLang="en-US"/>
              <a:t>が対消滅して、クォークと反クォークのペアが生まれて反対方向に飛んでいこうとします。すると、</a:t>
            </a:r>
            <a:r>
              <a:rPr lang="en-US" altLang="ja-JP"/>
              <a:t>2</a:t>
            </a:r>
            <a:r>
              <a:rPr lang="ja-JP" altLang="en-US"/>
              <a:t>つの間を繋ぐ「強い力」がゴムひものようにビヨーンと伸びていきます。</a:t>
            </a:r>
          </a:p>
          <a:p>
            <a:r>
              <a:rPr lang="en-US" altLang="ja-JP"/>
              <a:t>3. </a:t>
            </a:r>
            <a:r>
              <a:rPr lang="ja-JP" altLang="en-US"/>
              <a:t>エネルギーが物質に変わる</a:t>
            </a:r>
          </a:p>
          <a:p>
            <a:r>
              <a:rPr lang="ja-JP" altLang="en-US"/>
              <a:t>ゴムひもが限界まで伸びると、その莫大なエネルギー（</a:t>
            </a:r>
            <a:r>
              <a:rPr lang="en-US" altLang="ja-JP"/>
              <a:t>E=mc^2</a:t>
            </a:r>
            <a:r>
              <a:rPr lang="ja-JP" altLang="en-US"/>
              <a:t>）が真空から「新しいクォークと反クォークのペア」を無数に生み出します（ゴムひもがちぎれるイメージです）。</a:t>
            </a:r>
          </a:p>
          <a:p>
            <a:r>
              <a:rPr lang="en-US" altLang="ja-JP"/>
              <a:t>4. </a:t>
            </a:r>
            <a:r>
              <a:rPr lang="ja-JP" altLang="en-US"/>
              <a:t>パイ中間子の完成</a:t>
            </a:r>
          </a:p>
          <a:p>
            <a:r>
              <a:rPr lang="ja-JP" altLang="en-US"/>
              <a:t>新しく生まれたクォークたちが一瞬でペアを組み、中性パイオン（</a:t>
            </a:r>
            <a:r>
              <a:rPr lang="en-US" altLang="ja-JP"/>
              <a:t>\pi^0</a:t>
            </a:r>
            <a:r>
              <a:rPr lang="ja-JP" altLang="en-US"/>
              <a:t>）などの「ハドロン」になります。この一連のプロセスをハドロン化と呼びます。</a:t>
            </a:r>
          </a:p>
          <a:p>
            <a:r>
              <a:rPr lang="ja-JP" altLang="en-US"/>
              <a:t>そして、生まれた中性パイオンは非常に寿命が短いため、一瞬で</a:t>
            </a:r>
            <a:r>
              <a:rPr lang="en-US" altLang="ja-JP"/>
              <a:t>2</a:t>
            </a:r>
            <a:r>
              <a:rPr lang="ja-JP" altLang="en-US"/>
              <a:t>本のガンマ線に崩壊（</a:t>
            </a:r>
            <a:r>
              <a:rPr lang="en-US" altLang="ja-JP"/>
              <a:t>\pi^0 \to \gamma \gamma</a:t>
            </a:r>
            <a:r>
              <a:rPr lang="ja-JP" altLang="en-US"/>
              <a:t>）します。これが私たちが観測したい信号です。</a:t>
            </a:r>
          </a:p>
        </p:txBody>
      </p:sp>
      <p:sp>
        <p:nvSpPr>
          <p:cNvPr id="4" name="Slide Number Placeholder 3">
            <a:extLst>
              <a:ext uri="{FF2B5EF4-FFF2-40B4-BE49-F238E27FC236}">
                <a16:creationId xmlns:a16="http://schemas.microsoft.com/office/drawing/2014/main" id="{F8F4F9AE-D667-EC7B-8837-A637ECE3FBE6}"/>
              </a:ext>
            </a:extLst>
          </p:cNvPr>
          <p:cNvSpPr>
            <a:spLocks noGrp="1"/>
          </p:cNvSpPr>
          <p:nvPr>
            <p:ph type="sldNum" sz="quarter" idx="5"/>
          </p:nvPr>
        </p:nvSpPr>
        <p:spPr/>
      </p:sp>
    </p:spTree>
    <p:extLst>
      <p:ext uri="{BB962C8B-B14F-4D97-AF65-F5344CB8AC3E}">
        <p14:creationId xmlns:p14="http://schemas.microsoft.com/office/powerpoint/2010/main" val="500404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では続いて、今回の卒論の動機についてです。</a:t>
            </a:r>
          </a:p>
          <a:p>
            <a:r>
              <a:rPr lang="ja-JP" altLang="en-US">
                <a:solidFill>
                  <a:schemeClr val="bg1"/>
                </a:solidFill>
              </a:rPr>
              <a:t>天の川銀河中心方向から</a:t>
            </a:r>
            <a:r>
              <a:rPr lang="en-US" altLang="ja-JP">
                <a:solidFill>
                  <a:schemeClr val="bg1"/>
                </a:solidFill>
              </a:rPr>
              <a:t>20GeV</a:t>
            </a:r>
            <a:r>
              <a:rPr lang="ja-JP" altLang="en-US">
                <a:solidFill>
                  <a:schemeClr val="bg1"/>
                </a:solidFill>
              </a:rPr>
              <a:t>エネルギーでガンマ線過剰が見られたという内容の論文が発表されました</a:t>
            </a:r>
            <a:endParaRPr lang="en-US" altLang="ja-JP">
              <a:solidFill>
                <a:schemeClr val="bg1"/>
              </a:solidFill>
            </a:endParaRPr>
          </a:p>
          <a:p>
            <a:endParaRPr lang="en-US" altLang="ja-JP"/>
          </a:p>
          <a:p>
            <a:r>
              <a:rPr lang="ja-JP" altLang="en-US"/>
              <a:t>この論文の特徴として以下が挙げられます。</a:t>
            </a:r>
          </a:p>
          <a:p>
            <a:endParaRPr lang="ja-JP" altLang="en-US"/>
          </a:p>
          <a:p>
            <a:r>
              <a:rPr lang="ja-JP" altLang="en-US"/>
              <a:t>まず、実際の観測では大きな壁があり、それは</a:t>
            </a:r>
          </a:p>
          <a:p>
            <a:r>
              <a:rPr lang="ja-JP" altLang="en-US"/>
              <a:t>銀河中心は暗黒物質も多いが、</a:t>
            </a:r>
          </a:p>
          <a:p>
            <a:r>
              <a:rPr lang="ja-JP" altLang="en-US"/>
              <a:t>パルサーや超大質量ブラックホールといった</a:t>
            </a:r>
            <a:r>
              <a:rPr lang="en-US" altLang="ja-JP"/>
              <a:t>『</a:t>
            </a:r>
            <a:r>
              <a:rPr lang="ja-JP" altLang="en-US"/>
              <a:t>ガンマ線のノイズ源</a:t>
            </a:r>
            <a:r>
              <a:rPr lang="en-US" altLang="ja-JP"/>
              <a:t>』</a:t>
            </a:r>
            <a:r>
              <a:rPr lang="ja-JP" altLang="en-US"/>
              <a:t>も非常に多い場所ということです。</a:t>
            </a:r>
          </a:p>
          <a:p>
            <a:r>
              <a:rPr lang="ja-JP" altLang="en-US"/>
              <a:t>そこで</a:t>
            </a:r>
            <a:r>
              <a:rPr lang="en-US" altLang="ja-JP"/>
              <a:t>T25</a:t>
            </a:r>
            <a:r>
              <a:rPr lang="ja-JP" altLang="en-US"/>
              <a:t>では、あえてノイズだらけの銀河中心を完全に除外しました。外側の</a:t>
            </a:r>
            <a:r>
              <a:rPr lang="en-US" altLang="ja-JP"/>
              <a:t>『</a:t>
            </a:r>
            <a:r>
              <a:rPr lang="ja-JP" altLang="en-US"/>
              <a:t>ハロー領域</a:t>
            </a:r>
            <a:r>
              <a:rPr lang="en-US" altLang="ja-JP"/>
              <a:t>』</a:t>
            </a:r>
            <a:r>
              <a:rPr lang="ja-JP" altLang="en-US"/>
              <a:t>を見ることで、シグナルの絶対量は減ってしまいますが、それ以上にノイズを劇的に減らし、高いシグナル対ノイズ比で純粋な暗黒物質の兆候をあぶり出すというアプローチをとっています。</a:t>
            </a:r>
          </a:p>
          <a:p>
            <a:endParaRPr lang="ja-JP" altLang="en-US"/>
          </a:p>
          <a:p>
            <a:r>
              <a:rPr lang="en-US" altLang="ja-JP"/>
              <a:t>2</a:t>
            </a:r>
            <a:r>
              <a:rPr lang="ja-JP" altLang="en-US"/>
              <a:t>つ目の特徴として過去の銀河中心の過剰（</a:t>
            </a:r>
            <a:r>
              <a:rPr lang="en-US" altLang="ja-JP"/>
              <a:t>GC GeV excess</a:t>
            </a:r>
            <a:r>
              <a:rPr lang="ja-JP" altLang="en-US"/>
              <a:t>）を暗黒物質で説明する論文では、標準的な</a:t>
            </a:r>
            <a:r>
              <a:rPr lang="en-US" altLang="ja-JP"/>
              <a:t>NFW</a:t>
            </a:r>
            <a:r>
              <a:rPr lang="ja-JP" altLang="en-US"/>
              <a:t>プロファイルよりも中心に集中した密度分布が必要になることが指摘されていました。そこ</a:t>
            </a:r>
            <a:r>
              <a:rPr lang="en-US" altLang="ja-JP"/>
              <a:t>T25 </a:t>
            </a:r>
            <a:r>
              <a:rPr lang="ja-JP" altLang="en-US"/>
              <a:t>では過去論文よりもなだらかで自然なダークマター分布を唱えています。</a:t>
            </a:r>
          </a:p>
          <a:p>
            <a:endParaRPr lang="ja-JP" altLang="en-US"/>
          </a:p>
          <a:p>
            <a:r>
              <a:rPr lang="en-US" altLang="ja-JP"/>
              <a:t>3</a:t>
            </a:r>
            <a:r>
              <a:rPr lang="ja-JP" altLang="en-US"/>
              <a:t>つ目の特徴として、解析手法にも工夫があります。高解像度で細かく見ると、星間ガスなどの微細なノイズの影響を受けます。</a:t>
            </a:r>
            <a:endParaRPr lang="en-US" altLang="ja-JP"/>
          </a:p>
          <a:p>
            <a:r>
              <a:rPr lang="ja-JP" altLang="en-US"/>
              <a:t>そこで</a:t>
            </a:r>
            <a:r>
              <a:rPr lang="en-US" altLang="ja-JP"/>
              <a:t>T25 </a:t>
            </a:r>
            <a:r>
              <a:rPr lang="ja-JP" altLang="en-US"/>
              <a:t>では、あえて全天を</a:t>
            </a:r>
            <a:r>
              <a:rPr lang="en-US" altLang="ja-JP"/>
              <a:t>10</a:t>
            </a:r>
            <a:r>
              <a:rPr lang="ja-JP" altLang="en-US"/>
              <a:t>度四方という</a:t>
            </a:r>
            <a:r>
              <a:rPr lang="en-US" altLang="ja-JP"/>
              <a:t>『</a:t>
            </a:r>
            <a:r>
              <a:rPr lang="ja-JP" altLang="en-US"/>
              <a:t>非常に粗いマス目</a:t>
            </a:r>
            <a:r>
              <a:rPr lang="en-US" altLang="ja-JP"/>
              <a:t>』</a:t>
            </a:r>
            <a:r>
              <a:rPr lang="ja-JP" altLang="en-US"/>
              <a:t>に分割して解析を行っています。これにより、局所的なガスなどの細かいノイズの影響を打ち消し、巨大な暗黒物質の構造だけを抽出しています</a:t>
            </a:r>
          </a:p>
          <a:p>
            <a:endParaRPr lang="ja-JP" altLang="en-US"/>
          </a:p>
          <a:p>
            <a:r>
              <a:rPr lang="ja-JP" altLang="en-US"/>
              <a:t>そして僕はこの論文のパイプラインを独自再現し、</a:t>
            </a:r>
          </a:p>
          <a:p>
            <a:r>
              <a:rPr lang="ja-JP" altLang="en-US"/>
              <a:t>そこから 矮小銀河や、近傍の他銀河にその手法を適用する という拡張を実施することで</a:t>
            </a:r>
          </a:p>
          <a:p>
            <a:r>
              <a:rPr lang="ja-JP" altLang="en-US"/>
              <a:t>ガンマ線過剰は、天の川銀河だけの事象ではないのか　を検証することを目的としています（ここが</a:t>
            </a:r>
            <a:r>
              <a:rPr lang="en-US" altLang="ja-JP"/>
              <a:t>1</a:t>
            </a:r>
            <a:r>
              <a:rPr lang="ja-JP" altLang="en-US"/>
              <a:t>分</a:t>
            </a:r>
            <a:r>
              <a:rPr lang="en-US" altLang="ja-JP"/>
              <a:t>30</a:t>
            </a:r>
            <a:r>
              <a:rPr lang="ja-JP" altLang="en-US"/>
              <a:t>　ここまで</a:t>
            </a:r>
            <a:r>
              <a:rPr lang="en-US" altLang="ja-JP"/>
              <a:t>4</a:t>
            </a:r>
            <a:r>
              <a:rPr lang="ja-JP" altLang="en-US"/>
              <a:t>分）</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203F5-E4FB-59AD-FDE1-EE4470DCF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025FA-278D-FAC4-E10F-F180229177A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310C9CE-46D2-A3E8-C995-29F954183FF3}"/>
              </a:ext>
            </a:extLst>
          </p:cNvPr>
          <p:cNvSpPr>
            <a:spLocks noGrp="1"/>
          </p:cNvSpPr>
          <p:nvPr>
            <p:ph type="body" sz="quarter" idx="3"/>
          </p:nvPr>
        </p:nvSpPr>
        <p:spPr/>
        <p:txBody>
          <a:bodyPr/>
          <a:lstStyle/>
          <a:p>
            <a:r>
              <a:rPr lang="ja-JP" altLang="en-US"/>
              <a:t>続いて手法の概要です。</a:t>
            </a:r>
          </a:p>
        </p:txBody>
      </p:sp>
      <p:sp>
        <p:nvSpPr>
          <p:cNvPr id="4" name="Slide Number Placeholder 3">
            <a:extLst>
              <a:ext uri="{FF2B5EF4-FFF2-40B4-BE49-F238E27FC236}">
                <a16:creationId xmlns:a16="http://schemas.microsoft.com/office/drawing/2014/main" id="{3631A190-19AA-DF4E-8D86-3139753DE064}"/>
              </a:ext>
            </a:extLst>
          </p:cNvPr>
          <p:cNvSpPr>
            <a:spLocks noGrp="1"/>
          </p:cNvSpPr>
          <p:nvPr>
            <p:ph type="sldNum" sz="quarter" idx="5"/>
          </p:nvPr>
        </p:nvSpPr>
        <p:spPr/>
      </p:sp>
    </p:spTree>
    <p:extLst>
      <p:ext uri="{BB962C8B-B14F-4D97-AF65-F5344CB8AC3E}">
        <p14:creationId xmlns:p14="http://schemas.microsoft.com/office/powerpoint/2010/main" val="305525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91297-7F68-222C-16DD-D3DE6FB70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604C2-230A-B8A3-FB69-148EA37807D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B91836F-55DA-EFA3-602D-7CF326B9BC06}"/>
              </a:ext>
            </a:extLst>
          </p:cNvPr>
          <p:cNvSpPr>
            <a:spLocks noGrp="1"/>
          </p:cNvSpPr>
          <p:nvPr>
            <p:ph type="body" sz="quarter" idx="3"/>
          </p:nvPr>
        </p:nvSpPr>
        <p:spPr/>
        <p:txBody>
          <a:bodyPr/>
          <a:lstStyle/>
          <a:p>
            <a:r>
              <a:rPr lang="ja-JP" altLang="en-US"/>
              <a:t>続いて手法の解説です。</a:t>
            </a:r>
          </a:p>
          <a:p>
            <a:r>
              <a:rPr lang="ja-JP" altLang="en-US"/>
              <a:t>まず、左の図が全エネルギー帯の実際のガンマ線観測データです。前スライドでも触れた通り、ノイズが圧倒的に多い銀河面</a:t>
            </a:r>
            <a:endParaRPr lang="en-US" altLang="ja-JP"/>
          </a:p>
          <a:p>
            <a:r>
              <a:rPr lang="ja-JP" altLang="en-US"/>
              <a:t>はマスクして解析から完全に除外しています。まず、これを</a:t>
            </a:r>
            <a:r>
              <a:rPr lang="en-US" altLang="ja-JP"/>
              <a:t>1GeV</a:t>
            </a:r>
            <a:r>
              <a:rPr lang="ja-JP" altLang="en-US"/>
              <a:t>から</a:t>
            </a:r>
            <a:r>
              <a:rPr lang="en-US" altLang="ja-JP"/>
              <a:t>814GeV</a:t>
            </a:r>
            <a:r>
              <a:rPr lang="ja-JP" altLang="en-US"/>
              <a:t>のエネルギー帯で対数で</a:t>
            </a:r>
            <a:r>
              <a:rPr lang="en-US" altLang="ja-JP"/>
              <a:t>13</a:t>
            </a:r>
            <a:r>
              <a:rPr lang="ja-JP" altLang="en-US"/>
              <a:t>等分しビン事にわけます。</a:t>
            </a:r>
            <a:endParaRPr lang="en-US" altLang="ja-JP"/>
          </a:p>
          <a:p>
            <a:endParaRPr lang="ja-JP" altLang="en-US"/>
          </a:p>
          <a:p>
            <a:r>
              <a:rPr lang="ja-JP" altLang="en-US"/>
              <a:t>この観測データには、点源や星間ガス由来のガンマ線など、様々な既知の背景放射が混ざり合っています。</a:t>
            </a:r>
            <a:endParaRPr lang="en-US" altLang="ja-JP"/>
          </a:p>
          <a:p>
            <a:r>
              <a:rPr lang="ja-JP" altLang="en-US"/>
              <a:t>私たちが探したいのは未知のダークマターの信号なので、右側の数式のように、生データから既知のモデル（テンプレート）をすべて引き算します。</a:t>
            </a:r>
          </a:p>
          <a:p>
            <a:r>
              <a:rPr lang="ja-JP" altLang="en-US"/>
              <a:t>ここで各テンプレートにかけている係数</a:t>
            </a:r>
            <a:r>
              <a:rPr lang="en-US" altLang="ja-JP"/>
              <a:t>『f\_n』</a:t>
            </a:r>
            <a:r>
              <a:rPr lang="ja-JP" altLang="en-US"/>
              <a:t>は、</a:t>
            </a:r>
            <a:r>
              <a:rPr lang="en-US" altLang="ja-JP"/>
              <a:t>『</a:t>
            </a:r>
            <a:r>
              <a:rPr lang="ja-JP" altLang="en-US"/>
              <a:t>モデルの空間的な形状は固定したまま、大きさ（振幅）だけを実データに合わせて何倍するか</a:t>
            </a:r>
            <a:r>
              <a:rPr lang="en-US" altLang="ja-JP"/>
              <a:t>』</a:t>
            </a:r>
            <a:r>
              <a:rPr lang="ja-JP" altLang="en-US"/>
              <a:t>を決める係数です。これらの係数の最適な値は、</a:t>
            </a:r>
            <a:r>
              <a:rPr lang="en-US" altLang="ja-JP"/>
              <a:t>MCMC</a:t>
            </a:r>
            <a:r>
              <a:rPr lang="ja-JP" altLang="en-US"/>
              <a:t>（マルコフ連鎖モンテカルロ法）を用いて決定します。</a:t>
            </a:r>
          </a:p>
          <a:p>
            <a:r>
              <a:rPr lang="ja-JP" altLang="en-US"/>
              <a:t>こうして、考えうる既知の背景モデルを最適化して全て差し引いた後に、それでも</a:t>
            </a:r>
            <a:r>
              <a:rPr lang="en-US" altLang="ja-JP"/>
              <a:t>『</a:t>
            </a:r>
            <a:r>
              <a:rPr lang="ja-JP" altLang="en-US"/>
              <a:t>残るもの（</a:t>
            </a:r>
            <a:r>
              <a:rPr lang="en-US" altLang="ja-JP"/>
              <a:t>residual</a:t>
            </a:r>
            <a:r>
              <a:rPr lang="ja-JP" altLang="en-US"/>
              <a:t>）</a:t>
            </a:r>
            <a:r>
              <a:rPr lang="en-US" altLang="ja-JP"/>
              <a:t>』</a:t>
            </a:r>
            <a:r>
              <a:rPr lang="ja-JP" altLang="en-US"/>
              <a:t>。これが、僕が探しているダークマター由来の</a:t>
            </a:r>
            <a:r>
              <a:rPr lang="en-US" altLang="ja-JP"/>
              <a:t>『</a:t>
            </a:r>
            <a:r>
              <a:rPr lang="ja-JP" altLang="en-US"/>
              <a:t>ハロー状（</a:t>
            </a:r>
            <a:r>
              <a:rPr lang="en-US" altLang="ja-JP"/>
              <a:t>halo-like</a:t>
            </a:r>
            <a:r>
              <a:rPr lang="ja-JP" altLang="en-US"/>
              <a:t>）のガンマ線過剰</a:t>
            </a:r>
            <a:r>
              <a:rPr lang="en-US" altLang="ja-JP"/>
              <a:t>』</a:t>
            </a:r>
            <a:r>
              <a:rPr lang="ja-JP" altLang="en-US"/>
              <a:t>の候補となります。（ここまで</a:t>
            </a:r>
            <a:r>
              <a:rPr lang="en-US" altLang="ja-JP"/>
              <a:t>4</a:t>
            </a:r>
            <a:r>
              <a:rPr lang="ja-JP" altLang="en-US"/>
              <a:t>分</a:t>
            </a:r>
            <a:r>
              <a:rPr lang="en-US" altLang="ja-JP"/>
              <a:t>30</a:t>
            </a:r>
            <a:r>
              <a:rPr lang="ja-JP" altLang="en-US"/>
              <a:t>）</a:t>
            </a:r>
          </a:p>
        </p:txBody>
      </p:sp>
      <p:sp>
        <p:nvSpPr>
          <p:cNvPr id="4" name="Slide Number Placeholder 3">
            <a:extLst>
              <a:ext uri="{FF2B5EF4-FFF2-40B4-BE49-F238E27FC236}">
                <a16:creationId xmlns:a16="http://schemas.microsoft.com/office/drawing/2014/main" id="{1C1CD357-212D-0F5C-2689-4C39C3A01000}"/>
              </a:ext>
            </a:extLst>
          </p:cNvPr>
          <p:cNvSpPr>
            <a:spLocks noGrp="1"/>
          </p:cNvSpPr>
          <p:nvPr>
            <p:ph type="sldNum" sz="quarter" idx="5"/>
          </p:nvPr>
        </p:nvSpPr>
        <p:spPr/>
      </p:sp>
    </p:spTree>
    <p:extLst>
      <p:ext uri="{BB962C8B-B14F-4D97-AF65-F5344CB8AC3E}">
        <p14:creationId xmlns:p14="http://schemas.microsoft.com/office/powerpoint/2010/main" val="647465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前のスライドで説明した背景モデルの引き算を、実際のデータに適用した結果がこちらです。ここでは全</a:t>
            </a:r>
            <a:r>
              <a:rPr lang="en-US" altLang="ja-JP"/>
              <a:t>13</a:t>
            </a:r>
            <a:r>
              <a:rPr lang="ja-JP" altLang="en-US"/>
              <a:t>個のエネルギービンのうち、**</a:t>
            </a:r>
            <a:r>
              <a:rPr lang="en-US" altLang="ja-JP"/>
              <a:t>Bin6</a:t>
            </a:r>
            <a:r>
              <a:rPr lang="ja-JP" altLang="en-US"/>
              <a:t>（</a:t>
            </a:r>
            <a:r>
              <a:rPr lang="en-US" altLang="ja-JP"/>
              <a:t>20.76 GeV</a:t>
            </a:r>
            <a:r>
              <a:rPr lang="ja-JP" altLang="en-US"/>
              <a:t>）**のマップを例として表示しています。</a:t>
            </a:r>
          </a:p>
          <a:p>
            <a:r>
              <a:rPr lang="ja-JP" altLang="en-US"/>
              <a:t>左図が引き算前のデータです。点源はマスクしています。</a:t>
            </a:r>
          </a:p>
          <a:p>
            <a:r>
              <a:rPr lang="ja-JP" altLang="en-US"/>
              <a:t>ここから、</a:t>
            </a:r>
            <a:r>
              <a:rPr lang="en-US" altLang="ja-JP"/>
              <a:t>MCMC</a:t>
            </a:r>
            <a:r>
              <a:rPr lang="ja-JP" altLang="en-US"/>
              <a:t>で最適化した背景モデルをすべて差し引いたものが右図の</a:t>
            </a:r>
            <a:r>
              <a:rPr lang="en-US" altLang="ja-JP"/>
              <a:t>『</a:t>
            </a:r>
            <a:r>
              <a:rPr lang="ja-JP" altLang="en-US"/>
              <a:t>完全差引後（残差）</a:t>
            </a:r>
            <a:r>
              <a:rPr lang="en-US" altLang="ja-JP"/>
              <a:t>』</a:t>
            </a:r>
            <a:r>
              <a:rPr lang="ja-JP" altLang="en-US"/>
              <a:t>のマップです。</a:t>
            </a:r>
          </a:p>
          <a:p>
            <a:r>
              <a:rPr lang="ja-JP" altLang="en-US"/>
              <a:t>今回、あえてこの</a:t>
            </a:r>
            <a:r>
              <a:rPr lang="en-US" altLang="ja-JP"/>
              <a:t>Bin6</a:t>
            </a:r>
            <a:r>
              <a:rPr lang="ja-JP" altLang="en-US"/>
              <a:t>　</a:t>
            </a:r>
            <a:r>
              <a:rPr lang="en-US" altLang="ja-JP"/>
              <a:t>20.76 GeV</a:t>
            </a:r>
            <a:r>
              <a:rPr lang="ja-JP" altLang="en-US"/>
              <a:t>のマップをお見せしているのには理由があります。まさにこのエネルギー帯こそが、暗黒物質の対消滅によるハロー状のシグナルが最も強く現れると期待されている領域だからです。</a:t>
            </a:r>
          </a:p>
          <a:p>
            <a:r>
              <a:rPr lang="ja-JP" altLang="en-US"/>
              <a:t>では、この一見ノイズのように見える残差の中に、本当に暗黒物質由来のシグナルが潜んでいるのか。全エネルギー帯でそれを評価したスペクトルを、次のスライドでお見せします。（ここまで</a:t>
            </a:r>
            <a:r>
              <a:rPr lang="en-US" altLang="ja-JP"/>
              <a:t>5</a:t>
            </a:r>
            <a:r>
              <a:rPr lang="ja-JP" altLang="en-US"/>
              <a:t>分）</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a:solidFill>
                  <a:schemeClr val="tx1"/>
                </a:solidFill>
                <a:effectLst/>
                <a:latin typeface="+mn-lt"/>
                <a:ea typeface="+mn-ea"/>
                <a:cs typeface="+mn-cs"/>
              </a:rPr>
              <a:t>「これが全 13 ビンでハロー成分の有意度</a:t>
            </a:r>
            <a:r>
              <a:rPr lang="ja-JP" altLang="en-US" sz="1200" b="0" i="0" kern="1200">
                <a:solidFill>
                  <a:schemeClr val="tx1"/>
                </a:solidFill>
                <a:effectLst/>
                <a:latin typeface="+mn-lt"/>
                <a:ea typeface="+mn-ea"/>
                <a:cs typeface="+mn-cs"/>
              </a:rPr>
              <a:t>（シグマ）</a:t>
            </a:r>
            <a:r>
              <a:rPr lang="en-US" sz="1200" b="0" i="0" kern="1200">
                <a:solidFill>
                  <a:schemeClr val="tx1"/>
                </a:solidFill>
                <a:effectLst/>
                <a:latin typeface="+mn-lt"/>
                <a:ea typeface="+mn-ea"/>
                <a:cs typeface="+mn-cs"/>
              </a:rPr>
              <a:t>を出したスペクトルです。青が本研究、赤が戸谷さんの Fig.9 を機械読み取りしたものです。</a:t>
            </a:r>
          </a:p>
          <a:p>
            <a:r>
              <a:rPr lang="en-US" sz="1200" b="0" i="0" kern="1200">
                <a:solidFill>
                  <a:schemeClr val="tx1"/>
                </a:solidFill>
                <a:effectLst/>
                <a:latin typeface="+mn-lt"/>
                <a:ea typeface="+mn-ea"/>
                <a:cs typeface="+mn-cs"/>
              </a:rPr>
              <a:t>まず</a:t>
            </a:r>
            <a:r>
              <a:rPr lang="en-US" sz="1200" b="1" i="0" kern="1200">
                <a:solidFill>
                  <a:schemeClr val="tx1"/>
                </a:solidFill>
                <a:effectLst/>
                <a:latin typeface="+mn-lt"/>
                <a:ea typeface="+mn-ea"/>
                <a:cs typeface="+mn-cs"/>
              </a:rPr>
              <a:t>形</a:t>
            </a:r>
            <a:r>
              <a:rPr lang="en-US" sz="1200" b="0" i="0" kern="1200">
                <a:solidFill>
                  <a:schemeClr val="tx1"/>
                </a:solidFill>
                <a:effectLst/>
                <a:latin typeface="+mn-lt"/>
                <a:ea typeface="+mn-ea"/>
                <a:cs typeface="+mn-cs"/>
              </a:rPr>
              <a:t>を見てください。1.5 GeV に高い山、2.5 GeV で谷、そこから 12〜21 GeV にかけて盛り上がって頂点</a:t>
            </a:r>
            <a:r>
              <a:rPr lang="ja-JP" altLang="en-US" sz="1200" b="0" i="0" kern="1200">
                <a:solidFill>
                  <a:schemeClr val="tx1"/>
                </a:solidFill>
                <a:effectLst/>
                <a:latin typeface="+mn-lt"/>
                <a:ea typeface="+mn-ea"/>
                <a:cs typeface="+mn-cs"/>
              </a:rPr>
              <a:t>に</a:t>
            </a:r>
            <a:r>
              <a:rPr lang="en-US" sz="1200" b="0" i="0" kern="1200">
                <a:solidFill>
                  <a:schemeClr val="tx1"/>
                </a:solidFill>
                <a:effectLst/>
                <a:latin typeface="+mn-lt"/>
                <a:ea typeface="+mn-ea"/>
                <a:cs typeface="+mn-cs"/>
              </a:rPr>
              <a:t>、200 GeV 以上でほぼゼロ。</a:t>
            </a:r>
            <a:r>
              <a:rPr lang="ja-JP" altLang="en-US" sz="1200" b="0" i="0" kern="1200">
                <a:solidFill>
                  <a:schemeClr val="tx1"/>
                </a:solidFill>
                <a:effectLst/>
                <a:latin typeface="+mn-lt"/>
                <a:ea typeface="+mn-ea"/>
                <a:cs typeface="+mn-cs"/>
              </a:rPr>
              <a:t>「</a:t>
            </a:r>
            <a:r>
              <a:rPr lang="en-US" sz="1200" b="0" i="0" kern="1200">
                <a:solidFill>
                  <a:schemeClr val="tx1"/>
                </a:solidFill>
                <a:effectLst/>
                <a:latin typeface="+mn-lt"/>
                <a:ea typeface="+mn-ea"/>
                <a:cs typeface="+mn-cs"/>
              </a:rPr>
              <a:t>この</a:t>
            </a:r>
            <a:r>
              <a:rPr lang="en-US" sz="1200" b="1" i="0" kern="1200">
                <a:solidFill>
                  <a:schemeClr val="tx1"/>
                </a:solidFill>
                <a:effectLst/>
                <a:latin typeface="+mn-lt"/>
                <a:ea typeface="+mn-ea"/>
                <a:cs typeface="+mn-cs"/>
              </a:rPr>
              <a:t>山・谷・頂点の位置が戸谷さんと一致</a:t>
            </a:r>
            <a:r>
              <a:rPr lang="en-US" sz="1200" b="0" i="0" kern="1200">
                <a:solidFill>
                  <a:schemeClr val="tx1"/>
                </a:solidFill>
                <a:effectLst/>
                <a:latin typeface="+mn-lt"/>
                <a:ea typeface="+mn-ea"/>
                <a:cs typeface="+mn-cs"/>
              </a:rPr>
              <a:t>しています。20 GeV のビンで 19σ、戸谷さんの報告した 13〜19σ と整合します。</a:t>
            </a:r>
            <a:r>
              <a:rPr lang="ja-JP" altLang="en-US" sz="1200" b="0" i="0" kern="1200">
                <a:solidFill>
                  <a:schemeClr val="tx1"/>
                </a:solidFill>
                <a:effectLst/>
                <a:latin typeface="+mn-lt"/>
                <a:ea typeface="+mn-ea"/>
                <a:cs typeface="+mn-cs"/>
              </a:rPr>
              <a:t>」</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一つ</a:t>
            </a:r>
            <a:r>
              <a:rPr lang="ja-JP" altLang="en-US" sz="1200" b="0" i="0" kern="1200">
                <a:solidFill>
                  <a:schemeClr val="tx1"/>
                </a:solidFill>
                <a:effectLst/>
                <a:latin typeface="+mn-lt"/>
                <a:ea typeface="+mn-ea"/>
                <a:cs typeface="+mn-cs"/>
              </a:rPr>
              <a:t>補足で、</a:t>
            </a:r>
            <a:r>
              <a:rPr lang="en-US" sz="1200" b="0" i="0" kern="1200">
                <a:solidFill>
                  <a:schemeClr val="tx1"/>
                </a:solidFill>
                <a:effectLst/>
                <a:latin typeface="+mn-lt"/>
                <a:ea typeface="+mn-ea"/>
                <a:cs typeface="+mn-cs"/>
              </a:rPr>
              <a:t> 1.5 GeV は有意度こそ高いですが、</a:t>
            </a:r>
            <a:r>
              <a:rPr lang="en-US" sz="1200" b="1" i="0" kern="1200">
                <a:solidFill>
                  <a:schemeClr val="tx1"/>
                </a:solidFill>
                <a:effectLst/>
                <a:latin typeface="+mn-lt"/>
                <a:ea typeface="+mn-ea"/>
                <a:cs typeface="+mn-cs"/>
              </a:rPr>
              <a:t>ハローの符号が負なので、これは過剰の検出ではありません</a:t>
            </a:r>
            <a:r>
              <a:rPr lang="ja-JP" altLang="en-US" sz="1200" b="0" i="0" kern="1200">
                <a:solidFill>
                  <a:schemeClr val="tx1"/>
                </a:solidFill>
                <a:effectLst/>
                <a:latin typeface="+mn-lt"/>
                <a:ea typeface="+mn-ea"/>
                <a:cs typeface="+mn-cs"/>
              </a:rPr>
              <a:t>。</a:t>
            </a:r>
            <a:r>
              <a:rPr lang="en-US" altLang="ja-JP" sz="1200" b="0" i="0" kern="1200">
                <a:solidFill>
                  <a:schemeClr val="tx1"/>
                </a:solidFill>
                <a:effectLst/>
                <a:latin typeface="+mn-lt"/>
                <a:ea typeface="+mn-ea"/>
                <a:cs typeface="+mn-cs"/>
              </a:rPr>
              <a:t>T25 </a:t>
            </a:r>
            <a:r>
              <a:rPr lang="en-US" sz="1200" b="0" i="0" kern="1200">
                <a:solidFill>
                  <a:schemeClr val="tx1"/>
                </a:solidFill>
                <a:effectLst/>
                <a:latin typeface="+mn-lt"/>
                <a:ea typeface="+mn-ea"/>
                <a:cs typeface="+mn-cs"/>
              </a:rPr>
              <a:t>でも同じく負になると書かれていて、ここも一致しています。</a:t>
            </a:r>
          </a:p>
          <a:p>
            <a:r>
              <a:rPr lang="en-US" sz="1200" b="0" i="0" kern="1200">
                <a:solidFill>
                  <a:schemeClr val="tx1"/>
                </a:solidFill>
                <a:effectLst/>
                <a:latin typeface="+mn-lt"/>
                <a:ea typeface="+mn-ea"/>
                <a:cs typeface="+mn-cs"/>
              </a:rPr>
              <a:t>下のパネルが本研究と</a:t>
            </a:r>
            <a:r>
              <a:rPr lang="en-US" altLang="ja-JP" sz="1200" b="0" i="0" kern="1200">
                <a:solidFill>
                  <a:schemeClr val="tx1"/>
                </a:solidFill>
                <a:effectLst/>
                <a:latin typeface="+mn-lt"/>
                <a:ea typeface="+mn-ea"/>
                <a:cs typeface="+mn-cs"/>
              </a:rPr>
              <a:t>T25 </a:t>
            </a:r>
            <a:r>
              <a:rPr lang="en-US" sz="1200" b="0" i="0" kern="1200">
                <a:solidFill>
                  <a:schemeClr val="tx1"/>
                </a:solidFill>
                <a:effectLst/>
                <a:latin typeface="+mn-lt"/>
                <a:ea typeface="+mn-ea"/>
                <a:cs typeface="+mn-cs"/>
              </a:rPr>
              <a:t>の</a:t>
            </a:r>
            <a:r>
              <a:rPr lang="en-US" sz="1200" b="1" i="0" kern="1200">
                <a:solidFill>
                  <a:schemeClr val="tx1"/>
                </a:solidFill>
                <a:effectLst/>
                <a:latin typeface="+mn-lt"/>
                <a:ea typeface="+mn-ea"/>
                <a:cs typeface="+mn-cs"/>
              </a:rPr>
              <a:t>比</a:t>
            </a:r>
            <a:r>
              <a:rPr lang="en-US" sz="1200" b="0" i="0" kern="1200">
                <a:solidFill>
                  <a:schemeClr val="tx1"/>
                </a:solidFill>
                <a:effectLst/>
                <a:latin typeface="+mn-lt"/>
                <a:ea typeface="+mn-ea"/>
                <a:cs typeface="+mn-cs"/>
              </a:rPr>
              <a:t>で、主要なエネルギー帯では</a:t>
            </a:r>
            <a:r>
              <a:rPr lang="en-US" sz="1200" b="1" i="0" kern="1200">
                <a:solidFill>
                  <a:schemeClr val="tx1"/>
                </a:solidFill>
                <a:effectLst/>
                <a:latin typeface="+mn-lt"/>
                <a:ea typeface="+mn-ea"/>
                <a:cs typeface="+mn-cs"/>
              </a:rPr>
              <a:t>1.3〜1.6 倍</a:t>
            </a:r>
            <a:r>
              <a:rPr lang="en-US" sz="1200" b="0" i="0" kern="1200">
                <a:solidFill>
                  <a:schemeClr val="tx1"/>
                </a:solidFill>
                <a:effectLst/>
                <a:latin typeface="+mn-lt"/>
                <a:ea typeface="+mn-ea"/>
                <a:cs typeface="+mn-cs"/>
              </a:rPr>
              <a:t>、本研究のほうが系統的に少し大きく出ています。この差の原因は、 </a:t>
            </a:r>
            <a:r>
              <a:rPr lang="en-US" sz="1200" b="1" i="0" kern="1200">
                <a:solidFill>
                  <a:schemeClr val="tx1"/>
                </a:solidFill>
                <a:effectLst/>
                <a:latin typeface="+mn-lt"/>
                <a:ea typeface="+mn-ea"/>
                <a:cs typeface="+mn-cs"/>
              </a:rPr>
              <a:t>ICS 成分の形のズレ</a:t>
            </a:r>
            <a:r>
              <a:rPr lang="en-US" sz="1200" b="0" i="0" kern="1200">
                <a:solidFill>
                  <a:schemeClr val="tx1"/>
                </a:solidFill>
                <a:effectLst/>
                <a:latin typeface="+mn-lt"/>
                <a:ea typeface="+mn-ea"/>
                <a:cs typeface="+mn-cs"/>
              </a:rPr>
              <a:t>だと考えています。</a:t>
            </a:r>
          </a:p>
          <a:p>
            <a:r>
              <a:rPr lang="ja-JP" altLang="en-US"/>
              <a:t>（ここまで５分３０）</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a:solidFill>
                  <a:schemeClr val="tx1"/>
                </a:solidFill>
                <a:effectLst/>
                <a:latin typeface="+mn-lt"/>
                <a:ea typeface="+mn-ea"/>
                <a:cs typeface="+mn-cs"/>
              </a:rPr>
              <a:t>「このスライドは、フィットで求めた各成分のスペクトルを、成分ごとに戸谷さんと比べたものです。上が各成分の E²dN/dE</a:t>
            </a:r>
            <a:r>
              <a:rPr lang="ja-JP" alt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どのエネルギー帯にエネルギーが集中しているか</a:t>
            </a:r>
            <a:r>
              <a:rPr lang="ja-JP" altLang="en-US" sz="1200" b="1" i="0" kern="1200">
                <a:solidFill>
                  <a:schemeClr val="tx1"/>
                </a:solidFill>
                <a:effectLst/>
                <a:latin typeface="+mn-lt"/>
                <a:ea typeface="+mn-ea"/>
                <a:cs typeface="+mn-cs"/>
              </a:rPr>
              <a:t>）</a:t>
            </a:r>
            <a:r>
              <a:rPr lang="en-US" sz="1200" b="0" i="0" kern="1200">
                <a:solidFill>
                  <a:schemeClr val="tx1"/>
                </a:solidFill>
                <a:effectLst/>
                <a:latin typeface="+mn-lt"/>
                <a:ea typeface="+mn-ea"/>
                <a:cs typeface="+mn-cs"/>
              </a:rPr>
              <a:t>、下が本研究と戸谷さんの比です。</a:t>
            </a:r>
          </a:p>
          <a:p>
            <a:r>
              <a:rPr lang="en-US" sz="1200" b="0" i="0" kern="1200">
                <a:solidFill>
                  <a:schemeClr val="tx1"/>
                </a:solidFill>
                <a:effectLst/>
                <a:latin typeface="+mn-lt"/>
                <a:ea typeface="+mn-ea"/>
                <a:cs typeface="+mn-cs"/>
              </a:rPr>
              <a:t>まず一番大事なのは、</a:t>
            </a:r>
            <a:r>
              <a:rPr lang="en-US" sz="1200" b="1" i="0" kern="1200">
                <a:solidFill>
                  <a:schemeClr val="tx1"/>
                </a:solidFill>
                <a:effectLst/>
                <a:latin typeface="+mn-lt"/>
                <a:ea typeface="+mn-ea"/>
                <a:cs typeface="+mn-cs"/>
              </a:rPr>
              <a:t>全成分を足した合計が戸谷さんと 4%以内で一致</a:t>
            </a:r>
            <a:r>
              <a:rPr lang="en-US" sz="1200" b="0" i="0" kern="1200">
                <a:solidFill>
                  <a:schemeClr val="tx1"/>
                </a:solidFill>
                <a:effectLst/>
                <a:latin typeface="+mn-lt"/>
                <a:ea typeface="+mn-ea"/>
                <a:cs typeface="+mn-cs"/>
              </a:rPr>
              <a:t>していることです。つまり空間全体の明るさ、観測そのものの再現はできています。</a:t>
            </a:r>
          </a:p>
          <a:p>
            <a:r>
              <a:rPr lang="en-US" sz="1200" b="0" i="0" kern="1200">
                <a:solidFill>
                  <a:schemeClr val="tx1"/>
                </a:solidFill>
                <a:effectLst/>
                <a:latin typeface="+mn-lt"/>
                <a:ea typeface="+mn-ea"/>
                <a:cs typeface="+mn-cs"/>
              </a:rPr>
              <a:t>成分ごとに見ると、</a:t>
            </a:r>
            <a:r>
              <a:rPr lang="en-US" sz="1200" b="1" i="0" kern="1200">
                <a:solidFill>
                  <a:schemeClr val="tx1"/>
                </a:solidFill>
                <a:effectLst/>
                <a:latin typeface="+mn-lt"/>
                <a:ea typeface="+mn-ea"/>
                <a:cs typeface="+mn-cs"/>
              </a:rPr>
              <a:t>ハローと Loop I はほぼ一致</a:t>
            </a:r>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gas と ICS</a:t>
            </a:r>
            <a:r>
              <a:rPr lang="en-US" sz="1200" b="0" i="0" kern="1200">
                <a:solidFill>
                  <a:schemeClr val="tx1"/>
                </a:solidFill>
                <a:effectLst/>
                <a:latin typeface="+mn-lt"/>
                <a:ea typeface="+mn-ea"/>
                <a:cs typeface="+mn-cs"/>
              </a:rPr>
              <a:t> は、gas が少し低く ICS が少し高いんですが、これは両方とも銀河の拡散放射で、分け方に自由度があるので、片方が下がると片方が上がる</a:t>
            </a:r>
            <a:r>
              <a:rPr lang="en-US" sz="1200" b="1" i="0" kern="1200">
                <a:solidFill>
                  <a:schemeClr val="tx1"/>
                </a:solidFill>
                <a:effectLst/>
                <a:latin typeface="+mn-lt"/>
                <a:ea typeface="+mn-ea"/>
                <a:cs typeface="+mn-cs"/>
              </a:rPr>
              <a:t>トレードオフ</a:t>
            </a:r>
            <a:r>
              <a:rPr lang="en-US" sz="1200" b="0" i="0" kern="1200">
                <a:solidFill>
                  <a:schemeClr val="tx1"/>
                </a:solidFill>
                <a:effectLst/>
                <a:latin typeface="+mn-lt"/>
                <a:ea typeface="+mn-ea"/>
                <a:cs typeface="+mn-cs"/>
              </a:rPr>
              <a:t>の関係です。合計は合っていま</a:t>
            </a:r>
            <a:r>
              <a:rPr lang="ja-JP" altLang="en-US" sz="1200" b="0" i="0" kern="1200">
                <a:solidFill>
                  <a:schemeClr val="tx1"/>
                </a:solidFill>
                <a:effectLst/>
                <a:latin typeface="+mn-lt"/>
                <a:ea typeface="+mn-ea"/>
                <a:cs typeface="+mn-cs"/>
              </a:rPr>
              <a:t>す</a:t>
            </a:r>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唯一はっきり外れているのが等方成分</a:t>
            </a:r>
            <a:r>
              <a:rPr lang="en-US" sz="1200" b="0" i="0" kern="1200">
                <a:solidFill>
                  <a:schemeClr val="tx1"/>
                </a:solidFill>
                <a:effectLst/>
                <a:latin typeface="+mn-lt"/>
                <a:ea typeface="+mn-ea"/>
                <a:cs typeface="+mn-cs"/>
              </a:rPr>
              <a:t>で、戸谷さんの 0.38 倍、低エネルギーだと 200 分の 1 まで潰れます。</a:t>
            </a:r>
            <a:r>
              <a:rPr lang="en-US" sz="1200" b="1" i="0" kern="1200">
                <a:solidFill>
                  <a:schemeClr val="tx1"/>
                </a:solidFill>
                <a:effectLst/>
                <a:latin typeface="+mn-lt"/>
                <a:ea typeface="+mn-ea"/>
                <a:cs typeface="+mn-cs"/>
              </a:rPr>
              <a:t>これが今の課題</a:t>
            </a:r>
            <a:r>
              <a:rPr lang="en-US" sz="1200" b="0" i="0" kern="1200">
                <a:solidFill>
                  <a:schemeClr val="tx1"/>
                </a:solidFill>
                <a:effectLst/>
                <a:latin typeface="+mn-lt"/>
                <a:ea typeface="+mn-ea"/>
                <a:cs typeface="+mn-cs"/>
              </a:rPr>
              <a:t>です。原因は</a:t>
            </a:r>
            <a:r>
              <a:rPr lang="ja-JP" altLang="en-US" sz="1200" b="0" i="0" kern="1200">
                <a:solidFill>
                  <a:schemeClr val="tx1"/>
                </a:solidFill>
                <a:effectLst/>
                <a:latin typeface="+mn-lt"/>
                <a:ea typeface="+mn-ea"/>
                <a:cs typeface="+mn-cs"/>
              </a:rPr>
              <a:t>複数の検証の結果</a:t>
            </a:r>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ICS の形のズレ</a:t>
            </a:r>
            <a:r>
              <a:rPr lang="en-US" sz="1200" b="0" i="0" kern="1200">
                <a:solidFill>
                  <a:schemeClr val="tx1"/>
                </a:solidFill>
                <a:effectLst/>
                <a:latin typeface="+mn-lt"/>
                <a:ea typeface="+mn-ea"/>
                <a:cs typeface="+mn-cs"/>
              </a:rPr>
              <a:t>で、本研究の ICS が戸谷さんより平坦なため、平坦な ICS は等方成分と区別がつかず、等方の分を ICS が吸ってしまっている、と考えています。</a:t>
            </a:r>
            <a:r>
              <a:rPr lang="en-US" altLang="ja-JP" sz="1200" b="0" i="0" kern="1200">
                <a:solidFill>
                  <a:schemeClr val="tx1"/>
                </a:solidFill>
                <a:effectLst/>
                <a:latin typeface="+mn-lt"/>
                <a:ea typeface="+mn-ea"/>
                <a:cs typeface="+mn-cs"/>
              </a:rPr>
              <a:t>ICS</a:t>
            </a:r>
            <a:r>
              <a:rPr lang="ja-JP" altLang="en-US" sz="1200" b="0" i="0" kern="1200">
                <a:solidFill>
                  <a:schemeClr val="tx1"/>
                </a:solidFill>
                <a:effectLst/>
                <a:latin typeface="+mn-lt"/>
                <a:ea typeface="+mn-ea"/>
                <a:cs typeface="+mn-cs"/>
              </a:rPr>
              <a:t>のデータは</a:t>
            </a:r>
            <a:r>
              <a:rPr lang="en-US" altLang="ja-JP" sz="1200" b="0" i="0" kern="1200">
                <a:solidFill>
                  <a:schemeClr val="tx1"/>
                </a:solidFill>
                <a:effectLst/>
                <a:latin typeface="+mn-lt"/>
                <a:ea typeface="+mn-ea"/>
                <a:cs typeface="+mn-cs"/>
              </a:rPr>
              <a:t>stanford</a:t>
            </a:r>
            <a:r>
              <a:rPr lang="ja-JP" altLang="en-US" sz="1200" b="0" i="0" kern="1200">
                <a:solidFill>
                  <a:schemeClr val="tx1"/>
                </a:solidFill>
                <a:effectLst/>
                <a:latin typeface="+mn-lt"/>
                <a:ea typeface="+mn-ea"/>
                <a:cs typeface="+mn-cs"/>
              </a:rPr>
              <a:t>大学の運営する</a:t>
            </a:r>
            <a:r>
              <a:rPr lang="en-US" altLang="ja-JP" sz="1200" b="0" i="0" kern="1200">
                <a:solidFill>
                  <a:schemeClr val="tx1"/>
                </a:solidFill>
                <a:effectLst/>
                <a:latin typeface="+mn-lt"/>
                <a:ea typeface="+mn-ea"/>
                <a:cs typeface="+mn-cs"/>
              </a:rPr>
              <a:t>GALPLOP</a:t>
            </a:r>
            <a:r>
              <a:rPr lang="ja-JP" altLang="en-US" sz="1200" b="0" i="0" kern="1200">
                <a:solidFill>
                  <a:schemeClr val="tx1"/>
                </a:solidFill>
                <a:effectLst/>
                <a:latin typeface="+mn-lt"/>
                <a:ea typeface="+mn-ea"/>
                <a:cs typeface="+mn-cs"/>
              </a:rPr>
              <a:t>の</a:t>
            </a:r>
            <a:r>
              <a:rPr lang="en-US" altLang="ja-JP" sz="1200" b="0" i="0" kern="1200">
                <a:solidFill>
                  <a:schemeClr val="tx1"/>
                </a:solidFill>
                <a:effectLst/>
                <a:latin typeface="+mn-lt"/>
                <a:ea typeface="+mn-ea"/>
                <a:cs typeface="+mn-cs"/>
              </a:rPr>
              <a:t>webrun</a:t>
            </a:r>
            <a:r>
              <a:rPr lang="ja-JP" altLang="en-US" sz="1200" b="0" i="0" kern="1200">
                <a:solidFill>
                  <a:schemeClr val="tx1"/>
                </a:solidFill>
                <a:effectLst/>
                <a:latin typeface="+mn-lt"/>
                <a:ea typeface="+mn-ea"/>
                <a:cs typeface="+mn-cs"/>
              </a:rPr>
              <a:t>を使用してデータを得ていましたが、</a:t>
            </a:r>
            <a:r>
              <a:rPr lang="en-US" altLang="ja-JP" sz="1200" b="0" i="0" kern="1200">
                <a:solidFill>
                  <a:schemeClr val="tx1"/>
                </a:solidFill>
                <a:effectLst/>
                <a:latin typeface="+mn-lt"/>
                <a:ea typeface="+mn-ea"/>
                <a:cs typeface="+mn-cs"/>
              </a:rPr>
              <a:t>1</a:t>
            </a:r>
            <a:r>
              <a:rPr lang="ja-JP" altLang="en-US" sz="1200" b="0" i="0" kern="1200">
                <a:solidFill>
                  <a:schemeClr val="tx1"/>
                </a:solidFill>
                <a:effectLst/>
                <a:latin typeface="+mn-lt"/>
                <a:ea typeface="+mn-ea"/>
                <a:cs typeface="+mn-cs"/>
              </a:rPr>
              <a:t>か月ほど前サーバーが落ちたのかアクセスできなくなったため、、、（ここまで</a:t>
            </a:r>
            <a:r>
              <a:rPr lang="en-US" altLang="ja-JP" sz="1200" b="0" i="0" kern="1200">
                <a:solidFill>
                  <a:schemeClr val="tx1"/>
                </a:solidFill>
                <a:effectLst/>
                <a:latin typeface="+mn-lt"/>
                <a:ea typeface="+mn-ea"/>
                <a:cs typeface="+mn-cs"/>
              </a:rPr>
              <a:t>6</a:t>
            </a:r>
            <a:r>
              <a:rPr lang="ja-JP" altLang="en-US" sz="1200" b="0" i="0" kern="1200">
                <a:solidFill>
                  <a:schemeClr val="tx1"/>
                </a:solidFill>
                <a:effectLst/>
                <a:latin typeface="+mn-lt"/>
                <a:ea typeface="+mn-ea"/>
                <a:cs typeface="+mn-cs"/>
              </a:rPr>
              <a:t>分</a:t>
            </a:r>
            <a:r>
              <a:rPr lang="en-US" altLang="ja-JP" sz="1200" b="0" i="0" kern="1200">
                <a:solidFill>
                  <a:schemeClr val="tx1"/>
                </a:solidFill>
                <a:effectLst/>
                <a:latin typeface="+mn-lt"/>
                <a:ea typeface="+mn-ea"/>
                <a:cs typeface="+mn-cs"/>
              </a:rPr>
              <a:t>30</a:t>
            </a:r>
            <a:r>
              <a:rPr lang="ja-JP" altLang="en-US" sz="1200" b="0" i="0" kern="1200">
                <a:solidFill>
                  <a:schemeClr val="tx1"/>
                </a:solidFill>
                <a:effectLst/>
                <a:latin typeface="+mn-lt"/>
                <a:ea typeface="+mn-ea"/>
                <a:cs typeface="+mn-cs"/>
              </a:rPr>
              <a:t>）</a:t>
            </a:r>
            <a:endParaRPr lang="en-US" altLang="ja-JP" sz="1200" b="0" i="0" kern="1200">
              <a:solidFill>
                <a:schemeClr val="tx1"/>
              </a:solidFill>
              <a:effectLst/>
              <a:latin typeface="+mn-lt"/>
              <a:ea typeface="+mn-ea"/>
              <a:cs typeface="+mn-cs"/>
            </a:endParaRPr>
          </a:p>
          <a:p>
            <a:r>
              <a:rPr lang="ja-JP" altLang="en-US" sz="1200" b="0" i="0" kern="1200">
                <a:solidFill>
                  <a:schemeClr val="tx1"/>
                </a:solidFill>
                <a:effectLst/>
                <a:latin typeface="+mn-lt"/>
                <a:ea typeface="+mn-ea"/>
                <a:cs typeface="+mn-cs"/>
              </a:rPr>
              <a:t>ーーーーーーーーーーーーーーーーーーーーー</a:t>
            </a:r>
            <a:endParaRPr lang="en-US" altLang="ja-JP"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dN/dE は 1 エネルギーあたりの光子の数、いわゆるスペクトルです。それに E² を掛けると、</a:t>
            </a:r>
            <a:r>
              <a:rPr lang="en-US" sz="1200" b="1" i="0" kern="1200">
                <a:solidFill>
                  <a:schemeClr val="tx1"/>
                </a:solidFill>
                <a:effectLst/>
                <a:latin typeface="+mn-lt"/>
                <a:ea typeface="+mn-ea"/>
                <a:cs typeface="+mn-cs"/>
              </a:rPr>
              <a:t>どのエネルギー帯にエネルギーが集中しているか</a:t>
            </a:r>
            <a:r>
              <a:rPr lang="en-US" sz="1200" b="0" i="0" kern="1200">
                <a:solidFill>
                  <a:schemeClr val="tx1"/>
                </a:solidFill>
                <a:effectLst/>
                <a:latin typeface="+mn-lt"/>
                <a:ea typeface="+mn-ea"/>
                <a:cs typeface="+mn-cs"/>
              </a:rPr>
              <a:t>が山として見える表示になります。</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58610-6929-7B70-BA41-6B7727306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53E8A-4D50-D8C8-8F1F-CCD04F143C4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74F3FE5-1C90-6D61-73C1-1A8C92CB0611}"/>
              </a:ext>
            </a:extLst>
          </p:cNvPr>
          <p:cNvSpPr>
            <a:spLocks noGrp="1"/>
          </p:cNvSpPr>
          <p:nvPr>
            <p:ph type="body" sz="quarter" idx="3"/>
          </p:nvPr>
        </p:nvSpPr>
        <p:spPr/>
        <p:txBody>
          <a:bodyPr/>
          <a:lstStyle/>
          <a:p>
            <a:r>
              <a:rPr lang="en-US" sz="1200" b="0" i="0" kern="1200">
                <a:solidFill>
                  <a:schemeClr val="tx1"/>
                </a:solidFill>
                <a:effectLst/>
                <a:latin typeface="+mn-lt"/>
                <a:ea typeface="+mn-ea"/>
                <a:cs typeface="+mn-cs"/>
              </a:rPr>
              <a:t>ここまでをまとめます。</a:t>
            </a:r>
            <a:r>
              <a:rPr lang="en-US" sz="1200" b="1" i="0" kern="1200">
                <a:solidFill>
                  <a:schemeClr val="tx1"/>
                </a:solidFill>
                <a:effectLst/>
                <a:latin typeface="+mn-lt"/>
                <a:ea typeface="+mn-ea"/>
                <a:cs typeface="+mn-cs"/>
              </a:rPr>
              <a:t>達成できたこと</a:t>
            </a:r>
            <a:r>
              <a:rPr lang="en-US" sz="1200" b="0" i="0" kern="1200">
                <a:solidFill>
                  <a:schemeClr val="tx1"/>
                </a:solidFill>
                <a:effectLst/>
                <a:latin typeface="+mn-lt"/>
                <a:ea typeface="+mn-ea"/>
                <a:cs typeface="+mn-cs"/>
              </a:rPr>
              <a:t>は、20 GeV のハロー過剰を戸谷さんと再現できたことです。有意度で 19σ、スペクトルの山・谷・頂点の位置、空間的な球対称性、そして全成分の合計、これらが戸谷さんと一致しました。</a:t>
            </a:r>
          </a:p>
          <a:p>
            <a:r>
              <a:rPr lang="en-US" sz="1200" b="0" i="0" kern="1200">
                <a:solidFill>
                  <a:schemeClr val="tx1"/>
                </a:solidFill>
                <a:effectLst/>
                <a:latin typeface="+mn-lt"/>
                <a:ea typeface="+mn-ea"/>
                <a:cs typeface="+mn-cs"/>
              </a:rPr>
              <a:t>一方で</a:t>
            </a:r>
            <a:r>
              <a:rPr lang="en-US" sz="1200" b="1" i="0" kern="1200">
                <a:solidFill>
                  <a:schemeClr val="tx1"/>
                </a:solidFill>
                <a:effectLst/>
                <a:latin typeface="+mn-lt"/>
                <a:ea typeface="+mn-ea"/>
                <a:cs typeface="+mn-cs"/>
              </a:rPr>
              <a:t>課題</a:t>
            </a:r>
            <a:r>
              <a:rPr lang="en-US" sz="1200" b="0" i="0" kern="1200">
                <a:solidFill>
                  <a:schemeClr val="tx1"/>
                </a:solidFill>
                <a:effectLst/>
                <a:latin typeface="+mn-lt"/>
                <a:ea typeface="+mn-ea"/>
                <a:cs typeface="+mn-cs"/>
              </a:rPr>
              <a:t>も残っています。一つ目は、等方成分が戸谷さんの 0.38 倍に潰れること。これは本研究の ICS 成分が平坦なためと、</a:t>
            </a:r>
            <a:r>
              <a:rPr lang="en-US" sz="1200" b="1" i="0" kern="1200">
                <a:solidFill>
                  <a:schemeClr val="tx1"/>
                </a:solidFill>
                <a:effectLst/>
                <a:latin typeface="+mn-lt"/>
                <a:ea typeface="+mn-ea"/>
                <a:cs typeface="+mn-cs"/>
              </a:rPr>
              <a:t>原因は特定できています</a:t>
            </a:r>
            <a:r>
              <a:rPr lang="en-US" sz="1200" b="0" i="0" kern="1200">
                <a:solidFill>
                  <a:schemeClr val="tx1"/>
                </a:solidFill>
                <a:effectLst/>
                <a:latin typeface="+mn-lt"/>
                <a:ea typeface="+mn-ea"/>
                <a:cs typeface="+mn-cs"/>
              </a:rPr>
              <a:t>。二つ目は、有意度の『形』は一致しているものの『大きさ』が 1.3〜1.6 倍、系統的に大きいこと。三つ目は、低エネルギー側はハローの符号が負になり、モデル依存も大きいので、ここは</a:t>
            </a:r>
            <a:r>
              <a:rPr lang="en-US" sz="1200" b="1" i="0" kern="1200">
                <a:solidFill>
                  <a:schemeClr val="tx1"/>
                </a:solidFill>
                <a:effectLst/>
                <a:latin typeface="+mn-lt"/>
                <a:ea typeface="+mn-ea"/>
                <a:cs typeface="+mn-cs"/>
              </a:rPr>
              <a:t>決定不能</a:t>
            </a:r>
            <a:r>
              <a:rPr lang="en-US" sz="1200" b="0" i="0" kern="1200">
                <a:solidFill>
                  <a:schemeClr val="tx1"/>
                </a:solidFill>
                <a:effectLst/>
                <a:latin typeface="+mn-lt"/>
                <a:ea typeface="+mn-ea"/>
                <a:cs typeface="+mn-cs"/>
              </a:rPr>
              <a:t>としています。</a:t>
            </a:r>
          </a:p>
          <a:p>
            <a:r>
              <a:rPr lang="en-US" sz="1200" b="0" i="0" kern="1200">
                <a:solidFill>
                  <a:schemeClr val="tx1"/>
                </a:solidFill>
                <a:effectLst/>
                <a:latin typeface="+mn-lt"/>
                <a:ea typeface="+mn-ea"/>
                <a:cs typeface="+mn-cs"/>
              </a:rPr>
              <a:t>解釈の上で強調したいのは、私たちが検出したのは『</a:t>
            </a:r>
            <a:r>
              <a:rPr lang="en-US" sz="1200" b="1" i="0" kern="1200">
                <a:solidFill>
                  <a:schemeClr val="tx1"/>
                </a:solidFill>
                <a:effectLst/>
                <a:latin typeface="+mn-lt"/>
                <a:ea typeface="+mn-ea"/>
                <a:cs typeface="+mn-cs"/>
              </a:rPr>
              <a:t>既知の背景では説明できない過剰</a:t>
            </a:r>
            <a:r>
              <a:rPr lang="en-US" sz="1200" b="0" i="0" kern="1200">
                <a:solidFill>
                  <a:schemeClr val="tx1"/>
                </a:solidFill>
                <a:effectLst/>
                <a:latin typeface="+mn-lt"/>
                <a:ea typeface="+mn-ea"/>
                <a:cs typeface="+mn-cs"/>
              </a:rPr>
              <a:t>』であって、それがダークマターかどうかは、また別の踏み込んだ主張だということです。そして残った食い違いの根本原因である ICS の形は、GALPROP という拡散モデルの計算に由来していて、確定には GALPROP の再計算が必要ですが、今その計算サーバーが止まっているため、そこは今後の課題です。</a:t>
            </a:r>
            <a:r>
              <a:rPr lang="ja-JP" altLang="en-US" sz="1200" b="0" i="0" kern="1200">
                <a:solidFill>
                  <a:schemeClr val="tx1"/>
                </a:solidFill>
                <a:effectLst/>
                <a:latin typeface="+mn-lt"/>
                <a:ea typeface="+mn-ea"/>
                <a:cs typeface="+mn-cs"/>
              </a:rPr>
              <a:t>（ここまで</a:t>
            </a:r>
            <a:r>
              <a:rPr lang="en-US" altLang="ja-JP" sz="1200" b="0" i="0" kern="1200">
                <a:solidFill>
                  <a:schemeClr val="tx1"/>
                </a:solidFill>
                <a:effectLst/>
                <a:latin typeface="+mn-lt"/>
                <a:ea typeface="+mn-ea"/>
                <a:cs typeface="+mn-cs"/>
              </a:rPr>
              <a:t>7</a:t>
            </a:r>
            <a:r>
              <a:rPr lang="ja-JP" altLang="en-US" sz="1200" b="0" i="0" kern="1200">
                <a:solidFill>
                  <a:schemeClr val="tx1"/>
                </a:solidFill>
                <a:effectLst/>
                <a:latin typeface="+mn-lt"/>
                <a:ea typeface="+mn-ea"/>
                <a:cs typeface="+mn-cs"/>
              </a:rPr>
              <a:t>分</a:t>
            </a:r>
            <a:r>
              <a:rPr lang="en-US" altLang="ja-JP" sz="1200" b="0" i="0" kern="1200">
                <a:solidFill>
                  <a:schemeClr val="tx1"/>
                </a:solidFill>
                <a:effectLst/>
                <a:latin typeface="+mn-lt"/>
                <a:ea typeface="+mn-ea"/>
                <a:cs typeface="+mn-cs"/>
              </a:rPr>
              <a:t>0</a:t>
            </a:r>
            <a:r>
              <a:rPr lang="ja-JP" altLang="en-US" sz="1200" b="0" i="0" kern="1200">
                <a:solidFill>
                  <a:schemeClr val="tx1"/>
                </a:solidFill>
                <a:effectLst/>
                <a:latin typeface="+mn-lt"/>
                <a:ea typeface="+mn-ea"/>
                <a:cs typeface="+mn-cs"/>
              </a:rPr>
              <a:t>）</a:t>
            </a:r>
            <a:endParaRPr lang="en-US" sz="1200" b="0" i="0" kern="1200">
              <a:solidFill>
                <a:schemeClr val="tx1"/>
              </a:solidFill>
              <a:effectLst/>
              <a:latin typeface="+mn-lt"/>
              <a:ea typeface="+mn-ea"/>
              <a:cs typeface="+mn-cs"/>
            </a:endParaRPr>
          </a:p>
          <a:p>
            <a:endParaRPr/>
          </a:p>
        </p:txBody>
      </p:sp>
      <p:sp>
        <p:nvSpPr>
          <p:cNvPr id="4" name="Slide Number Placeholder 3">
            <a:extLst>
              <a:ext uri="{FF2B5EF4-FFF2-40B4-BE49-F238E27FC236}">
                <a16:creationId xmlns:a16="http://schemas.microsoft.com/office/drawing/2014/main" id="{7C2E2485-7DD6-C8C6-B9BD-6E96B564958D}"/>
              </a:ext>
            </a:extLst>
          </p:cNvPr>
          <p:cNvSpPr>
            <a:spLocks noGrp="1"/>
          </p:cNvSpPr>
          <p:nvPr>
            <p:ph type="sldNum" sz="quarter" idx="5"/>
          </p:nvPr>
        </p:nvSpPr>
        <p:spPr/>
      </p:sp>
    </p:spTree>
    <p:extLst>
      <p:ext uri="{BB962C8B-B14F-4D97-AF65-F5344CB8AC3E}">
        <p14:creationId xmlns:p14="http://schemas.microsoft.com/office/powerpoint/2010/main" val="2462836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a:solidFill>
                  <a:schemeClr val="tx1"/>
                </a:solidFill>
                <a:effectLst/>
                <a:latin typeface="+mn-lt"/>
                <a:ea typeface="+mn-ea"/>
                <a:cs typeface="+mn-cs"/>
              </a:rPr>
              <a:t>「結論です。戸谷さんが報告した 20 GeV のハロー過剰を、有意度・スペクトル・空間分布で再現できました。今後は、ダークマターが多いとされる矮小銀河や、J-factor が理論上は天の川銀河と同程度とされる M31 にこの手法を広げること、そして Ackermann 2015・Stenhouse 2026・Alemanno+2026（DAMPE）などを参考に手法を拡張することを考えています。</a:t>
            </a:r>
            <a:r>
              <a:rPr lang="ja-JP" altLang="en-US" sz="1200" b="0" i="0" kern="1200">
                <a:solidFill>
                  <a:schemeClr val="tx1"/>
                </a:solidFill>
                <a:effectLst/>
                <a:latin typeface="+mn-lt"/>
                <a:ea typeface="+mn-ea"/>
                <a:cs typeface="+mn-cs"/>
              </a:rPr>
              <a:t>（ここまで</a:t>
            </a:r>
            <a:r>
              <a:rPr lang="en-US" altLang="ja-JP" sz="1200" b="0" i="0" kern="1200">
                <a:solidFill>
                  <a:schemeClr val="tx1"/>
                </a:solidFill>
                <a:effectLst/>
                <a:latin typeface="+mn-lt"/>
                <a:ea typeface="+mn-ea"/>
                <a:cs typeface="+mn-cs"/>
              </a:rPr>
              <a:t>7</a:t>
            </a:r>
            <a:r>
              <a:rPr lang="ja-JP" altLang="en-US" sz="1200" b="0" i="0" kern="1200">
                <a:solidFill>
                  <a:schemeClr val="tx1"/>
                </a:solidFill>
                <a:effectLst/>
                <a:latin typeface="+mn-lt"/>
                <a:ea typeface="+mn-ea"/>
                <a:cs typeface="+mn-cs"/>
              </a:rPr>
              <a:t>分</a:t>
            </a:r>
            <a:r>
              <a:rPr lang="en-US" altLang="ja-JP" sz="1200" b="0" i="0" kern="1200">
                <a:solidFill>
                  <a:schemeClr val="tx1"/>
                </a:solidFill>
                <a:effectLst/>
                <a:latin typeface="+mn-lt"/>
                <a:ea typeface="+mn-ea"/>
                <a:cs typeface="+mn-cs"/>
              </a:rPr>
              <a:t>30</a:t>
            </a:r>
            <a:r>
              <a:rPr lang="ja-JP" altLang="en-US" sz="1200" b="0" i="0" kern="1200">
                <a:solidFill>
                  <a:schemeClr val="tx1"/>
                </a:solidFill>
                <a:effectLst/>
                <a:latin typeface="+mn-lt"/>
                <a:ea typeface="+mn-ea"/>
                <a:cs typeface="+mn-cs"/>
              </a:rPr>
              <a:t>）</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8067" y="1558002"/>
            <a:ext cx="11245386" cy="2554545"/>
          </a:xfrm>
          <a:prstGeom prst="rect">
            <a:avLst/>
          </a:prstGeom>
          <a:noFill/>
        </p:spPr>
        <p:txBody>
          <a:bodyPr wrap="none">
            <a:spAutoFit/>
          </a:bodyPr>
          <a:lstStyle/>
          <a:p>
            <a:pPr algn="ctr">
              <a:defRPr sz="4000" b="1">
                <a:solidFill>
                  <a:srgbClr val="FFFFFF"/>
                </a:solidFill>
              </a:defRPr>
            </a:pPr>
            <a:r>
              <a:rPr sz="6000"/>
              <a:t>銀河中心</a:t>
            </a:r>
            <a:r>
              <a:rPr lang="ja-JP" altLang="en-US" sz="6000"/>
              <a:t>における</a:t>
            </a:r>
            <a:r>
              <a:rPr sz="6000"/>
              <a:t>ガンマ線過剰</a:t>
            </a:r>
            <a:r>
              <a:rPr lang="ja-JP" altLang="en-US" sz="6000"/>
              <a:t>：</a:t>
            </a:r>
            <a:endParaRPr lang="en-US" sz="6000"/>
          </a:p>
          <a:p>
            <a:pPr algn="ctr">
              <a:defRPr sz="4000" b="1">
                <a:solidFill>
                  <a:srgbClr val="FFFFFF"/>
                </a:solidFill>
              </a:defRPr>
            </a:pPr>
            <a:r>
              <a:rPr lang="ja-JP" altLang="en-US" sz="6000"/>
              <a:t>ダークマター起源説の</a:t>
            </a:r>
            <a:r>
              <a:rPr sz="6000"/>
              <a:t>統計的</a:t>
            </a:r>
            <a:r>
              <a:rPr lang="ja-JP" altLang="en-US" sz="6000"/>
              <a:t>検証</a:t>
            </a:r>
            <a:endParaRPr lang="en-US" sz="6000"/>
          </a:p>
          <a:p>
            <a:pPr algn="ctr">
              <a:defRPr sz="4000" b="1">
                <a:solidFill>
                  <a:srgbClr val="FFFFFF"/>
                </a:solidFill>
              </a:defRPr>
            </a:pPr>
            <a:endParaRPr/>
          </a:p>
        </p:txBody>
      </p:sp>
      <p:sp>
        <p:nvSpPr>
          <p:cNvPr id="3" name="TextBox 2"/>
          <p:cNvSpPr txBox="1"/>
          <p:nvPr/>
        </p:nvSpPr>
        <p:spPr>
          <a:xfrm>
            <a:off x="1260374" y="3820160"/>
            <a:ext cx="9640781" cy="584775"/>
          </a:xfrm>
          <a:prstGeom prst="rect">
            <a:avLst/>
          </a:prstGeom>
          <a:noFill/>
        </p:spPr>
        <p:txBody>
          <a:bodyPr wrap="none">
            <a:spAutoFit/>
          </a:bodyPr>
          <a:lstStyle/>
          <a:p>
            <a:pPr algn="ctr">
              <a:defRPr sz="2000">
                <a:solidFill>
                  <a:srgbClr val="FFCC00"/>
                </a:solidFill>
              </a:defRPr>
            </a:pPr>
            <a:r>
              <a:rPr sz="3200"/>
              <a:t>中間発表 — Totani (2025)</a:t>
            </a:r>
            <a:r>
              <a:rPr lang="ja-JP" altLang="en-US" sz="3200"/>
              <a:t>の解析手法の再現状況報告</a:t>
            </a:r>
            <a:r>
              <a:rPr sz="3200"/>
              <a:t> </a:t>
            </a:r>
          </a:p>
        </p:txBody>
      </p:sp>
      <p:sp>
        <p:nvSpPr>
          <p:cNvPr id="4" name="TextBox 3"/>
          <p:cNvSpPr txBox="1"/>
          <p:nvPr/>
        </p:nvSpPr>
        <p:spPr>
          <a:xfrm>
            <a:off x="4911208" y="4662468"/>
            <a:ext cx="2339103" cy="954107"/>
          </a:xfrm>
          <a:prstGeom prst="rect">
            <a:avLst/>
          </a:prstGeom>
          <a:noFill/>
        </p:spPr>
        <p:txBody>
          <a:bodyPr wrap="none">
            <a:spAutoFit/>
          </a:bodyPr>
          <a:lstStyle/>
          <a:p>
            <a:pPr algn="ctr">
              <a:defRPr sz="2000">
                <a:solidFill>
                  <a:srgbClr val="FFFFFF"/>
                </a:solidFill>
              </a:defRPr>
            </a:pPr>
            <a:r>
              <a:rPr sz="2800"/>
              <a:t>中村惺一</a:t>
            </a:r>
            <a:endParaRPr lang="en-US" altLang="ja-JP" sz="2800"/>
          </a:p>
          <a:p>
            <a:pPr algn="ctr">
              <a:defRPr sz="2000">
                <a:solidFill>
                  <a:srgbClr val="FFFFFF"/>
                </a:solidFill>
              </a:defRPr>
            </a:pPr>
            <a:r>
              <a:rPr lang="ja-JP" altLang="en-US" sz="2800"/>
              <a:t>（神奈川大学）</a:t>
            </a:r>
            <a:endParaRPr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822960"/>
          </a:xfrm>
          <a:prstGeom prst="rect">
            <a:avLst/>
          </a:prstGeom>
          <a:noFill/>
        </p:spPr>
        <p:txBody>
          <a:bodyPr wrap="square">
            <a:spAutoFit/>
          </a:bodyPr>
          <a:lstStyle/>
          <a:p>
            <a:pPr>
              <a:defRPr sz="3000" b="1">
                <a:solidFill>
                  <a:srgbClr val="FFFFFF"/>
                </a:solidFill>
              </a:defRPr>
            </a:pPr>
            <a:r>
              <a:rPr lang="ja-JP" altLang="en-US"/>
              <a:t>目次</a:t>
            </a:r>
            <a:endParaRPr/>
          </a:p>
        </p:txBody>
      </p:sp>
      <p:sp>
        <p:nvSpPr>
          <p:cNvPr id="3" name="TextBox 2"/>
          <p:cNvSpPr txBox="1"/>
          <p:nvPr/>
        </p:nvSpPr>
        <p:spPr>
          <a:xfrm>
            <a:off x="548640" y="1234440"/>
            <a:ext cx="10972800" cy="5180905"/>
          </a:xfrm>
          <a:prstGeom prst="rect">
            <a:avLst/>
          </a:prstGeom>
          <a:noFill/>
        </p:spPr>
        <p:txBody>
          <a:bodyPr wrap="square">
            <a:spAutoFit/>
          </a:bodyPr>
          <a:lstStyle/>
          <a:p>
            <a:pPr>
              <a:spcAft>
                <a:spcPts val="800"/>
              </a:spcAft>
              <a:defRPr sz="2100">
                <a:solidFill>
                  <a:srgbClr val="FFFFFF"/>
                </a:solidFill>
              </a:defRPr>
            </a:pPr>
            <a:r>
              <a:rPr lang="en-US" sz="2400"/>
              <a:t>・</a:t>
            </a:r>
            <a:r>
              <a:rPr sz="2400"/>
              <a:t> </a:t>
            </a:r>
            <a:r>
              <a:rPr lang="en-US" sz="2400"/>
              <a:t>introduction：</a:t>
            </a:r>
            <a:r>
              <a:rPr sz="2400"/>
              <a:t>ガンマ線</a:t>
            </a:r>
            <a:r>
              <a:rPr lang="ja-JP" altLang="en-US" sz="2400"/>
              <a:t>過剰</a:t>
            </a:r>
            <a:endParaRPr lang="en-US" sz="2400"/>
          </a:p>
          <a:p>
            <a:pPr>
              <a:spcAft>
                <a:spcPts val="800"/>
              </a:spcAft>
              <a:defRPr sz="2100">
                <a:solidFill>
                  <a:srgbClr val="FFFFFF"/>
                </a:solidFill>
              </a:defRPr>
            </a:pPr>
            <a:r>
              <a:rPr lang="en-US" sz="2400"/>
              <a:t>					</a:t>
            </a:r>
            <a:r>
              <a:rPr lang="en-US" altLang="ja-JP" sz="2400"/>
              <a:t>NFW</a:t>
            </a:r>
            <a:r>
              <a:rPr lang="ja-JP" altLang="en-US" sz="2400"/>
              <a:t>プロファイル</a:t>
            </a:r>
            <a:endParaRPr lang="en-US" altLang="ja-JP" sz="2400"/>
          </a:p>
          <a:p>
            <a:pPr>
              <a:spcAft>
                <a:spcPts val="800"/>
              </a:spcAft>
              <a:defRPr sz="2100">
                <a:solidFill>
                  <a:srgbClr val="FFFFFF"/>
                </a:solidFill>
              </a:defRPr>
            </a:pPr>
            <a:r>
              <a:rPr lang="en-US" sz="2400"/>
              <a:t>					</a:t>
            </a:r>
            <a:r>
              <a:rPr lang="en-US" altLang="ja-JP" sz="2400"/>
              <a:t>WIMP</a:t>
            </a:r>
            <a:r>
              <a:rPr lang="ja-JP" altLang="en-US" sz="2400"/>
              <a:t>対消滅の過程</a:t>
            </a:r>
            <a:endParaRPr lang="en-US" sz="2400"/>
          </a:p>
          <a:p>
            <a:pPr>
              <a:spcAft>
                <a:spcPts val="800"/>
              </a:spcAft>
              <a:defRPr sz="2100">
                <a:solidFill>
                  <a:srgbClr val="FFFFFF"/>
                </a:solidFill>
              </a:defRPr>
            </a:pPr>
            <a:r>
              <a:rPr lang="en-US" sz="2400"/>
              <a:t>・Motivation    :	</a:t>
            </a:r>
            <a:r>
              <a:rPr lang="ja-JP" altLang="en-US" sz="2400"/>
              <a:t>ダークマター起源説の統計的検証</a:t>
            </a:r>
            <a:endParaRPr sz="2400"/>
          </a:p>
          <a:p>
            <a:pPr>
              <a:spcAft>
                <a:spcPts val="800"/>
              </a:spcAft>
              <a:defRPr sz="2100">
                <a:solidFill>
                  <a:srgbClr val="FFFFFF"/>
                </a:solidFill>
              </a:defRPr>
            </a:pPr>
            <a:r>
              <a:rPr sz="2400"/>
              <a:t>・</a:t>
            </a:r>
            <a:r>
              <a:rPr lang="en-US" sz="2400"/>
              <a:t> method</a:t>
            </a:r>
            <a:r>
              <a:rPr lang="ja-JP" altLang="en-US" sz="2400"/>
              <a:t>　</a:t>
            </a:r>
            <a:r>
              <a:rPr lang="en-US" sz="2400"/>
              <a:t> ： </a:t>
            </a:r>
            <a:r>
              <a:rPr lang="ja-JP" altLang="en-US" sz="2400"/>
              <a:t>　手法の概要</a:t>
            </a:r>
            <a:endParaRPr lang="en-US" altLang="ja-JP" sz="2400"/>
          </a:p>
          <a:p>
            <a:pPr>
              <a:spcAft>
                <a:spcPts val="800"/>
              </a:spcAft>
              <a:defRPr sz="2100">
                <a:solidFill>
                  <a:srgbClr val="FFFFFF"/>
                </a:solidFill>
              </a:defRPr>
            </a:pPr>
            <a:r>
              <a:rPr lang="en-US" sz="2400"/>
              <a:t>				</a:t>
            </a:r>
            <a:r>
              <a:rPr lang="ja-JP" altLang="en-US" sz="2400"/>
              <a:t>　　</a:t>
            </a:r>
            <a:r>
              <a:rPr sz="2400"/>
              <a:t>解析対象領域と7成分モデル</a:t>
            </a:r>
          </a:p>
          <a:p>
            <a:pPr>
              <a:spcAft>
                <a:spcPts val="800"/>
              </a:spcAft>
              <a:defRPr sz="2100">
                <a:solidFill>
                  <a:srgbClr val="FFFFFF"/>
                </a:solidFill>
              </a:defRPr>
            </a:pPr>
            <a:r>
              <a:rPr lang="en-US" sz="2400"/>
              <a:t>			</a:t>
            </a:r>
            <a:r>
              <a:rPr lang="ja-JP" altLang="en-US" sz="2400"/>
              <a:t>　　　　</a:t>
            </a:r>
            <a:r>
              <a:rPr sz="2400"/>
              <a:t>MCMC同時フィット</a:t>
            </a:r>
            <a:endParaRPr lang="en-US" sz="2400"/>
          </a:p>
          <a:p>
            <a:pPr>
              <a:spcAft>
                <a:spcPts val="800"/>
              </a:spcAft>
              <a:defRPr sz="2100">
                <a:solidFill>
                  <a:srgbClr val="FFFFFF"/>
                </a:solidFill>
              </a:defRPr>
            </a:pPr>
            <a:r>
              <a:rPr sz="2400"/>
              <a:t>・ </a:t>
            </a:r>
            <a:r>
              <a:rPr lang="en-US" sz="2400"/>
              <a:t>result ： </a:t>
            </a:r>
            <a:r>
              <a:rPr lang="ja-JP" altLang="en-US" sz="2400"/>
              <a:t>　　　</a:t>
            </a:r>
            <a:r>
              <a:rPr sz="2400"/>
              <a:t>全13ビンでのハロー有意度スペクトル</a:t>
            </a:r>
          </a:p>
          <a:p>
            <a:pPr>
              <a:spcAft>
                <a:spcPts val="800"/>
              </a:spcAft>
              <a:defRPr sz="2100">
                <a:solidFill>
                  <a:srgbClr val="FFFFFF"/>
                </a:solidFill>
              </a:defRPr>
            </a:pPr>
            <a:r>
              <a:rPr lang="en-US" sz="2400"/>
              <a:t>・ 				</a:t>
            </a:r>
            <a:r>
              <a:rPr lang="ja-JP" altLang="en-US" sz="2400"/>
              <a:t>　  </a:t>
            </a:r>
            <a:r>
              <a:rPr sz="2400"/>
              <a:t>Totani (2025) との比較</a:t>
            </a:r>
          </a:p>
          <a:p>
            <a:pPr>
              <a:spcAft>
                <a:spcPts val="800"/>
              </a:spcAft>
              <a:defRPr sz="2100">
                <a:solidFill>
                  <a:srgbClr val="FFFFFF"/>
                </a:solidFill>
              </a:defRPr>
            </a:pPr>
            <a:r>
              <a:rPr sz="2400"/>
              <a:t>・ Discussion：</a:t>
            </a:r>
            <a:r>
              <a:rPr lang="ja-JP" altLang="en-US" sz="2400">
                <a:solidFill>
                  <a:schemeClr val="bg1"/>
                </a:solidFill>
              </a:rPr>
              <a:t>達成できたことと課題</a:t>
            </a:r>
            <a:endParaRPr sz="2400"/>
          </a:p>
          <a:p>
            <a:pPr>
              <a:spcAft>
                <a:spcPts val="800"/>
              </a:spcAft>
              <a:defRPr sz="2100">
                <a:solidFill>
                  <a:srgbClr val="FFFFFF"/>
                </a:solidFill>
              </a:defRPr>
            </a:pPr>
            <a:r>
              <a:rPr sz="2400"/>
              <a:t>・ Conclusion</a:t>
            </a:r>
            <a:r>
              <a:rPr lang="en-US" sz="2400"/>
              <a:t> </a:t>
            </a:r>
            <a:r>
              <a:rPr lang="ja-JP" altLang="en-US" sz="2400"/>
              <a:t>：まとめと今後</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72440" y="274320"/>
            <a:ext cx="11247120" cy="1077218"/>
          </a:xfrm>
          <a:prstGeom prst="rect">
            <a:avLst/>
          </a:prstGeom>
          <a:noFill/>
        </p:spPr>
        <p:txBody>
          <a:bodyPr wrap="square">
            <a:spAutoFit/>
          </a:bodyPr>
          <a:lstStyle/>
          <a:p>
            <a:pPr>
              <a:defRPr sz="2800" b="1">
                <a:solidFill>
                  <a:srgbClr val="FFFFFF"/>
                </a:solidFill>
              </a:defRPr>
            </a:pPr>
            <a:r>
              <a:rPr lang="en-US" sz="3200"/>
              <a:t>Introduction</a:t>
            </a:r>
            <a:r>
              <a:rPr lang="ja-JP" altLang="en-US" sz="3200"/>
              <a:t>　ガンマ線過剰：</a:t>
            </a:r>
          </a:p>
          <a:p>
            <a:pPr>
              <a:defRPr sz="2800" b="1">
                <a:solidFill>
                  <a:srgbClr val="FFFFFF"/>
                </a:solidFill>
              </a:defRPr>
            </a:pPr>
            <a:r>
              <a:rPr lang="ja-JP" altLang="en-US" sz="3200"/>
              <a:t>　</a:t>
            </a:r>
            <a:endParaRPr sz="3200"/>
          </a:p>
        </p:txBody>
      </p:sp>
      <p:sp>
        <p:nvSpPr>
          <p:cNvPr id="3" name="TextBox 2">
            <a:extLst>
              <a:ext uri="{FF2B5EF4-FFF2-40B4-BE49-F238E27FC236}">
                <a16:creationId xmlns:a16="http://schemas.microsoft.com/office/drawing/2014/main" id="{B9149E4A-16E6-56F3-BF56-18EBF572359A}"/>
              </a:ext>
            </a:extLst>
          </p:cNvPr>
          <p:cNvSpPr txBox="1"/>
          <p:nvPr/>
        </p:nvSpPr>
        <p:spPr>
          <a:xfrm>
            <a:off x="1066800" y="1367464"/>
            <a:ext cx="8658225" cy="1477328"/>
          </a:xfrm>
          <a:prstGeom prst="rect">
            <a:avLst/>
          </a:prstGeom>
          <a:noFill/>
        </p:spPr>
        <p:txBody>
          <a:bodyPr wrap="square" rtlCol="0">
            <a:spAutoFit/>
          </a:bodyPr>
          <a:lstStyle/>
          <a:p>
            <a:r>
              <a:rPr lang="en-US" sz="2400">
                <a:solidFill>
                  <a:schemeClr val="bg1"/>
                </a:solidFill>
              </a:rPr>
              <a:t>銀河中心方向に、既知の背景を全部引いても残るガンマ線の</a:t>
            </a:r>
            <a:r>
              <a:rPr lang="en-US" sz="2400" b="1">
                <a:solidFill>
                  <a:schemeClr val="bg1"/>
                </a:solidFill>
              </a:rPr>
              <a:t>過剰</a:t>
            </a:r>
            <a:r>
              <a:rPr lang="en-US" sz="2400">
                <a:solidFill>
                  <a:schemeClr val="bg1"/>
                </a:solidFill>
              </a:rPr>
              <a:t>がある</a:t>
            </a:r>
          </a:p>
          <a:p>
            <a:r>
              <a:rPr lang="ja-JP" altLang="en-US" sz="2400">
                <a:solidFill>
                  <a:schemeClr val="bg1"/>
                </a:solidFill>
              </a:rPr>
              <a:t>→この過剰の</a:t>
            </a:r>
            <a:r>
              <a:rPr lang="ja-JP" altLang="en-US" sz="2400" u="sng">
                <a:solidFill>
                  <a:schemeClr val="bg1"/>
                </a:solidFill>
              </a:rPr>
              <a:t>正体を突き止める</a:t>
            </a:r>
          </a:p>
          <a:p>
            <a:endParaRPr lang="en-US">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12FECDC-E64A-7419-0290-93560B30ED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0CEC51-8A20-F631-12F8-2079A2CE33D8}"/>
              </a:ext>
            </a:extLst>
          </p:cNvPr>
          <p:cNvSpPr txBox="1"/>
          <p:nvPr/>
        </p:nvSpPr>
        <p:spPr>
          <a:xfrm>
            <a:off x="472440" y="274320"/>
            <a:ext cx="11247120" cy="1077218"/>
          </a:xfrm>
          <a:prstGeom prst="rect">
            <a:avLst/>
          </a:prstGeom>
          <a:noFill/>
        </p:spPr>
        <p:txBody>
          <a:bodyPr wrap="square">
            <a:spAutoFit/>
          </a:bodyPr>
          <a:lstStyle/>
          <a:p>
            <a:pPr>
              <a:defRPr sz="2800" b="1">
                <a:solidFill>
                  <a:srgbClr val="FFFFFF"/>
                </a:solidFill>
              </a:defRPr>
            </a:pPr>
            <a:r>
              <a:rPr lang="en-US" sz="3200"/>
              <a:t>Introduction</a:t>
            </a:r>
            <a:r>
              <a:rPr lang="ja-JP" altLang="en-US" sz="3200"/>
              <a:t>　</a:t>
            </a:r>
            <a:r>
              <a:rPr lang="en-US" altLang="ja-JP" sz="3200"/>
              <a:t>NFW</a:t>
            </a:r>
            <a:r>
              <a:rPr lang="ja-JP" altLang="en-US" sz="3200"/>
              <a:t>プロファイル</a:t>
            </a:r>
          </a:p>
          <a:p>
            <a:pPr>
              <a:defRPr sz="2800" b="1">
                <a:solidFill>
                  <a:srgbClr val="FFFFFF"/>
                </a:solidFill>
              </a:defRPr>
            </a:pPr>
            <a:r>
              <a:rPr lang="ja-JP" altLang="en-US" sz="3200"/>
              <a:t>　</a:t>
            </a:r>
            <a:endParaRPr sz="3200"/>
          </a:p>
        </p:txBody>
      </p:sp>
      <p:sp>
        <p:nvSpPr>
          <p:cNvPr id="3" name="TextBox 2">
            <a:extLst>
              <a:ext uri="{FF2B5EF4-FFF2-40B4-BE49-F238E27FC236}">
                <a16:creationId xmlns:a16="http://schemas.microsoft.com/office/drawing/2014/main" id="{B09F6B25-4F59-D394-22B3-0AB1EA6F822A}"/>
              </a:ext>
            </a:extLst>
          </p:cNvPr>
          <p:cNvSpPr txBox="1"/>
          <p:nvPr/>
        </p:nvSpPr>
        <p:spPr>
          <a:xfrm>
            <a:off x="6396966" y="2270067"/>
            <a:ext cx="6448425" cy="3600986"/>
          </a:xfrm>
          <a:prstGeom prst="rect">
            <a:avLst/>
          </a:prstGeom>
          <a:noFill/>
        </p:spPr>
        <p:txBody>
          <a:bodyPr wrap="square" rtlCol="0">
            <a:spAutoFit/>
          </a:bodyPr>
          <a:lstStyle/>
          <a:p>
            <a:endParaRPr lang="ja-JP" altLang="en-US" sz="2100">
              <a:solidFill>
                <a:schemeClr val="bg1"/>
              </a:solidFill>
            </a:endParaRPr>
          </a:p>
          <a:p>
            <a:r>
              <a:rPr lang="en-US" altLang="ja-JP" sz="2100">
                <a:solidFill>
                  <a:schemeClr val="bg1"/>
                </a:solidFill>
              </a:rPr>
              <a:t>NFW</a:t>
            </a:r>
            <a:r>
              <a:rPr lang="ja-JP" altLang="en-US" sz="2100">
                <a:solidFill>
                  <a:schemeClr val="bg1"/>
                </a:solidFill>
              </a:rPr>
              <a:t>プロファイルから分かること</a:t>
            </a:r>
            <a:endParaRPr lang="en-US" altLang="ja-JP" sz="2100">
              <a:solidFill>
                <a:schemeClr val="bg1"/>
              </a:solidFill>
            </a:endParaRPr>
          </a:p>
          <a:p>
            <a:r>
              <a:rPr lang="ja-JP" altLang="en-US" sz="2100">
                <a:solidFill>
                  <a:schemeClr val="bg1"/>
                </a:solidFill>
              </a:rPr>
              <a:t>→中心ほど</a:t>
            </a:r>
            <a:r>
              <a:rPr lang="en-US" altLang="ja-JP" sz="2100">
                <a:solidFill>
                  <a:schemeClr val="bg1"/>
                </a:solidFill>
              </a:rPr>
              <a:t>DM</a:t>
            </a:r>
            <a:r>
              <a:rPr lang="ja-JP" altLang="en-US" sz="2100">
                <a:solidFill>
                  <a:schemeClr val="bg1"/>
                </a:solidFill>
              </a:rPr>
              <a:t>密度が高い</a:t>
            </a:r>
            <a:endParaRPr lang="en-US" altLang="ja-JP" sz="2100">
              <a:solidFill>
                <a:schemeClr val="bg1"/>
              </a:solidFill>
            </a:endParaRPr>
          </a:p>
          <a:p>
            <a:endParaRPr lang="en-US" altLang="ja-JP" sz="2100">
              <a:solidFill>
                <a:schemeClr val="bg1"/>
              </a:solidFill>
            </a:endParaRPr>
          </a:p>
          <a:p>
            <a:endParaRPr lang="en-US" altLang="ja-JP" sz="2100">
              <a:solidFill>
                <a:schemeClr val="bg1"/>
              </a:solidFill>
            </a:endParaRPr>
          </a:p>
          <a:p>
            <a:endParaRPr lang="ja-JP" altLang="en-US" sz="2100">
              <a:solidFill>
                <a:schemeClr val="bg1"/>
              </a:solidFill>
            </a:endParaRPr>
          </a:p>
          <a:p>
            <a:r>
              <a:rPr lang="ja-JP" altLang="en-US" sz="2100">
                <a:solidFill>
                  <a:schemeClr val="bg1"/>
                </a:solidFill>
              </a:rPr>
              <a:t>次スライド→</a:t>
            </a:r>
          </a:p>
          <a:p>
            <a:r>
              <a:rPr lang="ja-JP" altLang="en-US" sz="2100">
                <a:solidFill>
                  <a:schemeClr val="bg1"/>
                </a:solidFill>
              </a:rPr>
              <a:t>「銀河中心の高密度」 と</a:t>
            </a:r>
            <a:endParaRPr lang="en-US" altLang="ja-JP" sz="2100">
              <a:solidFill>
                <a:schemeClr val="bg1"/>
              </a:solidFill>
            </a:endParaRPr>
          </a:p>
          <a:p>
            <a:r>
              <a:rPr lang="ja-JP" altLang="en-US" sz="2100">
                <a:solidFill>
                  <a:schemeClr val="bg1"/>
                </a:solidFill>
              </a:rPr>
              <a:t> 「ガンマ線過剰によるダークマター信号発見」</a:t>
            </a:r>
            <a:endParaRPr lang="en-US" altLang="ja-JP" sz="2100">
              <a:solidFill>
                <a:schemeClr val="bg1"/>
              </a:solidFill>
            </a:endParaRPr>
          </a:p>
          <a:p>
            <a:r>
              <a:rPr lang="ja-JP" altLang="en-US" sz="2100">
                <a:solidFill>
                  <a:schemeClr val="bg1"/>
                </a:solidFill>
              </a:rPr>
              <a:t>について。</a:t>
            </a:r>
            <a:endParaRPr lang="en-US" altLang="ja-JP" sz="2100">
              <a:solidFill>
                <a:schemeClr val="bg1"/>
              </a:solidFill>
            </a:endParaRPr>
          </a:p>
          <a:p>
            <a:endParaRPr lang="en-US">
              <a:solidFill>
                <a:schemeClr val="bg1"/>
              </a:solidFill>
            </a:endParaRPr>
          </a:p>
        </p:txBody>
      </p:sp>
      <p:sp>
        <p:nvSpPr>
          <p:cNvPr id="4" name="Rectangle 3">
            <a:extLst>
              <a:ext uri="{FF2B5EF4-FFF2-40B4-BE49-F238E27FC236}">
                <a16:creationId xmlns:a16="http://schemas.microsoft.com/office/drawing/2014/main" id="{9DEF44E6-4A96-6967-5C78-363C094F7FC3}"/>
              </a:ext>
            </a:extLst>
          </p:cNvPr>
          <p:cNvSpPr/>
          <p:nvPr/>
        </p:nvSpPr>
        <p:spPr>
          <a:xfrm>
            <a:off x="325821" y="1387366"/>
            <a:ext cx="5255172" cy="47191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descr="The image depicts a Dark Matter (DM) density profile, showing a high density near the center (galactic center) and decreasing with increasing distance from the center.&#10;&#10;AI-generated content may be incorrect.">
            <a:extLst>
              <a:ext uri="{FF2B5EF4-FFF2-40B4-BE49-F238E27FC236}">
                <a16:creationId xmlns:a16="http://schemas.microsoft.com/office/drawing/2014/main" id="{87094E53-6584-2C45-1174-5B6433C952C5}"/>
              </a:ext>
            </a:extLst>
          </p:cNvPr>
          <p:cNvPicPr>
            <a:picLocks noChangeAspect="1"/>
          </p:cNvPicPr>
          <p:nvPr/>
        </p:nvPicPr>
        <p:blipFill>
          <a:blip r:embed="rId3"/>
          <a:stretch>
            <a:fillRect/>
          </a:stretch>
        </p:blipFill>
        <p:spPr>
          <a:xfrm>
            <a:off x="0" y="1088967"/>
            <a:ext cx="6004470" cy="5170516"/>
          </a:xfrm>
          <a:prstGeom prst="rect">
            <a:avLst/>
          </a:prstGeom>
        </p:spPr>
      </p:pic>
      <p:sp>
        <p:nvSpPr>
          <p:cNvPr id="7" name="TextBox 6">
            <a:extLst>
              <a:ext uri="{FF2B5EF4-FFF2-40B4-BE49-F238E27FC236}">
                <a16:creationId xmlns:a16="http://schemas.microsoft.com/office/drawing/2014/main" id="{176A9B2A-9991-1BB8-5360-89D5BFC56D94}"/>
              </a:ext>
            </a:extLst>
          </p:cNvPr>
          <p:cNvSpPr txBox="1"/>
          <p:nvPr/>
        </p:nvSpPr>
        <p:spPr>
          <a:xfrm>
            <a:off x="6187532" y="1387366"/>
            <a:ext cx="6424612" cy="830997"/>
          </a:xfrm>
          <a:prstGeom prst="rect">
            <a:avLst/>
          </a:prstGeom>
          <a:noFill/>
        </p:spPr>
        <p:txBody>
          <a:bodyPr wrap="square">
            <a:spAutoFit/>
          </a:bodyPr>
          <a:lstStyle/>
          <a:p>
            <a:r>
              <a:rPr lang="en-US" altLang="ja-JP" sz="2400">
                <a:solidFill>
                  <a:schemeClr val="bg1"/>
                </a:solidFill>
              </a:rPr>
              <a:t>DM</a:t>
            </a:r>
            <a:r>
              <a:rPr lang="ja-JP" altLang="en-US" sz="2400">
                <a:solidFill>
                  <a:schemeClr val="bg1"/>
                </a:solidFill>
              </a:rPr>
              <a:t>は銀河中心に密集</a:t>
            </a:r>
            <a:endParaRPr lang="en-US" altLang="ja-JP" sz="2400">
              <a:solidFill>
                <a:schemeClr val="bg1"/>
              </a:solidFill>
            </a:endParaRPr>
          </a:p>
          <a:p>
            <a:r>
              <a:rPr lang="ja-JP" altLang="en-US" sz="2400">
                <a:solidFill>
                  <a:schemeClr val="bg1"/>
                </a:solidFill>
              </a:rPr>
              <a:t> → </a:t>
            </a:r>
            <a:r>
              <a:rPr lang="en-US" altLang="ja-JP" sz="2400">
                <a:solidFill>
                  <a:schemeClr val="bg1"/>
                </a:solidFill>
              </a:rPr>
              <a:t>NFW</a:t>
            </a:r>
            <a:r>
              <a:rPr lang="ja-JP" altLang="en-US" sz="2400">
                <a:solidFill>
                  <a:schemeClr val="bg1"/>
                </a:solidFill>
              </a:rPr>
              <a:t>プロファイル（左の密度図。</a:t>
            </a:r>
            <a:endParaRPr lang="en-US" sz="2400">
              <a:solidFill>
                <a:schemeClr val="bg1"/>
              </a:solidFill>
            </a:endParaRPr>
          </a:p>
        </p:txBody>
      </p:sp>
    </p:spTree>
    <p:extLst>
      <p:ext uri="{BB962C8B-B14F-4D97-AF65-F5344CB8AC3E}">
        <p14:creationId xmlns:p14="http://schemas.microsoft.com/office/powerpoint/2010/main" val="2702961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E923090-27AC-9D99-B484-4B90966087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236C86-1109-A8B1-B29C-6C8B8D7E281C}"/>
              </a:ext>
            </a:extLst>
          </p:cNvPr>
          <p:cNvSpPr txBox="1"/>
          <p:nvPr/>
        </p:nvSpPr>
        <p:spPr>
          <a:xfrm>
            <a:off x="457200" y="274320"/>
            <a:ext cx="6710562" cy="523220"/>
          </a:xfrm>
          <a:prstGeom prst="rect">
            <a:avLst/>
          </a:prstGeom>
          <a:noFill/>
        </p:spPr>
        <p:txBody>
          <a:bodyPr wrap="square">
            <a:spAutoFit/>
          </a:bodyPr>
          <a:lstStyle/>
          <a:p>
            <a:pPr>
              <a:defRPr sz="2800" b="1">
                <a:solidFill>
                  <a:srgbClr val="FFFFFF"/>
                </a:solidFill>
              </a:defRPr>
            </a:pPr>
            <a:r>
              <a:rPr lang="en-US"/>
              <a:t>Introduction</a:t>
            </a:r>
            <a:r>
              <a:rPr lang="ja-JP" altLang="en-US"/>
              <a:t>　</a:t>
            </a:r>
            <a:r>
              <a:rPr lang="en-US" altLang="ja-JP" sz="2800"/>
              <a:t> WIMP</a:t>
            </a:r>
            <a:r>
              <a:rPr lang="ja-JP" altLang="en-US" sz="2800"/>
              <a:t>対消滅の過程</a:t>
            </a:r>
            <a:endParaRPr/>
          </a:p>
        </p:txBody>
      </p:sp>
      <p:sp>
        <p:nvSpPr>
          <p:cNvPr id="24" name="TextBox 23">
            <a:extLst>
              <a:ext uri="{FF2B5EF4-FFF2-40B4-BE49-F238E27FC236}">
                <a16:creationId xmlns:a16="http://schemas.microsoft.com/office/drawing/2014/main" id="{87FF9376-740D-35A8-E17C-7CA63DE7B05C}"/>
              </a:ext>
            </a:extLst>
          </p:cNvPr>
          <p:cNvSpPr txBox="1"/>
          <p:nvPr/>
        </p:nvSpPr>
        <p:spPr>
          <a:xfrm>
            <a:off x="2656036" y="1099236"/>
            <a:ext cx="9144000" cy="461665"/>
          </a:xfrm>
          <a:prstGeom prst="rect">
            <a:avLst/>
          </a:prstGeom>
          <a:noFill/>
        </p:spPr>
        <p:txBody>
          <a:bodyPr wrap="square">
            <a:spAutoFit/>
          </a:bodyPr>
          <a:lstStyle/>
          <a:p>
            <a:r>
              <a:rPr lang="en-US" altLang="ja-JP" sz="2400">
                <a:solidFill>
                  <a:schemeClr val="bg1"/>
                </a:solidFill>
              </a:rPr>
              <a:t>WIMP</a:t>
            </a:r>
            <a:r>
              <a:rPr lang="ja-JP" altLang="en-US" sz="2400">
                <a:solidFill>
                  <a:schemeClr val="bg1"/>
                </a:solidFill>
              </a:rPr>
              <a:t>対消滅 </a:t>
            </a:r>
            <a:r>
              <a:rPr lang="en-US" altLang="ja-JP" sz="2400">
                <a:solidFill>
                  <a:schemeClr val="bg1"/>
                </a:solidFill>
              </a:rPr>
              <a:t>χχ → q q̄ → </a:t>
            </a:r>
            <a:r>
              <a:rPr lang="ja-JP" altLang="en-US" sz="2400">
                <a:solidFill>
                  <a:schemeClr val="bg1"/>
                </a:solidFill>
              </a:rPr>
              <a:t>ハドロン化 → </a:t>
            </a:r>
            <a:r>
              <a:rPr lang="en-US" altLang="ja-JP" sz="2400">
                <a:solidFill>
                  <a:schemeClr val="bg1"/>
                </a:solidFill>
              </a:rPr>
              <a:t>π⁰ → γγ</a:t>
            </a:r>
            <a:endParaRPr lang="en-US" sz="2400">
              <a:solidFill>
                <a:schemeClr val="bg1"/>
              </a:solidFill>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FE554B5-63ED-1BA1-3913-05A17559141A}"/>
                  </a:ext>
                </a:extLst>
              </p:cNvPr>
              <p:cNvSpPr txBox="1"/>
              <p:nvPr/>
            </p:nvSpPr>
            <p:spPr>
              <a:xfrm>
                <a:off x="375920" y="5113080"/>
                <a:ext cx="6090845" cy="502445"/>
              </a:xfrm>
              <a:prstGeom prst="rect">
                <a:avLst/>
              </a:prstGeom>
              <a:noFill/>
            </p:spPr>
            <p:txBody>
              <a:bodyPr wrap="square" rtlCol="0">
                <a:spAutoFit/>
              </a:bodyPr>
              <a:lstStyle/>
              <a:p>
                <a:r>
                  <a:rPr lang="ja-JP" altLang="en-US" sz="2400">
                    <a:solidFill>
                      <a:schemeClr val="bg1"/>
                    </a:solidFill>
                  </a:rPr>
                  <a:t>質量候補　</a:t>
                </a:r>
                <a14:m>
                  <m:oMath xmlns:m="http://schemas.openxmlformats.org/officeDocument/2006/math">
                    <m:sSub>
                      <m:sSubPr>
                        <m:ctrlPr>
                          <a:rPr lang="en-US" sz="2400" i="1" smtClean="0">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𝑚</m:t>
                        </m:r>
                      </m:e>
                      <m:sub>
                        <m:r>
                          <m:rPr>
                            <m:nor/>
                          </m:rPr>
                          <a:rPr lang="en-US" altLang="ja-JP" sz="2400" i="0">
                            <a:solidFill>
                              <a:schemeClr val="bg1"/>
                            </a:solidFill>
                          </a:rPr>
                          <m:t>χ</m:t>
                        </m:r>
                      </m:sub>
                    </m:sSub>
                  </m:oMath>
                </a14:m>
                <a:r>
                  <a:rPr lang="ja-JP" altLang="en-US" sz="2400">
                    <a:solidFill>
                      <a:schemeClr val="bg1"/>
                    </a:solidFill>
                  </a:rPr>
                  <a:t>　：</a:t>
                </a:r>
                <a:r>
                  <a:rPr lang="en-US" altLang="ja-JP" sz="2400">
                    <a:solidFill>
                      <a:schemeClr val="bg1"/>
                    </a:solidFill>
                  </a:rPr>
                  <a:t>1GeV – 1</a:t>
                </a:r>
                <a:r>
                  <a:rPr lang="en-US" sz="2400">
                    <a:solidFill>
                      <a:schemeClr val="bg1"/>
                    </a:solidFill>
                  </a:rPr>
                  <a:t>0TeV</a:t>
                </a:r>
              </a:p>
            </p:txBody>
          </p:sp>
        </mc:Choice>
        <mc:Fallback>
          <p:sp>
            <p:nvSpPr>
              <p:cNvPr id="3" name="TextBox 2">
                <a:extLst>
                  <a:ext uri="{FF2B5EF4-FFF2-40B4-BE49-F238E27FC236}">
                    <a16:creationId xmlns:a16="http://schemas.microsoft.com/office/drawing/2014/main" id="{DFE554B5-63ED-1BA1-3913-05A17559141A}"/>
                  </a:ext>
                </a:extLst>
              </p:cNvPr>
              <p:cNvSpPr txBox="1">
                <a:spLocks noRot="1" noChangeAspect="1" noMove="1" noResize="1" noEditPoints="1" noAdjustHandles="1" noChangeArrowheads="1" noChangeShapeType="1" noTextEdit="1"/>
              </p:cNvSpPr>
              <p:nvPr/>
            </p:nvSpPr>
            <p:spPr>
              <a:xfrm>
                <a:off x="375920" y="5113080"/>
                <a:ext cx="6090845" cy="502445"/>
              </a:xfrm>
              <a:prstGeom prst="rect">
                <a:avLst/>
              </a:prstGeom>
              <a:blipFill>
                <a:blip r:embed="rId3"/>
                <a:stretch>
                  <a:fillRect l="-1602" t="-13415" b="-2195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26673E0-F076-59AE-6800-C2925DC697D1}"/>
                  </a:ext>
                </a:extLst>
              </p:cNvPr>
              <p:cNvSpPr txBox="1"/>
              <p:nvPr/>
            </p:nvSpPr>
            <p:spPr>
              <a:xfrm>
                <a:off x="375920" y="5496534"/>
                <a:ext cx="6545242" cy="461665"/>
              </a:xfrm>
              <a:prstGeom prst="rect">
                <a:avLst/>
              </a:prstGeom>
              <a:noFill/>
            </p:spPr>
            <p:txBody>
              <a:bodyPr wrap="square" rtlCol="0">
                <a:spAutoFit/>
              </a:bodyPr>
              <a:lstStyle/>
              <a:p>
                <a:r>
                  <a:rPr lang="ja-JP" altLang="en-US" sz="2400">
                    <a:solidFill>
                      <a:schemeClr val="bg1"/>
                    </a:solidFill>
                  </a:rPr>
                  <a:t>対消滅断面積</a:t>
                </a:r>
                <a14:m>
                  <m:oMath xmlns:m="http://schemas.openxmlformats.org/officeDocument/2006/math">
                    <m:sSub>
                      <m:sSubPr>
                        <m:ctrlPr>
                          <a:rPr lang="ja-JP" altLang="en-US" sz="2400" i="1" smtClean="0">
                            <a:solidFill>
                              <a:schemeClr val="bg1"/>
                            </a:solidFill>
                            <a:latin typeface="Cambria Math" panose="02040503050406030204" pitchFamily="18" charset="0"/>
                          </a:rPr>
                        </m:ctrlPr>
                      </m:sSubPr>
                      <m:e>
                        <m:d>
                          <m:dPr>
                            <m:begChr m:val="⟨"/>
                            <m:endChr m:val="⟩"/>
                            <m:ctrlPr>
                              <a:rPr lang="ja-JP" altLang="en-US" sz="2400" i="1" smtClean="0">
                                <a:solidFill>
                                  <a:schemeClr val="bg1"/>
                                </a:solidFill>
                                <a:latin typeface="Cambria Math" panose="02040503050406030204" pitchFamily="18" charset="0"/>
                              </a:rPr>
                            </m:ctrlPr>
                          </m:dPr>
                          <m:e>
                            <m:r>
                              <a:rPr lang="ja-JP" altLang="en-US" sz="2400" i="1" smtClean="0">
                                <a:solidFill>
                                  <a:schemeClr val="bg1"/>
                                </a:solidFill>
                                <a:latin typeface="Cambria Math" panose="02040503050406030204" pitchFamily="18" charset="0"/>
                              </a:rPr>
                              <m:t>𝜎</m:t>
                            </m:r>
                            <m:r>
                              <a:rPr lang="ja-JP" altLang="en-US" sz="2400" i="1" smtClean="0">
                                <a:solidFill>
                                  <a:schemeClr val="bg1"/>
                                </a:solidFill>
                                <a:latin typeface="Cambria Math" panose="02040503050406030204" pitchFamily="18" charset="0"/>
                              </a:rPr>
                              <m:t>𝑣</m:t>
                            </m:r>
                          </m:e>
                        </m:d>
                      </m:e>
                      <m:sub>
                        <m:r>
                          <a:rPr lang="ja-JP" altLang="en-US" sz="2400" i="1" smtClean="0">
                            <a:solidFill>
                              <a:schemeClr val="bg1"/>
                            </a:solidFill>
                            <a:latin typeface="Cambria Math" panose="02040503050406030204" pitchFamily="18" charset="0"/>
                          </a:rPr>
                          <m:t>𝑡</m:t>
                        </m:r>
                        <m:r>
                          <a:rPr lang="ja-JP" altLang="en-US" sz="2400" i="1" smtClean="0">
                            <a:solidFill>
                              <a:schemeClr val="bg1"/>
                            </a:solidFill>
                            <a:latin typeface="Cambria Math" panose="02040503050406030204" pitchFamily="18" charset="0"/>
                          </a:rPr>
                          <m:t>h</m:t>
                        </m:r>
                      </m:sub>
                    </m:sSub>
                  </m:oMath>
                </a14:m>
                <a:r>
                  <a:rPr lang="ja-JP" altLang="en-US" sz="2400">
                    <a:solidFill>
                      <a:schemeClr val="bg1"/>
                    </a:solidFill>
                  </a:rPr>
                  <a:t>　： 　</a:t>
                </a:r>
                <a14:m>
                  <m:oMath xmlns:m="http://schemas.openxmlformats.org/officeDocument/2006/math">
                    <m:r>
                      <a:rPr lang="en-US" altLang="ja-JP" sz="2400" i="1">
                        <a:solidFill>
                          <a:schemeClr val="bg1"/>
                        </a:solidFill>
                        <a:latin typeface="Cambria Math" panose="02040503050406030204" pitchFamily="18" charset="0"/>
                        <a:ea typeface="Cambria Math" panose="02040503050406030204" pitchFamily="18" charset="0"/>
                      </a:rPr>
                      <m:t>3</m:t>
                    </m:r>
                    <m:r>
                      <a:rPr lang="en-US" altLang="ja-JP" sz="2400" i="1" smtClean="0">
                        <a:solidFill>
                          <a:schemeClr val="bg1"/>
                        </a:solidFill>
                        <a:latin typeface="Cambria Math" panose="02040503050406030204" pitchFamily="18" charset="0"/>
                        <a:ea typeface="Cambria Math" panose="02040503050406030204" pitchFamily="18" charset="0"/>
                      </a:rPr>
                      <m:t>×</m:t>
                    </m:r>
                    <m:sSup>
                      <m:sSupPr>
                        <m:ctrlPr>
                          <a:rPr lang="ja-JP" altLang="en-US" sz="2400" i="1" smtClean="0">
                            <a:solidFill>
                              <a:schemeClr val="bg1"/>
                            </a:solidFill>
                            <a:latin typeface="Cambria Math" panose="02040503050406030204" pitchFamily="18" charset="0"/>
                            <a:ea typeface="Cambria Math" panose="02040503050406030204" pitchFamily="18" charset="0"/>
                          </a:rPr>
                        </m:ctrlPr>
                      </m:sSupPr>
                      <m:e>
                        <m:r>
                          <a:rPr lang="en-US" altLang="ja-JP" sz="2400" i="1">
                            <a:solidFill>
                              <a:schemeClr val="bg1"/>
                            </a:solidFill>
                            <a:latin typeface="Cambria Math" panose="02040503050406030204" pitchFamily="18" charset="0"/>
                            <a:ea typeface="Cambria Math" panose="02040503050406030204" pitchFamily="18" charset="0"/>
                          </a:rPr>
                          <m:t>10</m:t>
                        </m:r>
                      </m:e>
                      <m:sup>
                        <m:r>
                          <a:rPr lang="en-US" altLang="ja-JP" sz="2400" b="0" i="1" smtClean="0">
                            <a:solidFill>
                              <a:schemeClr val="bg1"/>
                            </a:solidFill>
                            <a:latin typeface="Cambria Math" panose="02040503050406030204" pitchFamily="18" charset="0"/>
                            <a:ea typeface="Cambria Math" panose="02040503050406030204" pitchFamily="18" charset="0"/>
                          </a:rPr>
                          <m:t>−</m:t>
                        </m:r>
                        <m:r>
                          <a:rPr lang="en-US" altLang="ja-JP" sz="2400" b="0" i="1" smtClean="0">
                            <a:solidFill>
                              <a:schemeClr val="bg1"/>
                            </a:solidFill>
                            <a:latin typeface="Cambria Math" panose="02040503050406030204" pitchFamily="18" charset="0"/>
                            <a:ea typeface="Cambria Math" panose="02040503050406030204" pitchFamily="18" charset="0"/>
                          </a:rPr>
                          <m:t>26</m:t>
                        </m:r>
                      </m:sup>
                    </m:sSup>
                    <m:r>
                      <a:rPr lang="ja-JP" altLang="en-US" sz="2400" i="1">
                        <a:solidFill>
                          <a:schemeClr val="bg1"/>
                        </a:solidFill>
                        <a:latin typeface="Cambria Math" panose="02040503050406030204" pitchFamily="18" charset="0"/>
                      </a:rPr>
                      <m:t>𝑐</m:t>
                    </m:r>
                    <m:sSup>
                      <m:sSupPr>
                        <m:ctrlPr>
                          <a:rPr lang="ja-JP" altLang="en-US" sz="2400" i="1">
                            <a:solidFill>
                              <a:schemeClr val="bg1"/>
                            </a:solidFill>
                            <a:latin typeface="Cambria Math" panose="02040503050406030204" pitchFamily="18" charset="0"/>
                          </a:rPr>
                        </m:ctrlPr>
                      </m:sSupPr>
                      <m:e>
                        <m:r>
                          <a:rPr lang="ja-JP" altLang="en-US" sz="2400" i="1">
                            <a:solidFill>
                              <a:schemeClr val="bg1"/>
                            </a:solidFill>
                            <a:latin typeface="Cambria Math" panose="02040503050406030204" pitchFamily="18" charset="0"/>
                          </a:rPr>
                          <m:t>𝑚</m:t>
                        </m:r>
                      </m:e>
                      <m:sup>
                        <m:r>
                          <a:rPr lang="ja-JP" altLang="en-US" sz="2400" i="1">
                            <a:solidFill>
                              <a:schemeClr val="bg1"/>
                            </a:solidFill>
                            <a:latin typeface="Cambria Math" panose="02040503050406030204" pitchFamily="18" charset="0"/>
                          </a:rPr>
                          <m:t>3</m:t>
                        </m:r>
                      </m:sup>
                    </m:sSup>
                    <m:sSup>
                      <m:sSupPr>
                        <m:ctrlPr>
                          <a:rPr lang="ja-JP" altLang="en-US" sz="2400" i="1">
                            <a:solidFill>
                              <a:schemeClr val="bg1"/>
                            </a:solidFill>
                            <a:latin typeface="Cambria Math" panose="02040503050406030204" pitchFamily="18" charset="0"/>
                          </a:rPr>
                        </m:ctrlPr>
                      </m:sSupPr>
                      <m:e>
                        <m:r>
                          <a:rPr lang="ja-JP" altLang="en-US" sz="2400" i="1">
                            <a:solidFill>
                              <a:schemeClr val="bg1"/>
                            </a:solidFill>
                            <a:latin typeface="Cambria Math" panose="02040503050406030204" pitchFamily="18" charset="0"/>
                          </a:rPr>
                          <m:t>𝑠</m:t>
                        </m:r>
                      </m:e>
                      <m:sup>
                        <m:r>
                          <a:rPr lang="ja-JP" altLang="en-US" sz="2400" i="1">
                            <a:solidFill>
                              <a:schemeClr val="bg1"/>
                            </a:solidFill>
                            <a:latin typeface="Cambria Math" panose="02040503050406030204" pitchFamily="18" charset="0"/>
                          </a:rPr>
                          <m:t>−</m:t>
                        </m:r>
                        <m:r>
                          <a:rPr lang="ja-JP" altLang="en-US" sz="2400" i="1">
                            <a:solidFill>
                              <a:schemeClr val="bg1"/>
                            </a:solidFill>
                            <a:latin typeface="Cambria Math" panose="02040503050406030204" pitchFamily="18" charset="0"/>
                          </a:rPr>
                          <m:t>1</m:t>
                        </m:r>
                      </m:sup>
                    </m:sSup>
                  </m:oMath>
                </a14:m>
                <a:endParaRPr lang="en-US" sz="2400">
                  <a:solidFill>
                    <a:schemeClr val="bg1"/>
                  </a:solidFill>
                </a:endParaRPr>
              </a:p>
            </p:txBody>
          </p:sp>
        </mc:Choice>
        <mc:Fallback>
          <p:sp>
            <p:nvSpPr>
              <p:cNvPr id="4" name="TextBox 3">
                <a:extLst>
                  <a:ext uri="{FF2B5EF4-FFF2-40B4-BE49-F238E27FC236}">
                    <a16:creationId xmlns:a16="http://schemas.microsoft.com/office/drawing/2014/main" id="{526673E0-F076-59AE-6800-C2925DC697D1}"/>
                  </a:ext>
                </a:extLst>
              </p:cNvPr>
              <p:cNvSpPr txBox="1">
                <a:spLocks noRot="1" noChangeAspect="1" noMove="1" noResize="1" noEditPoints="1" noAdjustHandles="1" noChangeArrowheads="1" noChangeShapeType="1" noTextEdit="1"/>
              </p:cNvSpPr>
              <p:nvPr/>
            </p:nvSpPr>
            <p:spPr>
              <a:xfrm>
                <a:off x="375920" y="5496534"/>
                <a:ext cx="6545242" cy="461665"/>
              </a:xfrm>
              <a:prstGeom prst="rect">
                <a:avLst/>
              </a:prstGeom>
              <a:blipFill>
                <a:blip r:embed="rId4"/>
                <a:stretch>
                  <a:fillRect l="-1491" t="-16000" b="-25333"/>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165D569B-ADDF-297E-D78D-F472712AC816}"/>
              </a:ext>
            </a:extLst>
          </p:cNvPr>
          <p:cNvGrpSpPr>
            <a:grpSpLocks noChangeAspect="1"/>
          </p:cNvGrpSpPr>
          <p:nvPr/>
        </p:nvGrpSpPr>
        <p:grpSpPr>
          <a:xfrm>
            <a:off x="2016804" y="1725295"/>
            <a:ext cx="8470866" cy="2839937"/>
            <a:chOff x="0" y="1136213"/>
            <a:chExt cx="11452191" cy="3839454"/>
          </a:xfrm>
        </p:grpSpPr>
        <p:sp>
          <p:nvSpPr>
            <p:cNvPr id="7" name="Flowchart: Connector 6">
              <a:extLst>
                <a:ext uri="{FF2B5EF4-FFF2-40B4-BE49-F238E27FC236}">
                  <a16:creationId xmlns:a16="http://schemas.microsoft.com/office/drawing/2014/main" id="{9E0EBD2F-57CB-85D4-CE3B-DF82DD142BEC}"/>
                </a:ext>
              </a:extLst>
            </p:cNvPr>
            <p:cNvSpPr/>
            <p:nvPr/>
          </p:nvSpPr>
          <p:spPr>
            <a:xfrm>
              <a:off x="0" y="1136213"/>
              <a:ext cx="1495168" cy="1463040"/>
            </a:xfrm>
            <a:prstGeom prst="flowChartConnector">
              <a:avLst/>
            </a:prstGeom>
            <a:solidFill>
              <a:schemeClr val="accent4"/>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9" name="Flowchart: Connector 8">
              <a:extLst>
                <a:ext uri="{FF2B5EF4-FFF2-40B4-BE49-F238E27FC236}">
                  <a16:creationId xmlns:a16="http://schemas.microsoft.com/office/drawing/2014/main" id="{DEE9C517-2B96-3594-62F8-6326BBD22A4E}"/>
                </a:ext>
              </a:extLst>
            </p:cNvPr>
            <p:cNvSpPr/>
            <p:nvPr/>
          </p:nvSpPr>
          <p:spPr>
            <a:xfrm>
              <a:off x="24001" y="3176206"/>
              <a:ext cx="1495168" cy="1463040"/>
            </a:xfrm>
            <a:prstGeom prst="flowChartConnector">
              <a:avLst/>
            </a:prstGeom>
            <a:solidFill>
              <a:schemeClr val="accent4"/>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2" name="Arrow: Right 11">
              <a:extLst>
                <a:ext uri="{FF2B5EF4-FFF2-40B4-BE49-F238E27FC236}">
                  <a16:creationId xmlns:a16="http://schemas.microsoft.com/office/drawing/2014/main" id="{4451ED57-F5E6-8066-C238-72B8E620320C}"/>
                </a:ext>
              </a:extLst>
            </p:cNvPr>
            <p:cNvSpPr/>
            <p:nvPr/>
          </p:nvSpPr>
          <p:spPr>
            <a:xfrm rot="20338903">
              <a:off x="1643352" y="3342432"/>
              <a:ext cx="2014750" cy="320215"/>
            </a:xfrm>
            <a:prstGeom prst="rightArrow">
              <a:avLst>
                <a:gd name="adj1" fmla="val 50000"/>
                <a:gd name="adj2" fmla="val 188509"/>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4" name="Arrow: Right 13">
              <a:extLst>
                <a:ext uri="{FF2B5EF4-FFF2-40B4-BE49-F238E27FC236}">
                  <a16:creationId xmlns:a16="http://schemas.microsoft.com/office/drawing/2014/main" id="{D446AC4A-0D0E-A93B-171C-562F2ACC9714}"/>
                </a:ext>
              </a:extLst>
            </p:cNvPr>
            <p:cNvSpPr/>
            <p:nvPr/>
          </p:nvSpPr>
          <p:spPr>
            <a:xfrm rot="1358062">
              <a:off x="1640055" y="2252559"/>
              <a:ext cx="2069349" cy="347114"/>
            </a:xfrm>
            <a:prstGeom prst="rightArrow">
              <a:avLst>
                <a:gd name="adj1" fmla="val 47281"/>
                <a:gd name="adj2" fmla="val 188509"/>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5" name="Star: 7 Points 14">
              <a:extLst>
                <a:ext uri="{FF2B5EF4-FFF2-40B4-BE49-F238E27FC236}">
                  <a16:creationId xmlns:a16="http://schemas.microsoft.com/office/drawing/2014/main" id="{C86E5ADF-8B9D-5852-8C19-566315AA3F8B}"/>
                </a:ext>
              </a:extLst>
            </p:cNvPr>
            <p:cNvSpPr/>
            <p:nvPr/>
          </p:nvSpPr>
          <p:spPr>
            <a:xfrm>
              <a:off x="3564107" y="2104918"/>
              <a:ext cx="1603021" cy="1393983"/>
            </a:xfrm>
            <a:prstGeom prst="star7">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7" name="Arrow: Right 16">
              <a:extLst>
                <a:ext uri="{FF2B5EF4-FFF2-40B4-BE49-F238E27FC236}">
                  <a16:creationId xmlns:a16="http://schemas.microsoft.com/office/drawing/2014/main" id="{9D8F8B09-3296-776B-AE86-E2B491AD47C2}"/>
                </a:ext>
              </a:extLst>
            </p:cNvPr>
            <p:cNvSpPr/>
            <p:nvPr/>
          </p:nvSpPr>
          <p:spPr>
            <a:xfrm rot="1358062">
              <a:off x="5277269" y="3349831"/>
              <a:ext cx="2069349" cy="347114"/>
            </a:xfrm>
            <a:prstGeom prst="rightArrow">
              <a:avLst>
                <a:gd name="adj1" fmla="val 47281"/>
                <a:gd name="adj2" fmla="val 188509"/>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9" name="Arrow: Right 18">
              <a:extLst>
                <a:ext uri="{FF2B5EF4-FFF2-40B4-BE49-F238E27FC236}">
                  <a16:creationId xmlns:a16="http://schemas.microsoft.com/office/drawing/2014/main" id="{01201B5D-3BE7-0C72-26D8-6CDC93C8E4C9}"/>
                </a:ext>
              </a:extLst>
            </p:cNvPr>
            <p:cNvSpPr/>
            <p:nvPr/>
          </p:nvSpPr>
          <p:spPr>
            <a:xfrm rot="20679634">
              <a:off x="5303819" y="2187267"/>
              <a:ext cx="2069349" cy="347114"/>
            </a:xfrm>
            <a:prstGeom prst="rightArrow">
              <a:avLst>
                <a:gd name="adj1" fmla="val 47281"/>
                <a:gd name="adj2" fmla="val 188509"/>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20" name="TextBox 19">
              <a:extLst>
                <a:ext uri="{FF2B5EF4-FFF2-40B4-BE49-F238E27FC236}">
                  <a16:creationId xmlns:a16="http://schemas.microsoft.com/office/drawing/2014/main" id="{A5576C31-623E-EE8D-9737-B57A10D637A0}"/>
                </a:ext>
              </a:extLst>
            </p:cNvPr>
            <p:cNvSpPr txBox="1"/>
            <p:nvPr/>
          </p:nvSpPr>
          <p:spPr>
            <a:xfrm>
              <a:off x="5780818" y="1520143"/>
              <a:ext cx="472943" cy="1123467"/>
            </a:xfrm>
            <a:prstGeom prst="rect">
              <a:avLst/>
            </a:prstGeom>
            <a:noFill/>
          </p:spPr>
          <p:txBody>
            <a:bodyPr wrap="square" rtlCol="0">
              <a:spAutoFit/>
            </a:bodyPr>
            <a:lstStyle/>
            <a:p>
              <a:r>
                <a:rPr lang="ja-JP" altLang="en-US" sz="2400">
                  <a:solidFill>
                    <a:schemeClr val="bg1"/>
                  </a:solidFill>
                </a:rPr>
                <a:t>ｑ</a:t>
              </a:r>
              <a:endParaRPr lang="en-US" sz="2400">
                <a:solidFill>
                  <a:schemeClr val="bg1"/>
                </a:solidFill>
              </a:endParaRPr>
            </a:p>
            <a:p>
              <a:endParaRPr lang="en-US" sz="2400">
                <a:solidFill>
                  <a:schemeClr val="bg1"/>
                </a:solidFill>
              </a:endParaRPr>
            </a:p>
          </p:txBody>
        </p:sp>
        <p:sp>
          <p:nvSpPr>
            <p:cNvPr id="22" name="TextBox 21">
              <a:extLst>
                <a:ext uri="{FF2B5EF4-FFF2-40B4-BE49-F238E27FC236}">
                  <a16:creationId xmlns:a16="http://schemas.microsoft.com/office/drawing/2014/main" id="{AFE21421-6B1B-9D93-200C-EE8FE8F1F5FA}"/>
                </a:ext>
              </a:extLst>
            </p:cNvPr>
            <p:cNvSpPr txBox="1"/>
            <p:nvPr/>
          </p:nvSpPr>
          <p:spPr>
            <a:xfrm>
              <a:off x="5633495" y="3615337"/>
              <a:ext cx="448051" cy="624148"/>
            </a:xfrm>
            <a:prstGeom prst="rect">
              <a:avLst/>
            </a:prstGeom>
            <a:noFill/>
          </p:spPr>
          <p:txBody>
            <a:bodyPr wrap="square">
              <a:spAutoFit/>
            </a:bodyPr>
            <a:lstStyle/>
            <a:p>
              <a:r>
                <a:rPr lang="en-US" sz="2400">
                  <a:solidFill>
                    <a:schemeClr val="bg1"/>
                  </a:solidFill>
                </a:rPr>
                <a:t>q̄</a:t>
              </a:r>
            </a:p>
          </p:txBody>
        </p:sp>
        <p:sp>
          <p:nvSpPr>
            <p:cNvPr id="26" name="Flowchart: Connector 25">
              <a:extLst>
                <a:ext uri="{FF2B5EF4-FFF2-40B4-BE49-F238E27FC236}">
                  <a16:creationId xmlns:a16="http://schemas.microsoft.com/office/drawing/2014/main" id="{33E9ECEA-4C71-E35D-4AE4-3F393FFA1A1A}"/>
                </a:ext>
              </a:extLst>
            </p:cNvPr>
            <p:cNvSpPr/>
            <p:nvPr/>
          </p:nvSpPr>
          <p:spPr>
            <a:xfrm>
              <a:off x="7491506" y="2134016"/>
              <a:ext cx="1495168" cy="1463040"/>
            </a:xfrm>
            <a:prstGeom prst="flowChartConnector">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36" name="Arrow: Right 35">
              <a:extLst>
                <a:ext uri="{FF2B5EF4-FFF2-40B4-BE49-F238E27FC236}">
                  <a16:creationId xmlns:a16="http://schemas.microsoft.com/office/drawing/2014/main" id="{9377FD7E-03F2-B0FA-ACB8-8D861F090211}"/>
                </a:ext>
              </a:extLst>
            </p:cNvPr>
            <p:cNvSpPr/>
            <p:nvPr/>
          </p:nvSpPr>
          <p:spPr>
            <a:xfrm rot="1358062">
              <a:off x="9298468" y="3839749"/>
              <a:ext cx="2069349" cy="347114"/>
            </a:xfrm>
            <a:prstGeom prst="rightArrow">
              <a:avLst>
                <a:gd name="adj1" fmla="val 47281"/>
                <a:gd name="adj2" fmla="val 188509"/>
              </a:avLst>
            </a:prstGeom>
            <a:solidFill>
              <a:schemeClr val="bg1"/>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1400"/>
            </a:p>
          </p:txBody>
        </p:sp>
        <p:sp>
          <p:nvSpPr>
            <p:cNvPr id="38" name="Arrow: Right 37">
              <a:extLst>
                <a:ext uri="{FF2B5EF4-FFF2-40B4-BE49-F238E27FC236}">
                  <a16:creationId xmlns:a16="http://schemas.microsoft.com/office/drawing/2014/main" id="{99B033BF-925D-CF09-0DB1-77B60B6BCEBC}"/>
                </a:ext>
              </a:extLst>
            </p:cNvPr>
            <p:cNvSpPr/>
            <p:nvPr/>
          </p:nvSpPr>
          <p:spPr>
            <a:xfrm rot="20893965">
              <a:off x="9382842" y="1960459"/>
              <a:ext cx="2069349" cy="347114"/>
            </a:xfrm>
            <a:prstGeom prst="rightArrow">
              <a:avLst>
                <a:gd name="adj1" fmla="val 47281"/>
                <a:gd name="adj2" fmla="val 188509"/>
              </a:avLst>
            </a:prstGeom>
            <a:solidFill>
              <a:schemeClr val="bg1"/>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1400"/>
            </a:p>
          </p:txBody>
        </p:sp>
        <p:sp>
          <p:nvSpPr>
            <p:cNvPr id="40" name="TextBox 39">
              <a:extLst>
                <a:ext uri="{FF2B5EF4-FFF2-40B4-BE49-F238E27FC236}">
                  <a16:creationId xmlns:a16="http://schemas.microsoft.com/office/drawing/2014/main" id="{3EF3FB99-E071-CEE3-F02F-02C9801D4B78}"/>
                </a:ext>
              </a:extLst>
            </p:cNvPr>
            <p:cNvSpPr txBox="1"/>
            <p:nvPr/>
          </p:nvSpPr>
          <p:spPr>
            <a:xfrm>
              <a:off x="10182566" y="2509522"/>
              <a:ext cx="469900" cy="624148"/>
            </a:xfrm>
            <a:prstGeom prst="rect">
              <a:avLst/>
            </a:prstGeom>
            <a:noFill/>
          </p:spPr>
          <p:txBody>
            <a:bodyPr wrap="square">
              <a:spAutoFit/>
            </a:bodyPr>
            <a:lstStyle/>
            <a:p>
              <a:r>
                <a:rPr lang="en-US" altLang="ja-JP" sz="2400">
                  <a:solidFill>
                    <a:schemeClr val="bg1"/>
                  </a:solidFill>
                </a:rPr>
                <a:t>γ</a:t>
              </a:r>
              <a:endParaRPr lang="en-US" sz="1400"/>
            </a:p>
          </p:txBody>
        </p:sp>
        <p:sp>
          <p:nvSpPr>
            <p:cNvPr id="41" name="TextBox 40">
              <a:extLst>
                <a:ext uri="{FF2B5EF4-FFF2-40B4-BE49-F238E27FC236}">
                  <a16:creationId xmlns:a16="http://schemas.microsoft.com/office/drawing/2014/main" id="{B46290CC-444E-9BCE-5F76-D46478787887}"/>
                </a:ext>
              </a:extLst>
            </p:cNvPr>
            <p:cNvSpPr txBox="1"/>
            <p:nvPr/>
          </p:nvSpPr>
          <p:spPr>
            <a:xfrm>
              <a:off x="3737263" y="2516576"/>
              <a:ext cx="2043556" cy="540929"/>
            </a:xfrm>
            <a:prstGeom prst="rect">
              <a:avLst/>
            </a:prstGeom>
            <a:noFill/>
          </p:spPr>
          <p:txBody>
            <a:bodyPr wrap="square" rtlCol="0">
              <a:spAutoFit/>
            </a:bodyPr>
            <a:lstStyle/>
            <a:p>
              <a:r>
                <a:rPr lang="ja-JP" altLang="en-US" sz="2000" b="1"/>
                <a:t>対消滅</a:t>
              </a:r>
              <a:endParaRPr lang="en-US" sz="2000" b="1"/>
            </a:p>
          </p:txBody>
        </p:sp>
        <p:sp>
          <p:nvSpPr>
            <p:cNvPr id="6" name="TextBox 5">
              <a:extLst>
                <a:ext uri="{FF2B5EF4-FFF2-40B4-BE49-F238E27FC236}">
                  <a16:creationId xmlns:a16="http://schemas.microsoft.com/office/drawing/2014/main" id="{22880D03-3134-5638-B421-1FBACD6E1CBB}"/>
                </a:ext>
              </a:extLst>
            </p:cNvPr>
            <p:cNvSpPr txBox="1"/>
            <p:nvPr/>
          </p:nvSpPr>
          <p:spPr>
            <a:xfrm>
              <a:off x="5075930" y="4434738"/>
              <a:ext cx="2038955" cy="540929"/>
            </a:xfrm>
            <a:prstGeom prst="rect">
              <a:avLst/>
            </a:prstGeom>
            <a:noFill/>
          </p:spPr>
          <p:txBody>
            <a:bodyPr wrap="square" rtlCol="0">
              <a:spAutoFit/>
            </a:bodyPr>
            <a:lstStyle/>
            <a:p>
              <a:r>
                <a:rPr lang="ja-JP" altLang="en-US" sz="2000">
                  <a:solidFill>
                    <a:schemeClr val="bg1"/>
                  </a:solidFill>
                </a:rPr>
                <a:t>クォーク対</a:t>
              </a:r>
              <a:endParaRPr lang="en-US" sz="2000">
                <a:solidFill>
                  <a:schemeClr val="bg1"/>
                </a:solidFill>
              </a:endParaRPr>
            </a:p>
          </p:txBody>
        </p:sp>
        <p:sp>
          <p:nvSpPr>
            <p:cNvPr id="8" name="TextBox 7">
              <a:extLst>
                <a:ext uri="{FF2B5EF4-FFF2-40B4-BE49-F238E27FC236}">
                  <a16:creationId xmlns:a16="http://schemas.microsoft.com/office/drawing/2014/main" id="{39E92778-0D46-78C2-F46F-2CACAA65FAA5}"/>
                </a:ext>
              </a:extLst>
            </p:cNvPr>
            <p:cNvSpPr txBox="1"/>
            <p:nvPr/>
          </p:nvSpPr>
          <p:spPr>
            <a:xfrm>
              <a:off x="183005" y="3686366"/>
              <a:ext cx="1177159" cy="540929"/>
            </a:xfrm>
            <a:prstGeom prst="rect">
              <a:avLst/>
            </a:prstGeom>
            <a:noFill/>
          </p:spPr>
          <p:txBody>
            <a:bodyPr wrap="square" rtlCol="0">
              <a:spAutoFit/>
            </a:bodyPr>
            <a:lstStyle/>
            <a:p>
              <a:r>
                <a:rPr lang="en-US" altLang="ja-JP" sz="2000">
                  <a:solidFill>
                    <a:schemeClr val="bg1"/>
                  </a:solidFill>
                </a:rPr>
                <a:t>WIMP</a:t>
              </a:r>
              <a:endParaRPr lang="en-US" sz="2000">
                <a:solidFill>
                  <a:schemeClr val="bg1"/>
                </a:solidFill>
              </a:endParaRPr>
            </a:p>
          </p:txBody>
        </p:sp>
        <p:sp>
          <p:nvSpPr>
            <p:cNvPr id="11" name="TextBox 10">
              <a:extLst>
                <a:ext uri="{FF2B5EF4-FFF2-40B4-BE49-F238E27FC236}">
                  <a16:creationId xmlns:a16="http://schemas.microsoft.com/office/drawing/2014/main" id="{B01E1297-F418-1156-833F-FDC94F643ECB}"/>
                </a:ext>
              </a:extLst>
            </p:cNvPr>
            <p:cNvSpPr txBox="1"/>
            <p:nvPr/>
          </p:nvSpPr>
          <p:spPr>
            <a:xfrm>
              <a:off x="214717" y="1591184"/>
              <a:ext cx="1177159" cy="540929"/>
            </a:xfrm>
            <a:prstGeom prst="rect">
              <a:avLst/>
            </a:prstGeom>
            <a:noFill/>
          </p:spPr>
          <p:txBody>
            <a:bodyPr wrap="square" rtlCol="0">
              <a:spAutoFit/>
            </a:bodyPr>
            <a:lstStyle/>
            <a:p>
              <a:r>
                <a:rPr lang="en-US" altLang="ja-JP" sz="2000">
                  <a:solidFill>
                    <a:schemeClr val="bg1"/>
                  </a:solidFill>
                </a:rPr>
                <a:t>WIMP</a:t>
              </a:r>
              <a:endParaRPr lang="en-US" sz="2000">
                <a:solidFill>
                  <a:schemeClr val="bg1"/>
                </a:solidFill>
              </a:endParaRP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336B4A4F-6587-4D87-21E8-C8D52189C139}"/>
                    </a:ext>
                  </a:extLst>
                </p:cNvPr>
                <p:cNvSpPr txBox="1"/>
                <p:nvPr/>
              </p:nvSpPr>
              <p:spPr>
                <a:xfrm>
                  <a:off x="7905506" y="2447965"/>
                  <a:ext cx="865131" cy="7905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3200" i="1" smtClean="0">
                                <a:solidFill>
                                  <a:schemeClr val="bg1"/>
                                </a:solidFill>
                                <a:latin typeface="Cambria Math" panose="02040503050406030204" pitchFamily="18" charset="0"/>
                              </a:rPr>
                            </m:ctrlPr>
                          </m:sSupPr>
                          <m:e>
                            <m:r>
                              <a:rPr lang="en-US" sz="3200" i="1">
                                <a:solidFill>
                                  <a:schemeClr val="bg1"/>
                                </a:solidFill>
                                <a:latin typeface="Cambria Math" panose="02040503050406030204" pitchFamily="18" charset="0"/>
                              </a:rPr>
                              <m:t>𝜋</m:t>
                            </m:r>
                          </m:e>
                          <m:sup>
                            <m:r>
                              <a:rPr lang="en-US" sz="3200" i="0">
                                <a:solidFill>
                                  <a:schemeClr val="bg1"/>
                                </a:solidFill>
                                <a:latin typeface="Cambria Math" panose="02040503050406030204" pitchFamily="18" charset="0"/>
                              </a:rPr>
                              <m:t>0</m:t>
                            </m:r>
                          </m:sup>
                        </m:sSup>
                      </m:oMath>
                    </m:oMathPara>
                  </a14:m>
                  <a:endParaRPr lang="en-US" sz="3200">
                    <a:solidFill>
                      <a:schemeClr val="bg1"/>
                    </a:solidFill>
                  </a:endParaRPr>
                </a:p>
              </p:txBody>
            </p:sp>
          </mc:Choice>
          <mc:Fallback>
            <p:sp>
              <p:nvSpPr>
                <p:cNvPr id="16" name="TextBox 15">
                  <a:extLst>
                    <a:ext uri="{FF2B5EF4-FFF2-40B4-BE49-F238E27FC236}">
                      <a16:creationId xmlns:a16="http://schemas.microsoft.com/office/drawing/2014/main" id="{336B4A4F-6587-4D87-21E8-C8D52189C139}"/>
                    </a:ext>
                  </a:extLst>
                </p:cNvPr>
                <p:cNvSpPr txBox="1">
                  <a:spLocks noRot="1" noChangeAspect="1" noMove="1" noResize="1" noEditPoints="1" noAdjustHandles="1" noChangeArrowheads="1" noChangeShapeType="1" noTextEdit="1"/>
                </p:cNvSpPr>
                <p:nvPr/>
              </p:nvSpPr>
              <p:spPr>
                <a:xfrm>
                  <a:off x="7905506" y="2447965"/>
                  <a:ext cx="865131" cy="790587"/>
                </a:xfrm>
                <a:prstGeom prst="rect">
                  <a:avLst/>
                </a:prstGeom>
                <a:blipFill>
                  <a:blip r:embed="rId5"/>
                  <a:stretch>
                    <a:fillRect/>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F5EB9F4-814D-E74E-D372-1CAEB3A21A46}"/>
                  </a:ext>
                </a:extLst>
              </p:cNvPr>
              <p:cNvSpPr txBox="1"/>
              <p:nvPr/>
            </p:nvSpPr>
            <p:spPr>
              <a:xfrm>
                <a:off x="6517129" y="4974033"/>
                <a:ext cx="5298951" cy="88113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nor/>
                        </m:rPr>
                        <a:rPr lang="en-US" sz="2800" i="0" smtClean="0">
                          <a:solidFill>
                            <a:schemeClr val="bg1"/>
                          </a:solidFill>
                          <a:latin typeface="Britannic Bold" panose="020B0903060703020204" pitchFamily="34" charset="0"/>
                        </a:rPr>
                        <m:t>対消滅</m:t>
                      </m:r>
                      <m:r>
                        <m:rPr>
                          <m:nor/>
                        </m:rPr>
                        <a:rPr lang="en-US" sz="2800" i="0" smtClean="0">
                          <a:solidFill>
                            <a:schemeClr val="bg1"/>
                          </a:solidFill>
                          <a:latin typeface="Britannic Bold" panose="020B0903060703020204" pitchFamily="34" charset="0"/>
                        </a:rPr>
                        <m:t>の</m:t>
                      </m:r>
                      <m:r>
                        <m:rPr>
                          <m:nor/>
                        </m:rPr>
                        <a:rPr lang="en-US" sz="2800" i="0" smtClean="0">
                          <a:solidFill>
                            <a:schemeClr val="bg1"/>
                          </a:solidFill>
                          <a:latin typeface="Britannic Bold" panose="020B0903060703020204" pitchFamily="34" charset="0"/>
                        </a:rPr>
                        <m:t>起</m:t>
                      </m:r>
                      <m:r>
                        <m:rPr>
                          <m:nor/>
                        </m:rPr>
                        <a:rPr lang="en-US" sz="2800" i="0" smtClean="0">
                          <a:solidFill>
                            <a:schemeClr val="bg1"/>
                          </a:solidFill>
                          <a:latin typeface="Britannic Bold" panose="020B0903060703020204" pitchFamily="34" charset="0"/>
                        </a:rPr>
                        <m:t>きやすさ</m:t>
                      </m:r>
                      <m:r>
                        <a:rPr lang="en-US" sz="2800" i="1">
                          <a:solidFill>
                            <a:schemeClr val="bg1"/>
                          </a:solidFill>
                          <a:latin typeface="Cambria Math" panose="02040503050406030204" pitchFamily="18" charset="0"/>
                        </a:rPr>
                        <m:t>∝</m:t>
                      </m:r>
                      <m:nary>
                        <m:naryPr>
                          <m:limLoc m:val="subSup"/>
                          <m:subHide m:val="on"/>
                          <m:supHide m:val="on"/>
                          <m:ctrlPr>
                            <a:rPr lang="en-US" sz="2800" i="1">
                              <a:solidFill>
                                <a:schemeClr val="bg1"/>
                              </a:solidFill>
                              <a:latin typeface="Cambria Math" panose="02040503050406030204" pitchFamily="18" charset="0"/>
                            </a:rPr>
                          </m:ctrlPr>
                        </m:naryPr>
                        <m:sub/>
                        <m:sup/>
                        <m:e>
                          <m:sSup>
                            <m:sSupPr>
                              <m:ctrlPr>
                                <a:rPr lang="en-US" sz="2800" i="1">
                                  <a:solidFill>
                                    <a:schemeClr val="bg1"/>
                                  </a:solidFill>
                                  <a:latin typeface="Cambria Math" panose="02040503050406030204" pitchFamily="18" charset="0"/>
                                </a:rPr>
                              </m:ctrlPr>
                            </m:sSupPr>
                            <m:e>
                              <m:r>
                                <a:rPr lang="en-US" sz="2800" i="1">
                                  <a:solidFill>
                                    <a:schemeClr val="bg1"/>
                                  </a:solidFill>
                                  <a:latin typeface="Cambria Math" panose="02040503050406030204" pitchFamily="18" charset="0"/>
                                </a:rPr>
                                <m:t>𝜌</m:t>
                              </m:r>
                            </m:e>
                            <m:sup>
                              <m:r>
                                <a:rPr lang="en-US" sz="2800" i="1">
                                  <a:solidFill>
                                    <a:schemeClr val="bg1"/>
                                  </a:solidFill>
                                  <a:latin typeface="Cambria Math" panose="02040503050406030204" pitchFamily="18" charset="0"/>
                                </a:rPr>
                                <m:t>2</m:t>
                              </m:r>
                            </m:sup>
                          </m:sSup>
                        </m:e>
                      </m:nary>
                      <m:d>
                        <m:dPr>
                          <m:ctrlPr>
                            <a:rPr lang="en-US" sz="2800" i="1">
                              <a:solidFill>
                                <a:schemeClr val="bg1"/>
                              </a:solidFill>
                              <a:latin typeface="Cambria Math" panose="02040503050406030204" pitchFamily="18" charset="0"/>
                            </a:rPr>
                          </m:ctrlPr>
                        </m:dPr>
                        <m:e>
                          <m:r>
                            <a:rPr lang="en-US" sz="2800" i="1">
                              <a:solidFill>
                                <a:schemeClr val="bg1"/>
                              </a:solidFill>
                              <a:latin typeface="Cambria Math" panose="02040503050406030204" pitchFamily="18" charset="0"/>
                            </a:rPr>
                            <m:t>𝑟</m:t>
                          </m:r>
                        </m:e>
                      </m:d>
                      <m:r>
                        <a:rPr lang="en-US" sz="2800" i="1">
                          <a:solidFill>
                            <a:schemeClr val="bg1"/>
                          </a:solidFill>
                          <a:latin typeface="Cambria Math" panose="02040503050406030204" pitchFamily="18" charset="0"/>
                        </a:rPr>
                        <m:t>𝑑𝑙</m:t>
                      </m:r>
                    </m:oMath>
                  </m:oMathPara>
                </a14:m>
              </a:p>
            </p:txBody>
          </p:sp>
        </mc:Choice>
        <mc:Fallback>
          <p:sp>
            <p:nvSpPr>
              <p:cNvPr id="5" name="TextBox 4">
                <a:extLst>
                  <a:ext uri="{FF2B5EF4-FFF2-40B4-BE49-F238E27FC236}">
                    <a16:creationId xmlns:a16="http://schemas.microsoft.com/office/drawing/2014/main" id="{DF5EB9F4-814D-E74E-D372-1CAEB3A21A46}"/>
                  </a:ext>
                </a:extLst>
              </p:cNvPr>
              <p:cNvSpPr txBox="1">
                <a:spLocks noRot="1" noChangeAspect="1" noMove="1" noResize="1" noEditPoints="1" noAdjustHandles="1" noChangeArrowheads="1" noChangeShapeType="1" noTextEdit="1"/>
              </p:cNvSpPr>
              <p:nvPr/>
            </p:nvSpPr>
            <p:spPr>
              <a:xfrm>
                <a:off x="6517129" y="4974033"/>
                <a:ext cx="5298951" cy="881139"/>
              </a:xfrm>
              <a:prstGeom prst="rect">
                <a:avLst/>
              </a:prstGeom>
              <a:blipFill>
                <a:blip r:embed="rId6"/>
                <a:stretch>
                  <a:fillRect/>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703B4593-5A15-0BA3-660B-6397113629C2}"/>
              </a:ext>
            </a:extLst>
          </p:cNvPr>
          <p:cNvSpPr/>
          <p:nvPr/>
        </p:nvSpPr>
        <p:spPr>
          <a:xfrm>
            <a:off x="257175" y="4899858"/>
            <a:ext cx="5838825" cy="1082170"/>
          </a:xfrm>
          <a:prstGeom prst="rect">
            <a:avLst/>
          </a:prstGeom>
          <a:no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9B5482E-AEAC-370D-F7FF-BA2B343AA7AE}"/>
              </a:ext>
            </a:extLst>
          </p:cNvPr>
          <p:cNvSpPr txBox="1"/>
          <p:nvPr/>
        </p:nvSpPr>
        <p:spPr>
          <a:xfrm>
            <a:off x="2559896" y="4691082"/>
            <a:ext cx="1259268" cy="369332"/>
          </a:xfrm>
          <a:prstGeom prst="rect">
            <a:avLst/>
          </a:prstGeom>
          <a:solidFill>
            <a:schemeClr val="tx1"/>
          </a:solidFill>
          <a:ln>
            <a:solidFill>
              <a:schemeClr val="bg1"/>
            </a:solidFill>
          </a:ln>
        </p:spPr>
        <p:txBody>
          <a:bodyPr wrap="square" rtlCol="0">
            <a:spAutoFit/>
          </a:bodyPr>
          <a:lstStyle/>
          <a:p>
            <a:r>
              <a:rPr lang="ja-JP" altLang="en-US">
                <a:solidFill>
                  <a:schemeClr val="bg1"/>
                </a:solidFill>
              </a:rPr>
              <a:t>パラメータ</a:t>
            </a:r>
            <a:endParaRPr lang="en-US">
              <a:solidFill>
                <a:schemeClr val="bg1"/>
              </a:solidFill>
            </a:endParaRPr>
          </a:p>
        </p:txBody>
      </p:sp>
    </p:spTree>
    <p:extLst>
      <p:ext uri="{BB962C8B-B14F-4D97-AF65-F5344CB8AC3E}">
        <p14:creationId xmlns:p14="http://schemas.microsoft.com/office/powerpoint/2010/main" val="3147523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123825" y="231266"/>
            <a:ext cx="9793736" cy="1077218"/>
          </a:xfrm>
          <a:prstGeom prst="rect">
            <a:avLst/>
          </a:prstGeom>
          <a:noFill/>
        </p:spPr>
        <p:txBody>
          <a:bodyPr wrap="square">
            <a:spAutoFit/>
          </a:bodyPr>
          <a:lstStyle/>
          <a:p>
            <a:pPr algn="ctr">
              <a:defRPr sz="4000" b="1">
                <a:solidFill>
                  <a:srgbClr val="FFFFFF"/>
                </a:solidFill>
              </a:defRPr>
            </a:pPr>
            <a:r>
              <a:rPr lang="en-US" sz="3200"/>
              <a:t>Motivation</a:t>
            </a:r>
            <a:r>
              <a:rPr lang="ja-JP" altLang="en-US" sz="3200"/>
              <a:t>　ダークマター起源説の統計的検証</a:t>
            </a:r>
          </a:p>
          <a:p>
            <a:pPr>
              <a:defRPr sz="2500" b="1">
                <a:solidFill>
                  <a:srgbClr val="FFFFFF"/>
                </a:solidFill>
              </a:defRPr>
            </a:pPr>
            <a:r>
              <a:rPr lang="ja-JP" altLang="en-US" sz="3200"/>
              <a:t>　</a:t>
            </a:r>
            <a:r>
              <a:rPr lang="en-US" sz="3200"/>
              <a:t> </a:t>
            </a:r>
            <a:r>
              <a:rPr lang="ja-JP" altLang="en-US" sz="3200"/>
              <a:t>　</a:t>
            </a:r>
            <a:r>
              <a:rPr lang="en-US" sz="3200"/>
              <a:t> </a:t>
            </a:r>
            <a:endParaRPr sz="3200"/>
          </a:p>
        </p:txBody>
      </p:sp>
      <p:sp>
        <p:nvSpPr>
          <p:cNvPr id="3" name="TextBox 2">
            <a:extLst>
              <a:ext uri="{FF2B5EF4-FFF2-40B4-BE49-F238E27FC236}">
                <a16:creationId xmlns:a16="http://schemas.microsoft.com/office/drawing/2014/main" id="{195CAE74-0790-6E96-A1AD-A1A2F96D4741}"/>
              </a:ext>
            </a:extLst>
          </p:cNvPr>
          <p:cNvSpPr txBox="1"/>
          <p:nvPr/>
        </p:nvSpPr>
        <p:spPr>
          <a:xfrm>
            <a:off x="6255789" y="1100840"/>
            <a:ext cx="5579284" cy="3077766"/>
          </a:xfrm>
          <a:prstGeom prst="rect">
            <a:avLst/>
          </a:prstGeom>
          <a:noFill/>
        </p:spPr>
        <p:txBody>
          <a:bodyPr wrap="square" rtlCol="0">
            <a:spAutoFit/>
          </a:bodyPr>
          <a:lstStyle/>
          <a:p>
            <a:r>
              <a:rPr lang="ja-JP" altLang="en-US" sz="3200">
                <a:solidFill>
                  <a:schemeClr val="bg1"/>
                </a:solidFill>
              </a:rPr>
              <a:t>先行研究</a:t>
            </a:r>
            <a:r>
              <a:rPr lang="ja-JP" altLang="en-US">
                <a:solidFill>
                  <a:schemeClr val="bg1"/>
                </a:solidFill>
              </a:rPr>
              <a:t>（</a:t>
            </a:r>
            <a:r>
              <a:rPr lang="en-US" altLang="ja-JP">
                <a:solidFill>
                  <a:schemeClr val="bg1"/>
                </a:solidFill>
              </a:rPr>
              <a:t>Totani</a:t>
            </a:r>
            <a:r>
              <a:rPr lang="ja-JP" altLang="en-US">
                <a:solidFill>
                  <a:schemeClr val="bg1"/>
                </a:solidFill>
              </a:rPr>
              <a:t> </a:t>
            </a:r>
            <a:r>
              <a:rPr lang="en-US" altLang="ja-JP">
                <a:solidFill>
                  <a:schemeClr val="bg1"/>
                </a:solidFill>
              </a:rPr>
              <a:t>2025)</a:t>
            </a:r>
            <a:r>
              <a:rPr lang="ja-JP" altLang="en-US">
                <a:solidFill>
                  <a:schemeClr val="bg1"/>
                </a:solidFill>
              </a:rPr>
              <a:t>：天の川銀河中心方向から</a:t>
            </a:r>
            <a:r>
              <a:rPr lang="en-US" altLang="ja-JP">
                <a:solidFill>
                  <a:schemeClr val="bg1"/>
                </a:solidFill>
              </a:rPr>
              <a:t>20GeV</a:t>
            </a:r>
            <a:r>
              <a:rPr lang="ja-JP" altLang="en-US">
                <a:solidFill>
                  <a:schemeClr val="bg1"/>
                </a:solidFill>
              </a:rPr>
              <a:t>エネルギーでガンマ線過剰ピークが存在。</a:t>
            </a:r>
            <a:endParaRPr lang="en-US" altLang="ja-JP">
              <a:solidFill>
                <a:schemeClr val="bg1"/>
              </a:solidFill>
            </a:endParaRPr>
          </a:p>
          <a:p>
            <a:endParaRPr lang="en-US" altLang="ja-JP">
              <a:solidFill>
                <a:schemeClr val="bg1"/>
              </a:solidFill>
            </a:endParaRPr>
          </a:p>
          <a:p>
            <a:r>
              <a:rPr lang="ja-JP" altLang="en-US">
                <a:solidFill>
                  <a:schemeClr val="bg1"/>
                </a:solidFill>
              </a:rPr>
              <a:t>手法の新規性</a:t>
            </a:r>
            <a:endParaRPr lang="en-US" altLang="ja-JP">
              <a:solidFill>
                <a:schemeClr val="bg1"/>
              </a:solidFill>
            </a:endParaRPr>
          </a:p>
          <a:p>
            <a:pPr marL="285750" indent="-285750">
              <a:buFont typeface="Arial" panose="020B0604020202020204" pitchFamily="34" charset="0"/>
              <a:buChar char="•"/>
            </a:pPr>
            <a:r>
              <a:rPr lang="en-US">
                <a:solidFill>
                  <a:schemeClr val="bg1"/>
                </a:solidFill>
              </a:rPr>
              <a:t>ノイズの多い銀河中心</a:t>
            </a:r>
            <a:r>
              <a:rPr lang="ja-JP" altLang="en-US">
                <a:solidFill>
                  <a:schemeClr val="bg1"/>
                </a:solidFill>
              </a:rPr>
              <a:t>を</a:t>
            </a:r>
            <a:r>
              <a:rPr lang="en-US">
                <a:solidFill>
                  <a:schemeClr val="bg1"/>
                </a:solidFill>
              </a:rPr>
              <a:t>完全除外</a:t>
            </a:r>
          </a:p>
          <a:p>
            <a:pPr marL="285750" indent="-285750">
              <a:buFont typeface="Arial" panose="020B0604020202020204" pitchFamily="34" charset="0"/>
              <a:buChar char="•"/>
            </a:pPr>
            <a:r>
              <a:rPr lang="en-US">
                <a:solidFill>
                  <a:schemeClr val="bg1"/>
                </a:solidFill>
              </a:rPr>
              <a:t>中心部への過度な暗黒物質の集中を前提としない  </a:t>
            </a:r>
          </a:p>
          <a:p>
            <a:pPr marL="285750" indent="-285750">
              <a:buFont typeface="Arial" panose="020B0604020202020204" pitchFamily="34" charset="0"/>
              <a:buChar char="•"/>
            </a:pPr>
            <a:r>
              <a:rPr lang="en-US">
                <a:solidFill>
                  <a:schemeClr val="bg1"/>
                </a:solidFill>
              </a:rPr>
              <a:t>解像度を下げて星間ガスなどの微小ノイズを抑制</a:t>
            </a:r>
          </a:p>
          <a:p>
            <a:endParaRPr lang="en-US" altLang="ja-JP">
              <a:solidFill>
                <a:schemeClr val="bg1"/>
              </a:solidFill>
            </a:endParaRPr>
          </a:p>
          <a:p>
            <a:endParaRPr lang="en-US" altLang="ja-JP"/>
          </a:p>
          <a:p>
            <a:endParaRPr lang="en-US"/>
          </a:p>
        </p:txBody>
      </p:sp>
      <p:sp>
        <p:nvSpPr>
          <p:cNvPr id="4" name="TextBox 3">
            <a:extLst>
              <a:ext uri="{FF2B5EF4-FFF2-40B4-BE49-F238E27FC236}">
                <a16:creationId xmlns:a16="http://schemas.microsoft.com/office/drawing/2014/main" id="{89192561-F636-13B4-C1DC-C5848DF9C2B9}"/>
              </a:ext>
            </a:extLst>
          </p:cNvPr>
          <p:cNvSpPr txBox="1"/>
          <p:nvPr/>
        </p:nvSpPr>
        <p:spPr>
          <a:xfrm>
            <a:off x="6096000" y="4057760"/>
            <a:ext cx="5972175" cy="1969770"/>
          </a:xfrm>
          <a:prstGeom prst="rect">
            <a:avLst/>
          </a:prstGeom>
          <a:noFill/>
        </p:spPr>
        <p:txBody>
          <a:bodyPr wrap="square" rtlCol="0">
            <a:spAutoFit/>
          </a:bodyPr>
          <a:lstStyle/>
          <a:p>
            <a:r>
              <a:rPr lang="ja-JP" altLang="en-US" sz="3200">
                <a:solidFill>
                  <a:schemeClr val="bg1"/>
                </a:solidFill>
              </a:rPr>
              <a:t>本研究</a:t>
            </a:r>
            <a:endParaRPr lang="en-US" altLang="ja-JP" sz="3200">
              <a:solidFill>
                <a:schemeClr val="bg1"/>
              </a:solidFill>
            </a:endParaRPr>
          </a:p>
          <a:p>
            <a:r>
              <a:rPr lang="ja-JP" altLang="en-US">
                <a:solidFill>
                  <a:schemeClr val="bg1"/>
                </a:solidFill>
              </a:rPr>
              <a:t>その論文内容を独自再現し、さらに矮小銀河や近傍の銀河にその手法を適用する拡張を実施</a:t>
            </a:r>
            <a:endParaRPr lang="en-US" altLang="ja-JP">
              <a:solidFill>
                <a:schemeClr val="bg1"/>
              </a:solidFill>
            </a:endParaRPr>
          </a:p>
          <a:p>
            <a:endParaRPr lang="en-US" altLang="ja-JP">
              <a:solidFill>
                <a:schemeClr val="bg1"/>
              </a:solidFill>
            </a:endParaRPr>
          </a:p>
          <a:p>
            <a:r>
              <a:rPr lang="ja-JP" altLang="en-US">
                <a:solidFill>
                  <a:schemeClr val="bg1"/>
                </a:solidFill>
              </a:rPr>
              <a:t>→ガンマ線過剰が天の川銀河固有の事象か検証</a:t>
            </a:r>
            <a:endParaRPr lang="en-US">
              <a:solidFill>
                <a:schemeClr val="bg1"/>
              </a:solidFill>
            </a:endParaRPr>
          </a:p>
          <a:p>
            <a:endParaRPr lang="en-US">
              <a:solidFill>
                <a:schemeClr val="bg1"/>
              </a:solidFill>
            </a:endParaRPr>
          </a:p>
        </p:txBody>
      </p:sp>
      <p:pic>
        <p:nvPicPr>
          <p:cNvPr id="10" name="Picture 9" descr="The diagram depicts a graph of photon energy versus mean background flux for different cosmic sources, illustrating the energy distribution and flux levels for various types of celestial objects.&#10;&#10;AI-generated content may be incorrect.">
            <a:extLst>
              <a:ext uri="{FF2B5EF4-FFF2-40B4-BE49-F238E27FC236}">
                <a16:creationId xmlns:a16="http://schemas.microsoft.com/office/drawing/2014/main" id="{B263DA2E-1072-52A3-5234-884AFA53F581}"/>
              </a:ext>
            </a:extLst>
          </p:cNvPr>
          <p:cNvPicPr>
            <a:picLocks noChangeAspect="1"/>
          </p:cNvPicPr>
          <p:nvPr/>
        </p:nvPicPr>
        <p:blipFill>
          <a:blip r:embed="rId3"/>
          <a:srcRect l="6135" t="4461" r="20103" b="2543"/>
          <a:stretch>
            <a:fillRect/>
          </a:stretch>
        </p:blipFill>
        <p:spPr>
          <a:xfrm>
            <a:off x="0" y="1308484"/>
            <a:ext cx="5862898" cy="4571918"/>
          </a:xfrm>
          <a:prstGeom prst="rect">
            <a:avLst/>
          </a:prstGeom>
        </p:spPr>
      </p:pic>
      <p:sp>
        <p:nvSpPr>
          <p:cNvPr id="11" name="Rectangle 10">
            <a:extLst>
              <a:ext uri="{FF2B5EF4-FFF2-40B4-BE49-F238E27FC236}">
                <a16:creationId xmlns:a16="http://schemas.microsoft.com/office/drawing/2014/main" id="{935DA095-F0A8-973B-CD81-98BD5C9DDC87}"/>
              </a:ext>
            </a:extLst>
          </p:cNvPr>
          <p:cNvSpPr/>
          <p:nvPr/>
        </p:nvSpPr>
        <p:spPr>
          <a:xfrm>
            <a:off x="6096000" y="1041709"/>
            <a:ext cx="5862897" cy="2457450"/>
          </a:xfrm>
          <a:prstGeom prst="rect">
            <a:avLst/>
          </a:prstGeom>
          <a:no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1D7F801-C1B2-8CC0-4097-1FA74BEF5183}"/>
              </a:ext>
            </a:extLst>
          </p:cNvPr>
          <p:cNvSpPr/>
          <p:nvPr/>
        </p:nvSpPr>
        <p:spPr>
          <a:xfrm>
            <a:off x="6096000" y="4057760"/>
            <a:ext cx="5862898" cy="1969770"/>
          </a:xfrm>
          <a:prstGeom prst="rect">
            <a:avLst/>
          </a:prstGeom>
          <a:no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82B6E58-BECE-8017-6BD9-4D2871FB2ED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FA8569A-DFDC-DA90-A79A-18CE87ED614D}"/>
              </a:ext>
            </a:extLst>
          </p:cNvPr>
          <p:cNvSpPr txBox="1"/>
          <p:nvPr/>
        </p:nvSpPr>
        <p:spPr>
          <a:xfrm>
            <a:off x="638175" y="257175"/>
            <a:ext cx="5086350" cy="646331"/>
          </a:xfrm>
          <a:prstGeom prst="rect">
            <a:avLst/>
          </a:prstGeom>
          <a:noFill/>
        </p:spPr>
        <p:txBody>
          <a:bodyPr wrap="square" rtlCol="0">
            <a:spAutoFit/>
          </a:bodyPr>
          <a:lstStyle/>
          <a:p>
            <a:r>
              <a:rPr lang="en-US" altLang="ja-JP" sz="3600">
                <a:solidFill>
                  <a:schemeClr val="bg1"/>
                </a:solidFill>
              </a:rPr>
              <a:t>Method</a:t>
            </a:r>
            <a:r>
              <a:rPr lang="ja-JP" altLang="en-US" sz="3600">
                <a:solidFill>
                  <a:schemeClr val="bg1"/>
                </a:solidFill>
              </a:rPr>
              <a:t>　手法の概要</a:t>
            </a:r>
            <a:endParaRPr lang="en-US" sz="3600">
              <a:solidFill>
                <a:schemeClr val="bg1"/>
              </a:solidFill>
            </a:endParaRPr>
          </a:p>
        </p:txBody>
      </p:sp>
    </p:spTree>
    <p:extLst>
      <p:ext uri="{BB962C8B-B14F-4D97-AF65-F5344CB8AC3E}">
        <p14:creationId xmlns:p14="http://schemas.microsoft.com/office/powerpoint/2010/main" val="2857538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6A31B79-873D-1BA5-79FF-8C6302E5D0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87377B-D487-719F-3C49-984436632153}"/>
              </a:ext>
            </a:extLst>
          </p:cNvPr>
          <p:cNvSpPr txBox="1"/>
          <p:nvPr/>
        </p:nvSpPr>
        <p:spPr>
          <a:xfrm>
            <a:off x="457200" y="128043"/>
            <a:ext cx="4419600" cy="584775"/>
          </a:xfrm>
          <a:prstGeom prst="rect">
            <a:avLst/>
          </a:prstGeom>
          <a:noFill/>
        </p:spPr>
        <p:txBody>
          <a:bodyPr wrap="square">
            <a:spAutoFit/>
          </a:bodyPr>
          <a:lstStyle/>
          <a:p>
            <a:pPr>
              <a:defRPr sz="2500" b="1">
                <a:solidFill>
                  <a:srgbClr val="FFFFFF"/>
                </a:solidFill>
              </a:defRPr>
            </a:pPr>
            <a:r>
              <a:rPr lang="en-US" sz="3200"/>
              <a:t>method</a:t>
            </a:r>
            <a:r>
              <a:rPr sz="3200"/>
              <a:t>：</a:t>
            </a:r>
          </a:p>
        </p:txBody>
      </p:sp>
      <p:sp>
        <p:nvSpPr>
          <p:cNvPr id="6" name="TextBox 5">
            <a:extLst>
              <a:ext uri="{FF2B5EF4-FFF2-40B4-BE49-F238E27FC236}">
                <a16:creationId xmlns:a16="http://schemas.microsoft.com/office/drawing/2014/main" id="{7124490F-9C88-D48B-C3EF-5CCFEE0A81BE}"/>
              </a:ext>
            </a:extLst>
          </p:cNvPr>
          <p:cNvSpPr txBox="1"/>
          <p:nvPr/>
        </p:nvSpPr>
        <p:spPr>
          <a:xfrm>
            <a:off x="6265807" y="617612"/>
            <a:ext cx="5766487" cy="4893647"/>
          </a:xfrm>
          <a:prstGeom prst="rect">
            <a:avLst/>
          </a:prstGeom>
          <a:noFill/>
        </p:spPr>
        <p:txBody>
          <a:bodyPr wrap="square">
            <a:spAutoFit/>
          </a:bodyPr>
          <a:lstStyle/>
          <a:p>
            <a:r>
              <a:rPr lang="ja-JP" altLang="en-US" sz="2400" b="1">
                <a:solidFill>
                  <a:schemeClr val="bg1"/>
                </a:solidFill>
              </a:rPr>
              <a:t>生データ　ー</a:t>
            </a:r>
            <a:endParaRPr lang="en-US" altLang="ja-JP" sz="2400" b="1">
              <a:solidFill>
                <a:schemeClr val="bg1"/>
              </a:solidFill>
            </a:endParaRPr>
          </a:p>
          <a:p>
            <a:r>
              <a:rPr lang="en-US" altLang="ja-JP" sz="2400" b="1">
                <a:solidFill>
                  <a:schemeClr val="bg1"/>
                </a:solidFill>
              </a:rPr>
              <a:t>			</a:t>
            </a:r>
            <a:r>
              <a:rPr lang="ja-JP" altLang="en-US" sz="2400" b="1">
                <a:solidFill>
                  <a:schemeClr val="bg1"/>
                </a:solidFill>
              </a:rPr>
              <a:t>等方背景　 </a:t>
            </a:r>
            <a:r>
              <a:rPr lang="en-US" altLang="ja-JP" sz="2400" b="1">
                <a:solidFill>
                  <a:schemeClr val="bg1"/>
                </a:solidFill>
              </a:rPr>
              <a:t>×</a:t>
            </a:r>
            <a:r>
              <a:rPr lang="en-US" altLang="ja-JP" sz="2400" b="1">
                <a:solidFill>
                  <a:srgbClr val="FF0000"/>
                </a:solidFill>
              </a:rPr>
              <a:t>f_iso</a:t>
            </a:r>
          </a:p>
          <a:p>
            <a:r>
              <a:rPr lang="en-US" altLang="ja-JP" sz="2400" b="1">
                <a:solidFill>
                  <a:schemeClr val="bg1"/>
                </a:solidFill>
              </a:rPr>
              <a:t>			</a:t>
            </a:r>
            <a:r>
              <a:rPr lang="ja-JP" altLang="en-US" sz="2400" b="1">
                <a:solidFill>
                  <a:schemeClr val="bg1"/>
                </a:solidFill>
              </a:rPr>
              <a:t>既知点源　</a:t>
            </a:r>
            <a:r>
              <a:rPr lang="en-US" altLang="ja-JP" sz="2400" b="1">
                <a:solidFill>
                  <a:schemeClr val="bg1"/>
                </a:solidFill>
              </a:rPr>
              <a:t> ×</a:t>
            </a:r>
            <a:r>
              <a:rPr lang="en-US" altLang="ja-JP" sz="2400" b="1">
                <a:solidFill>
                  <a:srgbClr val="FFC000"/>
                </a:solidFill>
              </a:rPr>
              <a:t>f_ps</a:t>
            </a:r>
          </a:p>
          <a:p>
            <a:r>
              <a:rPr lang="en-US" sz="2400" b="1">
                <a:solidFill>
                  <a:schemeClr val="bg1"/>
                </a:solidFill>
              </a:rPr>
              <a:t>			</a:t>
            </a:r>
            <a:r>
              <a:rPr lang="en-US" altLang="ja-JP" sz="2400" b="1">
                <a:solidFill>
                  <a:schemeClr val="bg1"/>
                </a:solidFill>
              </a:rPr>
              <a:t>GALPLOP</a:t>
            </a:r>
            <a:r>
              <a:rPr lang="ja-JP" altLang="en-US" sz="2400" b="1">
                <a:solidFill>
                  <a:schemeClr val="bg1"/>
                </a:solidFill>
              </a:rPr>
              <a:t>（</a:t>
            </a:r>
            <a:r>
              <a:rPr lang="en-US" sz="2400" b="1">
                <a:solidFill>
                  <a:schemeClr val="bg1"/>
                </a:solidFill>
              </a:rPr>
              <a:t>gas</a:t>
            </a:r>
            <a:r>
              <a:rPr lang="ja-JP" altLang="en-US" sz="2400" b="1">
                <a:solidFill>
                  <a:schemeClr val="bg1"/>
                </a:solidFill>
              </a:rPr>
              <a:t>）　</a:t>
            </a:r>
            <a:r>
              <a:rPr lang="en-US" altLang="ja-JP" sz="2400" b="1">
                <a:solidFill>
                  <a:schemeClr val="bg1"/>
                </a:solidFill>
              </a:rPr>
              <a:t> ×</a:t>
            </a:r>
            <a:r>
              <a:rPr lang="ja-JP" altLang="en-US" sz="2400" b="1">
                <a:solidFill>
                  <a:srgbClr val="FFFF00"/>
                </a:solidFill>
              </a:rPr>
              <a:t>ｆ</a:t>
            </a:r>
            <a:r>
              <a:rPr lang="en-US" altLang="ja-JP" sz="2400" b="1">
                <a:solidFill>
                  <a:srgbClr val="FFFF00"/>
                </a:solidFill>
              </a:rPr>
              <a:t>_gas </a:t>
            </a:r>
          </a:p>
          <a:p>
            <a:r>
              <a:rPr lang="en-US" sz="2400" b="1">
                <a:solidFill>
                  <a:schemeClr val="bg1"/>
                </a:solidFill>
              </a:rPr>
              <a:t>			</a:t>
            </a:r>
            <a:r>
              <a:rPr lang="en-US" altLang="ja-JP" sz="2400" b="1">
                <a:solidFill>
                  <a:schemeClr val="bg1"/>
                </a:solidFill>
              </a:rPr>
              <a:t>GALPLOP</a:t>
            </a:r>
            <a:r>
              <a:rPr lang="ja-JP" altLang="en-US" sz="2400" b="1">
                <a:solidFill>
                  <a:schemeClr val="bg1"/>
                </a:solidFill>
              </a:rPr>
              <a:t>（</a:t>
            </a:r>
            <a:r>
              <a:rPr lang="en-US" sz="2400" b="1">
                <a:solidFill>
                  <a:schemeClr val="bg1"/>
                </a:solidFill>
              </a:rPr>
              <a:t>ICS</a:t>
            </a:r>
            <a:r>
              <a:rPr lang="ja-JP" altLang="en-US" sz="2400" b="1">
                <a:solidFill>
                  <a:schemeClr val="bg1"/>
                </a:solidFill>
              </a:rPr>
              <a:t>）　</a:t>
            </a:r>
            <a:r>
              <a:rPr lang="en-US" altLang="ja-JP" sz="2400" b="1">
                <a:solidFill>
                  <a:schemeClr val="bg1"/>
                </a:solidFill>
              </a:rPr>
              <a:t> ×</a:t>
            </a:r>
            <a:r>
              <a:rPr lang="en-US" altLang="ja-JP" sz="2400" b="1">
                <a:solidFill>
                  <a:srgbClr val="92D050"/>
                </a:solidFill>
              </a:rPr>
              <a:t>f_ics</a:t>
            </a:r>
            <a:endParaRPr lang="en-US" sz="2400" b="1">
              <a:solidFill>
                <a:srgbClr val="92D050"/>
              </a:solidFill>
            </a:endParaRPr>
          </a:p>
          <a:p>
            <a:r>
              <a:rPr lang="en-US" sz="2400" b="1">
                <a:solidFill>
                  <a:schemeClr val="bg1"/>
                </a:solidFill>
              </a:rPr>
              <a:t>			LoopI a	</a:t>
            </a:r>
            <a:r>
              <a:rPr lang="en-US" altLang="ja-JP" sz="2400" b="1">
                <a:solidFill>
                  <a:schemeClr val="bg1"/>
                </a:solidFill>
              </a:rPr>
              <a:t>×	</a:t>
            </a:r>
            <a:r>
              <a:rPr lang="en-US" sz="2400" b="1">
                <a:solidFill>
                  <a:srgbClr val="00B0F0"/>
                </a:solidFill>
              </a:rPr>
              <a:t>loopI_a</a:t>
            </a:r>
            <a:endParaRPr lang="en-US" altLang="ja-JP" sz="2400" b="1">
              <a:solidFill>
                <a:srgbClr val="00B0F0"/>
              </a:solidFill>
            </a:endParaRPr>
          </a:p>
          <a:p>
            <a:r>
              <a:rPr lang="en-US" altLang="ja-JP" sz="2400" b="1">
                <a:solidFill>
                  <a:schemeClr val="bg1"/>
                </a:solidFill>
              </a:rPr>
              <a:t>			LoopI b	×	</a:t>
            </a:r>
            <a:r>
              <a:rPr lang="en-US" sz="2400" b="1">
                <a:solidFill>
                  <a:srgbClr val="0070C0"/>
                </a:solidFill>
              </a:rPr>
              <a:t>loopI_b</a:t>
            </a:r>
          </a:p>
          <a:p>
            <a:r>
              <a:rPr lang="en-US" sz="2400" b="1">
                <a:solidFill>
                  <a:schemeClr val="bg1"/>
                </a:solidFill>
              </a:rPr>
              <a:t>			FermiBuble</a:t>
            </a:r>
            <a:r>
              <a:rPr lang="ja-JP" altLang="en-US" sz="2400" b="1">
                <a:solidFill>
                  <a:schemeClr val="bg1"/>
                </a:solidFill>
              </a:rPr>
              <a:t>（正）</a:t>
            </a:r>
            <a:r>
              <a:rPr lang="en-US" altLang="ja-JP" sz="2400" b="1">
                <a:solidFill>
                  <a:schemeClr val="bg1"/>
                </a:solidFill>
              </a:rPr>
              <a:t> ×</a:t>
            </a:r>
            <a:r>
              <a:rPr lang="ja-JP" altLang="en-US" sz="2400" b="1">
                <a:solidFill>
                  <a:schemeClr val="bg1"/>
                </a:solidFill>
              </a:rPr>
              <a:t>　</a:t>
            </a:r>
            <a:r>
              <a:rPr lang="ja-JP" altLang="en-US" sz="2400" b="1">
                <a:solidFill>
                  <a:schemeClr val="tx2">
                    <a:lumMod val="60000"/>
                    <a:lumOff val="40000"/>
                  </a:schemeClr>
                </a:solidFill>
              </a:rPr>
              <a:t>ｆ</a:t>
            </a:r>
            <a:r>
              <a:rPr lang="en-US" altLang="ja-JP" sz="2400" b="1">
                <a:solidFill>
                  <a:schemeClr val="tx2">
                    <a:lumMod val="60000"/>
                    <a:lumOff val="40000"/>
                  </a:schemeClr>
                </a:solidFill>
              </a:rPr>
              <a:t>_</a:t>
            </a:r>
            <a:r>
              <a:rPr lang="ja-JP" altLang="en-US" sz="2400" b="1">
                <a:solidFill>
                  <a:schemeClr val="tx2">
                    <a:lumMod val="60000"/>
                    <a:lumOff val="40000"/>
                  </a:schemeClr>
                </a:solidFill>
              </a:rPr>
              <a:t>ｆｂ</a:t>
            </a:r>
            <a:endParaRPr lang="en-US" altLang="ja-JP" sz="2400" b="1">
              <a:solidFill>
                <a:schemeClr val="tx2">
                  <a:lumMod val="60000"/>
                  <a:lumOff val="40000"/>
                </a:schemeClr>
              </a:solidFill>
            </a:endParaRPr>
          </a:p>
          <a:p>
            <a:r>
              <a:rPr lang="en-US" altLang="ja-JP" sz="2400" b="1">
                <a:solidFill>
                  <a:schemeClr val="bg1"/>
                </a:solidFill>
              </a:rPr>
              <a:t>			</a:t>
            </a:r>
            <a:r>
              <a:rPr lang="en-US" sz="2400" b="1">
                <a:solidFill>
                  <a:schemeClr val="bg1"/>
                </a:solidFill>
              </a:rPr>
              <a:t>FermiBuble</a:t>
            </a:r>
            <a:r>
              <a:rPr lang="ja-JP" altLang="en-US" sz="2400" b="1">
                <a:solidFill>
                  <a:schemeClr val="bg1"/>
                </a:solidFill>
              </a:rPr>
              <a:t>（負）</a:t>
            </a:r>
            <a:r>
              <a:rPr lang="en-US" altLang="ja-JP" sz="2400" b="1">
                <a:solidFill>
                  <a:schemeClr val="bg1"/>
                </a:solidFill>
              </a:rPr>
              <a:t>×</a:t>
            </a:r>
            <a:r>
              <a:rPr lang="ja-JP" altLang="en-US" sz="2400" b="1">
                <a:solidFill>
                  <a:schemeClr val="bg1"/>
                </a:solidFill>
              </a:rPr>
              <a:t>　</a:t>
            </a:r>
            <a:r>
              <a:rPr lang="en-US" altLang="ja-JP" sz="2400" b="1">
                <a:solidFill>
                  <a:srgbClr val="7030A0"/>
                </a:solidFill>
              </a:rPr>
              <a:t>f_fbneg</a:t>
            </a:r>
          </a:p>
          <a:p>
            <a:r>
              <a:rPr lang="en-US" altLang="ja-JP" sz="2400" b="1">
                <a:solidFill>
                  <a:srgbClr val="7030A0"/>
                </a:solidFill>
              </a:rPr>
              <a:t>			</a:t>
            </a:r>
            <a:r>
              <a:rPr lang="en-US" altLang="ja-JP" sz="2400" b="1">
                <a:solidFill>
                  <a:schemeClr val="bg1"/>
                </a:solidFill>
              </a:rPr>
              <a:t>halo	×</a:t>
            </a:r>
            <a:r>
              <a:rPr lang="en-US" altLang="ja-JP" sz="2400" b="1">
                <a:solidFill>
                  <a:srgbClr val="7030A0"/>
                </a:solidFill>
              </a:rPr>
              <a:t>	</a:t>
            </a:r>
            <a:r>
              <a:rPr lang="en-US" altLang="ja-JP" sz="2400" b="1">
                <a:solidFill>
                  <a:schemeClr val="bg2">
                    <a:lumMod val="75000"/>
                  </a:schemeClr>
                </a:solidFill>
              </a:rPr>
              <a:t>f_halo</a:t>
            </a:r>
            <a:r>
              <a:rPr lang="ja-JP" altLang="en-US" sz="2400" b="1">
                <a:solidFill>
                  <a:schemeClr val="bg2">
                    <a:lumMod val="75000"/>
                  </a:schemeClr>
                </a:solidFill>
              </a:rPr>
              <a:t> </a:t>
            </a:r>
            <a:r>
              <a:rPr lang="en-US" altLang="ja-JP" sz="2400" b="1">
                <a:solidFill>
                  <a:schemeClr val="bg2">
                    <a:lumMod val="75000"/>
                  </a:schemeClr>
                </a:solidFill>
              </a:rPr>
              <a:t>	</a:t>
            </a:r>
            <a:endParaRPr lang="en-US" sz="2400" b="1">
              <a:solidFill>
                <a:schemeClr val="bg2">
                  <a:lumMod val="75000"/>
                </a:schemeClr>
              </a:solidFill>
            </a:endParaRPr>
          </a:p>
          <a:p>
            <a:r>
              <a:rPr lang="en-US" sz="2400" b="1">
                <a:solidFill>
                  <a:schemeClr val="bg1"/>
                </a:solidFill>
              </a:rPr>
              <a:t>			</a:t>
            </a:r>
          </a:p>
          <a:p>
            <a:r>
              <a:rPr lang="ja-JP" altLang="en-US" sz="2400" b="1">
                <a:solidFill>
                  <a:schemeClr val="bg1"/>
                </a:solidFill>
              </a:rPr>
              <a:t>＝</a:t>
            </a:r>
            <a:r>
              <a:rPr lang="en-US" altLang="ja-JP" sz="2400" b="1">
                <a:solidFill>
                  <a:schemeClr val="bg1"/>
                </a:solidFill>
              </a:rPr>
              <a:t>0	DM</a:t>
            </a:r>
            <a:r>
              <a:rPr lang="ja-JP" altLang="en-US" sz="2400" b="1">
                <a:solidFill>
                  <a:schemeClr val="bg1"/>
                </a:solidFill>
              </a:rPr>
              <a:t>の可能性</a:t>
            </a:r>
            <a:endParaRPr lang="en-US" altLang="ja-JP" sz="2400" b="1">
              <a:solidFill>
                <a:schemeClr val="bg1"/>
              </a:solidFill>
            </a:endParaRPr>
          </a:p>
          <a:p>
            <a:r>
              <a:rPr lang="en-US" altLang="ja-JP" sz="2400" b="1">
                <a:solidFill>
                  <a:schemeClr val="bg1"/>
                </a:solidFill>
              </a:rPr>
              <a:t>						</a:t>
            </a:r>
            <a:r>
              <a:rPr lang="ja-JP" altLang="en-US" sz="2400" b="1">
                <a:solidFill>
                  <a:schemeClr val="bg1"/>
                </a:solidFill>
              </a:rPr>
              <a:t>（</a:t>
            </a:r>
            <a:r>
              <a:rPr lang="en-US" altLang="ja-JP" sz="2400" b="1">
                <a:solidFill>
                  <a:schemeClr val="bg1"/>
                </a:solidFill>
              </a:rPr>
              <a:t>halo-like )</a:t>
            </a:r>
            <a:endParaRPr lang="en-US">
              <a:solidFill>
                <a:schemeClr val="bg1"/>
              </a:solidFill>
            </a:endParaRPr>
          </a:p>
        </p:txBody>
      </p:sp>
      <p:sp>
        <p:nvSpPr>
          <p:cNvPr id="3" name="Double Brace 2">
            <a:extLst>
              <a:ext uri="{FF2B5EF4-FFF2-40B4-BE49-F238E27FC236}">
                <a16:creationId xmlns:a16="http://schemas.microsoft.com/office/drawing/2014/main" id="{6360E538-0907-888A-EF4A-BAE1A4030AA6}"/>
              </a:ext>
            </a:extLst>
          </p:cNvPr>
          <p:cNvSpPr/>
          <p:nvPr/>
        </p:nvSpPr>
        <p:spPr>
          <a:xfrm>
            <a:off x="6525672" y="1055718"/>
            <a:ext cx="5615573" cy="3373407"/>
          </a:xfrm>
          <a:prstGeom prst="bracePair">
            <a:avLst>
              <a:gd name="adj" fmla="val 16769"/>
            </a:avLst>
          </a:prstGeom>
          <a:noFill/>
          <a:ln>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7" name="Picture 6" descr="The provided text appears to be a sequence of numbers representing a data set or a graph, likely showing a distribution or a change over time or another variable. Without further context or visual representation, it's challenging to describe it accurately. If this is a bar chart or a line graph, the numbers may indicate the frequency or magnitude of an observed phenomenon. If you have a specific image or diagram, please provide it, and I can offer a more precise description.&#10;&#10;AI-generated content may be incorrect.">
            <a:extLst>
              <a:ext uri="{FF2B5EF4-FFF2-40B4-BE49-F238E27FC236}">
                <a16:creationId xmlns:a16="http://schemas.microsoft.com/office/drawing/2014/main" id="{9E67313D-5A6F-6463-FEB1-6DC0EE59C783}"/>
              </a:ext>
            </a:extLst>
          </p:cNvPr>
          <p:cNvPicPr>
            <a:picLocks noChangeAspect="1"/>
          </p:cNvPicPr>
          <p:nvPr/>
        </p:nvPicPr>
        <p:blipFill>
          <a:blip r:embed="rId3"/>
          <a:stretch>
            <a:fillRect/>
          </a:stretch>
        </p:blipFill>
        <p:spPr>
          <a:xfrm>
            <a:off x="159706" y="838193"/>
            <a:ext cx="5877499" cy="5033334"/>
          </a:xfrm>
          <a:prstGeom prst="rect">
            <a:avLst/>
          </a:prstGeom>
        </p:spPr>
      </p:pic>
      <p:sp>
        <p:nvSpPr>
          <p:cNvPr id="5" name="TextBox 4">
            <a:extLst>
              <a:ext uri="{FF2B5EF4-FFF2-40B4-BE49-F238E27FC236}">
                <a16:creationId xmlns:a16="http://schemas.microsoft.com/office/drawing/2014/main" id="{DF6F5339-5830-586B-8D67-5099DCC2057A}"/>
              </a:ext>
            </a:extLst>
          </p:cNvPr>
          <p:cNvSpPr txBox="1"/>
          <p:nvPr/>
        </p:nvSpPr>
        <p:spPr>
          <a:xfrm>
            <a:off x="7121386" y="5788241"/>
            <a:ext cx="4094654" cy="461665"/>
          </a:xfrm>
          <a:prstGeom prst="rect">
            <a:avLst/>
          </a:prstGeom>
          <a:noFill/>
        </p:spPr>
        <p:txBody>
          <a:bodyPr wrap="square" rtlCol="0">
            <a:spAutoFit/>
          </a:bodyPr>
          <a:lstStyle/>
          <a:p>
            <a:r>
              <a:rPr lang="ja-JP" altLang="en-US" sz="2400">
                <a:solidFill>
                  <a:schemeClr val="bg1"/>
                </a:solidFill>
              </a:rPr>
              <a:t>各係数は</a:t>
            </a:r>
            <a:r>
              <a:rPr lang="en-US" altLang="ja-JP" sz="2400">
                <a:solidFill>
                  <a:schemeClr val="bg1"/>
                </a:solidFill>
              </a:rPr>
              <a:t>MCMC</a:t>
            </a:r>
            <a:r>
              <a:rPr lang="ja-JP" altLang="en-US" sz="2400">
                <a:solidFill>
                  <a:schemeClr val="bg1"/>
                </a:solidFill>
              </a:rPr>
              <a:t>で決定</a:t>
            </a:r>
            <a:endParaRPr lang="en-US" sz="2400">
              <a:solidFill>
                <a:schemeClr val="bg1"/>
              </a:solidFill>
            </a:endParaRPr>
          </a:p>
        </p:txBody>
      </p:sp>
    </p:spTree>
    <p:extLst>
      <p:ext uri="{BB962C8B-B14F-4D97-AF65-F5344CB8AC3E}">
        <p14:creationId xmlns:p14="http://schemas.microsoft.com/office/powerpoint/2010/main" val="1316406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492443"/>
          </a:xfrm>
          <a:prstGeom prst="rect">
            <a:avLst/>
          </a:prstGeom>
          <a:noFill/>
        </p:spPr>
        <p:txBody>
          <a:bodyPr wrap="square">
            <a:spAutoFit/>
          </a:bodyPr>
          <a:lstStyle/>
          <a:p>
            <a:pPr>
              <a:defRPr sz="2600" b="1">
                <a:solidFill>
                  <a:srgbClr val="FFFFFF"/>
                </a:solidFill>
              </a:defRPr>
            </a:pPr>
            <a:r>
              <a:rPr lang="en-US"/>
              <a:t>result</a:t>
            </a:r>
            <a:endParaRPr/>
          </a:p>
        </p:txBody>
      </p:sp>
      <p:pic>
        <p:nvPicPr>
          <p:cNvPr id="11" name="Picture 10" descr="The image shows a plot comparing the flux of cosmic rays at different energies (20.76 GeV and 21 GeV) before and after subtracting the halo component, plotted against latitude and longitude.">
            <a:extLst>
              <a:ext uri="{FF2B5EF4-FFF2-40B4-BE49-F238E27FC236}">
                <a16:creationId xmlns:a16="http://schemas.microsoft.com/office/drawing/2014/main" id="{85A69A19-C7F9-F4E8-790A-93B08439F0A7}"/>
              </a:ext>
            </a:extLst>
          </p:cNvPr>
          <p:cNvPicPr>
            <a:picLocks noChangeAspect="1"/>
          </p:cNvPicPr>
          <p:nvPr/>
        </p:nvPicPr>
        <p:blipFill>
          <a:blip r:embed="rId3"/>
          <a:stretch>
            <a:fillRect/>
          </a:stretch>
        </p:blipFill>
        <p:spPr>
          <a:xfrm>
            <a:off x="573589" y="766763"/>
            <a:ext cx="11014341" cy="56645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492443"/>
          </a:xfrm>
          <a:prstGeom prst="rect">
            <a:avLst/>
          </a:prstGeom>
          <a:noFill/>
        </p:spPr>
        <p:txBody>
          <a:bodyPr wrap="square">
            <a:spAutoFit/>
          </a:bodyPr>
          <a:lstStyle/>
          <a:p>
            <a:pPr>
              <a:defRPr sz="2600" b="1">
                <a:solidFill>
                  <a:srgbClr val="FFFFFF"/>
                </a:solidFill>
              </a:defRPr>
            </a:pPr>
            <a:r>
              <a:rPr lang="en-US"/>
              <a:t>result</a:t>
            </a:r>
            <a:r>
              <a:t>：全13ビンでのハロー有意度スペクトル</a:t>
            </a:r>
          </a:p>
        </p:txBody>
      </p:sp>
      <p:pic>
        <p:nvPicPr>
          <p:cNvPr id="5" name="Picture 4" descr="The diagram depicts a comparison of halo energy levels, showing consistent readings for Totani's data points, while other points display a range of discrepancies.&#10;&#10;AI-generated content may be incorrect.">
            <a:extLst>
              <a:ext uri="{FF2B5EF4-FFF2-40B4-BE49-F238E27FC236}">
                <a16:creationId xmlns:a16="http://schemas.microsoft.com/office/drawing/2014/main" id="{945CB1FB-5F67-921B-8EE6-A728F1FC9593}"/>
              </a:ext>
            </a:extLst>
          </p:cNvPr>
          <p:cNvPicPr>
            <a:picLocks noChangeAspect="1"/>
          </p:cNvPicPr>
          <p:nvPr/>
        </p:nvPicPr>
        <p:blipFill>
          <a:blip r:embed="rId3"/>
          <a:srcRect l="6327" t="5246" r="7825" b="3623"/>
          <a:stretch>
            <a:fillRect/>
          </a:stretch>
        </p:blipFill>
        <p:spPr>
          <a:xfrm>
            <a:off x="52647" y="1206491"/>
            <a:ext cx="6348153" cy="5256276"/>
          </a:xfrm>
          <a:prstGeom prst="rect">
            <a:avLst/>
          </a:prstGeom>
        </p:spPr>
      </p:pic>
      <p:sp>
        <p:nvSpPr>
          <p:cNvPr id="8" name="TextBox 7">
            <a:extLst>
              <a:ext uri="{FF2B5EF4-FFF2-40B4-BE49-F238E27FC236}">
                <a16:creationId xmlns:a16="http://schemas.microsoft.com/office/drawing/2014/main" id="{797C876B-04DC-52E0-EFD2-9688967CAF01}"/>
              </a:ext>
            </a:extLst>
          </p:cNvPr>
          <p:cNvSpPr txBox="1"/>
          <p:nvPr/>
        </p:nvSpPr>
        <p:spPr>
          <a:xfrm>
            <a:off x="6568967" y="951369"/>
            <a:ext cx="5481519" cy="2554545"/>
          </a:xfrm>
          <a:prstGeom prst="rect">
            <a:avLst/>
          </a:prstGeom>
          <a:noFill/>
        </p:spPr>
        <p:txBody>
          <a:bodyPr wrap="square">
            <a:spAutoFit/>
          </a:bodyPr>
          <a:lstStyle/>
          <a:p>
            <a:endParaRPr lang="ja-JP" altLang="en-US" sz="2000" b="1">
              <a:solidFill>
                <a:srgbClr val="BFBFBF"/>
              </a:solidFill>
              <a:latin typeface="-apple-system"/>
            </a:endParaRPr>
          </a:p>
          <a:p>
            <a:r>
              <a:rPr lang="ja-JP" altLang="en-US" sz="2000" b="1">
                <a:solidFill>
                  <a:srgbClr val="BFBFBF"/>
                </a:solidFill>
                <a:latin typeface="-apple-system"/>
              </a:rPr>
              <a:t>形が </a:t>
            </a:r>
            <a:r>
              <a:rPr lang="en-US" altLang="ja-JP" sz="2000" b="1">
                <a:solidFill>
                  <a:srgbClr val="BFBFBF"/>
                </a:solidFill>
                <a:latin typeface="-apple-system"/>
              </a:rPr>
              <a:t>Totani </a:t>
            </a:r>
            <a:r>
              <a:rPr lang="ja-JP" altLang="en-US" sz="2000" b="1">
                <a:solidFill>
                  <a:srgbClr val="BFBFBF"/>
                </a:solidFill>
                <a:latin typeface="-apple-system"/>
              </a:rPr>
              <a:t>となんぱーで一致</a:t>
            </a:r>
          </a:p>
          <a:p>
            <a:r>
              <a:rPr lang="ja-JP" altLang="en-US" sz="2000" b="1">
                <a:solidFill>
                  <a:srgbClr val="BFBFBF"/>
                </a:solidFill>
                <a:latin typeface="-apple-system"/>
              </a:rPr>
              <a:t>→ </a:t>
            </a:r>
            <a:r>
              <a:rPr lang="en-US" altLang="ja-JP" sz="2000" b="1">
                <a:solidFill>
                  <a:srgbClr val="BFBFBF"/>
                </a:solidFill>
                <a:latin typeface="-apple-system"/>
              </a:rPr>
              <a:t>Totani </a:t>
            </a:r>
            <a:r>
              <a:rPr lang="ja-JP" altLang="en-US" sz="2000" b="1">
                <a:solidFill>
                  <a:srgbClr val="BFBFBF"/>
                </a:solidFill>
                <a:latin typeface="-apple-system"/>
              </a:rPr>
              <a:t>報告帯 </a:t>
            </a:r>
            <a:r>
              <a:rPr lang="en-US" altLang="ja-JP" sz="2000" b="1">
                <a:solidFill>
                  <a:srgbClr val="BFBFBF"/>
                </a:solidFill>
                <a:latin typeface="-apple-system"/>
              </a:rPr>
              <a:t>13〜19σ </a:t>
            </a:r>
            <a:r>
              <a:rPr lang="ja-JP" altLang="en-US" sz="2000" b="1">
                <a:solidFill>
                  <a:srgbClr val="BFBFBF"/>
                </a:solidFill>
                <a:latin typeface="-apple-system"/>
              </a:rPr>
              <a:t>と整合</a:t>
            </a:r>
          </a:p>
          <a:p>
            <a:endParaRPr lang="ja-JP" altLang="en-US" sz="2000" b="1">
              <a:solidFill>
                <a:srgbClr val="BFBFBF"/>
              </a:solidFill>
              <a:latin typeface="-apple-system"/>
            </a:endParaRPr>
          </a:p>
          <a:p>
            <a:r>
              <a:rPr lang="ja-JP" altLang="en-US" sz="2000" b="1">
                <a:solidFill>
                  <a:srgbClr val="BFBFBF"/>
                </a:solidFill>
                <a:latin typeface="-apple-system"/>
              </a:rPr>
              <a:t>大きさ（下段の比パネル）</a:t>
            </a:r>
          </a:p>
          <a:p>
            <a:r>
              <a:rPr lang="ja-JP" altLang="en-US" sz="2000" b="1">
                <a:solidFill>
                  <a:srgbClr val="BFBFBF"/>
                </a:solidFill>
                <a:latin typeface="-apple-system"/>
              </a:rPr>
              <a:t>・主要域で </a:t>
            </a:r>
            <a:r>
              <a:rPr lang="en-US" altLang="ja-JP" sz="2000" b="1">
                <a:solidFill>
                  <a:srgbClr val="BFBFBF"/>
                </a:solidFill>
                <a:latin typeface="-apple-system"/>
              </a:rPr>
              <a:t>Totani </a:t>
            </a:r>
            <a:r>
              <a:rPr lang="ja-JP" altLang="en-US" sz="2000" b="1">
                <a:solidFill>
                  <a:srgbClr val="BFBFBF"/>
                </a:solidFill>
                <a:latin typeface="-apple-system"/>
              </a:rPr>
              <a:t>の </a:t>
            </a:r>
            <a:r>
              <a:rPr lang="en-US" altLang="ja-JP" sz="2000" b="1">
                <a:solidFill>
                  <a:srgbClr val="BFBFBF"/>
                </a:solidFill>
                <a:latin typeface="-apple-system"/>
              </a:rPr>
              <a:t>1.3〜1.6 </a:t>
            </a:r>
            <a:r>
              <a:rPr lang="ja-JP" altLang="en-US" sz="2000" b="1">
                <a:solidFill>
                  <a:srgbClr val="BFBFBF"/>
                </a:solidFill>
                <a:latin typeface="-apple-system"/>
              </a:rPr>
              <a:t>倍</a:t>
            </a:r>
          </a:p>
          <a:p>
            <a:r>
              <a:rPr lang="ja-JP" altLang="en-US" sz="2000" b="1">
                <a:solidFill>
                  <a:srgbClr val="BFBFBF"/>
                </a:solidFill>
                <a:latin typeface="-apple-system"/>
              </a:rPr>
              <a:t>・原因は </a:t>
            </a:r>
            <a:r>
              <a:rPr lang="en-US" altLang="ja-JP" sz="2000" b="1">
                <a:solidFill>
                  <a:srgbClr val="BFBFBF"/>
                </a:solidFill>
                <a:latin typeface="-apple-system"/>
              </a:rPr>
              <a:t>ICS </a:t>
            </a:r>
            <a:r>
              <a:rPr lang="ja-JP" altLang="en-US" sz="2000" b="1">
                <a:solidFill>
                  <a:srgbClr val="BFBFBF"/>
                </a:solidFill>
                <a:latin typeface="-apple-system"/>
              </a:rPr>
              <a:t>成分の形のズレ</a:t>
            </a:r>
          </a:p>
          <a:p>
            <a:endParaRPr lang="ja-JP" altLang="en-US" sz="2000" b="1">
              <a:solidFill>
                <a:srgbClr val="BFBFBF"/>
              </a:solidFill>
              <a:latin typeface="-apple-system"/>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446276"/>
          </a:xfrm>
          <a:prstGeom prst="rect">
            <a:avLst/>
          </a:prstGeom>
          <a:noFill/>
        </p:spPr>
        <p:txBody>
          <a:bodyPr wrap="square">
            <a:spAutoFit/>
          </a:bodyPr>
          <a:lstStyle/>
          <a:p>
            <a:pPr>
              <a:defRPr sz="2300" b="1">
                <a:solidFill>
                  <a:srgbClr val="FFFFFF"/>
                </a:solidFill>
              </a:defRPr>
            </a:pPr>
            <a:r>
              <a:rPr lang="en-US"/>
              <a:t>result</a:t>
            </a:r>
            <a:r>
              <a:t>：Totani (2025) との比較</a:t>
            </a:r>
          </a:p>
        </p:txBody>
      </p:sp>
      <p:sp>
        <p:nvSpPr>
          <p:cNvPr id="4" name="TextBox 3">
            <a:extLst>
              <a:ext uri="{FF2B5EF4-FFF2-40B4-BE49-F238E27FC236}">
                <a16:creationId xmlns:a16="http://schemas.microsoft.com/office/drawing/2014/main" id="{CA75453B-1307-60A3-A9AA-30BB56507C63}"/>
              </a:ext>
            </a:extLst>
          </p:cNvPr>
          <p:cNvSpPr txBox="1"/>
          <p:nvPr/>
        </p:nvSpPr>
        <p:spPr>
          <a:xfrm>
            <a:off x="5894614" y="497458"/>
            <a:ext cx="6097464" cy="5632311"/>
          </a:xfrm>
          <a:prstGeom prst="rect">
            <a:avLst/>
          </a:prstGeom>
          <a:noFill/>
        </p:spPr>
        <p:txBody>
          <a:bodyPr wrap="square">
            <a:spAutoFit/>
          </a:bodyPr>
          <a:lstStyle/>
          <a:p>
            <a:r>
              <a:rPr lang="ja-JP" altLang="en-US">
                <a:solidFill>
                  <a:schemeClr val="bg1"/>
                </a:solidFill>
              </a:rPr>
              <a:t>左図は本研究とＴｏｔａｎｉ手法の再現度を視覚的にあらわしたもの</a:t>
            </a:r>
            <a:endParaRPr lang="en-US" altLang="ja-JP">
              <a:solidFill>
                <a:schemeClr val="bg1"/>
              </a:solidFill>
            </a:endParaRPr>
          </a:p>
          <a:p>
            <a:endParaRPr lang="en-US">
              <a:solidFill>
                <a:schemeClr val="bg1"/>
              </a:solidFill>
            </a:endParaRPr>
          </a:p>
          <a:p>
            <a:r>
              <a:rPr lang="ja-JP" altLang="en-US">
                <a:solidFill>
                  <a:schemeClr val="bg1"/>
                </a:solidFill>
              </a:rPr>
              <a:t>この図からわかることは</a:t>
            </a:r>
            <a:r>
              <a:rPr lang="en-US" b="1">
                <a:solidFill>
                  <a:schemeClr val="bg1"/>
                </a:solidFill>
              </a:rPr>
              <a:t>成分ごとに</a:t>
            </a:r>
          </a:p>
          <a:p>
            <a:r>
              <a:rPr lang="en-US" b="1">
                <a:solidFill>
                  <a:schemeClr val="bg1"/>
                </a:solidFill>
              </a:rPr>
              <a:t> Totani と比較</a:t>
            </a:r>
            <a:r>
              <a:rPr lang="en-US">
                <a:solidFill>
                  <a:schemeClr val="bg1"/>
                </a:solidFill>
              </a:rPr>
              <a:t>（上：E²dN/dE、下：本研究/Totani 比）</a:t>
            </a:r>
          </a:p>
          <a:p>
            <a:endParaRPr lang="en-US">
              <a:solidFill>
                <a:schemeClr val="bg1"/>
              </a:solidFill>
            </a:endParaRPr>
          </a:p>
          <a:p>
            <a:r>
              <a:rPr lang="en-US" b="1">
                <a:solidFill>
                  <a:schemeClr val="bg1"/>
                </a:solidFill>
              </a:rPr>
              <a:t>① 合計は一致</a:t>
            </a:r>
            <a:r>
              <a:rPr lang="en-US">
                <a:solidFill>
                  <a:schemeClr val="bg1"/>
                </a:solidFill>
              </a:rPr>
              <a:t> — 全成分の和は Totani と </a:t>
            </a:r>
            <a:r>
              <a:rPr lang="en-US" b="1">
                <a:solidFill>
                  <a:schemeClr val="bg1"/>
                </a:solidFill>
              </a:rPr>
              <a:t>4%以内（比 0.96）</a:t>
            </a:r>
            <a:r>
              <a:rPr lang="en-US">
                <a:solidFill>
                  <a:schemeClr val="bg1"/>
                </a:solidFill>
              </a:rPr>
              <a:t> → 観測そのものは再現できている</a:t>
            </a:r>
          </a:p>
          <a:p>
            <a:endParaRPr lang="en-US">
              <a:solidFill>
                <a:schemeClr val="bg1"/>
              </a:solidFill>
            </a:endParaRPr>
          </a:p>
          <a:p>
            <a:r>
              <a:rPr lang="en-US" b="1">
                <a:solidFill>
                  <a:schemeClr val="bg1"/>
                </a:solidFill>
              </a:rPr>
              <a:t>② halo・Loop I はほぼ一致</a:t>
            </a:r>
            <a:r>
              <a:rPr lang="en-US">
                <a:solidFill>
                  <a:schemeClr val="bg1"/>
                </a:solidFill>
              </a:rPr>
              <a:t> — halo 1.15 / Loop I 1.03</a:t>
            </a:r>
          </a:p>
          <a:p>
            <a:endParaRPr lang="en-US">
              <a:solidFill>
                <a:schemeClr val="bg1"/>
              </a:solidFill>
            </a:endParaRPr>
          </a:p>
          <a:p>
            <a:r>
              <a:rPr lang="en-US" b="1">
                <a:solidFill>
                  <a:schemeClr val="bg1"/>
                </a:solidFill>
              </a:rPr>
              <a:t>③ gas と ICS は補い合ってズレる</a:t>
            </a:r>
            <a:r>
              <a:rPr lang="en-US">
                <a:solidFill>
                  <a:schemeClr val="bg1"/>
                </a:solidFill>
              </a:rPr>
              <a:t> — gas 0.68 / ICS 1.41 </a:t>
            </a:r>
          </a:p>
          <a:p>
            <a:r>
              <a:rPr lang="en-US">
                <a:solidFill>
                  <a:schemeClr val="bg1"/>
                </a:solidFill>
              </a:rPr>
              <a:t>→ 両方とも銀河拡散放射。分け方に自由度があり、片方が低いと片方が高い（合計は合う）</a:t>
            </a:r>
          </a:p>
          <a:p>
            <a:endParaRPr lang="en-US">
              <a:solidFill>
                <a:schemeClr val="bg1"/>
              </a:solidFill>
            </a:endParaRPr>
          </a:p>
          <a:p>
            <a:r>
              <a:rPr lang="en-US" b="1">
                <a:solidFill>
                  <a:schemeClr val="bg1"/>
                </a:solidFill>
              </a:rPr>
              <a:t>④ 唯一の本質的な食い違い＝等方成分</a:t>
            </a:r>
            <a:r>
              <a:rPr lang="en-US">
                <a:solidFill>
                  <a:schemeClr val="bg1"/>
                </a:solidFill>
              </a:rPr>
              <a:t> — iso 0.38</a:t>
            </a:r>
          </a:p>
          <a:p>
            <a:r>
              <a:rPr lang="en-US">
                <a:solidFill>
                  <a:schemeClr val="bg1"/>
                </a:solidFill>
              </a:rPr>
              <a:t>（低Eで 0.005） </a:t>
            </a:r>
          </a:p>
          <a:p>
            <a:r>
              <a:rPr lang="en-US">
                <a:solidFill>
                  <a:schemeClr val="bg1"/>
                </a:solidFill>
              </a:rPr>
              <a:t>→ 原因：本研究の ICS が Totani より</a:t>
            </a:r>
            <a:r>
              <a:rPr lang="en-US" b="1">
                <a:solidFill>
                  <a:schemeClr val="bg1"/>
                </a:solidFill>
              </a:rPr>
              <a:t>緯度方向に平坦</a:t>
            </a:r>
            <a:r>
              <a:rPr lang="en-US">
                <a:solidFill>
                  <a:schemeClr val="bg1"/>
                </a:solidFill>
              </a:rPr>
              <a:t>。 平坦な ICS は等方成分と区別できず、等方の分を ICS が吸う</a:t>
            </a:r>
          </a:p>
          <a:p>
            <a:endParaRPr lang="en-US"/>
          </a:p>
        </p:txBody>
      </p:sp>
      <p:pic>
        <p:nvPicPr>
          <p:cNvPr id="6" name="Picture 5" descr="The image shows a comparison spectrum of different components, with lines representing various research findings, including positive and negative values, and it highlights the consistency between the model's predictions and observed data in the low energy range.&#10;&#10;AI-generated content may be incorrect.">
            <a:extLst>
              <a:ext uri="{FF2B5EF4-FFF2-40B4-BE49-F238E27FC236}">
                <a16:creationId xmlns:a16="http://schemas.microsoft.com/office/drawing/2014/main" id="{1A70B638-1635-25FE-D7A8-18EC3FB4D448}"/>
              </a:ext>
            </a:extLst>
          </p:cNvPr>
          <p:cNvPicPr>
            <a:picLocks noChangeAspect="1"/>
          </p:cNvPicPr>
          <p:nvPr/>
        </p:nvPicPr>
        <p:blipFill>
          <a:blip r:embed="rId3"/>
          <a:stretch>
            <a:fillRect/>
          </a:stretch>
        </p:blipFill>
        <p:spPr>
          <a:xfrm>
            <a:off x="707571" y="671313"/>
            <a:ext cx="4523456" cy="610140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AA64856-B83B-ACBE-A73C-8F523F8E7C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578DE0-7210-7B45-AD55-1268219D4EA0}"/>
              </a:ext>
            </a:extLst>
          </p:cNvPr>
          <p:cNvSpPr txBox="1"/>
          <p:nvPr/>
        </p:nvSpPr>
        <p:spPr>
          <a:xfrm>
            <a:off x="183930" y="323165"/>
            <a:ext cx="8198070" cy="646331"/>
          </a:xfrm>
          <a:prstGeom prst="rect">
            <a:avLst/>
          </a:prstGeom>
          <a:noFill/>
        </p:spPr>
        <p:txBody>
          <a:bodyPr wrap="square">
            <a:spAutoFit/>
          </a:bodyPr>
          <a:lstStyle/>
          <a:p>
            <a:pPr>
              <a:defRPr sz="2800" b="1">
                <a:solidFill>
                  <a:srgbClr val="FFFFFF"/>
                </a:solidFill>
              </a:defRPr>
            </a:pPr>
            <a:r>
              <a:rPr lang="en-US" altLang="ja-JP" sz="3600">
                <a:solidFill>
                  <a:schemeClr val="bg1"/>
                </a:solidFill>
              </a:rPr>
              <a:t>Discussion</a:t>
            </a:r>
            <a:r>
              <a:rPr lang="ja-JP" altLang="en-US" sz="3600">
                <a:solidFill>
                  <a:schemeClr val="bg1"/>
                </a:solidFill>
              </a:rPr>
              <a:t>　達成できたことと課題</a:t>
            </a:r>
            <a:endParaRPr lang="en-US" altLang="ja-JP" sz="3600">
              <a:solidFill>
                <a:schemeClr val="bg1"/>
              </a:solidFill>
            </a:endParaRPr>
          </a:p>
        </p:txBody>
      </p:sp>
      <p:sp>
        <p:nvSpPr>
          <p:cNvPr id="7" name="TextBox 6">
            <a:extLst>
              <a:ext uri="{FF2B5EF4-FFF2-40B4-BE49-F238E27FC236}">
                <a16:creationId xmlns:a16="http://schemas.microsoft.com/office/drawing/2014/main" id="{B809A210-E4A4-8D25-78B7-1C77802FC7BD}"/>
              </a:ext>
            </a:extLst>
          </p:cNvPr>
          <p:cNvSpPr txBox="1"/>
          <p:nvPr/>
        </p:nvSpPr>
        <p:spPr>
          <a:xfrm>
            <a:off x="250371" y="1307139"/>
            <a:ext cx="11691257" cy="1323439"/>
          </a:xfrm>
          <a:prstGeom prst="rect">
            <a:avLst/>
          </a:prstGeom>
          <a:noFill/>
        </p:spPr>
        <p:txBody>
          <a:bodyPr wrap="square">
            <a:spAutoFit/>
          </a:bodyPr>
          <a:lstStyle/>
          <a:p>
            <a:pPr indent="0" algn="l">
              <a:buNone/>
            </a:pPr>
            <a:r>
              <a:rPr lang="en-US" sz="2000" b="1" i="0">
                <a:solidFill>
                  <a:srgbClr val="BFBFBF"/>
                </a:solidFill>
                <a:effectLst/>
                <a:latin typeface="-apple-system"/>
              </a:rPr>
              <a:t>【解釈の限界】</a:t>
            </a:r>
          </a:p>
          <a:p>
            <a:pPr indent="0" algn="l">
              <a:buNone/>
            </a:pPr>
            <a:r>
              <a:rPr lang="en-US" sz="2000" b="0" i="0">
                <a:solidFill>
                  <a:srgbClr val="BFBFBF"/>
                </a:solidFill>
                <a:effectLst/>
                <a:latin typeface="-apple-system"/>
              </a:rPr>
              <a:t> ・検出したのは「背景で説明できない過剰」。</a:t>
            </a:r>
          </a:p>
          <a:p>
            <a:pPr indent="0" algn="l">
              <a:buNone/>
            </a:pPr>
            <a:r>
              <a:rPr lang="en-US" sz="2000" b="0" i="0">
                <a:solidFill>
                  <a:srgbClr val="BFBFBF"/>
                </a:solidFill>
                <a:effectLst/>
                <a:latin typeface="-apple-system"/>
              </a:rPr>
              <a:t>ダークマターかどうかは別の主張 </a:t>
            </a:r>
          </a:p>
          <a:p>
            <a:pPr indent="0" algn="l">
              <a:buNone/>
            </a:pPr>
            <a:r>
              <a:rPr lang="en-US" sz="2000" b="0" i="0">
                <a:solidFill>
                  <a:srgbClr val="BFBFBF"/>
                </a:solidFill>
                <a:effectLst/>
                <a:latin typeface="-apple-system"/>
              </a:rPr>
              <a:t>・根本原因の ICS 形状は GALPROP 由来。確定には再計算が必要</a:t>
            </a:r>
          </a:p>
        </p:txBody>
      </p:sp>
      <p:sp>
        <p:nvSpPr>
          <p:cNvPr id="9" name="TextBox 8">
            <a:extLst>
              <a:ext uri="{FF2B5EF4-FFF2-40B4-BE49-F238E27FC236}">
                <a16:creationId xmlns:a16="http://schemas.microsoft.com/office/drawing/2014/main" id="{3B509CF3-7298-5B1F-E774-22D97FD1ED52}"/>
              </a:ext>
            </a:extLst>
          </p:cNvPr>
          <p:cNvSpPr txBox="1"/>
          <p:nvPr/>
        </p:nvSpPr>
        <p:spPr>
          <a:xfrm>
            <a:off x="373856" y="4087903"/>
            <a:ext cx="10903744" cy="1754326"/>
          </a:xfrm>
          <a:prstGeom prst="rect">
            <a:avLst/>
          </a:prstGeom>
          <a:noFill/>
        </p:spPr>
        <p:txBody>
          <a:bodyPr wrap="square">
            <a:spAutoFit/>
          </a:bodyPr>
          <a:lstStyle/>
          <a:p>
            <a:r>
              <a:rPr lang="ja-JP" altLang="en-US" sz="1800">
                <a:solidFill>
                  <a:schemeClr val="bg1"/>
                </a:solidFill>
              </a:rPr>
              <a:t>戸谷さんの</a:t>
            </a:r>
            <a:r>
              <a:rPr lang="en-US" sz="1800" b="1">
                <a:solidFill>
                  <a:schemeClr val="bg1"/>
                </a:solidFill>
              </a:rPr>
              <a:t>20 GeV ハロー過剰の再現</a:t>
            </a:r>
            <a:r>
              <a:rPr lang="ja-JP" altLang="en-US" sz="1800">
                <a:solidFill>
                  <a:schemeClr val="bg1"/>
                </a:solidFill>
              </a:rPr>
              <a:t>の再現にほぼ成功　</a:t>
            </a:r>
            <a:endParaRPr lang="en-US" altLang="ja-JP" sz="1800">
              <a:solidFill>
                <a:schemeClr val="bg1"/>
              </a:solidFill>
            </a:endParaRPr>
          </a:p>
          <a:p>
            <a:endParaRPr lang="en-US" altLang="ja-JP" sz="1800">
              <a:solidFill>
                <a:schemeClr val="bg1"/>
              </a:solidFill>
            </a:endParaRPr>
          </a:p>
          <a:p>
            <a:r>
              <a:rPr lang="ja-JP" altLang="en-US" sz="1800">
                <a:solidFill>
                  <a:schemeClr val="bg1"/>
                </a:solidFill>
              </a:rPr>
              <a:t>今後は、ダークマターが多いとされる矮小銀河や、</a:t>
            </a:r>
            <a:r>
              <a:rPr lang="en-US" altLang="ja-JP" sz="1800">
                <a:solidFill>
                  <a:schemeClr val="bg1"/>
                </a:solidFill>
              </a:rPr>
              <a:t>Jfactor</a:t>
            </a:r>
            <a:r>
              <a:rPr lang="ja-JP" altLang="en-US" sz="1800">
                <a:solidFill>
                  <a:schemeClr val="bg1"/>
                </a:solidFill>
              </a:rPr>
              <a:t>理論上で天の川銀河と同程度のダークマターがあるとされる　</a:t>
            </a:r>
            <a:r>
              <a:rPr lang="en-US" altLang="ja-JP" sz="1800">
                <a:solidFill>
                  <a:schemeClr val="bg1"/>
                </a:solidFill>
              </a:rPr>
              <a:t>M31 </a:t>
            </a:r>
            <a:r>
              <a:rPr lang="ja-JP" altLang="en-US" sz="1800">
                <a:solidFill>
                  <a:schemeClr val="bg1"/>
                </a:solidFill>
              </a:rPr>
              <a:t>にも拡張する</a:t>
            </a:r>
            <a:endParaRPr lang="en-US" altLang="ja-JP" sz="1800">
              <a:solidFill>
                <a:schemeClr val="bg1"/>
              </a:solidFill>
            </a:endParaRPr>
          </a:p>
          <a:p>
            <a:endParaRPr lang="en-US" altLang="ja-JP" sz="1800">
              <a:solidFill>
                <a:schemeClr val="bg1"/>
              </a:solidFill>
            </a:endParaRPr>
          </a:p>
          <a:p>
            <a:r>
              <a:rPr lang="en-US" altLang="ja-JP" sz="1800">
                <a:solidFill>
                  <a:schemeClr val="bg1"/>
                </a:solidFill>
              </a:rPr>
              <a:t>Ackerman</a:t>
            </a:r>
            <a:r>
              <a:rPr lang="ja-JP" altLang="en-US" sz="1800">
                <a:solidFill>
                  <a:schemeClr val="bg1"/>
                </a:solidFill>
              </a:rPr>
              <a:t>（</a:t>
            </a:r>
            <a:r>
              <a:rPr lang="en-US" altLang="ja-JP" sz="1800">
                <a:solidFill>
                  <a:schemeClr val="bg1"/>
                </a:solidFill>
              </a:rPr>
              <a:t>2015</a:t>
            </a:r>
            <a:r>
              <a:rPr lang="ja-JP" altLang="en-US" sz="1800">
                <a:solidFill>
                  <a:schemeClr val="bg1"/>
                </a:solidFill>
              </a:rPr>
              <a:t>）　</a:t>
            </a:r>
            <a:r>
              <a:rPr lang="en-US" sz="1800">
                <a:solidFill>
                  <a:schemeClr val="bg1"/>
                </a:solidFill>
              </a:rPr>
              <a:t>Stenhouse(2026 </a:t>
            </a:r>
            <a:r>
              <a:rPr lang="ja-JP" altLang="en-US" sz="1800">
                <a:solidFill>
                  <a:schemeClr val="bg1"/>
                </a:solidFill>
              </a:rPr>
              <a:t>）　</a:t>
            </a:r>
            <a:r>
              <a:rPr lang="en-US" sz="1800">
                <a:solidFill>
                  <a:schemeClr val="bg1"/>
                </a:solidFill>
              </a:rPr>
              <a:t>Alemanno+2026 (DAMPE) </a:t>
            </a:r>
            <a:r>
              <a:rPr lang="ja-JP" altLang="en-US" sz="1800">
                <a:solidFill>
                  <a:schemeClr val="bg1"/>
                </a:solidFill>
              </a:rPr>
              <a:t>などの内容を参考に手法を拡張する。</a:t>
            </a:r>
            <a:r>
              <a:rPr lang="en-US" sz="1800"/>
              <a:t>r </a:t>
            </a:r>
            <a:endParaRPr lang="en-US"/>
          </a:p>
        </p:txBody>
      </p:sp>
    </p:spTree>
    <p:extLst>
      <p:ext uri="{BB962C8B-B14F-4D97-AF65-F5344CB8AC3E}">
        <p14:creationId xmlns:p14="http://schemas.microsoft.com/office/powerpoint/2010/main" val="3820799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72440" y="338435"/>
            <a:ext cx="11247120" cy="523220"/>
          </a:xfrm>
          <a:prstGeom prst="rect">
            <a:avLst/>
          </a:prstGeom>
          <a:noFill/>
        </p:spPr>
        <p:txBody>
          <a:bodyPr wrap="square">
            <a:spAutoFit/>
          </a:bodyPr>
          <a:lstStyle/>
          <a:p>
            <a:pPr>
              <a:defRPr sz="2800" b="1">
                <a:solidFill>
                  <a:srgbClr val="FFFFFF"/>
                </a:solidFill>
              </a:defRPr>
            </a:pPr>
            <a:r>
              <a:rPr sz="2800"/>
              <a:t>Conclusion と今後の方針</a:t>
            </a:r>
          </a:p>
        </p:txBody>
      </p:sp>
      <p:sp>
        <p:nvSpPr>
          <p:cNvPr id="5" name="TextBox 4">
            <a:extLst>
              <a:ext uri="{FF2B5EF4-FFF2-40B4-BE49-F238E27FC236}">
                <a16:creationId xmlns:a16="http://schemas.microsoft.com/office/drawing/2014/main" id="{6BE14EFE-9B85-A353-E70A-3DCAE137C54E}"/>
              </a:ext>
            </a:extLst>
          </p:cNvPr>
          <p:cNvSpPr txBox="1"/>
          <p:nvPr/>
        </p:nvSpPr>
        <p:spPr>
          <a:xfrm>
            <a:off x="2933700" y="4428650"/>
            <a:ext cx="6096000" cy="369332"/>
          </a:xfrm>
          <a:prstGeom prst="rect">
            <a:avLst/>
          </a:prstGeom>
          <a:noFill/>
        </p:spPr>
        <p:txBody>
          <a:bodyPr wrap="square">
            <a:spAutoFit/>
          </a:bodyPr>
          <a:lstStyle/>
          <a:p>
            <a:r>
              <a:rPr lang="ja-JP" altLang="en-US"/>
              <a:t>手法の新規性</a:t>
            </a:r>
          </a:p>
        </p:txBody>
      </p:sp>
      <p:sp>
        <p:nvSpPr>
          <p:cNvPr id="7" name="TextBox 6">
            <a:extLst>
              <a:ext uri="{FF2B5EF4-FFF2-40B4-BE49-F238E27FC236}">
                <a16:creationId xmlns:a16="http://schemas.microsoft.com/office/drawing/2014/main" id="{A6931CBB-4422-8C93-03E0-11F0FC2B8D6B}"/>
              </a:ext>
            </a:extLst>
          </p:cNvPr>
          <p:cNvSpPr txBox="1"/>
          <p:nvPr/>
        </p:nvSpPr>
        <p:spPr>
          <a:xfrm>
            <a:off x="1354664" y="1979831"/>
            <a:ext cx="9482672" cy="3139321"/>
          </a:xfrm>
          <a:prstGeom prst="rect">
            <a:avLst/>
          </a:prstGeom>
          <a:noFill/>
        </p:spPr>
        <p:txBody>
          <a:bodyPr wrap="square">
            <a:spAutoFit/>
          </a:bodyPr>
          <a:lstStyle/>
          <a:p>
            <a:r>
              <a:rPr lang="en-US" altLang="ja-JP">
                <a:solidFill>
                  <a:schemeClr val="bg1"/>
                </a:solidFill>
              </a:rPr>
              <a:t>Discussion — </a:t>
            </a:r>
            <a:r>
              <a:rPr lang="ja-JP" altLang="en-US">
                <a:solidFill>
                  <a:schemeClr val="bg1"/>
                </a:solidFill>
              </a:rPr>
              <a:t>達成できたこと・残る課題</a:t>
            </a:r>
          </a:p>
          <a:p>
            <a:r>
              <a:rPr lang="en-US" altLang="ja-JP">
                <a:solidFill>
                  <a:schemeClr val="bg1"/>
                </a:solidFill>
              </a:rPr>
              <a:t>【</a:t>
            </a:r>
            <a:r>
              <a:rPr lang="ja-JP" altLang="en-US">
                <a:solidFill>
                  <a:schemeClr val="bg1"/>
                </a:solidFill>
              </a:rPr>
              <a:t>達成</a:t>
            </a:r>
            <a:r>
              <a:rPr lang="en-US" altLang="ja-JP">
                <a:solidFill>
                  <a:schemeClr val="bg1"/>
                </a:solidFill>
              </a:rPr>
              <a:t>】20 GeV </a:t>
            </a:r>
            <a:r>
              <a:rPr lang="ja-JP" altLang="en-US">
                <a:solidFill>
                  <a:schemeClr val="bg1"/>
                </a:solidFill>
              </a:rPr>
              <a:t>ハロー過剰を </a:t>
            </a:r>
            <a:r>
              <a:rPr lang="en-US" altLang="ja-JP">
                <a:solidFill>
                  <a:schemeClr val="bg1"/>
                </a:solidFill>
              </a:rPr>
              <a:t>Totani </a:t>
            </a:r>
            <a:r>
              <a:rPr lang="ja-JP" altLang="en-US">
                <a:solidFill>
                  <a:schemeClr val="bg1"/>
                </a:solidFill>
              </a:rPr>
              <a:t>と再現 ・有意度 </a:t>
            </a:r>
            <a:r>
              <a:rPr lang="en-US" altLang="ja-JP">
                <a:solidFill>
                  <a:schemeClr val="bg1"/>
                </a:solidFill>
              </a:rPr>
              <a:t>19σ</a:t>
            </a:r>
            <a:r>
              <a:rPr lang="ja-JP" altLang="en-US">
                <a:solidFill>
                  <a:schemeClr val="bg1"/>
                </a:solidFill>
              </a:rPr>
              <a:t>（</a:t>
            </a:r>
            <a:r>
              <a:rPr lang="en-US" altLang="ja-JP">
                <a:solidFill>
                  <a:schemeClr val="bg1"/>
                </a:solidFill>
              </a:rPr>
              <a:t>Bin6</a:t>
            </a:r>
            <a:r>
              <a:rPr lang="ja-JP" altLang="en-US">
                <a:solidFill>
                  <a:schemeClr val="bg1"/>
                </a:solidFill>
              </a:rPr>
              <a:t>）、スペクトルの形（山・谷・頂点）が一致 </a:t>
            </a:r>
          </a:p>
          <a:p>
            <a:r>
              <a:rPr lang="ja-JP" altLang="en-US">
                <a:solidFill>
                  <a:schemeClr val="bg1"/>
                </a:solidFill>
              </a:rPr>
              <a:t>・空間分布も銀河中心対称の広がったハロー ・全成分の合計も </a:t>
            </a:r>
            <a:r>
              <a:rPr lang="en-US" altLang="ja-JP">
                <a:solidFill>
                  <a:schemeClr val="bg1"/>
                </a:solidFill>
              </a:rPr>
              <a:t>Totani </a:t>
            </a:r>
            <a:r>
              <a:rPr lang="ja-JP" altLang="en-US">
                <a:solidFill>
                  <a:schemeClr val="bg1"/>
                </a:solidFill>
              </a:rPr>
              <a:t>と </a:t>
            </a:r>
            <a:r>
              <a:rPr lang="en-US" altLang="ja-JP">
                <a:solidFill>
                  <a:schemeClr val="bg1"/>
                </a:solidFill>
              </a:rPr>
              <a:t>4%</a:t>
            </a:r>
            <a:r>
              <a:rPr lang="ja-JP" altLang="en-US">
                <a:solidFill>
                  <a:schemeClr val="bg1"/>
                </a:solidFill>
              </a:rPr>
              <a:t>以内で一致</a:t>
            </a:r>
          </a:p>
          <a:p>
            <a:endParaRPr lang="ja-JP" altLang="en-US">
              <a:solidFill>
                <a:schemeClr val="bg1"/>
              </a:solidFill>
            </a:endParaRPr>
          </a:p>
          <a:p>
            <a:endParaRPr lang="ja-JP" altLang="en-US">
              <a:solidFill>
                <a:schemeClr val="bg1"/>
              </a:solidFill>
            </a:endParaRPr>
          </a:p>
          <a:p>
            <a:r>
              <a:rPr lang="en-US" altLang="ja-JP">
                <a:solidFill>
                  <a:schemeClr val="bg1"/>
                </a:solidFill>
              </a:rPr>
              <a:t>【</a:t>
            </a:r>
            <a:r>
              <a:rPr lang="ja-JP" altLang="en-US">
                <a:solidFill>
                  <a:schemeClr val="bg1"/>
                </a:solidFill>
              </a:rPr>
              <a:t>残る課題（系統誤差）</a:t>
            </a:r>
            <a:r>
              <a:rPr lang="en-US" altLang="ja-JP">
                <a:solidFill>
                  <a:schemeClr val="bg1"/>
                </a:solidFill>
              </a:rPr>
              <a:t>】 </a:t>
            </a:r>
          </a:p>
          <a:p>
            <a:r>
              <a:rPr lang="ja-JP" altLang="en-US">
                <a:solidFill>
                  <a:schemeClr val="bg1"/>
                </a:solidFill>
              </a:rPr>
              <a:t>・等方成分が </a:t>
            </a:r>
            <a:r>
              <a:rPr lang="en-US" altLang="ja-JP">
                <a:solidFill>
                  <a:schemeClr val="bg1"/>
                </a:solidFill>
              </a:rPr>
              <a:t>Totani </a:t>
            </a:r>
            <a:r>
              <a:rPr lang="ja-JP" altLang="en-US">
                <a:solidFill>
                  <a:schemeClr val="bg1"/>
                </a:solidFill>
              </a:rPr>
              <a:t>の </a:t>
            </a:r>
            <a:r>
              <a:rPr lang="en-US" altLang="ja-JP">
                <a:solidFill>
                  <a:schemeClr val="bg1"/>
                </a:solidFill>
              </a:rPr>
              <a:t>0.38 </a:t>
            </a:r>
            <a:r>
              <a:rPr lang="ja-JP" altLang="en-US">
                <a:solidFill>
                  <a:schemeClr val="bg1"/>
                </a:solidFill>
              </a:rPr>
              <a:t>倍に潰れる ← 本研究の </a:t>
            </a:r>
            <a:r>
              <a:rPr lang="en-US" altLang="ja-JP">
                <a:solidFill>
                  <a:schemeClr val="bg1"/>
                </a:solidFill>
              </a:rPr>
              <a:t>ICS </a:t>
            </a:r>
            <a:r>
              <a:rPr lang="ja-JP" altLang="en-US">
                <a:solidFill>
                  <a:schemeClr val="bg1"/>
                </a:solidFill>
              </a:rPr>
              <a:t>が平坦（原因は特定済み）</a:t>
            </a:r>
          </a:p>
          <a:p>
            <a:r>
              <a:rPr lang="ja-JP" altLang="en-US">
                <a:solidFill>
                  <a:schemeClr val="bg1"/>
                </a:solidFill>
              </a:rPr>
              <a:t> ・有意度の「大きさ」が </a:t>
            </a:r>
            <a:r>
              <a:rPr lang="en-US" altLang="ja-JP">
                <a:solidFill>
                  <a:schemeClr val="bg1"/>
                </a:solidFill>
              </a:rPr>
              <a:t>Totani </a:t>
            </a:r>
            <a:r>
              <a:rPr lang="ja-JP" altLang="en-US">
                <a:solidFill>
                  <a:schemeClr val="bg1"/>
                </a:solidFill>
              </a:rPr>
              <a:t>の </a:t>
            </a:r>
            <a:r>
              <a:rPr lang="en-US" altLang="ja-JP">
                <a:solidFill>
                  <a:schemeClr val="bg1"/>
                </a:solidFill>
              </a:rPr>
              <a:t>1.3〜1.6 </a:t>
            </a:r>
            <a:r>
              <a:rPr lang="ja-JP" altLang="en-US">
                <a:solidFill>
                  <a:schemeClr val="bg1"/>
                </a:solidFill>
              </a:rPr>
              <a:t>倍（「形」は一致） </a:t>
            </a:r>
          </a:p>
          <a:p>
            <a:r>
              <a:rPr lang="ja-JP" altLang="en-US">
                <a:solidFill>
                  <a:schemeClr val="bg1"/>
                </a:solidFill>
              </a:rPr>
              <a:t>・低エネルギー側は符号が負</a:t>
            </a:r>
          </a:p>
          <a:p>
            <a:r>
              <a:rPr lang="ja-JP" altLang="en-US">
                <a:solidFill>
                  <a:schemeClr val="bg1"/>
                </a:solidFill>
              </a:rPr>
              <a:t>・モデル依存大で</a:t>
            </a:r>
            <a:r>
              <a:rPr lang="ja-JP" altLang="en-US"/>
              <a:t>決定不能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4493</TotalTime>
  <Words>4424</Words>
  <Application>Microsoft Office PowerPoint</Application>
  <PresentationFormat>Widescreen</PresentationFormat>
  <Paragraphs>214</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-apple-system</vt:lpstr>
      <vt:lpstr>Arial</vt:lpstr>
      <vt:lpstr>Britannic Bold</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中村惺一</dc:creator>
  <cp:keywords/>
  <dc:description>generated using python-pptx</dc:description>
  <cp:lastModifiedBy>202304239</cp:lastModifiedBy>
  <cp:revision>19</cp:revision>
  <dcterms:created xsi:type="dcterms:W3CDTF">2013-01-27T09:14:16Z</dcterms:created>
  <dcterms:modified xsi:type="dcterms:W3CDTF">2026-07-25T06:22:26Z</dcterms:modified>
  <cp:category/>
</cp:coreProperties>
</file>