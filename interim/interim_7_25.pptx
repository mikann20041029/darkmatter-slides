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1" r:id="rId5"/>
    <p:sldId id="268" r:id="rId6"/>
    <p:sldId id="260" r:id="rId7"/>
    <p:sldId id="267" r:id="rId8"/>
    <p:sldId id="259" r:id="rId9"/>
    <p:sldId id="262" r:id="rId10"/>
    <p:sldId id="263" r:id="rId11"/>
    <p:sldId id="276" r:id="rId12"/>
    <p:sldId id="266" r:id="rId13"/>
    <p:sldId id="272" r:id="rId14"/>
    <p:sldId id="273" r:id="rId15"/>
    <p:sldId id="270"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23" autoAdjust="0"/>
    <p:restoredTop sz="96247" autoAdjust="0"/>
  </p:normalViewPr>
  <p:slideViewPr>
    <p:cSldViewPr snapToGrid="0" snapToObjects="1">
      <p:cViewPr>
        <p:scale>
          <a:sx n="82" d="100"/>
          <a:sy n="82" d="100"/>
        </p:scale>
        <p:origin x="2034" y="64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506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effectLst/>
              </a:rPr>
              <a:t>銀河中心におけるガンマ線過剰：</a:t>
            </a:r>
          </a:p>
          <a:p>
            <a:r>
              <a:rPr lang="en-US">
                <a:effectLst/>
              </a:rPr>
              <a:t>ダークマター起源説の統計的検証ということで、で発表を始めます。なかむらせいいちです。</a:t>
            </a:r>
          </a:p>
          <a:p>
            <a:br>
              <a:rPr lang="en-US">
                <a:effectLst/>
              </a:rPr>
            </a:b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これが目次になります。このような進め方で進みたいと考えています（ここまで</a:t>
            </a:r>
            <a:r>
              <a:rPr lang="en-US" altLang="ja-JP"/>
              <a:t>30</a:t>
            </a:r>
            <a:r>
              <a:rPr lang="ja-JP" altLang="en-US"/>
              <a:t>秒）</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altLang="ja-JP"/>
          </a:p>
          <a:p>
            <a:r>
              <a:rPr lang="ja-JP" altLang="en-US"/>
              <a:t>まず、導入として銀河中心観測の目的というものについてお話したいと思います。</a:t>
            </a:r>
          </a:p>
          <a:p>
            <a:r>
              <a:rPr lang="ja-JP" altLang="en-US"/>
              <a:t>目的としては多くあるのですが、</a:t>
            </a:r>
          </a:p>
          <a:p>
            <a:r>
              <a:rPr lang="ja-JP" altLang="en-US"/>
              <a:t>そのひとつとして「銀河中心方向のガンマ線過剰の正体を突き止めること」があげられます。</a:t>
            </a:r>
            <a:endParaRPr lang="en-US" altLang="ja-JP"/>
          </a:p>
          <a:p>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銀河中心方向</a:t>
            </a:r>
            <a:r>
              <a:rPr lang="ja-JP" altLang="en-US" sz="1200">
                <a:solidFill>
                  <a:schemeClr val="bg1"/>
                </a:solidFill>
              </a:rPr>
              <a:t>の</a:t>
            </a:r>
            <a:r>
              <a:rPr lang="ja-JP" altLang="en-US"/>
              <a:t>観測結果の光子データから原因の分かっている成分を差し引くと、</a:t>
            </a:r>
            <a:r>
              <a:rPr lang="en-US" sz="1200" b="1" i="0" kern="1200">
                <a:solidFill>
                  <a:schemeClr val="tx1"/>
                </a:solidFill>
                <a:effectLst/>
                <a:latin typeface="+mn-lt"/>
                <a:ea typeface="+mn-ea"/>
                <a:cs typeface="+mn-cs"/>
              </a:rPr>
              <a:t>引ききれず残る成分</a:t>
            </a:r>
            <a:r>
              <a:rPr lang="en-US" sz="1200" b="0" i="0" kern="1200">
                <a:solidFill>
                  <a:schemeClr val="tx1"/>
                </a:solidFill>
                <a:effectLst/>
                <a:latin typeface="+mn-lt"/>
                <a:ea typeface="+mn-ea"/>
                <a:cs typeface="+mn-cs"/>
              </a:rPr>
              <a:t>が出ます。</a:t>
            </a:r>
            <a:r>
              <a:rPr lang="ja-JP" altLang="en-US"/>
              <a:t>これを過剰と呼んでいます。</a:t>
            </a:r>
          </a:p>
          <a:p>
            <a:endParaRPr lang="en-US" altLang="ja-JP"/>
          </a:p>
          <a:p>
            <a:r>
              <a:rPr lang="ja-JP" altLang="en-US"/>
              <a:t>この目的を果たすために観測に使用される機器は多くありますが、</a:t>
            </a:r>
          </a:p>
          <a:p>
            <a:r>
              <a:rPr lang="ja-JP" altLang="en-US"/>
              <a:t>今回は</a:t>
            </a:r>
            <a:r>
              <a:rPr lang="en-US" altLang="ja-JP"/>
              <a:t>FermiLAT</a:t>
            </a:r>
            <a:r>
              <a:rPr lang="ja-JP" altLang="en-US"/>
              <a:t>による観測データを使用しました。</a:t>
            </a:r>
          </a:p>
          <a:p>
            <a:endParaRPr lang="ja-JP" altLang="en-US"/>
          </a:p>
          <a:p>
            <a:endParaRPr lang="en-US"/>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FEEF6-61C7-FD2A-6D43-1B0274FCF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22DB3-7949-21F1-5AEA-652F477D0EE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73A7329-6537-CA4D-9760-CB25324CCA14}"/>
              </a:ext>
            </a:extLst>
          </p:cNvPr>
          <p:cNvSpPr>
            <a:spLocks noGrp="1"/>
          </p:cNvSpPr>
          <p:nvPr>
            <p:ph type="body" sz="quarter" idx="3"/>
          </p:nvPr>
        </p:nvSpPr>
        <p:spPr/>
        <p:txBody>
          <a:bodyPr/>
          <a:lstStyle/>
          <a:p>
            <a:r>
              <a:rPr lang="ja-JP" altLang="en-US" sz="1200" b="0" i="0" kern="1200">
                <a:solidFill>
                  <a:schemeClr val="tx1"/>
                </a:solidFill>
                <a:effectLst/>
                <a:latin typeface="+mn-lt"/>
                <a:ea typeface="+mn-ea"/>
                <a:cs typeface="+mn-cs"/>
              </a:rPr>
              <a:t>そして、</a:t>
            </a:r>
            <a:r>
              <a:rPr lang="en-US" sz="1200" b="0" i="0" kern="1200">
                <a:solidFill>
                  <a:schemeClr val="tx1"/>
                </a:solidFill>
                <a:effectLst/>
                <a:latin typeface="+mn-lt"/>
                <a:ea typeface="+mn-ea"/>
                <a:cs typeface="+mn-cs"/>
              </a:rPr>
              <a:t>その過剰を説明する有力候補</a:t>
            </a:r>
            <a:r>
              <a:rPr lang="ja-JP" altLang="en-US" sz="1200" b="0" i="0" kern="1200">
                <a:solidFill>
                  <a:schemeClr val="tx1"/>
                </a:solidFill>
                <a:effectLst/>
                <a:latin typeface="+mn-lt"/>
                <a:ea typeface="+mn-ea"/>
                <a:cs typeface="+mn-cs"/>
              </a:rPr>
              <a:t>の一つが</a:t>
            </a:r>
            <a:r>
              <a:rPr lang="en-US" sz="1200" b="0" i="0" kern="1200">
                <a:solidFill>
                  <a:schemeClr val="tx1"/>
                </a:solidFill>
                <a:effectLst/>
                <a:latin typeface="+mn-lt"/>
                <a:ea typeface="+mn-ea"/>
                <a:cs typeface="+mn-cs"/>
              </a:rPr>
              <a:t>ダークマター対消滅</a:t>
            </a:r>
            <a:r>
              <a:rPr lang="ja-JP" altLang="en-US" sz="1200" b="0" i="0" kern="1200">
                <a:solidFill>
                  <a:schemeClr val="tx1"/>
                </a:solidFill>
                <a:effectLst/>
                <a:latin typeface="+mn-lt"/>
                <a:ea typeface="+mn-ea"/>
                <a:cs typeface="+mn-cs"/>
              </a:rPr>
              <a:t>です。</a:t>
            </a:r>
            <a:endParaRPr lang="en-US" altLang="ja-JP"/>
          </a:p>
          <a:p>
            <a:endParaRPr lang="ja-JP" altLang="en-US"/>
          </a:p>
          <a:p>
            <a:r>
              <a:rPr lang="ja-JP" altLang="en-US"/>
              <a:t>まず、左図の</a:t>
            </a:r>
            <a:r>
              <a:rPr lang="en-US" altLang="ja-JP"/>
              <a:t>NFW</a:t>
            </a:r>
            <a:r>
              <a:rPr lang="ja-JP" altLang="en-US"/>
              <a:t>プロファイルについて説明します。</a:t>
            </a:r>
          </a:p>
          <a:p>
            <a:r>
              <a:rPr lang="ja-JP" altLang="en-US"/>
              <a:t>これはダークマターが銀河内でどう分布しているかを示す、スーパーコンピュータを使ったダークマターの形成シミュレーション結果から導き出された経験則です。</a:t>
            </a:r>
          </a:p>
          <a:p>
            <a:r>
              <a:rPr lang="ja-JP" altLang="en-US"/>
              <a:t>銀河の中心に近づくにつれて、ダークマターの密度は急激に跳ね上がる。</a:t>
            </a:r>
            <a:endParaRPr lang="en-US" altLang="ja-JP"/>
          </a:p>
          <a:p>
            <a:endParaRPr lang="ja-JP" altLang="en-US"/>
          </a:p>
          <a:p>
            <a:r>
              <a:rPr lang="ja-JP" altLang="en-US"/>
              <a:t>では、</a:t>
            </a:r>
            <a:r>
              <a:rPr lang="en-US" altLang="ja-JP"/>
              <a:t>DM</a:t>
            </a:r>
            <a:r>
              <a:rPr lang="ja-JP" altLang="en-US"/>
              <a:t>密度とガンマ線にどのような関係があるのか詳しく解説します。</a:t>
            </a:r>
          </a:p>
          <a:p>
            <a:r>
              <a:rPr lang="ja-JP" altLang="en-US"/>
              <a:t>（ここが</a:t>
            </a:r>
            <a:r>
              <a:rPr lang="en-US" altLang="ja-JP"/>
              <a:t>1</a:t>
            </a:r>
            <a:r>
              <a:rPr lang="ja-JP" altLang="en-US"/>
              <a:t>分</a:t>
            </a:r>
            <a:r>
              <a:rPr lang="en-US" altLang="ja-JP"/>
              <a:t>30</a:t>
            </a:r>
            <a:r>
              <a:rPr lang="ja-JP" altLang="en-US"/>
              <a:t>　でここまで</a:t>
            </a:r>
            <a:r>
              <a:rPr lang="en-US" altLang="ja-JP"/>
              <a:t>2</a:t>
            </a:r>
            <a:r>
              <a:rPr lang="ja-JP" altLang="en-US"/>
              <a:t>分）</a:t>
            </a:r>
            <a:endParaRPr lang="en-US" altLang="ja-JP"/>
          </a:p>
          <a:p>
            <a:endParaRPr lang="en-US"/>
          </a:p>
          <a:p>
            <a:r>
              <a:rPr lang="ja-JP" altLang="en-US" sz="1200">
                <a:solidFill>
                  <a:schemeClr val="bg1"/>
                </a:solidFill>
              </a:rPr>
              <a:t>次スライド→</a:t>
            </a:r>
          </a:p>
          <a:p>
            <a:r>
              <a:rPr lang="ja-JP" altLang="en-US" sz="1200">
                <a:solidFill>
                  <a:schemeClr val="bg1"/>
                </a:solidFill>
              </a:rPr>
              <a:t>「銀河中心の高密度」 と</a:t>
            </a:r>
            <a:endParaRPr lang="en-US" altLang="ja-JP" sz="1200">
              <a:solidFill>
                <a:schemeClr val="bg1"/>
              </a:solidFill>
            </a:endParaRPr>
          </a:p>
          <a:p>
            <a:r>
              <a:rPr lang="ja-JP" altLang="en-US" sz="1200">
                <a:solidFill>
                  <a:schemeClr val="bg1"/>
                </a:solidFill>
              </a:rPr>
              <a:t> 「ガンマ線過剰によるダークマター信号発見」</a:t>
            </a:r>
            <a:endParaRPr lang="en-US" altLang="ja-JP" sz="1200">
              <a:solidFill>
                <a:schemeClr val="bg1"/>
              </a:solidFill>
            </a:endParaRPr>
          </a:p>
          <a:p>
            <a:r>
              <a:rPr lang="ja-JP" altLang="en-US" sz="1200">
                <a:solidFill>
                  <a:schemeClr val="bg1"/>
                </a:solidFill>
              </a:rPr>
              <a:t>について。</a:t>
            </a:r>
            <a:endParaRPr lang="en-US" altLang="ja-JP" sz="1200">
              <a:solidFill>
                <a:schemeClr val="bg1"/>
              </a:solidFill>
            </a:endParaRPr>
          </a:p>
          <a:p>
            <a:endParaRPr/>
          </a:p>
        </p:txBody>
      </p:sp>
      <p:sp>
        <p:nvSpPr>
          <p:cNvPr id="4" name="Slide Number Placeholder 3">
            <a:extLst>
              <a:ext uri="{FF2B5EF4-FFF2-40B4-BE49-F238E27FC236}">
                <a16:creationId xmlns:a16="http://schemas.microsoft.com/office/drawing/2014/main" id="{774B00D1-E2ED-0377-2E46-9BFEF7F5DA30}"/>
              </a:ext>
            </a:extLst>
          </p:cNvPr>
          <p:cNvSpPr>
            <a:spLocks noGrp="1"/>
          </p:cNvSpPr>
          <p:nvPr>
            <p:ph type="sldNum" sz="quarter" idx="5"/>
          </p:nvPr>
        </p:nvSpPr>
        <p:spPr/>
      </p:sp>
    </p:spTree>
    <p:extLst>
      <p:ext uri="{BB962C8B-B14F-4D97-AF65-F5344CB8AC3E}">
        <p14:creationId xmlns:p14="http://schemas.microsoft.com/office/powerpoint/2010/main" val="2307810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D1D0-6A87-B760-5ECA-50BE74DFC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04733-CF22-12AA-074F-803CAD1E96B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671730-E97F-C244-5256-301656AF9A32}"/>
              </a:ext>
            </a:extLst>
          </p:cNvPr>
          <p:cNvSpPr>
            <a:spLocks noGrp="1"/>
          </p:cNvSpPr>
          <p:nvPr>
            <p:ph type="body" sz="quarter" idx="3"/>
          </p:nvPr>
        </p:nvSpPr>
        <p:spPr/>
        <p:txBody>
          <a:bodyPr/>
          <a:lstStyle/>
          <a:p>
            <a:r>
              <a:rPr lang="ja-JP" altLang="en-US"/>
              <a:t>ガンマ線過剰 と ダークマター密度がどのように繋がるか は</a:t>
            </a:r>
          </a:p>
          <a:p>
            <a:r>
              <a:rPr lang="ja-JP" altLang="en-US"/>
              <a:t>ダークマターの理論的性質を通して</a:t>
            </a:r>
            <a:endParaRPr lang="en-US" altLang="ja-JP"/>
          </a:p>
          <a:p>
            <a:endParaRPr lang="ja-JP" altLang="en-US"/>
          </a:p>
          <a:p>
            <a:r>
              <a:rPr lang="ja-JP" altLang="en-US"/>
              <a:t>ダークマターには候補の素粒子がいくつかあり今回注目しているのは</a:t>
            </a:r>
            <a:r>
              <a:rPr lang="en-US" altLang="ja-JP"/>
              <a:t>WIMP</a:t>
            </a:r>
            <a:r>
              <a:rPr lang="ja-JP" altLang="en-US"/>
              <a:t>です。</a:t>
            </a:r>
            <a:endParaRPr lang="en-US" altLang="ja-JP"/>
          </a:p>
          <a:p>
            <a:endParaRPr lang="ja-JP" altLang="en-US"/>
          </a:p>
          <a:p>
            <a:r>
              <a:rPr lang="ja-JP" altLang="en-US"/>
              <a:t>この</a:t>
            </a:r>
            <a:r>
              <a:rPr lang="en-US" altLang="ja-JP"/>
              <a:t>WIMP</a:t>
            </a:r>
            <a:r>
              <a:rPr lang="ja-JP" altLang="en-US"/>
              <a:t>は「対消滅」という性質を持ちます。ふたつの</a:t>
            </a:r>
            <a:r>
              <a:rPr lang="en-US" altLang="ja-JP"/>
              <a:t>WIMP</a:t>
            </a:r>
            <a:r>
              <a:rPr lang="ja-JP" altLang="en-US"/>
              <a:t>が対消滅するとクォーク対を経て、ハドロン化</a:t>
            </a:r>
            <a:r>
              <a:rPr lang="en-US" altLang="ja-JP"/>
              <a:t>(</a:t>
            </a:r>
            <a:r>
              <a:rPr lang="ja-JP" altLang="en-US"/>
              <a:t>下に説明あり</a:t>
            </a:r>
            <a:r>
              <a:rPr lang="en-US" altLang="ja-JP"/>
              <a:t>)</a:t>
            </a:r>
            <a:r>
              <a:rPr lang="ja-JP" altLang="en-US"/>
              <a:t>、中性パイオンが</a:t>
            </a:r>
            <a:r>
              <a:rPr lang="en-US" altLang="ja-JP"/>
              <a:t>2</a:t>
            </a:r>
            <a:r>
              <a:rPr lang="ja-JP" altLang="en-US"/>
              <a:t>本のガンマ線に崩壊します。</a:t>
            </a:r>
            <a:endParaRPr lang="en-US" altLang="ja-JP"/>
          </a:p>
          <a:p>
            <a:r>
              <a:rPr lang="en-US" altLang="ja-JP"/>
              <a:t>WIMP</a:t>
            </a:r>
            <a:r>
              <a:rPr lang="ja-JP" altLang="en-US"/>
              <a:t>にはパラメーターがありこのパラメーターによって生成されるガンマ線のエネルギー帯が変わります。</a:t>
            </a:r>
          </a:p>
          <a:p>
            <a:r>
              <a:rPr lang="ja-JP" altLang="en-US"/>
              <a:t>加えて、対消滅は密度の</a:t>
            </a:r>
            <a:r>
              <a:rPr lang="en-US" altLang="ja-JP"/>
              <a:t>2</a:t>
            </a:r>
            <a:r>
              <a:rPr lang="ja-JP" altLang="en-US"/>
              <a:t>乗に比例し起きやすくなるとされているので、高密度な天の川銀河中心から</a:t>
            </a:r>
          </a:p>
          <a:p>
            <a:r>
              <a:rPr lang="ja-JP" altLang="en-US"/>
              <a:t>ダークマター由来のガンマ線信号が捉えられることが期待されています。（ここが</a:t>
            </a:r>
            <a:r>
              <a:rPr lang="en-US" altLang="ja-JP"/>
              <a:t>40</a:t>
            </a:r>
            <a:r>
              <a:rPr lang="ja-JP" altLang="en-US"/>
              <a:t>秒　ここまで</a:t>
            </a:r>
            <a:r>
              <a:rPr lang="en-US" altLang="ja-JP"/>
              <a:t>2</a:t>
            </a:r>
            <a:r>
              <a:rPr lang="ja-JP" altLang="en-US"/>
              <a:t>分</a:t>
            </a:r>
            <a:r>
              <a:rPr lang="en-US" altLang="ja-JP"/>
              <a:t>40</a:t>
            </a:r>
            <a:r>
              <a:rPr lang="ja-JP" altLang="en-US"/>
              <a:t>）</a:t>
            </a:r>
          </a:p>
          <a:p>
            <a:endParaRPr lang="ja-JP" altLang="en-US"/>
          </a:p>
          <a:p>
            <a:r>
              <a:rPr lang="ja-JP" altLang="en-US"/>
              <a:t>┈┈┈┈┈┈┈┈┈┈┈┈┈┈┈┈┈┈┈┈</a:t>
            </a:r>
          </a:p>
          <a:p>
            <a:endParaRPr lang="ja-JP" altLang="en-US"/>
          </a:p>
          <a:p>
            <a:r>
              <a:rPr lang="ja-JP" altLang="en-US"/>
              <a:t>クォークはぼっちになれない（色閉じ込め）</a:t>
            </a:r>
          </a:p>
          <a:p>
            <a:r>
              <a:rPr lang="ja-JP" altLang="en-US"/>
              <a:t>素粒子の標準模型において、クォークは「強い力」で結びついており、宇宙空間に単独でポツンと存在することができません。必ずいくつかセットになって「ハドロン（陽子や中性子、パイ中間子などの総称）」という状態になるルールがあります。</a:t>
            </a:r>
          </a:p>
          <a:p>
            <a:r>
              <a:rPr lang="en-US" altLang="ja-JP"/>
              <a:t>2. </a:t>
            </a:r>
            <a:r>
              <a:rPr lang="ja-JP" altLang="en-US"/>
              <a:t>ゴムひもが引きちぎれる（ハドロン化の瞬間）</a:t>
            </a:r>
          </a:p>
          <a:p>
            <a:r>
              <a:rPr lang="en-US" altLang="ja-JP"/>
              <a:t>WIMP</a:t>
            </a:r>
            <a:r>
              <a:rPr lang="ja-JP" altLang="en-US"/>
              <a:t>が対消滅して、クォークと反クォークのペアが生まれて反対方向に飛んでいこうとします。すると、</a:t>
            </a:r>
            <a:r>
              <a:rPr lang="en-US" altLang="ja-JP"/>
              <a:t>2</a:t>
            </a:r>
            <a:r>
              <a:rPr lang="ja-JP" altLang="en-US"/>
              <a:t>つの間を繋ぐ「強い力」がゴムひものようにビヨーンと伸びていきます。</a:t>
            </a:r>
          </a:p>
          <a:p>
            <a:r>
              <a:rPr lang="en-US" altLang="ja-JP"/>
              <a:t>3. </a:t>
            </a:r>
            <a:r>
              <a:rPr lang="ja-JP" altLang="en-US"/>
              <a:t>エネルギーが物質に変わる</a:t>
            </a:r>
          </a:p>
          <a:p>
            <a:r>
              <a:rPr lang="ja-JP" altLang="en-US"/>
              <a:t>ゴムひもが限界まで伸びると、その莫大なエネルギー（</a:t>
            </a:r>
            <a:r>
              <a:rPr lang="en-US" altLang="ja-JP"/>
              <a:t>E=mc^2</a:t>
            </a:r>
            <a:r>
              <a:rPr lang="ja-JP" altLang="en-US"/>
              <a:t>）が真空から「新しいクォークと反クォークのペア」を無数に生み出します（ゴムひもがちぎれるイメージです）。</a:t>
            </a:r>
          </a:p>
          <a:p>
            <a:r>
              <a:rPr lang="en-US" altLang="ja-JP"/>
              <a:t>4. </a:t>
            </a:r>
            <a:r>
              <a:rPr lang="ja-JP" altLang="en-US"/>
              <a:t>パイ中間子の完成</a:t>
            </a:r>
          </a:p>
          <a:p>
            <a:r>
              <a:rPr lang="ja-JP" altLang="en-US"/>
              <a:t>新しく生まれたクォークたちが一瞬でペアを組み、中性パイオン（</a:t>
            </a:r>
            <a:r>
              <a:rPr lang="en-US" altLang="ja-JP"/>
              <a:t>\pi^0</a:t>
            </a:r>
            <a:r>
              <a:rPr lang="ja-JP" altLang="en-US"/>
              <a:t>）などの「ハドロン」になります。この一連のプロセスをハドロン化と呼びます。</a:t>
            </a:r>
          </a:p>
          <a:p>
            <a:r>
              <a:rPr lang="ja-JP" altLang="en-US"/>
              <a:t>そして、生まれた中性パイオンは非常に寿命が短いため、一瞬で</a:t>
            </a:r>
            <a:r>
              <a:rPr lang="en-US" altLang="ja-JP"/>
              <a:t>2</a:t>
            </a:r>
            <a:r>
              <a:rPr lang="ja-JP" altLang="en-US"/>
              <a:t>本のガンマ線に崩壊（</a:t>
            </a:r>
            <a:r>
              <a:rPr lang="en-US" altLang="ja-JP"/>
              <a:t>\pi^0 \to \gamma \gamma</a:t>
            </a:r>
            <a:r>
              <a:rPr lang="ja-JP" altLang="en-US"/>
              <a:t>）します。これが私たちが観測したい信号です。</a:t>
            </a:r>
          </a:p>
        </p:txBody>
      </p:sp>
      <p:sp>
        <p:nvSpPr>
          <p:cNvPr id="4" name="Slide Number Placeholder 3">
            <a:extLst>
              <a:ext uri="{FF2B5EF4-FFF2-40B4-BE49-F238E27FC236}">
                <a16:creationId xmlns:a16="http://schemas.microsoft.com/office/drawing/2014/main" id="{F8F4F9AE-D667-EC7B-8837-A637ECE3FBE6}"/>
              </a:ext>
            </a:extLst>
          </p:cNvPr>
          <p:cNvSpPr>
            <a:spLocks noGrp="1"/>
          </p:cNvSpPr>
          <p:nvPr>
            <p:ph type="sldNum" sz="quarter" idx="5"/>
          </p:nvPr>
        </p:nvSpPr>
        <p:spPr/>
      </p:sp>
    </p:spTree>
    <p:extLst>
      <p:ext uri="{BB962C8B-B14F-4D97-AF65-F5344CB8AC3E}">
        <p14:creationId xmlns:p14="http://schemas.microsoft.com/office/powerpoint/2010/main" val="500404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では続いて、今回の卒論の動機についてです。</a:t>
            </a:r>
            <a:endParaRPr lang="en-US" altLang="ja-JP"/>
          </a:p>
          <a:p>
            <a:r>
              <a:rPr lang="ja-JP" altLang="en-US">
                <a:solidFill>
                  <a:schemeClr val="bg1"/>
                </a:solidFill>
              </a:rPr>
              <a:t>昨年、天の川銀河中心方向から</a:t>
            </a:r>
            <a:r>
              <a:rPr lang="en-US" altLang="ja-JP">
                <a:solidFill>
                  <a:schemeClr val="bg1"/>
                </a:solidFill>
              </a:rPr>
              <a:t>20GeV</a:t>
            </a:r>
            <a:r>
              <a:rPr lang="ja-JP" altLang="en-US">
                <a:solidFill>
                  <a:schemeClr val="bg1"/>
                </a:solidFill>
              </a:rPr>
              <a:t>エネルギーがピークのガンマ線過剰が見られたという内容の論文が発表されました</a:t>
            </a:r>
            <a:endParaRPr lang="en-US" altLang="ja-JP"/>
          </a:p>
          <a:p>
            <a:r>
              <a:rPr lang="ja-JP" altLang="en-US"/>
              <a:t>この論文の新規性として以下が挙げられます。</a:t>
            </a:r>
          </a:p>
          <a:p>
            <a:r>
              <a:rPr lang="en-US" altLang="ja-JP"/>
              <a:t>1</a:t>
            </a:r>
            <a:r>
              <a:rPr lang="ja-JP" altLang="en-US"/>
              <a:t>つ目は実際の観測で大きな壁となる「ノイズの除外」のために、</a:t>
            </a:r>
            <a:endParaRPr lang="en-US" altLang="ja-JP"/>
          </a:p>
          <a:p>
            <a:r>
              <a:rPr lang="ja-JP" altLang="en-US"/>
              <a:t>あえて銀河中心を除外したという点です。</a:t>
            </a:r>
            <a:endParaRPr lang="en-US" altLang="ja-JP"/>
          </a:p>
          <a:p>
            <a:r>
              <a:rPr lang="en-US" altLang="ja-JP"/>
              <a:t>T25</a:t>
            </a:r>
            <a:r>
              <a:rPr lang="ja-JP" altLang="en-US"/>
              <a:t>では銀河中心を除外し外側の</a:t>
            </a:r>
            <a:r>
              <a:rPr lang="en-US" altLang="ja-JP"/>
              <a:t>『</a:t>
            </a:r>
            <a:r>
              <a:rPr lang="ja-JP" altLang="en-US"/>
              <a:t>ハロー領域</a:t>
            </a:r>
            <a:r>
              <a:rPr lang="en-US" altLang="ja-JP"/>
              <a:t>』</a:t>
            </a:r>
            <a:r>
              <a:rPr lang="ja-JP" altLang="en-US"/>
              <a:t>を見ています。</a:t>
            </a:r>
            <a:endParaRPr lang="en-US" altLang="ja-JP"/>
          </a:p>
          <a:p>
            <a:r>
              <a:rPr lang="ja-JP" altLang="en-US"/>
              <a:t>シグナルの絶対量は減ってしまいますが、それ以上にノイズを劇的に減らし、高いシグナル対ノイズ比で純粋な暗黒物質の兆候をあぶり出すというアプローチをとっています。</a:t>
            </a:r>
          </a:p>
          <a:p>
            <a:endParaRPr lang="ja-JP" altLang="en-US"/>
          </a:p>
          <a:p>
            <a:r>
              <a:rPr lang="en-US" altLang="ja-JP"/>
              <a:t>2</a:t>
            </a:r>
            <a:r>
              <a:rPr lang="ja-JP" altLang="en-US"/>
              <a:t>つ目の特徴として過去の銀河中心の過剰を暗黒物質で説明する論文では、</a:t>
            </a:r>
            <a:r>
              <a:rPr lang="en-US" altLang="ja-JP"/>
              <a:t>NFW</a:t>
            </a:r>
            <a:r>
              <a:rPr lang="ja-JP" altLang="en-US"/>
              <a:t>プロファイルより中心に集中した密度分布を必要としていた。</a:t>
            </a:r>
            <a:endParaRPr lang="en-US" altLang="ja-JP"/>
          </a:p>
          <a:p>
            <a:endParaRPr lang="ja-JP" altLang="en-US"/>
          </a:p>
          <a:p>
            <a:r>
              <a:rPr lang="en-US" altLang="ja-JP"/>
              <a:t>3</a:t>
            </a:r>
            <a:r>
              <a:rPr lang="ja-JP" altLang="en-US"/>
              <a:t>つ目の特徴は解析手法です。高解像度で細かく見ると、星間ガスなどの微細なノイズの影響を受けます。</a:t>
            </a:r>
            <a:endParaRPr lang="en-US" altLang="ja-JP"/>
          </a:p>
          <a:p>
            <a:endParaRPr lang="ja-JP" altLang="en-US"/>
          </a:p>
          <a:p>
            <a:r>
              <a:rPr lang="ja-JP" altLang="en-US"/>
              <a:t>得られた結果が左の図です。</a:t>
            </a:r>
          </a:p>
          <a:p>
            <a:r>
              <a:rPr lang="ja-JP" altLang="en-US"/>
              <a:t>横軸がエネルギーで、縦軸が</a:t>
            </a:r>
            <a:r>
              <a:rPr lang="en-US" altLang="ja-JP"/>
              <a:t>flux</a:t>
            </a:r>
            <a:r>
              <a:rPr lang="ja-JP" altLang="en-US"/>
              <a:t>で</a:t>
            </a:r>
          </a:p>
          <a:p>
            <a:r>
              <a:rPr lang="ja-JP" altLang="en-US"/>
              <a:t>赤線が各成分を引いた余剰になります</a:t>
            </a:r>
          </a:p>
          <a:p>
            <a:endParaRPr lang="ja-JP" altLang="en-US"/>
          </a:p>
          <a:p>
            <a:r>
              <a:rPr lang="ja-JP" altLang="en-US"/>
              <a:t>この</a:t>
            </a:r>
            <a:r>
              <a:rPr lang="en-US" altLang="ja-JP"/>
              <a:t>20Gev</a:t>
            </a:r>
            <a:r>
              <a:rPr lang="ja-JP" altLang="en-US"/>
              <a:t>ピークでガンマ線が出るにはこのパラーメーターではないかという値がこちらになります。</a:t>
            </a:r>
          </a:p>
          <a:p>
            <a:endParaRPr lang="en-US" altLang="ja-JP"/>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203F5-E4FB-59AD-FDE1-EE4470DCF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025FA-278D-FAC4-E10F-F180229177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310C9CE-46D2-A3E8-C995-29F954183FF3}"/>
              </a:ext>
            </a:extLst>
          </p:cNvPr>
          <p:cNvSpPr>
            <a:spLocks noGrp="1"/>
          </p:cNvSpPr>
          <p:nvPr>
            <p:ph type="body" sz="quarter" idx="3"/>
          </p:nvPr>
        </p:nvSpPr>
        <p:spPr/>
        <p:txBody>
          <a:bodyPr/>
          <a:lstStyle/>
          <a:p>
            <a:r>
              <a:rPr lang="ja-JP" altLang="en-US"/>
              <a:t>続いて</a:t>
            </a:r>
            <a:r>
              <a:rPr lang="en-US" altLang="ja-JP"/>
              <a:t>WIMPs</a:t>
            </a:r>
            <a:r>
              <a:rPr lang="ja-JP" altLang="en-US"/>
              <a:t>によるガンマ線過剰成分の解析手法の概要を説明します。手順は右の流れの通りで、</a:t>
            </a:r>
          </a:p>
          <a:p>
            <a:r>
              <a:rPr lang="ja-JP" altLang="en-US"/>
              <a:t>①</a:t>
            </a:r>
            <a:r>
              <a:rPr lang="en-US" altLang="ja-JP"/>
              <a:t>Fermi-LAT </a:t>
            </a:r>
            <a:r>
              <a:rPr lang="ja-JP" altLang="en-US"/>
              <a:t>の </a:t>
            </a:r>
            <a:r>
              <a:rPr lang="en-US" altLang="ja-JP"/>
              <a:t>15 </a:t>
            </a:r>
            <a:r>
              <a:rPr lang="ja-JP" altLang="en-US"/>
              <a:t>年分の光子データをエネルギー </a:t>
            </a:r>
            <a:r>
              <a:rPr lang="en-US" altLang="ja-JP"/>
              <a:t>1〜814 GeV </a:t>
            </a:r>
            <a:r>
              <a:rPr lang="ja-JP" altLang="en-US"/>
              <a:t>の </a:t>
            </a:r>
            <a:r>
              <a:rPr lang="en-US" altLang="ja-JP"/>
              <a:t>13 </a:t>
            </a:r>
            <a:r>
              <a:rPr lang="ja-JP" altLang="en-US"/>
              <a:t>ビンに対数で分けます。</a:t>
            </a:r>
          </a:p>
          <a:p>
            <a:r>
              <a:rPr lang="ja-JP" altLang="en-US"/>
              <a:t>次に、左の表の</a:t>
            </a:r>
            <a:r>
              <a:rPr lang="en-US" altLang="ja-JP"/>
              <a:t>6</a:t>
            </a:r>
            <a:r>
              <a:rPr lang="ja-JP" altLang="en-US"/>
              <a:t>つの成分</a:t>
            </a:r>
          </a:p>
          <a:p>
            <a:endParaRPr lang="ja-JP" altLang="en-US"/>
          </a:p>
          <a:p>
            <a:r>
              <a:rPr lang="ja-JP" altLang="en-US"/>
              <a:t>星間ガス由来、</a:t>
            </a:r>
          </a:p>
          <a:p>
            <a:r>
              <a:rPr lang="ja-JP" altLang="en-US"/>
              <a:t>電子が光に当たって発生する逆コンプトン散乱、</a:t>
            </a:r>
          </a:p>
          <a:p>
            <a:r>
              <a:rPr lang="ja-JP" altLang="en-US"/>
              <a:t>銀河中心から伸びるフェルミバブル、</a:t>
            </a:r>
          </a:p>
          <a:p>
            <a:r>
              <a:rPr lang="ja-JP" altLang="en-US"/>
              <a:t>近傍の超新星残骸の </a:t>
            </a:r>
            <a:r>
              <a:rPr lang="en-US" altLang="ja-JP"/>
              <a:t>Loop I</a:t>
            </a:r>
            <a:r>
              <a:rPr lang="ja-JP" altLang="en-US"/>
              <a:t>、</a:t>
            </a:r>
          </a:p>
          <a:p>
            <a:r>
              <a:rPr lang="ja-JP" altLang="en-US"/>
              <a:t>カタログにある個別の点源、</a:t>
            </a:r>
          </a:p>
          <a:p>
            <a:r>
              <a:rPr lang="ja-JP" altLang="en-US"/>
              <a:t>そして全天一様な等方背景に、</a:t>
            </a:r>
          </a:p>
          <a:p>
            <a:r>
              <a:rPr lang="ja-JP" altLang="en-US"/>
              <a:t>もう一つ </a:t>
            </a:r>
            <a:r>
              <a:rPr lang="en-US" altLang="ja-JP"/>
              <a:t>『halo』</a:t>
            </a:r>
            <a:r>
              <a:rPr lang="ja-JP" altLang="en-US"/>
              <a:t>という成分を加えて、</a:t>
            </a:r>
            <a:r>
              <a:rPr lang="ja-JP" altLang="en-US" sz="1200">
                <a:solidFill>
                  <a:schemeClr val="bg1"/>
                </a:solidFill>
              </a:rPr>
              <a:t>マルコフ連鎖モンテカルロ法</a:t>
            </a:r>
            <a:r>
              <a:rPr lang="ja-JP" altLang="en-US"/>
              <a:t>でそれぞれの係数を決めます。</a:t>
            </a:r>
          </a:p>
          <a:p>
            <a:endParaRPr lang="ja-JP" altLang="en-US"/>
          </a:p>
          <a:p>
            <a:r>
              <a:rPr lang="ja-JP" altLang="en-US"/>
              <a:t>この </a:t>
            </a:r>
            <a:r>
              <a:rPr lang="en-US" altLang="ja-JP"/>
              <a:t>halo </a:t>
            </a:r>
            <a:r>
              <a:rPr lang="ja-JP" altLang="en-US"/>
              <a:t>が</a:t>
            </a:r>
            <a:r>
              <a:rPr lang="en-US" altLang="ja-JP"/>
              <a:t>WIMP </a:t>
            </a:r>
            <a:r>
              <a:rPr lang="ja-JP" altLang="en-US"/>
              <a:t>が対消滅して出ると期待されるシグナルで空間分布は 先程の</a:t>
            </a:r>
            <a:r>
              <a:rPr lang="en-US" altLang="ja-JP"/>
              <a:t>NFW</a:t>
            </a:r>
            <a:r>
              <a:rPr lang="ja-JP" altLang="en-US"/>
              <a:t>プロファイルの形をしています。</a:t>
            </a:r>
          </a:p>
          <a:p>
            <a:endParaRPr lang="ja-JP" altLang="en-US"/>
          </a:p>
          <a:p>
            <a:r>
              <a:rPr lang="ja-JP" altLang="en-US"/>
              <a:t>次に 既知の</a:t>
            </a:r>
            <a:r>
              <a:rPr lang="en-US" altLang="ja-JP"/>
              <a:t>6</a:t>
            </a:r>
            <a:r>
              <a:rPr lang="ja-JP" altLang="en-US"/>
              <a:t>つの背景をすべて引くと理想的には残差がゼロになります。</a:t>
            </a:r>
          </a:p>
          <a:p>
            <a:endParaRPr lang="ja-JP" altLang="en-US"/>
          </a:p>
          <a:p>
            <a:r>
              <a:rPr lang="ja-JP" altLang="en-US"/>
              <a:t>最後に、</a:t>
            </a:r>
            <a:r>
              <a:rPr lang="en-US" altLang="ja-JP"/>
              <a:t>halo </a:t>
            </a:r>
            <a:r>
              <a:rPr lang="ja-JP" altLang="en-US"/>
              <a:t>を入れた場合と入れない場合で</a:t>
            </a:r>
            <a:r>
              <a:rPr lang="en-US" altLang="ja-JP"/>
              <a:t>halo </a:t>
            </a:r>
            <a:r>
              <a:rPr lang="ja-JP" altLang="en-US"/>
              <a:t>がどれだけ必要かを評価します。</a:t>
            </a:r>
          </a:p>
        </p:txBody>
      </p:sp>
      <p:sp>
        <p:nvSpPr>
          <p:cNvPr id="4" name="Slide Number Placeholder 3">
            <a:extLst>
              <a:ext uri="{FF2B5EF4-FFF2-40B4-BE49-F238E27FC236}">
                <a16:creationId xmlns:a16="http://schemas.microsoft.com/office/drawing/2014/main" id="{3631A190-19AA-DF4E-8D86-3139753DE064}"/>
              </a:ext>
            </a:extLst>
          </p:cNvPr>
          <p:cNvSpPr>
            <a:spLocks noGrp="1"/>
          </p:cNvSpPr>
          <p:nvPr>
            <p:ph type="sldNum" sz="quarter" idx="5"/>
          </p:nvPr>
        </p:nvSpPr>
        <p:spPr/>
      </p:sp>
    </p:spTree>
    <p:extLst>
      <p:ext uri="{BB962C8B-B14F-4D97-AF65-F5344CB8AC3E}">
        <p14:creationId xmlns:p14="http://schemas.microsoft.com/office/powerpoint/2010/main" val="305525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前のスライドで説明した背景モデルの引き算を、実際のデータに適用した結果がこちらです。ここでは全</a:t>
            </a:r>
            <a:r>
              <a:rPr lang="en-US" altLang="ja-JP"/>
              <a:t>13</a:t>
            </a:r>
            <a:r>
              <a:rPr lang="ja-JP" altLang="en-US"/>
              <a:t>個のエネルギービンのうち、**</a:t>
            </a:r>
            <a:r>
              <a:rPr lang="en-US" altLang="ja-JP"/>
              <a:t>Bin6</a:t>
            </a:r>
            <a:r>
              <a:rPr lang="ja-JP" altLang="en-US"/>
              <a:t>（</a:t>
            </a:r>
            <a:r>
              <a:rPr lang="en-US" altLang="ja-JP"/>
              <a:t>20.76 GeV</a:t>
            </a:r>
            <a:r>
              <a:rPr lang="ja-JP" altLang="en-US"/>
              <a:t>）**のマップを例として表示しています。</a:t>
            </a:r>
          </a:p>
          <a:p>
            <a:r>
              <a:rPr lang="ja-JP" altLang="en-US"/>
              <a:t>左図が引き算前のデータです。</a:t>
            </a:r>
          </a:p>
          <a:p>
            <a:r>
              <a:rPr lang="ja-JP" altLang="en-US"/>
              <a:t>ここから、</a:t>
            </a:r>
            <a:r>
              <a:rPr lang="en-US" altLang="ja-JP"/>
              <a:t>MCMC</a:t>
            </a:r>
            <a:r>
              <a:rPr lang="ja-JP" altLang="en-US"/>
              <a:t>で最適化した背景モデルのうち</a:t>
            </a:r>
            <a:r>
              <a:rPr lang="en-US" altLang="ja-JP"/>
              <a:t>halo</a:t>
            </a:r>
            <a:r>
              <a:rPr lang="ja-JP" altLang="en-US"/>
              <a:t>以外の既知成分すべて差し引いたものが右図です。</a:t>
            </a:r>
            <a:endParaRPr lang="en-US" altLang="ja-JP"/>
          </a:p>
          <a:p>
            <a:endParaRPr lang="en-US" altLang="ja-JP"/>
          </a:p>
          <a:p>
            <a:r>
              <a:rPr lang="ja-JP" altLang="en-US"/>
              <a:t>フラックスの強度範囲が違います</a:t>
            </a:r>
            <a:endParaRPr lang="en-US" altLang="ja-JP"/>
          </a:p>
          <a:p>
            <a:endParaRPr lang="ja-JP" altLang="en-US"/>
          </a:p>
          <a:p>
            <a:r>
              <a:rPr lang="ja-JP" altLang="en-US"/>
              <a:t>今回この</a:t>
            </a:r>
            <a:r>
              <a:rPr lang="en-US" altLang="ja-JP"/>
              <a:t>Bin6</a:t>
            </a:r>
            <a:r>
              <a:rPr lang="ja-JP" altLang="en-US"/>
              <a:t>　</a:t>
            </a:r>
            <a:r>
              <a:rPr lang="en-US" altLang="ja-JP"/>
              <a:t>20.76 GeV</a:t>
            </a:r>
            <a:r>
              <a:rPr lang="ja-JP" altLang="en-US"/>
              <a:t>のマップをお見せしているのは</a:t>
            </a:r>
            <a:endParaRPr lang="en-US" altLang="ja-JP"/>
          </a:p>
          <a:p>
            <a:r>
              <a:rPr lang="ja-JP" altLang="en-US"/>
              <a:t>このエネルギー帯が、暗黒物質の対消滅によるハロー状のシグナルが最も強く現れると</a:t>
            </a:r>
            <a:r>
              <a:rPr lang="en-US" altLang="ja-JP"/>
              <a:t>T25</a:t>
            </a:r>
            <a:r>
              <a:rPr lang="ja-JP" altLang="en-US"/>
              <a:t>で期待されていたエネルギー帯だからです。</a:t>
            </a:r>
          </a:p>
          <a:p>
            <a:r>
              <a:rPr lang="ja-JP" altLang="en-US"/>
              <a:t>つづいて全エネルギー帯でそれを評価したスペクトルを、次のスライドでお見せします。（ここまで</a:t>
            </a:r>
            <a:r>
              <a:rPr lang="en-US" altLang="ja-JP"/>
              <a:t>5</a:t>
            </a:r>
            <a:r>
              <a:rPr lang="ja-JP" altLang="en-US"/>
              <a:t>分）</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sz="1200" b="0" i="0" kern="1200">
                <a:solidFill>
                  <a:schemeClr val="tx1"/>
                </a:solidFill>
                <a:effectLst/>
                <a:latin typeface="+mn-lt"/>
                <a:ea typeface="+mn-ea"/>
                <a:cs typeface="+mn-cs"/>
              </a:rPr>
              <a:t>左図が</a:t>
            </a:r>
            <a:r>
              <a:rPr lang="en-US" sz="1200" b="0" i="0" kern="1200">
                <a:solidFill>
                  <a:schemeClr val="tx1"/>
                </a:solidFill>
                <a:effectLst/>
                <a:latin typeface="+mn-lt"/>
                <a:ea typeface="+mn-ea"/>
                <a:cs typeface="+mn-cs"/>
              </a:rPr>
              <a:t>全 13 ビンでハロー成分の有意度</a:t>
            </a:r>
            <a:r>
              <a:rPr lang="ja-JP" altLang="en-US" sz="1200" b="0" i="0" kern="1200">
                <a:solidFill>
                  <a:schemeClr val="tx1"/>
                </a:solidFill>
                <a:effectLst/>
                <a:latin typeface="+mn-lt"/>
                <a:ea typeface="+mn-ea"/>
                <a:cs typeface="+mn-cs"/>
              </a:rPr>
              <a:t>（シグマ）</a:t>
            </a:r>
            <a:r>
              <a:rPr lang="en-US" sz="1200" b="0" i="0" kern="1200">
                <a:solidFill>
                  <a:schemeClr val="tx1"/>
                </a:solidFill>
                <a:effectLst/>
                <a:latin typeface="+mn-lt"/>
                <a:ea typeface="+mn-ea"/>
                <a:cs typeface="+mn-cs"/>
              </a:rPr>
              <a:t>を出したスペクトルです。</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青が本研究、赤が</a:t>
            </a:r>
            <a:r>
              <a:rPr lang="en-US" altLang="ja-JP" sz="1200" b="0" i="0" kern="1200">
                <a:solidFill>
                  <a:schemeClr val="tx1"/>
                </a:solidFill>
                <a:effectLst/>
                <a:latin typeface="+mn-lt"/>
                <a:ea typeface="+mn-ea"/>
                <a:cs typeface="+mn-cs"/>
              </a:rPr>
              <a:t>T25</a:t>
            </a:r>
            <a:r>
              <a:rPr lang="en-US" sz="1200" b="0" i="0" kern="1200">
                <a:solidFill>
                  <a:schemeClr val="tx1"/>
                </a:solidFill>
                <a:effectLst/>
                <a:latin typeface="+mn-lt"/>
                <a:ea typeface="+mn-ea"/>
                <a:cs typeface="+mn-cs"/>
              </a:rPr>
              <a:t>の Fig.9 を機械読み取りしたものです。</a:t>
            </a:r>
          </a:p>
          <a:p>
            <a:r>
              <a:rPr lang="en-US" sz="1200" b="1" i="0" kern="1200">
                <a:solidFill>
                  <a:schemeClr val="tx1"/>
                </a:solidFill>
                <a:effectLst/>
                <a:latin typeface="+mn-lt"/>
                <a:ea typeface="+mn-ea"/>
                <a:cs typeface="+mn-cs"/>
              </a:rPr>
              <a:t>形が戸谷さんと一致</a:t>
            </a:r>
            <a:r>
              <a:rPr lang="en-US" sz="1200" b="0" i="0" kern="1200">
                <a:solidFill>
                  <a:schemeClr val="tx1"/>
                </a:solidFill>
                <a:effectLst/>
                <a:latin typeface="+mn-lt"/>
                <a:ea typeface="+mn-ea"/>
                <a:cs typeface="+mn-cs"/>
              </a:rPr>
              <a:t>しています。20 GeV のビンで 19σ、戸谷さんの報告した 13〜19σ </a:t>
            </a:r>
            <a:r>
              <a:rPr lang="ja-JP" altLang="en-US" sz="1200" b="0" i="0" kern="1200">
                <a:solidFill>
                  <a:schemeClr val="tx1"/>
                </a:solidFill>
                <a:effectLst/>
                <a:latin typeface="+mn-lt"/>
                <a:ea typeface="+mn-ea"/>
                <a:cs typeface="+mn-cs"/>
              </a:rPr>
              <a:t>の範囲内です、</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一つ</a:t>
            </a:r>
            <a:r>
              <a:rPr lang="ja-JP" altLang="en-US" sz="1200" b="0" i="0" kern="1200">
                <a:solidFill>
                  <a:schemeClr val="tx1"/>
                </a:solidFill>
                <a:effectLst/>
                <a:latin typeface="+mn-lt"/>
                <a:ea typeface="+mn-ea"/>
                <a:cs typeface="+mn-cs"/>
              </a:rPr>
              <a:t>補足をします、</a:t>
            </a:r>
            <a:r>
              <a:rPr lang="en-US" sz="1200" b="0" i="0" kern="1200">
                <a:solidFill>
                  <a:schemeClr val="tx1"/>
                </a:solidFill>
                <a:effectLst/>
                <a:latin typeface="+mn-lt"/>
                <a:ea typeface="+mn-ea"/>
                <a:cs typeface="+mn-cs"/>
              </a:rPr>
              <a:t>1.5 GeV は有意度</a:t>
            </a:r>
            <a:r>
              <a:rPr lang="ja-JP" altLang="en-US" sz="1200" b="0" i="0" kern="1200">
                <a:solidFill>
                  <a:schemeClr val="tx1"/>
                </a:solidFill>
                <a:effectLst/>
                <a:latin typeface="+mn-lt"/>
                <a:ea typeface="+mn-ea"/>
                <a:cs typeface="+mn-cs"/>
              </a:rPr>
              <a:t>は</a:t>
            </a:r>
            <a:r>
              <a:rPr lang="en-US" sz="1200" b="0" i="0" kern="1200">
                <a:solidFill>
                  <a:schemeClr val="tx1"/>
                </a:solidFill>
                <a:effectLst/>
                <a:latin typeface="+mn-lt"/>
                <a:ea typeface="+mn-ea"/>
                <a:cs typeface="+mn-cs"/>
              </a:rPr>
              <a:t>高</a:t>
            </a:r>
            <a:r>
              <a:rPr lang="ja-JP" altLang="en-US" sz="1200" b="0" i="0" kern="1200">
                <a:solidFill>
                  <a:schemeClr val="tx1"/>
                </a:solidFill>
                <a:effectLst/>
                <a:latin typeface="+mn-lt"/>
                <a:ea typeface="+mn-ea"/>
                <a:cs typeface="+mn-cs"/>
              </a:rPr>
              <a:t>く見えます</a:t>
            </a:r>
            <a:r>
              <a:rPr lang="en-US" sz="1200" b="0" i="0" kern="1200">
                <a:solidFill>
                  <a:schemeClr val="tx1"/>
                </a:solidFill>
                <a:effectLst/>
                <a:latin typeface="+mn-lt"/>
                <a:ea typeface="+mn-ea"/>
                <a:cs typeface="+mn-cs"/>
              </a:rPr>
              <a:t>が、</a:t>
            </a:r>
            <a:r>
              <a:rPr lang="en-US" sz="1200" b="1" i="0" kern="1200">
                <a:solidFill>
                  <a:schemeClr val="tx1"/>
                </a:solidFill>
                <a:effectLst/>
                <a:latin typeface="+mn-lt"/>
                <a:ea typeface="+mn-ea"/>
                <a:cs typeface="+mn-cs"/>
              </a:rPr>
              <a:t>ハローの符号</a:t>
            </a:r>
            <a:r>
              <a:rPr lang="ja-JP" altLang="en-US" sz="1200" b="1" i="0" kern="1200">
                <a:solidFill>
                  <a:schemeClr val="tx1"/>
                </a:solidFill>
                <a:effectLst/>
                <a:latin typeface="+mn-lt"/>
                <a:ea typeface="+mn-ea"/>
                <a:cs typeface="+mn-cs"/>
              </a:rPr>
              <a:t>は</a:t>
            </a:r>
            <a:r>
              <a:rPr lang="en-US" sz="1200" b="1" i="0" kern="1200">
                <a:solidFill>
                  <a:schemeClr val="tx1"/>
                </a:solidFill>
                <a:effectLst/>
                <a:latin typeface="+mn-lt"/>
                <a:ea typeface="+mn-ea"/>
                <a:cs typeface="+mn-cs"/>
              </a:rPr>
              <a:t>負なので、過剰の検出ではありません</a:t>
            </a:r>
            <a:r>
              <a:rPr lang="ja-JP" altLang="en-US" sz="1200" b="0" i="0" kern="1200">
                <a:solidFill>
                  <a:schemeClr val="tx1"/>
                </a:solidFill>
                <a:effectLst/>
                <a:latin typeface="+mn-lt"/>
                <a:ea typeface="+mn-ea"/>
                <a:cs typeface="+mn-cs"/>
              </a:rPr>
              <a:t>。</a:t>
            </a:r>
            <a:r>
              <a:rPr lang="en-US" altLang="ja-JP" sz="1200" b="0" i="0" kern="1200">
                <a:solidFill>
                  <a:schemeClr val="tx1"/>
                </a:solidFill>
                <a:effectLst/>
                <a:latin typeface="+mn-lt"/>
                <a:ea typeface="+mn-ea"/>
                <a:cs typeface="+mn-cs"/>
              </a:rPr>
              <a:t>T25 </a:t>
            </a:r>
            <a:r>
              <a:rPr lang="en-US" sz="1200" b="0" i="0" kern="1200">
                <a:solidFill>
                  <a:schemeClr val="tx1"/>
                </a:solidFill>
                <a:effectLst/>
                <a:latin typeface="+mn-lt"/>
                <a:ea typeface="+mn-ea"/>
                <a:cs typeface="+mn-cs"/>
              </a:rPr>
              <a:t>でも同じく負になると書かれています。</a:t>
            </a:r>
          </a:p>
          <a:p>
            <a:r>
              <a:rPr lang="en-US" sz="1200" b="0" i="0" kern="1200">
                <a:solidFill>
                  <a:schemeClr val="tx1"/>
                </a:solidFill>
                <a:effectLst/>
                <a:latin typeface="+mn-lt"/>
                <a:ea typeface="+mn-ea"/>
                <a:cs typeface="+mn-cs"/>
              </a:rPr>
              <a:t>下のパネルが本研究と</a:t>
            </a:r>
            <a:r>
              <a:rPr lang="en-US" altLang="ja-JP" sz="1200" b="0" i="0" kern="1200">
                <a:solidFill>
                  <a:schemeClr val="tx1"/>
                </a:solidFill>
                <a:effectLst/>
                <a:latin typeface="+mn-lt"/>
                <a:ea typeface="+mn-ea"/>
                <a:cs typeface="+mn-cs"/>
              </a:rPr>
              <a:t>T25 </a:t>
            </a:r>
            <a:r>
              <a:rPr lang="en-US" sz="1200" b="0" i="0" kern="1200">
                <a:solidFill>
                  <a:schemeClr val="tx1"/>
                </a:solidFill>
                <a:effectLst/>
                <a:latin typeface="+mn-lt"/>
                <a:ea typeface="+mn-ea"/>
                <a:cs typeface="+mn-cs"/>
              </a:rPr>
              <a:t>の</a:t>
            </a:r>
            <a:r>
              <a:rPr lang="en-US" sz="1200" b="1" i="0" kern="1200">
                <a:solidFill>
                  <a:schemeClr val="tx1"/>
                </a:solidFill>
                <a:effectLst/>
                <a:latin typeface="+mn-lt"/>
                <a:ea typeface="+mn-ea"/>
                <a:cs typeface="+mn-cs"/>
              </a:rPr>
              <a:t>比</a:t>
            </a:r>
            <a:r>
              <a:rPr lang="en-US" sz="1200" b="0" i="0" kern="1200">
                <a:solidFill>
                  <a:schemeClr val="tx1"/>
                </a:solidFill>
                <a:effectLst/>
                <a:latin typeface="+mn-lt"/>
                <a:ea typeface="+mn-ea"/>
                <a:cs typeface="+mn-cs"/>
              </a:rPr>
              <a:t>で、主要なエネルギー帯では</a:t>
            </a:r>
            <a:r>
              <a:rPr lang="en-US" sz="1200" b="1" i="0" kern="1200">
                <a:solidFill>
                  <a:schemeClr val="tx1"/>
                </a:solidFill>
                <a:effectLst/>
                <a:latin typeface="+mn-lt"/>
                <a:ea typeface="+mn-ea"/>
                <a:cs typeface="+mn-cs"/>
              </a:rPr>
              <a:t>1.3〜1.6 倍</a:t>
            </a:r>
            <a:r>
              <a:rPr lang="en-US" sz="1200" b="0" i="0" kern="1200">
                <a:solidFill>
                  <a:schemeClr val="tx1"/>
                </a:solidFill>
                <a:effectLst/>
                <a:latin typeface="+mn-lt"/>
                <a:ea typeface="+mn-ea"/>
                <a:cs typeface="+mn-cs"/>
              </a:rPr>
              <a:t>、本研究のほうが少し大きく出ています。</a:t>
            </a:r>
          </a:p>
          <a:p>
            <a:r>
              <a:rPr lang="en-US" sz="1200" b="0" i="0" kern="1200">
                <a:solidFill>
                  <a:schemeClr val="tx1"/>
                </a:solidFill>
                <a:effectLst/>
                <a:latin typeface="+mn-lt"/>
                <a:ea typeface="+mn-ea"/>
                <a:cs typeface="+mn-cs"/>
              </a:rPr>
              <a:t>この差の原因は、 </a:t>
            </a:r>
            <a:r>
              <a:rPr lang="en-US" sz="1200" b="1" i="0" kern="1200">
                <a:solidFill>
                  <a:schemeClr val="tx1"/>
                </a:solidFill>
                <a:effectLst/>
                <a:latin typeface="+mn-lt"/>
                <a:ea typeface="+mn-ea"/>
                <a:cs typeface="+mn-cs"/>
              </a:rPr>
              <a:t>ICS 成分の形のズレ</a:t>
            </a:r>
            <a:r>
              <a:rPr lang="en-US" sz="1200" b="0" i="0" kern="1200">
                <a:solidFill>
                  <a:schemeClr val="tx1"/>
                </a:solidFill>
                <a:effectLst/>
                <a:latin typeface="+mn-lt"/>
                <a:ea typeface="+mn-ea"/>
                <a:cs typeface="+mn-cs"/>
              </a:rPr>
              <a:t>だと考えています。</a:t>
            </a:r>
          </a:p>
          <a:p>
            <a:r>
              <a:rPr lang="ja-JP" altLang="en-US"/>
              <a:t>（ここまで５分３０）</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このスライドはフィットで求めたスペクトルを、成分ごとに</a:t>
            </a:r>
            <a:r>
              <a:rPr lang="en-US" altLang="ja-JP" sz="1200" b="0" i="0" kern="1200">
                <a:solidFill>
                  <a:schemeClr val="tx1"/>
                </a:solidFill>
                <a:effectLst/>
                <a:latin typeface="+mn-lt"/>
                <a:ea typeface="+mn-ea"/>
                <a:cs typeface="+mn-cs"/>
              </a:rPr>
              <a:t>T25 </a:t>
            </a:r>
            <a:r>
              <a:rPr lang="en-US" sz="1200" b="0" i="0" kern="1200">
                <a:solidFill>
                  <a:schemeClr val="tx1"/>
                </a:solidFill>
                <a:effectLst/>
                <a:latin typeface="+mn-lt"/>
                <a:ea typeface="+mn-ea"/>
                <a:cs typeface="+mn-cs"/>
              </a:rPr>
              <a:t>と比べたものです。</a:t>
            </a:r>
            <a:r>
              <a:rPr lang="ja-JP" altLang="en-US" sz="1200" b="0" i="0" kern="1200">
                <a:solidFill>
                  <a:schemeClr val="tx1"/>
                </a:solidFill>
                <a:effectLst/>
                <a:latin typeface="+mn-lt"/>
                <a:ea typeface="+mn-ea"/>
                <a:cs typeface="+mn-cs"/>
              </a:rPr>
              <a:t>そしてこれを比にして見やすくしたものがこちらになります</a:t>
            </a: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41A1D-DEC0-33EC-4BB2-1E8320F03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4F781-8E73-3A92-68A7-902AF4FAC44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7FC787A-7EF8-7080-FFDC-DED2223657C1}"/>
              </a:ext>
            </a:extLst>
          </p:cNvPr>
          <p:cNvSpPr>
            <a:spLocks noGrp="1"/>
          </p:cNvSpPr>
          <p:nvPr>
            <p:ph type="body" sz="quarter" idx="3"/>
          </p:nvPr>
        </p:nvSpPr>
        <p:spPr/>
        <p:txBody>
          <a:bodyPr/>
          <a:lstStyle/>
          <a:p>
            <a:r>
              <a:rPr lang="en-US" sz="1200" b="0" i="0" kern="1200">
                <a:solidFill>
                  <a:schemeClr val="tx1"/>
                </a:solidFill>
                <a:effectLst/>
                <a:latin typeface="+mn-lt"/>
                <a:ea typeface="+mn-ea"/>
                <a:cs typeface="+mn-cs"/>
              </a:rPr>
              <a:t>このスライドはフィットで求めたスペクトルを、成分ごとに</a:t>
            </a:r>
            <a:r>
              <a:rPr lang="en-US" altLang="ja-JP" sz="1200" b="0" i="0" kern="1200">
                <a:solidFill>
                  <a:schemeClr val="tx1"/>
                </a:solidFill>
                <a:effectLst/>
                <a:latin typeface="+mn-lt"/>
                <a:ea typeface="+mn-ea"/>
                <a:cs typeface="+mn-cs"/>
              </a:rPr>
              <a:t>T25 </a:t>
            </a:r>
            <a:r>
              <a:rPr lang="en-US" sz="1200" b="0" i="0" kern="1200">
                <a:solidFill>
                  <a:schemeClr val="tx1"/>
                </a:solidFill>
                <a:effectLst/>
                <a:latin typeface="+mn-lt"/>
                <a:ea typeface="+mn-ea"/>
                <a:cs typeface="+mn-cs"/>
              </a:rPr>
              <a:t>と比べたものです。</a:t>
            </a:r>
          </a:p>
          <a:p>
            <a:r>
              <a:rPr lang="en-US" sz="1200" b="0" i="0" kern="1200">
                <a:solidFill>
                  <a:schemeClr val="tx1"/>
                </a:solidFill>
                <a:effectLst/>
                <a:latin typeface="+mn-lt"/>
                <a:ea typeface="+mn-ea"/>
                <a:cs typeface="+mn-cs"/>
              </a:rPr>
              <a:t>上</a:t>
            </a:r>
            <a:r>
              <a:rPr lang="ja-JP" altLang="en-US" sz="1200" b="0" i="0" kern="1200">
                <a:solidFill>
                  <a:schemeClr val="tx1"/>
                </a:solidFill>
                <a:effectLst/>
                <a:latin typeface="+mn-lt"/>
                <a:ea typeface="+mn-ea"/>
                <a:cs typeface="+mn-cs"/>
              </a:rPr>
              <a:t>が</a:t>
            </a:r>
            <a:r>
              <a:rPr lang="en-US" sz="1200" b="1" i="0" kern="1200">
                <a:solidFill>
                  <a:schemeClr val="tx1"/>
                </a:solidFill>
                <a:effectLst/>
                <a:latin typeface="+mn-lt"/>
                <a:ea typeface="+mn-ea"/>
                <a:cs typeface="+mn-cs"/>
              </a:rPr>
              <a:t>各成分の</a:t>
            </a:r>
            <a:r>
              <a:rPr lang="ja-JP" altLang="en-US" sz="1200" b="1" i="0" kern="1200">
                <a:solidFill>
                  <a:schemeClr val="tx1"/>
                </a:solidFill>
                <a:effectLst/>
                <a:latin typeface="+mn-lt"/>
                <a:ea typeface="+mn-ea"/>
                <a:cs typeface="+mn-cs"/>
              </a:rPr>
              <a:t>エネルギーごとの</a:t>
            </a:r>
            <a:r>
              <a:rPr lang="en-US" sz="1200" b="1" i="0" kern="1200">
                <a:solidFill>
                  <a:schemeClr val="tx1"/>
                </a:solidFill>
                <a:effectLst/>
                <a:latin typeface="+mn-lt"/>
                <a:ea typeface="+mn-ea"/>
                <a:cs typeface="+mn-cs"/>
              </a:rPr>
              <a:t>明るさ</a:t>
            </a:r>
            <a:r>
              <a:rPr lang="ja-JP" altLang="en-US" sz="1200" b="0" i="0" kern="1200">
                <a:solidFill>
                  <a:schemeClr val="tx1"/>
                </a:solidFill>
                <a:effectLst/>
                <a:latin typeface="+mn-lt"/>
                <a:ea typeface="+mn-ea"/>
                <a:cs typeface="+mn-cs"/>
              </a:rPr>
              <a:t>で</a:t>
            </a:r>
            <a:r>
              <a:rPr lang="en-US" sz="1200" b="0" i="0" kern="1200">
                <a:solidFill>
                  <a:schemeClr val="tx1"/>
                </a:solidFill>
                <a:effectLst/>
                <a:latin typeface="+mn-lt"/>
                <a:ea typeface="+mn-ea"/>
                <a:cs typeface="+mn-cs"/>
              </a:rPr>
              <a:t>下が本研究と戸谷さんの比です。</a:t>
            </a:r>
          </a:p>
          <a:p>
            <a:endParaRPr lang="en-US" sz="1200" b="0" i="0" kern="1200">
              <a:solidFill>
                <a:schemeClr val="tx1"/>
              </a:solidFill>
              <a:effectLst/>
              <a:latin typeface="+mn-lt"/>
              <a:ea typeface="+mn-ea"/>
              <a:cs typeface="+mn-cs"/>
            </a:endParaRPr>
          </a:p>
          <a:p>
            <a:r>
              <a:rPr lang="ja-JP" altLang="en-US" sz="1200" b="1" i="0" kern="1200">
                <a:solidFill>
                  <a:schemeClr val="tx1"/>
                </a:solidFill>
                <a:effectLst/>
                <a:latin typeface="+mn-lt"/>
                <a:ea typeface="+mn-ea"/>
                <a:cs typeface="+mn-cs"/>
              </a:rPr>
              <a:t>上図をみると、</a:t>
            </a:r>
            <a:r>
              <a:rPr lang="en-US" altLang="ja-JP" sz="1200" b="1" i="0" kern="1200">
                <a:solidFill>
                  <a:schemeClr val="tx1"/>
                </a:solidFill>
                <a:effectLst/>
                <a:latin typeface="+mn-lt"/>
                <a:ea typeface="+mn-ea"/>
                <a:cs typeface="+mn-cs"/>
              </a:rPr>
              <a:t>iso</a:t>
            </a:r>
            <a:r>
              <a:rPr lang="ja-JP" altLang="en-US" sz="1200" b="1" i="0" kern="1200">
                <a:solidFill>
                  <a:schemeClr val="tx1"/>
                </a:solidFill>
                <a:effectLst/>
                <a:latin typeface="+mn-lt"/>
                <a:ea typeface="+mn-ea"/>
                <a:cs typeface="+mn-cs"/>
              </a:rPr>
              <a:t>以外の成分はかなり近い形で再現ができていることがわかります。</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Isoで</a:t>
            </a:r>
            <a:r>
              <a:rPr lang="ja-JP" altLang="en-US" sz="1200" b="0" i="0" kern="1200">
                <a:solidFill>
                  <a:schemeClr val="tx1"/>
                </a:solidFill>
                <a:effectLst/>
                <a:latin typeface="+mn-lt"/>
                <a:ea typeface="+mn-ea"/>
                <a:cs typeface="+mn-cs"/>
              </a:rPr>
              <a:t>は、</a:t>
            </a:r>
            <a:r>
              <a:rPr lang="en-US" sz="1200" b="0" i="0" kern="1200">
                <a:solidFill>
                  <a:schemeClr val="tx1"/>
                </a:solidFill>
                <a:effectLst/>
                <a:latin typeface="+mn-lt"/>
                <a:ea typeface="+mn-ea"/>
                <a:cs typeface="+mn-cs"/>
              </a:rPr>
              <a:t>戸谷さんの 0.38 倍、低エネルギーだと 200 分の 1</a:t>
            </a:r>
            <a:r>
              <a:rPr lang="ja-JP" altLang="en-US" sz="1200" b="0" i="0" kern="1200">
                <a:solidFill>
                  <a:schemeClr val="tx1"/>
                </a:solidFill>
                <a:effectLst/>
                <a:latin typeface="+mn-lt"/>
                <a:ea typeface="+mn-ea"/>
                <a:cs typeface="+mn-cs"/>
              </a:rPr>
              <a:t>もの差があります。</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原因は</a:t>
            </a:r>
            <a:r>
              <a:rPr lang="ja-JP" altLang="en-US" sz="1200" b="0" i="0" kern="1200">
                <a:solidFill>
                  <a:schemeClr val="tx1"/>
                </a:solidFill>
                <a:effectLst/>
                <a:latin typeface="+mn-lt"/>
                <a:ea typeface="+mn-ea"/>
                <a:cs typeface="+mn-cs"/>
              </a:rPr>
              <a:t>複数の検証の結果</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ICS の形のズレ</a:t>
            </a:r>
            <a:r>
              <a:rPr lang="en-US" sz="1200" b="0" i="0" kern="1200">
                <a:solidFill>
                  <a:schemeClr val="tx1"/>
                </a:solidFill>
                <a:effectLst/>
                <a:latin typeface="+mn-lt"/>
                <a:ea typeface="+mn-ea"/>
                <a:cs typeface="+mn-cs"/>
              </a:rPr>
              <a:t>で、本研究の ICS が</a:t>
            </a:r>
            <a:r>
              <a:rPr lang="en-US" altLang="ja-JP" sz="1200" b="0" i="0" kern="1200">
                <a:solidFill>
                  <a:schemeClr val="tx1"/>
                </a:solidFill>
                <a:effectLst/>
                <a:latin typeface="+mn-lt"/>
                <a:ea typeface="+mn-ea"/>
                <a:cs typeface="+mn-cs"/>
              </a:rPr>
              <a:t>T25 </a:t>
            </a:r>
            <a:r>
              <a:rPr lang="en-US" sz="1200" b="0" i="0" kern="1200">
                <a:solidFill>
                  <a:schemeClr val="tx1"/>
                </a:solidFill>
                <a:effectLst/>
                <a:latin typeface="+mn-lt"/>
                <a:ea typeface="+mn-ea"/>
                <a:cs typeface="+mn-cs"/>
              </a:rPr>
              <a:t>より平坦なため平坦な ICS は等方成分と区別がつかず、</a:t>
            </a:r>
          </a:p>
          <a:p>
            <a:r>
              <a:rPr lang="en-US" sz="1200" b="0" i="0" kern="1200">
                <a:solidFill>
                  <a:schemeClr val="tx1"/>
                </a:solidFill>
                <a:effectLst/>
                <a:latin typeface="+mn-lt"/>
                <a:ea typeface="+mn-ea"/>
                <a:cs typeface="+mn-cs"/>
              </a:rPr>
              <a:t>等方の分を ICS が吸ってしまっている、と考えています。</a:t>
            </a:r>
            <a:endParaRPr lang="en-US" altLang="ja-JP" sz="1200" b="0" i="0" kern="1200">
              <a:solidFill>
                <a:schemeClr val="tx1"/>
              </a:solidFill>
              <a:effectLst/>
              <a:latin typeface="+mn-lt"/>
              <a:ea typeface="+mn-ea"/>
              <a:cs typeface="+mn-cs"/>
            </a:endParaRPr>
          </a:p>
          <a:p>
            <a:r>
              <a:rPr lang="ja-JP" altLang="en-US" sz="1200" b="0" i="0" kern="1200">
                <a:solidFill>
                  <a:schemeClr val="tx1"/>
                </a:solidFill>
                <a:effectLst/>
                <a:latin typeface="+mn-lt"/>
                <a:ea typeface="+mn-ea"/>
                <a:cs typeface="+mn-cs"/>
              </a:rPr>
              <a:t>ーーーーーーーーーーーーーーーーーーーーー</a:t>
            </a:r>
            <a:endParaRPr lang="en-US" altLang="ja-JP"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「dN/dE が 1 エネルギーあたりの光子数、いわゆるスペクトルで、それに E² を掛けると、</a:t>
            </a:r>
            <a:r>
              <a:rPr lang="en-US" sz="1200" b="1" i="0" kern="1200">
                <a:solidFill>
                  <a:schemeClr val="tx1"/>
                </a:solidFill>
                <a:effectLst/>
                <a:latin typeface="+mn-lt"/>
                <a:ea typeface="+mn-ea"/>
                <a:cs typeface="+mn-cs"/>
              </a:rPr>
              <a:t>どのエネルギー帯に放射のエネルギーが集中しているか</a:t>
            </a:r>
            <a:r>
              <a:rPr lang="en-US" sz="1200" b="0" i="0" kern="1200">
                <a:solidFill>
                  <a:schemeClr val="tx1"/>
                </a:solidFill>
                <a:effectLst/>
                <a:latin typeface="+mn-lt"/>
                <a:ea typeface="+mn-ea"/>
                <a:cs typeface="+mn-cs"/>
              </a:rPr>
              <a:t>が山として見える、標準的な描き方です。」</a:t>
            </a:r>
          </a:p>
          <a:p>
            <a:br>
              <a:rPr lang="en-US"/>
            </a:br>
            <a:endParaRPr/>
          </a:p>
        </p:txBody>
      </p:sp>
      <p:sp>
        <p:nvSpPr>
          <p:cNvPr id="4" name="Slide Number Placeholder 3">
            <a:extLst>
              <a:ext uri="{FF2B5EF4-FFF2-40B4-BE49-F238E27FC236}">
                <a16:creationId xmlns:a16="http://schemas.microsoft.com/office/drawing/2014/main" id="{EBED1765-C353-9EE6-0D1D-9BDE308EA04F}"/>
              </a:ext>
            </a:extLst>
          </p:cNvPr>
          <p:cNvSpPr>
            <a:spLocks noGrp="1"/>
          </p:cNvSpPr>
          <p:nvPr>
            <p:ph type="sldNum" sz="quarter" idx="5"/>
          </p:nvPr>
        </p:nvSpPr>
        <p:spPr/>
      </p:sp>
    </p:spTree>
    <p:extLst>
      <p:ext uri="{BB962C8B-B14F-4D97-AF65-F5344CB8AC3E}">
        <p14:creationId xmlns:p14="http://schemas.microsoft.com/office/powerpoint/2010/main" val="439542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結論</a:t>
            </a:r>
            <a:r>
              <a:rPr lang="ja-JP" altLang="en-US" sz="1200" b="0" i="0" kern="1200">
                <a:solidFill>
                  <a:schemeClr val="tx1"/>
                </a:solidFill>
                <a:effectLst/>
                <a:latin typeface="+mn-lt"/>
                <a:ea typeface="+mn-ea"/>
                <a:cs typeface="+mn-cs"/>
              </a:rPr>
              <a:t>と今後の方針</a:t>
            </a:r>
            <a:r>
              <a:rPr lang="en-US" sz="1200" b="0" i="0" kern="1200">
                <a:solidFill>
                  <a:schemeClr val="tx1"/>
                </a:solidFill>
                <a:effectLst/>
                <a:latin typeface="+mn-lt"/>
                <a:ea typeface="+mn-ea"/>
                <a:cs typeface="+mn-cs"/>
              </a:rPr>
              <a:t>です。戸谷さんが報告した 20 GeV </a:t>
            </a:r>
            <a:r>
              <a:rPr lang="ja-JP" altLang="en-US" sz="1200" b="0" i="0" kern="1200">
                <a:solidFill>
                  <a:schemeClr val="tx1"/>
                </a:solidFill>
                <a:effectLst/>
                <a:latin typeface="+mn-lt"/>
                <a:ea typeface="+mn-ea"/>
                <a:cs typeface="+mn-cs"/>
              </a:rPr>
              <a:t>付近での</a:t>
            </a:r>
            <a:r>
              <a:rPr lang="en-US" sz="1200" b="0" i="0" kern="1200">
                <a:solidFill>
                  <a:schemeClr val="tx1"/>
                </a:solidFill>
                <a:effectLst/>
                <a:latin typeface="+mn-lt"/>
                <a:ea typeface="+mn-ea"/>
                <a:cs typeface="+mn-cs"/>
              </a:rPr>
              <a:t>ハロー過剰を再現</a:t>
            </a:r>
            <a:r>
              <a:rPr lang="ja-JP" altLang="en-US" sz="1200" b="0" i="0" kern="1200">
                <a:solidFill>
                  <a:schemeClr val="tx1"/>
                </a:solidFill>
                <a:effectLst/>
                <a:latin typeface="+mn-lt"/>
                <a:ea typeface="+mn-ea"/>
                <a:cs typeface="+mn-cs"/>
              </a:rPr>
              <a:t>することは</a:t>
            </a:r>
            <a:r>
              <a:rPr lang="en-US" sz="1200" b="0" i="0" kern="1200">
                <a:solidFill>
                  <a:schemeClr val="tx1"/>
                </a:solidFill>
                <a:effectLst/>
                <a:latin typeface="+mn-lt"/>
                <a:ea typeface="+mn-ea"/>
                <a:cs typeface="+mn-cs"/>
              </a:rPr>
              <a:t>できました。今後は、ダークマターが多いとされる矮小銀河や、J-factor が理論上天の川銀河と同程度とされる M31 にこの手法を広げること、</a:t>
            </a:r>
          </a:p>
          <a:p>
            <a:r>
              <a:rPr lang="en-US" sz="1200" b="0" i="0" kern="1200">
                <a:solidFill>
                  <a:schemeClr val="tx1"/>
                </a:solidFill>
                <a:effectLst/>
                <a:latin typeface="+mn-lt"/>
                <a:ea typeface="+mn-ea"/>
                <a:cs typeface="+mn-cs"/>
              </a:rPr>
              <a:t>そして </a:t>
            </a:r>
            <a:r>
              <a:rPr lang="ja-JP" altLang="en-US" sz="1200" b="0" i="0" kern="1200">
                <a:solidFill>
                  <a:schemeClr val="tx1"/>
                </a:solidFill>
                <a:effectLst/>
                <a:latin typeface="+mn-lt"/>
                <a:ea typeface="+mn-ea"/>
                <a:cs typeface="+mn-cs"/>
              </a:rPr>
              <a:t>他論文</a:t>
            </a:r>
            <a:r>
              <a:rPr lang="en-US" sz="1200" b="0" i="0" kern="1200">
                <a:solidFill>
                  <a:schemeClr val="tx1"/>
                </a:solidFill>
                <a:effectLst/>
                <a:latin typeface="+mn-lt"/>
                <a:ea typeface="+mn-ea"/>
                <a:cs typeface="+mn-cs"/>
              </a:rPr>
              <a:t>を参考に手法を拡張することを考えています。</a:t>
            </a:r>
            <a:r>
              <a:rPr lang="ja-JP" altLang="en-US" sz="1200" b="0" i="0" kern="1200">
                <a:solidFill>
                  <a:schemeClr val="tx1"/>
                </a:solidFill>
                <a:effectLst/>
                <a:latin typeface="+mn-lt"/>
                <a:ea typeface="+mn-ea"/>
                <a:cs typeface="+mn-cs"/>
              </a:rPr>
              <a:t>（ここまで</a:t>
            </a:r>
            <a:r>
              <a:rPr lang="en-US" altLang="ja-JP" sz="1200" b="0" i="0" kern="1200">
                <a:solidFill>
                  <a:schemeClr val="tx1"/>
                </a:solidFill>
                <a:effectLst/>
                <a:latin typeface="+mn-lt"/>
                <a:ea typeface="+mn-ea"/>
                <a:cs typeface="+mn-cs"/>
              </a:rPr>
              <a:t>7</a:t>
            </a:r>
            <a:r>
              <a:rPr lang="ja-JP" altLang="en-US" sz="1200" b="0" i="0" kern="1200">
                <a:solidFill>
                  <a:schemeClr val="tx1"/>
                </a:solidFill>
                <a:effectLst/>
                <a:latin typeface="+mn-lt"/>
                <a:ea typeface="+mn-ea"/>
                <a:cs typeface="+mn-cs"/>
              </a:rPr>
              <a:t>分</a:t>
            </a:r>
            <a:r>
              <a:rPr lang="en-US" altLang="ja-JP" sz="1200" b="0" i="0" kern="1200">
                <a:solidFill>
                  <a:schemeClr val="tx1"/>
                </a:solidFill>
                <a:effectLst/>
                <a:latin typeface="+mn-lt"/>
                <a:ea typeface="+mn-ea"/>
                <a:cs typeface="+mn-cs"/>
              </a:rPr>
              <a:t>30</a:t>
            </a:r>
            <a:r>
              <a:rPr lang="ja-JP" altLang="en-US" sz="1200" b="0" i="0" kern="1200">
                <a:solidFill>
                  <a:schemeClr val="tx1"/>
                </a:solidFill>
                <a:effectLst/>
                <a:latin typeface="+mn-lt"/>
                <a:ea typeface="+mn-ea"/>
                <a:cs typeface="+mn-cs"/>
              </a:rPr>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D8F84-29B9-3A6E-43D0-9A1BB06E2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62C70-F48B-7B60-515A-11A8CF4106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8A82B45-37D6-2653-5EF1-4259844078AD}"/>
              </a:ext>
            </a:extLst>
          </p:cNvPr>
          <p:cNvSpPr>
            <a:spLocks noGrp="1"/>
          </p:cNvSpPr>
          <p:nvPr>
            <p:ph type="body" sz="quarter" idx="3"/>
          </p:nvPr>
        </p:nvSpPr>
        <p:spPr/>
        <p:txBody>
          <a:bodyPr/>
          <a:lstStyle/>
          <a:p>
            <a:r>
              <a:rPr lang="en-US" sz="1200" b="0" i="0" kern="1200">
                <a:solidFill>
                  <a:schemeClr val="tx1"/>
                </a:solidFill>
                <a:effectLst/>
                <a:latin typeface="+mn-lt"/>
                <a:ea typeface="+mn-ea"/>
                <a:cs typeface="+mn-cs"/>
              </a:rPr>
              <a:t>「有意度は、ハローを入れた尤度と入れない尤度の差 ΔlnL から、σ＝ルート 2ΔlnL で計算します。これは尤度比検定という標準的な方法です。」</a:t>
            </a:r>
            <a:endParaRPr/>
          </a:p>
        </p:txBody>
      </p:sp>
      <p:sp>
        <p:nvSpPr>
          <p:cNvPr id="4" name="Slide Number Placeholder 3">
            <a:extLst>
              <a:ext uri="{FF2B5EF4-FFF2-40B4-BE49-F238E27FC236}">
                <a16:creationId xmlns:a16="http://schemas.microsoft.com/office/drawing/2014/main" id="{1372B3FA-2484-2C06-BB28-9987DE6DD8D3}"/>
              </a:ext>
            </a:extLst>
          </p:cNvPr>
          <p:cNvSpPr>
            <a:spLocks noGrp="1"/>
          </p:cNvSpPr>
          <p:nvPr>
            <p:ph type="sldNum" sz="quarter" idx="5"/>
          </p:nvPr>
        </p:nvSpPr>
        <p:spPr/>
      </p:sp>
    </p:spTree>
    <p:extLst>
      <p:ext uri="{BB962C8B-B14F-4D97-AF65-F5344CB8AC3E}">
        <p14:creationId xmlns:p14="http://schemas.microsoft.com/office/powerpoint/2010/main" val="2424944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867AF-621B-C11E-996F-25170FB83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95C2D-20D2-9C04-E095-01E29176246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732BB2C-E971-A90E-EEDE-AD52074412E8}"/>
              </a:ext>
            </a:extLst>
          </p:cNvPr>
          <p:cNvSpPr>
            <a:spLocks noGrp="1"/>
          </p:cNvSpPr>
          <p:nvPr>
            <p:ph type="body" sz="quarter" idx="3"/>
          </p:nvPr>
        </p:nvSpPr>
        <p:spPr/>
        <p:txBody>
          <a:bodyPr/>
          <a:lstStyle/>
          <a:p>
            <a:r>
              <a:rPr lang="en-US" sz="1200" b="0" i="0" kern="1200">
                <a:solidFill>
                  <a:schemeClr val="tx1"/>
                </a:solidFill>
                <a:effectLst/>
                <a:latin typeface="+mn-lt"/>
                <a:ea typeface="+mn-ea"/>
                <a:cs typeface="+mn-cs"/>
              </a:rPr>
              <a:t>「有意度は、ハローを入れた尤度と入れない尤度の差 ΔlnL から、σ＝ルート 2ΔlnL で計算します。これは尤度比検定という標準的な方法です。」</a:t>
            </a:r>
            <a:endParaRPr/>
          </a:p>
        </p:txBody>
      </p:sp>
      <p:sp>
        <p:nvSpPr>
          <p:cNvPr id="4" name="Slide Number Placeholder 3">
            <a:extLst>
              <a:ext uri="{FF2B5EF4-FFF2-40B4-BE49-F238E27FC236}">
                <a16:creationId xmlns:a16="http://schemas.microsoft.com/office/drawing/2014/main" id="{7751D93D-2156-9E00-ADB8-1C43F29F87A1}"/>
              </a:ext>
            </a:extLst>
          </p:cNvPr>
          <p:cNvSpPr>
            <a:spLocks noGrp="1"/>
          </p:cNvSpPr>
          <p:nvPr>
            <p:ph type="sldNum" sz="quarter" idx="5"/>
          </p:nvPr>
        </p:nvSpPr>
        <p:spPr/>
      </p:sp>
    </p:spTree>
    <p:extLst>
      <p:ext uri="{BB962C8B-B14F-4D97-AF65-F5344CB8AC3E}">
        <p14:creationId xmlns:p14="http://schemas.microsoft.com/office/powerpoint/2010/main" val="802494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91297-7F68-222C-16DD-D3DE6FB70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604C2-230A-B8A3-FB69-148EA37807D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B91836F-55DA-EFA3-602D-7CF326B9BC06}"/>
              </a:ext>
            </a:extLst>
          </p:cNvPr>
          <p:cNvSpPr>
            <a:spLocks noGrp="1"/>
          </p:cNvSpPr>
          <p:nvPr>
            <p:ph type="body" sz="quarter" idx="3"/>
          </p:nvPr>
        </p:nvSpPr>
        <p:spPr/>
        <p:txBody>
          <a:bodyPr/>
          <a:lstStyle/>
          <a:p>
            <a:r>
              <a:rPr lang="ja-JP" altLang="en-US"/>
              <a:t>続いてフィットと差し引きについてさらに詳しく解説します</a:t>
            </a:r>
          </a:p>
          <a:p>
            <a:r>
              <a:rPr lang="ja-JP" altLang="en-US"/>
              <a:t>まず、左の図が全エネルギー帯の実際のガンマ線観測データです。前スライドでも触れた通り、</a:t>
            </a:r>
            <a:endParaRPr lang="en-US" altLang="ja-JP"/>
          </a:p>
          <a:p>
            <a:r>
              <a:rPr lang="ja-JP" altLang="en-US"/>
              <a:t>ノイズが圧倒的に多い銀河面はマスクして解析から完全に除外しています。</a:t>
            </a:r>
            <a:endParaRPr lang="en-US" altLang="ja-JP"/>
          </a:p>
          <a:p>
            <a:r>
              <a:rPr lang="ja-JP" altLang="en-US"/>
              <a:t>この観測データには、</a:t>
            </a:r>
            <a:r>
              <a:rPr lang="en-US" sz="1200" b="0" i="0" kern="1200">
                <a:solidFill>
                  <a:schemeClr val="tx1"/>
                </a:solidFill>
                <a:effectLst/>
                <a:latin typeface="+mn-lt"/>
                <a:ea typeface="+mn-ea"/>
                <a:cs typeface="+mn-cs"/>
              </a:rPr>
              <a:t>既知の背景放射と、探したいハロー成分が混ざっています。 </a:t>
            </a:r>
          </a:p>
          <a:p>
            <a:r>
              <a:rPr lang="en-US" sz="1200" b="0" i="0" kern="1200">
                <a:solidFill>
                  <a:schemeClr val="tx1"/>
                </a:solidFill>
                <a:effectLst/>
                <a:latin typeface="+mn-lt"/>
                <a:ea typeface="+mn-ea"/>
                <a:cs typeface="+mn-cs"/>
              </a:rPr>
              <a:t>各テンプレートの</a:t>
            </a:r>
            <a:r>
              <a:rPr lang="ja-JP" altLang="en-US" sz="1200" b="0" i="0" kern="1200">
                <a:solidFill>
                  <a:schemeClr val="tx1"/>
                </a:solidFill>
                <a:effectLst/>
                <a:latin typeface="+mn-lt"/>
                <a:ea typeface="+mn-ea"/>
                <a:cs typeface="+mn-cs"/>
              </a:rPr>
              <a:t>係数</a:t>
            </a:r>
            <a:r>
              <a:rPr lang="en-US" sz="1200" b="0" i="0" kern="1200">
                <a:solidFill>
                  <a:schemeClr val="tx1"/>
                </a:solidFill>
                <a:effectLst/>
                <a:latin typeface="+mn-lt"/>
                <a:ea typeface="+mn-ea"/>
                <a:cs typeface="+mn-cs"/>
              </a:rPr>
              <a:t>を</a:t>
            </a:r>
            <a:r>
              <a:rPr lang="en-US" altLang="ja-JP" sz="1200" b="0" i="0" kern="1200">
                <a:solidFill>
                  <a:schemeClr val="tx1"/>
                </a:solidFill>
                <a:effectLst/>
                <a:latin typeface="+mn-lt"/>
                <a:ea typeface="+mn-ea"/>
                <a:cs typeface="+mn-cs"/>
              </a:rPr>
              <a:t>MCMC</a:t>
            </a:r>
            <a:r>
              <a:rPr lang="en-US" sz="1200" b="0" i="0" kern="1200">
                <a:solidFill>
                  <a:schemeClr val="tx1"/>
                </a:solidFill>
                <a:effectLst/>
                <a:latin typeface="+mn-lt"/>
                <a:ea typeface="+mn-ea"/>
                <a:cs typeface="+mn-cs"/>
              </a:rPr>
              <a:t>で同時に決め、</a:t>
            </a:r>
            <a:r>
              <a:rPr lang="en-US" sz="1200" b="1" i="0" kern="1200">
                <a:solidFill>
                  <a:schemeClr val="tx1"/>
                </a:solidFill>
                <a:effectLst/>
                <a:latin typeface="+mn-lt"/>
                <a:ea typeface="+mn-ea"/>
                <a:cs typeface="+mn-cs"/>
              </a:rPr>
              <a:t>7成分すべてを引くと、残差はノイズだけ</a:t>
            </a:r>
            <a:r>
              <a:rPr lang="en-US" sz="1200" b="0" i="0" kern="1200">
                <a:solidFill>
                  <a:schemeClr val="tx1"/>
                </a:solidFill>
                <a:effectLst/>
                <a:latin typeface="+mn-lt"/>
                <a:ea typeface="+mn-ea"/>
                <a:cs typeface="+mn-cs"/>
              </a:rPr>
              <a:t>になります。このうち </a:t>
            </a:r>
            <a:r>
              <a:rPr lang="en-US" sz="1200" b="1" i="0" kern="1200">
                <a:solidFill>
                  <a:schemeClr val="tx1"/>
                </a:solidFill>
                <a:effectLst/>
                <a:latin typeface="+mn-lt"/>
                <a:ea typeface="+mn-ea"/>
                <a:cs typeface="+mn-cs"/>
              </a:rPr>
              <a:t>ハロー成分が、探している DM 候補</a:t>
            </a:r>
            <a:r>
              <a:rPr lang="en-US" sz="1200" b="0" i="0" kern="1200">
                <a:solidFill>
                  <a:schemeClr val="tx1"/>
                </a:solidFill>
                <a:effectLst/>
                <a:latin typeface="+mn-lt"/>
                <a:ea typeface="+mn-ea"/>
                <a:cs typeface="+mn-cs"/>
              </a:rPr>
              <a:t>です。 </a:t>
            </a:r>
          </a:p>
        </p:txBody>
      </p:sp>
      <p:sp>
        <p:nvSpPr>
          <p:cNvPr id="4" name="Slide Number Placeholder 3">
            <a:extLst>
              <a:ext uri="{FF2B5EF4-FFF2-40B4-BE49-F238E27FC236}">
                <a16:creationId xmlns:a16="http://schemas.microsoft.com/office/drawing/2014/main" id="{1C1CD357-212D-0F5C-2689-4C39C3A01000}"/>
              </a:ext>
            </a:extLst>
          </p:cNvPr>
          <p:cNvSpPr>
            <a:spLocks noGrp="1"/>
          </p:cNvSpPr>
          <p:nvPr>
            <p:ph type="sldNum" sz="quarter" idx="5"/>
          </p:nvPr>
        </p:nvSpPr>
        <p:spPr/>
      </p:sp>
    </p:spTree>
    <p:extLst>
      <p:ext uri="{BB962C8B-B14F-4D97-AF65-F5344CB8AC3E}">
        <p14:creationId xmlns:p14="http://schemas.microsoft.com/office/powerpoint/2010/main" val="647465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58610-6929-7B70-BA41-6B7727306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53E8A-4D50-D8C8-8F1F-CCD04F143C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4F3FE5-1C90-6D61-73C1-1A8C92CB0611}"/>
              </a:ext>
            </a:extLst>
          </p:cNvPr>
          <p:cNvSpPr>
            <a:spLocks noGrp="1"/>
          </p:cNvSpPr>
          <p:nvPr>
            <p:ph type="body" sz="quarter" idx="3"/>
          </p:nvPr>
        </p:nvSpPr>
        <p:spPr/>
        <p:txBody>
          <a:bodyPr/>
          <a:lstStyle/>
          <a:p>
            <a:r>
              <a:rPr lang="ja-JP" altLang="en-US" sz="1200" b="0" i="0" kern="1200">
                <a:solidFill>
                  <a:schemeClr val="tx1"/>
                </a:solidFill>
                <a:effectLst/>
                <a:latin typeface="+mn-lt"/>
                <a:ea typeface="+mn-ea"/>
                <a:cs typeface="+mn-cs"/>
              </a:rPr>
              <a:t>成果は、</a:t>
            </a:r>
            <a:r>
              <a:rPr lang="en-US" sz="1200" b="0" i="0" kern="1200">
                <a:solidFill>
                  <a:schemeClr val="tx1"/>
                </a:solidFill>
                <a:effectLst/>
                <a:latin typeface="+mn-lt"/>
                <a:ea typeface="+mn-ea"/>
                <a:cs typeface="+mn-cs"/>
              </a:rPr>
              <a:t>20 GeV のハロー過剰をT25</a:t>
            </a:r>
            <a:r>
              <a:rPr lang="ja-JP" altLang="en-US" sz="1200" b="0" i="0" kern="1200">
                <a:solidFill>
                  <a:schemeClr val="tx1"/>
                </a:solidFill>
                <a:effectLst/>
                <a:latin typeface="+mn-lt"/>
                <a:ea typeface="+mn-ea"/>
                <a:cs typeface="+mn-cs"/>
              </a:rPr>
              <a:t>に近い部分まで</a:t>
            </a:r>
            <a:r>
              <a:rPr lang="en-US" sz="1200" b="0" i="0" kern="1200">
                <a:solidFill>
                  <a:schemeClr val="tx1"/>
                </a:solidFill>
                <a:effectLst/>
                <a:latin typeface="+mn-lt"/>
                <a:ea typeface="+mn-ea"/>
                <a:cs typeface="+mn-cs"/>
              </a:rPr>
              <a:t>再現できたことです。有意度で 19σ、スペクトルの</a:t>
            </a:r>
            <a:r>
              <a:rPr lang="ja-JP" altLang="en-US" sz="1200" b="0" i="0" kern="1200">
                <a:solidFill>
                  <a:schemeClr val="tx1"/>
                </a:solidFill>
                <a:effectLst/>
                <a:latin typeface="+mn-lt"/>
                <a:ea typeface="+mn-ea"/>
                <a:cs typeface="+mn-cs"/>
              </a:rPr>
              <a:t>形　</a:t>
            </a:r>
            <a:r>
              <a:rPr lang="en-US" sz="1200" b="0" i="0" kern="1200">
                <a:solidFill>
                  <a:schemeClr val="tx1"/>
                </a:solidFill>
                <a:effectLst/>
                <a:latin typeface="+mn-lt"/>
                <a:ea typeface="+mn-ea"/>
                <a:cs typeface="+mn-cs"/>
              </a:rPr>
              <a:t>これらが戸谷さんと一致しました。</a:t>
            </a:r>
          </a:p>
          <a:p>
            <a:r>
              <a:rPr lang="en-US" sz="1200" b="0" i="0" kern="1200">
                <a:solidFill>
                  <a:schemeClr val="tx1"/>
                </a:solidFill>
                <a:effectLst/>
                <a:latin typeface="+mn-lt"/>
                <a:ea typeface="+mn-ea"/>
                <a:cs typeface="+mn-cs"/>
              </a:rPr>
              <a:t>一方で</a:t>
            </a:r>
            <a:r>
              <a:rPr lang="en-US" sz="1200" b="1" i="0" kern="1200">
                <a:solidFill>
                  <a:schemeClr val="tx1"/>
                </a:solidFill>
                <a:effectLst/>
                <a:latin typeface="+mn-lt"/>
                <a:ea typeface="+mn-ea"/>
                <a:cs typeface="+mn-cs"/>
              </a:rPr>
              <a:t>課題</a:t>
            </a:r>
            <a:r>
              <a:rPr lang="en-US" sz="1200" b="0" i="0" kern="1200">
                <a:solidFill>
                  <a:schemeClr val="tx1"/>
                </a:solidFill>
                <a:effectLst/>
                <a:latin typeface="+mn-lt"/>
                <a:ea typeface="+mn-ea"/>
                <a:cs typeface="+mn-cs"/>
              </a:rPr>
              <a:t>も残っています。一つ目は、等方成分が</a:t>
            </a:r>
            <a:r>
              <a:rPr lang="en-US" altLang="ja-JP" sz="1200" b="0" i="0" kern="1200">
                <a:solidFill>
                  <a:schemeClr val="tx1"/>
                </a:solidFill>
                <a:effectLst/>
                <a:latin typeface="+mn-lt"/>
                <a:ea typeface="+mn-ea"/>
                <a:cs typeface="+mn-cs"/>
              </a:rPr>
              <a:t>T25</a:t>
            </a:r>
            <a:r>
              <a:rPr lang="en-US" sz="1200" b="0" i="0" kern="1200">
                <a:solidFill>
                  <a:schemeClr val="tx1"/>
                </a:solidFill>
                <a:effectLst/>
                <a:latin typeface="+mn-lt"/>
                <a:ea typeface="+mn-ea"/>
                <a:cs typeface="+mn-cs"/>
              </a:rPr>
              <a:t>の 0.38 倍</a:t>
            </a:r>
            <a:r>
              <a:rPr lang="ja-JP" altLang="en-US" sz="1200" b="0" i="0" kern="1200">
                <a:solidFill>
                  <a:schemeClr val="tx1"/>
                </a:solidFill>
                <a:effectLst/>
                <a:latin typeface="+mn-lt"/>
                <a:ea typeface="+mn-ea"/>
                <a:cs typeface="+mn-cs"/>
              </a:rPr>
              <a:t>になってしまっていること</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二つ目は、有意度の『形』は</a:t>
            </a:r>
            <a:r>
              <a:rPr lang="ja-JP" altLang="en-US" sz="1200" b="0" i="0" kern="1200">
                <a:solidFill>
                  <a:schemeClr val="tx1"/>
                </a:solidFill>
                <a:effectLst/>
                <a:latin typeface="+mn-lt"/>
                <a:ea typeface="+mn-ea"/>
                <a:cs typeface="+mn-cs"/>
              </a:rPr>
              <a:t>近いですが、</a:t>
            </a:r>
            <a:r>
              <a:rPr lang="en-US" sz="1200" b="0" i="0" kern="1200">
                <a:solidFill>
                  <a:schemeClr val="tx1"/>
                </a:solidFill>
                <a:effectLst/>
                <a:latin typeface="+mn-lt"/>
                <a:ea typeface="+mn-ea"/>
                <a:cs typeface="+mn-cs"/>
              </a:rPr>
              <a:t>大きさが 1.3〜1.6 倍、系統的に大きいこと</a:t>
            </a:r>
            <a:r>
              <a:rPr lang="ja-JP" altLang="en-US" sz="1200" b="0" i="0" kern="1200">
                <a:solidFill>
                  <a:schemeClr val="tx1"/>
                </a:solidFill>
                <a:effectLst/>
                <a:latin typeface="+mn-lt"/>
                <a:ea typeface="+mn-ea"/>
                <a:cs typeface="+mn-cs"/>
              </a:rPr>
              <a:t>です</a:t>
            </a: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C2E2485-7DD6-C8C6-B9BD-6E96B564958D}"/>
              </a:ext>
            </a:extLst>
          </p:cNvPr>
          <p:cNvSpPr>
            <a:spLocks noGrp="1"/>
          </p:cNvSpPr>
          <p:nvPr>
            <p:ph type="sldNum" sz="quarter" idx="5"/>
          </p:nvPr>
        </p:nvSpPr>
        <p:spPr/>
      </p:sp>
    </p:spTree>
    <p:extLst>
      <p:ext uri="{BB962C8B-B14F-4D97-AF65-F5344CB8AC3E}">
        <p14:creationId xmlns:p14="http://schemas.microsoft.com/office/powerpoint/2010/main" val="2462836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8067" y="1558002"/>
            <a:ext cx="11245386" cy="2554545"/>
          </a:xfrm>
          <a:prstGeom prst="rect">
            <a:avLst/>
          </a:prstGeom>
          <a:noFill/>
        </p:spPr>
        <p:txBody>
          <a:bodyPr wrap="none">
            <a:spAutoFit/>
          </a:bodyPr>
          <a:lstStyle/>
          <a:p>
            <a:pPr algn="ctr">
              <a:defRPr sz="4000" b="1">
                <a:solidFill>
                  <a:srgbClr val="FFFFFF"/>
                </a:solidFill>
              </a:defRPr>
            </a:pPr>
            <a:r>
              <a:rPr sz="6000" dirty="0" err="1"/>
              <a:t>銀河中心</a:t>
            </a:r>
            <a:r>
              <a:rPr lang="ja-JP" altLang="en-US" sz="6000"/>
              <a:t>における</a:t>
            </a:r>
            <a:r>
              <a:rPr sz="6000"/>
              <a:t>ガンマ線過剰</a:t>
            </a:r>
            <a:r>
              <a:rPr lang="ja-JP" altLang="en-US" sz="6000"/>
              <a:t>：</a:t>
            </a:r>
            <a:endParaRPr lang="en-US" sz="6000"/>
          </a:p>
          <a:p>
            <a:pPr algn="ctr">
              <a:defRPr sz="4000" b="1">
                <a:solidFill>
                  <a:srgbClr val="FFFFFF"/>
                </a:solidFill>
              </a:defRPr>
            </a:pPr>
            <a:r>
              <a:rPr lang="ja-JP" altLang="en-US" sz="6000"/>
              <a:t>ダークマター起源説の</a:t>
            </a:r>
            <a:r>
              <a:rPr sz="6000"/>
              <a:t>統計的</a:t>
            </a:r>
            <a:r>
              <a:rPr lang="ja-JP" altLang="en-US" sz="6000"/>
              <a:t>検証</a:t>
            </a:r>
            <a:endParaRPr lang="en-US" sz="6000"/>
          </a:p>
          <a:p>
            <a:pPr algn="ctr">
              <a:defRPr sz="4000" b="1">
                <a:solidFill>
                  <a:srgbClr val="FFFFFF"/>
                </a:solidFill>
              </a:defRPr>
            </a:pPr>
            <a:endParaRPr/>
          </a:p>
        </p:txBody>
      </p:sp>
      <p:sp>
        <p:nvSpPr>
          <p:cNvPr id="3" name="TextBox 2"/>
          <p:cNvSpPr txBox="1"/>
          <p:nvPr/>
        </p:nvSpPr>
        <p:spPr>
          <a:xfrm>
            <a:off x="1260374" y="3820160"/>
            <a:ext cx="9640781" cy="584775"/>
          </a:xfrm>
          <a:prstGeom prst="rect">
            <a:avLst/>
          </a:prstGeom>
          <a:noFill/>
        </p:spPr>
        <p:txBody>
          <a:bodyPr wrap="none">
            <a:spAutoFit/>
          </a:bodyPr>
          <a:lstStyle/>
          <a:p>
            <a:pPr algn="ctr">
              <a:defRPr sz="2000">
                <a:solidFill>
                  <a:srgbClr val="FFCC00"/>
                </a:solidFill>
              </a:defRPr>
            </a:pPr>
            <a:r>
              <a:rPr sz="3200"/>
              <a:t>中間発表 — Totani (2025)</a:t>
            </a:r>
            <a:r>
              <a:rPr lang="ja-JP" altLang="en-US" sz="3200"/>
              <a:t>の解析手法の再現状況報告</a:t>
            </a:r>
            <a:r>
              <a:rPr sz="3200"/>
              <a:t> </a:t>
            </a:r>
          </a:p>
        </p:txBody>
      </p:sp>
      <p:sp>
        <p:nvSpPr>
          <p:cNvPr id="4" name="TextBox 3"/>
          <p:cNvSpPr txBox="1"/>
          <p:nvPr/>
        </p:nvSpPr>
        <p:spPr>
          <a:xfrm>
            <a:off x="4911208" y="4662468"/>
            <a:ext cx="2339103" cy="954107"/>
          </a:xfrm>
          <a:prstGeom prst="rect">
            <a:avLst/>
          </a:prstGeom>
          <a:noFill/>
        </p:spPr>
        <p:txBody>
          <a:bodyPr wrap="none">
            <a:spAutoFit/>
          </a:bodyPr>
          <a:lstStyle/>
          <a:p>
            <a:pPr algn="ctr">
              <a:defRPr sz="2000">
                <a:solidFill>
                  <a:srgbClr val="FFFFFF"/>
                </a:solidFill>
              </a:defRPr>
            </a:pPr>
            <a:r>
              <a:rPr sz="2800"/>
              <a:t>中村惺一</a:t>
            </a:r>
            <a:endParaRPr lang="en-US" altLang="ja-JP" sz="2800"/>
          </a:p>
          <a:p>
            <a:pPr algn="ctr">
              <a:defRPr sz="2000">
                <a:solidFill>
                  <a:srgbClr val="FFFFFF"/>
                </a:solidFill>
              </a:defRPr>
            </a:pPr>
            <a:r>
              <a:rPr lang="ja-JP" altLang="en-US" sz="2800"/>
              <a:t>（神奈川大学）</a:t>
            </a:r>
            <a:endParaRPr sz="2800"/>
          </a:p>
        </p:txBody>
      </p:sp>
      <p:sp>
        <p:nvSpPr>
          <p:cNvPr id="5" name="Slide Number Placeholder 4">
            <a:extLst>
              <a:ext uri="{FF2B5EF4-FFF2-40B4-BE49-F238E27FC236}">
                <a16:creationId xmlns:a16="http://schemas.microsoft.com/office/drawing/2014/main" id="{1A3C1A74-C66C-4B8F-4299-75D7FF6A8F84}"/>
              </a:ext>
            </a:extLst>
          </p:cNvPr>
          <p:cNvSpPr>
            <a:spLocks noGrp="1"/>
          </p:cNvSpPr>
          <p:nvPr>
            <p:ph type="sldNum" sz="quarter" idx="12"/>
          </p:nvPr>
        </p:nvSpPr>
        <p:spPr>
          <a:xfrm>
            <a:off x="11392930" y="6367325"/>
            <a:ext cx="381558" cy="490675"/>
          </a:xfrm>
        </p:spPr>
        <p:txBody>
          <a:bodyPr/>
          <a:lstStyle/>
          <a:p>
            <a:fld id="{C1FF6DA9-008F-8B48-92A6-B652298478BF}" type="slidenum">
              <a:rPr lang="en-US" sz="3200" smtClean="0">
                <a:solidFill>
                  <a:schemeClr val="bg1"/>
                </a:solidFill>
              </a:rPr>
              <a:t>1</a:t>
            </a:fld>
            <a:endParaRPr lang="en-US" sz="32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892"/>
    </mc:Choice>
    <mc:Fallback xmlns="">
      <p:transition spd="slow" advTm="68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72440" y="146322"/>
            <a:ext cx="11247120" cy="822960"/>
          </a:xfrm>
          <a:prstGeom prst="rect">
            <a:avLst/>
          </a:prstGeom>
          <a:noFill/>
        </p:spPr>
        <p:txBody>
          <a:bodyPr wrap="square">
            <a:spAutoFit/>
          </a:bodyPr>
          <a:lstStyle/>
          <a:p>
            <a:pPr>
              <a:defRPr sz="3000" b="1">
                <a:solidFill>
                  <a:srgbClr val="FFFFFF"/>
                </a:solidFill>
              </a:defRPr>
            </a:pPr>
            <a:r>
              <a:rPr lang="ja-JP" altLang="en-US"/>
              <a:t>目次</a:t>
            </a:r>
            <a:endParaRPr/>
          </a:p>
        </p:txBody>
      </p:sp>
      <p:sp>
        <p:nvSpPr>
          <p:cNvPr id="3" name="TextBox 2"/>
          <p:cNvSpPr txBox="1"/>
          <p:nvPr/>
        </p:nvSpPr>
        <p:spPr>
          <a:xfrm>
            <a:off x="495300" y="966811"/>
            <a:ext cx="10972800" cy="4708981"/>
          </a:xfrm>
          <a:prstGeom prst="rect">
            <a:avLst/>
          </a:prstGeom>
          <a:noFill/>
        </p:spPr>
        <p:txBody>
          <a:bodyPr wrap="square">
            <a:spAutoFit/>
          </a:bodyPr>
          <a:lstStyle/>
          <a:p>
            <a:pPr>
              <a:spcAft>
                <a:spcPts val="800"/>
              </a:spcAft>
              <a:defRPr sz="2100">
                <a:solidFill>
                  <a:srgbClr val="FFFFFF"/>
                </a:solidFill>
              </a:defRPr>
            </a:pPr>
            <a:r>
              <a:rPr lang="en-US" sz="2400"/>
              <a:t>・</a:t>
            </a:r>
            <a:r>
              <a:rPr sz="2400"/>
              <a:t> </a:t>
            </a:r>
            <a:r>
              <a:rPr lang="en-US" sz="2400"/>
              <a:t>introduction:</a:t>
            </a:r>
            <a:r>
              <a:rPr sz="2400"/>
              <a:t>ガンマ線</a:t>
            </a:r>
            <a:r>
              <a:rPr lang="ja-JP" altLang="en-US" sz="2400"/>
              <a:t>過剰</a:t>
            </a:r>
            <a:endParaRPr lang="en-US" sz="2400"/>
          </a:p>
          <a:p>
            <a:pPr>
              <a:spcAft>
                <a:spcPts val="800"/>
              </a:spcAft>
              <a:defRPr sz="2100">
                <a:solidFill>
                  <a:srgbClr val="FFFFFF"/>
                </a:solidFill>
              </a:defRPr>
            </a:pPr>
            <a:r>
              <a:rPr lang="en-US" sz="2400"/>
              <a:t>				   </a:t>
            </a:r>
            <a:r>
              <a:rPr lang="en-US" altLang="ja-JP" sz="2400"/>
              <a:t>NFW</a:t>
            </a:r>
            <a:r>
              <a:rPr lang="ja-JP" altLang="en-US" sz="2400"/>
              <a:t>プロファイル</a:t>
            </a:r>
            <a:endParaRPr lang="en-US" altLang="ja-JP" sz="2400"/>
          </a:p>
          <a:p>
            <a:pPr>
              <a:spcAft>
                <a:spcPts val="800"/>
              </a:spcAft>
              <a:defRPr sz="2100">
                <a:solidFill>
                  <a:srgbClr val="FFFFFF"/>
                </a:solidFill>
              </a:defRPr>
            </a:pPr>
            <a:r>
              <a:rPr lang="en-US" sz="2400"/>
              <a:t>				   </a:t>
            </a:r>
            <a:r>
              <a:rPr lang="en-US" altLang="ja-JP" sz="2400"/>
              <a:t>WIMP</a:t>
            </a:r>
            <a:r>
              <a:rPr lang="ja-JP" altLang="en-US" sz="2400"/>
              <a:t>対消滅の過程</a:t>
            </a:r>
            <a:endParaRPr lang="en-US" sz="2400"/>
          </a:p>
          <a:p>
            <a:pPr>
              <a:spcAft>
                <a:spcPts val="800"/>
              </a:spcAft>
              <a:defRPr sz="2100">
                <a:solidFill>
                  <a:srgbClr val="FFFFFF"/>
                </a:solidFill>
              </a:defRPr>
            </a:pPr>
            <a:r>
              <a:rPr lang="en-US" sz="2400"/>
              <a:t>・Motivation    :</a:t>
            </a:r>
            <a:r>
              <a:rPr lang="ja-JP" altLang="en-US" sz="2400"/>
              <a:t>ダークマター起源説の統計的検証</a:t>
            </a:r>
            <a:endParaRPr sz="2400"/>
          </a:p>
          <a:p>
            <a:pPr>
              <a:spcAft>
                <a:spcPts val="800"/>
              </a:spcAft>
              <a:defRPr sz="2100">
                <a:solidFill>
                  <a:srgbClr val="FFFFFF"/>
                </a:solidFill>
              </a:defRPr>
            </a:pPr>
            <a:r>
              <a:rPr sz="2400"/>
              <a:t>・</a:t>
            </a:r>
            <a:r>
              <a:rPr lang="en-US" sz="2400"/>
              <a:t> method</a:t>
            </a:r>
            <a:r>
              <a:rPr lang="ja-JP" altLang="en-US" sz="2400"/>
              <a:t>　</a:t>
            </a:r>
            <a:r>
              <a:rPr lang="en-US" sz="2400"/>
              <a:t> 	  :</a:t>
            </a:r>
            <a:r>
              <a:rPr lang="ja-JP" altLang="en-US" sz="2400">
                <a:solidFill>
                  <a:schemeClr val="bg1"/>
                </a:solidFill>
              </a:rPr>
              <a:t>ガンマ線過剰の解析手法の概要</a:t>
            </a:r>
            <a:endParaRPr lang="en-US" altLang="ja-JP" sz="2400"/>
          </a:p>
          <a:p>
            <a:pPr>
              <a:spcAft>
                <a:spcPts val="800"/>
              </a:spcAft>
              <a:defRPr sz="2100">
                <a:solidFill>
                  <a:srgbClr val="FFFFFF"/>
                </a:solidFill>
              </a:defRPr>
            </a:pPr>
            <a:r>
              <a:rPr lang="en-US" sz="2400"/>
              <a:t>				  :</a:t>
            </a:r>
            <a:r>
              <a:rPr lang="en-US" altLang="ja-JP" sz="2400"/>
              <a:t>MCMC</a:t>
            </a:r>
            <a:r>
              <a:rPr lang="ja-JP" altLang="en-US" sz="2400"/>
              <a:t>フィットと差し引きについて</a:t>
            </a:r>
            <a:endParaRPr sz="2400"/>
          </a:p>
          <a:p>
            <a:pPr>
              <a:spcAft>
                <a:spcPts val="800"/>
              </a:spcAft>
              <a:defRPr sz="2100">
                <a:solidFill>
                  <a:srgbClr val="FFFFFF"/>
                </a:solidFill>
              </a:defRPr>
            </a:pPr>
            <a:r>
              <a:rPr sz="2400"/>
              <a:t>・ </a:t>
            </a:r>
            <a:r>
              <a:rPr lang="en-US" sz="2400"/>
              <a:t>result 		  :</a:t>
            </a:r>
            <a:r>
              <a:rPr lang="ja-JP" altLang="en-US" sz="2400"/>
              <a:t>背景モデルの引き算結果</a:t>
            </a:r>
            <a:endParaRPr lang="en-US" altLang="ja-JP" sz="2400"/>
          </a:p>
          <a:p>
            <a:pPr>
              <a:spcAft>
                <a:spcPts val="800"/>
              </a:spcAft>
              <a:defRPr sz="2100">
                <a:solidFill>
                  <a:srgbClr val="FFFFFF"/>
                </a:solidFill>
              </a:defRPr>
            </a:pPr>
            <a:r>
              <a:rPr lang="en-US" sz="2400"/>
              <a:t>				  :</a:t>
            </a:r>
            <a:r>
              <a:rPr lang="ja-JP" altLang="en-US" sz="2400"/>
              <a:t>全</a:t>
            </a:r>
            <a:r>
              <a:rPr lang="en-US" altLang="ja-JP" sz="2400"/>
              <a:t>13</a:t>
            </a:r>
            <a:r>
              <a:rPr lang="ja-JP" altLang="en-US" sz="2400"/>
              <a:t>ビンでのハロー有意度スペクトル</a:t>
            </a:r>
            <a:endParaRPr sz="2400"/>
          </a:p>
          <a:p>
            <a:pPr>
              <a:spcAft>
                <a:spcPts val="800"/>
              </a:spcAft>
              <a:defRPr sz="2100">
                <a:solidFill>
                  <a:srgbClr val="FFFFFF"/>
                </a:solidFill>
              </a:defRPr>
            </a:pPr>
            <a:r>
              <a:rPr sz="2400"/>
              <a:t>・ Discussion</a:t>
            </a:r>
            <a:r>
              <a:rPr lang="en-US" sz="2400"/>
              <a:t>	  :</a:t>
            </a:r>
            <a:r>
              <a:rPr lang="ja-JP" altLang="en-US" sz="2400">
                <a:solidFill>
                  <a:schemeClr val="bg1"/>
                </a:solidFill>
              </a:rPr>
              <a:t>達成できたことと課題</a:t>
            </a:r>
            <a:endParaRPr sz="2400"/>
          </a:p>
          <a:p>
            <a:pPr>
              <a:spcAft>
                <a:spcPts val="800"/>
              </a:spcAft>
              <a:defRPr sz="2100">
                <a:solidFill>
                  <a:srgbClr val="FFFFFF"/>
                </a:solidFill>
              </a:defRPr>
            </a:pPr>
            <a:r>
              <a:rPr sz="2400"/>
              <a:t>・ Conclusion</a:t>
            </a:r>
            <a:r>
              <a:rPr lang="en-US" sz="2400"/>
              <a:t>	 </a:t>
            </a:r>
            <a:r>
              <a:rPr lang="ja-JP" altLang="en-US" sz="2400"/>
              <a:t> </a:t>
            </a:r>
            <a:r>
              <a:rPr lang="en-US" altLang="ja-JP" sz="2400"/>
              <a:t>:</a:t>
            </a:r>
            <a:r>
              <a:rPr lang="ja-JP" altLang="en-US" sz="2400"/>
              <a:t>まとめと今後</a:t>
            </a:r>
            <a:endParaRPr sz="2400"/>
          </a:p>
        </p:txBody>
      </p:sp>
      <p:sp>
        <p:nvSpPr>
          <p:cNvPr id="4" name="Slide Number Placeholder 4">
            <a:extLst>
              <a:ext uri="{FF2B5EF4-FFF2-40B4-BE49-F238E27FC236}">
                <a16:creationId xmlns:a16="http://schemas.microsoft.com/office/drawing/2014/main" id="{DC8AC128-4590-C7E7-02F0-C85E539AD08D}"/>
              </a:ext>
            </a:extLst>
          </p:cNvPr>
          <p:cNvSpPr>
            <a:spLocks noGrp="1"/>
          </p:cNvSpPr>
          <p:nvPr>
            <p:ph type="sldNum" sz="quarter" idx="12"/>
          </p:nvPr>
        </p:nvSpPr>
        <p:spPr>
          <a:xfrm>
            <a:off x="11392930" y="6367325"/>
            <a:ext cx="381558" cy="490675"/>
          </a:xfrm>
        </p:spPr>
        <p:txBody>
          <a:bodyPr/>
          <a:lstStyle/>
          <a:p>
            <a:fld id="{C1FF6DA9-008F-8B48-92A6-B652298478BF}" type="slidenum">
              <a:rPr lang="en-US" sz="3200" smtClean="0">
                <a:solidFill>
                  <a:schemeClr val="bg1"/>
                </a:solidFill>
              </a:rPr>
              <a:t>2</a:t>
            </a:fld>
            <a:endParaRPr lang="en-US" sz="320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72440" y="274320"/>
            <a:ext cx="6125787" cy="1077218"/>
          </a:xfrm>
          <a:prstGeom prst="rect">
            <a:avLst/>
          </a:prstGeom>
          <a:noFill/>
        </p:spPr>
        <p:txBody>
          <a:bodyPr wrap="square">
            <a:spAutoFit/>
          </a:bodyPr>
          <a:lstStyle/>
          <a:p>
            <a:pPr>
              <a:defRPr sz="2800" b="1">
                <a:solidFill>
                  <a:srgbClr val="FFFFFF"/>
                </a:solidFill>
              </a:defRPr>
            </a:pPr>
            <a:r>
              <a:rPr lang="en-US" sz="3200"/>
              <a:t>Introduction</a:t>
            </a:r>
            <a:r>
              <a:rPr lang="ja-JP" altLang="en-US" sz="3200"/>
              <a:t>　ガンマ線過剰</a:t>
            </a:r>
          </a:p>
          <a:p>
            <a:pPr>
              <a:defRPr sz="2800" b="1">
                <a:solidFill>
                  <a:srgbClr val="FFFFFF"/>
                </a:solidFill>
              </a:defRPr>
            </a:pPr>
            <a:r>
              <a:rPr lang="ja-JP" altLang="en-US" sz="3200"/>
              <a:t>　</a:t>
            </a:r>
            <a:endParaRPr sz="3200"/>
          </a:p>
        </p:txBody>
      </p:sp>
      <p:sp>
        <p:nvSpPr>
          <p:cNvPr id="3" name="TextBox 2">
            <a:extLst>
              <a:ext uri="{FF2B5EF4-FFF2-40B4-BE49-F238E27FC236}">
                <a16:creationId xmlns:a16="http://schemas.microsoft.com/office/drawing/2014/main" id="{B9149E4A-16E6-56F3-BF56-18EBF572359A}"/>
              </a:ext>
            </a:extLst>
          </p:cNvPr>
          <p:cNvSpPr txBox="1"/>
          <p:nvPr/>
        </p:nvSpPr>
        <p:spPr>
          <a:xfrm>
            <a:off x="1066800" y="1367464"/>
            <a:ext cx="8658225" cy="1661993"/>
          </a:xfrm>
          <a:prstGeom prst="rect">
            <a:avLst/>
          </a:prstGeom>
          <a:noFill/>
        </p:spPr>
        <p:txBody>
          <a:bodyPr wrap="square" rtlCol="0">
            <a:spAutoFit/>
          </a:bodyPr>
          <a:lstStyle/>
          <a:p>
            <a:r>
              <a:rPr lang="en-US" sz="2800">
                <a:solidFill>
                  <a:schemeClr val="bg1"/>
                </a:solidFill>
              </a:rPr>
              <a:t>銀河中心方向に、既知の背景を全部引いても残る</a:t>
            </a:r>
          </a:p>
          <a:p>
            <a:r>
              <a:rPr lang="ja-JP" altLang="en-US" sz="2800">
                <a:solidFill>
                  <a:schemeClr val="bg1"/>
                </a:solidFill>
              </a:rPr>
              <a:t>「</a:t>
            </a:r>
            <a:r>
              <a:rPr lang="en-US" sz="2800">
                <a:solidFill>
                  <a:schemeClr val="bg1"/>
                </a:solidFill>
              </a:rPr>
              <a:t>ガンマ線の</a:t>
            </a:r>
            <a:r>
              <a:rPr lang="en-US" sz="2800" b="1">
                <a:solidFill>
                  <a:schemeClr val="bg1"/>
                </a:solidFill>
              </a:rPr>
              <a:t>過剰</a:t>
            </a:r>
            <a:r>
              <a:rPr lang="ja-JP" altLang="en-US" sz="2800" b="1">
                <a:solidFill>
                  <a:schemeClr val="bg1"/>
                </a:solidFill>
              </a:rPr>
              <a:t>」</a:t>
            </a:r>
            <a:r>
              <a:rPr lang="en-US" sz="2800">
                <a:solidFill>
                  <a:schemeClr val="bg1"/>
                </a:solidFill>
              </a:rPr>
              <a:t>がある</a:t>
            </a:r>
          </a:p>
          <a:p>
            <a:r>
              <a:rPr lang="ja-JP" altLang="en-US" sz="2800">
                <a:solidFill>
                  <a:schemeClr val="bg1"/>
                </a:solidFill>
              </a:rPr>
              <a:t>→目的：この過剰の</a:t>
            </a:r>
            <a:r>
              <a:rPr lang="ja-JP" altLang="en-US" sz="2800" u="sng">
                <a:solidFill>
                  <a:schemeClr val="bg1"/>
                </a:solidFill>
              </a:rPr>
              <a:t>正体を突き止める</a:t>
            </a:r>
          </a:p>
          <a:p>
            <a:endParaRPr lang="en-US">
              <a:solidFill>
                <a:schemeClr val="bg1"/>
              </a:solidFill>
            </a:endParaRPr>
          </a:p>
        </p:txBody>
      </p:sp>
      <p:sp>
        <p:nvSpPr>
          <p:cNvPr id="4" name="TextBox 3">
            <a:extLst>
              <a:ext uri="{FF2B5EF4-FFF2-40B4-BE49-F238E27FC236}">
                <a16:creationId xmlns:a16="http://schemas.microsoft.com/office/drawing/2014/main" id="{9F9E7563-02C8-434B-AEBE-C1C0DEE411EE}"/>
              </a:ext>
            </a:extLst>
          </p:cNvPr>
          <p:cNvSpPr txBox="1"/>
          <p:nvPr/>
        </p:nvSpPr>
        <p:spPr>
          <a:xfrm>
            <a:off x="1066800" y="3179618"/>
            <a:ext cx="10363200" cy="1446550"/>
          </a:xfrm>
          <a:prstGeom prst="rect">
            <a:avLst/>
          </a:prstGeom>
          <a:noFill/>
        </p:spPr>
        <p:txBody>
          <a:bodyPr wrap="square" rtlCol="0">
            <a:spAutoFit/>
          </a:bodyPr>
          <a:lstStyle/>
          <a:p>
            <a:r>
              <a:rPr lang="ja-JP" altLang="en-US" sz="2800">
                <a:solidFill>
                  <a:schemeClr val="bg1"/>
                </a:solidFill>
              </a:rPr>
              <a:t>使用する観測機：</a:t>
            </a:r>
            <a:r>
              <a:rPr lang="en-US" altLang="ja-JP" sz="3200">
                <a:solidFill>
                  <a:schemeClr val="bg1"/>
                </a:solidFill>
              </a:rPr>
              <a:t>FermiLAT</a:t>
            </a:r>
            <a:r>
              <a:rPr lang="en-US" sz="3200">
                <a:solidFill>
                  <a:schemeClr val="bg1"/>
                </a:solidFill>
              </a:rPr>
              <a:t>（NASA のガンマ線宇宙望遠鏡</a:t>
            </a:r>
            <a:r>
              <a:rPr lang="ja-JP" altLang="en-US" sz="3200">
                <a:solidFill>
                  <a:schemeClr val="bg1"/>
                </a:solidFill>
              </a:rPr>
              <a:t>）</a:t>
            </a:r>
            <a:endParaRPr lang="en-US" altLang="ja-JP" sz="3600">
              <a:solidFill>
                <a:schemeClr val="bg1"/>
              </a:solidFill>
            </a:endParaRPr>
          </a:p>
          <a:p>
            <a:r>
              <a:rPr lang="ja-JP" altLang="en-US" sz="2800">
                <a:solidFill>
                  <a:schemeClr val="bg1"/>
                </a:solidFill>
              </a:rPr>
              <a:t>使用するデータ：</a:t>
            </a:r>
            <a:r>
              <a:rPr lang="en-US" sz="2800" b="1">
                <a:solidFill>
                  <a:schemeClr val="bg1"/>
                </a:solidFill>
              </a:rPr>
              <a:t> 2008 年</a:t>
            </a:r>
            <a:r>
              <a:rPr lang="ja-JP" altLang="en-US" sz="2800" b="1">
                <a:solidFill>
                  <a:schemeClr val="bg1"/>
                </a:solidFill>
              </a:rPr>
              <a:t>から</a:t>
            </a:r>
            <a:r>
              <a:rPr lang="en-US" sz="2800" b="1">
                <a:solidFill>
                  <a:schemeClr val="bg1"/>
                </a:solidFill>
              </a:rPr>
              <a:t>約 15 年分</a:t>
            </a:r>
            <a:r>
              <a:rPr lang="ja-JP" altLang="en-US" sz="2800" b="1">
                <a:solidFill>
                  <a:schemeClr val="bg1"/>
                </a:solidFill>
              </a:rPr>
              <a:t>（</a:t>
            </a:r>
            <a:r>
              <a:rPr lang="en-US" altLang="ja-JP" sz="2800" b="1">
                <a:solidFill>
                  <a:schemeClr val="bg1"/>
                </a:solidFill>
              </a:rPr>
              <a:t>780</a:t>
            </a:r>
            <a:r>
              <a:rPr lang="ja-JP" altLang="en-US" sz="2800" b="1">
                <a:solidFill>
                  <a:schemeClr val="bg1"/>
                </a:solidFill>
              </a:rPr>
              <a:t>週分）</a:t>
            </a:r>
            <a:endParaRPr lang="en-US" sz="2800">
              <a:solidFill>
                <a:schemeClr val="bg1"/>
              </a:solidFill>
            </a:endParaRPr>
          </a:p>
          <a:p>
            <a:endParaRPr lang="en-US" sz="2800">
              <a:solidFill>
                <a:schemeClr val="bg1"/>
              </a:solidFill>
            </a:endParaRPr>
          </a:p>
        </p:txBody>
      </p:sp>
      <p:sp>
        <p:nvSpPr>
          <p:cNvPr id="5" name="Slide Number Placeholder 4">
            <a:extLst>
              <a:ext uri="{FF2B5EF4-FFF2-40B4-BE49-F238E27FC236}">
                <a16:creationId xmlns:a16="http://schemas.microsoft.com/office/drawing/2014/main" id="{19D3A3C6-4474-5E92-AF20-068AA98253E2}"/>
              </a:ext>
            </a:extLst>
          </p:cNvPr>
          <p:cNvSpPr>
            <a:spLocks noGrp="1"/>
          </p:cNvSpPr>
          <p:nvPr>
            <p:ph type="sldNum" sz="quarter" idx="12"/>
          </p:nvPr>
        </p:nvSpPr>
        <p:spPr>
          <a:xfrm>
            <a:off x="11392930" y="6367325"/>
            <a:ext cx="381558" cy="490675"/>
          </a:xfrm>
        </p:spPr>
        <p:txBody>
          <a:bodyPr/>
          <a:lstStyle/>
          <a:p>
            <a:fld id="{C1FF6DA9-008F-8B48-92A6-B652298478BF}" type="slidenum">
              <a:rPr lang="en-US" sz="3200" smtClean="0">
                <a:solidFill>
                  <a:schemeClr val="bg1"/>
                </a:solidFill>
              </a:rPr>
              <a:t>3</a:t>
            </a:fld>
            <a:endParaRPr lang="en-US" sz="320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12FECDC-E64A-7419-0290-93560B30ED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0CEC51-8A20-F631-12F8-2079A2CE33D8}"/>
              </a:ext>
            </a:extLst>
          </p:cNvPr>
          <p:cNvSpPr txBox="1"/>
          <p:nvPr/>
        </p:nvSpPr>
        <p:spPr>
          <a:xfrm>
            <a:off x="145810" y="274320"/>
            <a:ext cx="11628678" cy="1138773"/>
          </a:xfrm>
          <a:prstGeom prst="rect">
            <a:avLst/>
          </a:prstGeom>
          <a:noFill/>
        </p:spPr>
        <p:txBody>
          <a:bodyPr wrap="square">
            <a:spAutoFit/>
          </a:bodyPr>
          <a:lstStyle/>
          <a:p>
            <a:pPr>
              <a:defRPr sz="2800" b="1">
                <a:solidFill>
                  <a:srgbClr val="FFFFFF"/>
                </a:solidFill>
              </a:defRPr>
            </a:pPr>
            <a:r>
              <a:rPr lang="en-US" sz="3600"/>
              <a:t>Introduction</a:t>
            </a:r>
            <a:r>
              <a:rPr lang="ja-JP" altLang="en-US" sz="3600"/>
              <a:t>　銀河中心のダークマター（</a:t>
            </a:r>
            <a:r>
              <a:rPr lang="en-US" altLang="ja-JP" sz="3600"/>
              <a:t>NFW</a:t>
            </a:r>
            <a:r>
              <a:rPr lang="ja-JP" altLang="en-US" sz="3600"/>
              <a:t>プロファイル）</a:t>
            </a:r>
          </a:p>
          <a:p>
            <a:pPr>
              <a:defRPr sz="2800" b="1">
                <a:solidFill>
                  <a:srgbClr val="FFFFFF"/>
                </a:solidFill>
              </a:defRPr>
            </a:pPr>
            <a:r>
              <a:rPr lang="ja-JP" altLang="en-US" sz="3200"/>
              <a:t>　</a:t>
            </a:r>
            <a:endParaRPr sz="3200"/>
          </a:p>
        </p:txBody>
      </p:sp>
      <p:sp>
        <p:nvSpPr>
          <p:cNvPr id="3" name="TextBox 2">
            <a:extLst>
              <a:ext uri="{FF2B5EF4-FFF2-40B4-BE49-F238E27FC236}">
                <a16:creationId xmlns:a16="http://schemas.microsoft.com/office/drawing/2014/main" id="{B09F6B25-4F59-D394-22B3-0AB1EA6F822A}"/>
              </a:ext>
            </a:extLst>
          </p:cNvPr>
          <p:cNvSpPr txBox="1"/>
          <p:nvPr/>
        </p:nvSpPr>
        <p:spPr>
          <a:xfrm>
            <a:off x="6458033" y="3429001"/>
            <a:ext cx="4634840" cy="1431161"/>
          </a:xfrm>
          <a:prstGeom prst="rect">
            <a:avLst/>
          </a:prstGeom>
          <a:noFill/>
        </p:spPr>
        <p:txBody>
          <a:bodyPr wrap="square" rtlCol="0">
            <a:spAutoFit/>
          </a:bodyPr>
          <a:lstStyle/>
          <a:p>
            <a:endParaRPr lang="ja-JP" altLang="en-US" sz="2100">
              <a:solidFill>
                <a:schemeClr val="bg1"/>
              </a:solidFill>
            </a:endParaRPr>
          </a:p>
          <a:p>
            <a:r>
              <a:rPr lang="en-US" altLang="ja-JP" sz="2400">
                <a:solidFill>
                  <a:schemeClr val="bg1"/>
                </a:solidFill>
              </a:rPr>
              <a:t>NFW</a:t>
            </a:r>
            <a:r>
              <a:rPr lang="ja-JP" altLang="en-US" sz="2400">
                <a:solidFill>
                  <a:schemeClr val="bg1"/>
                </a:solidFill>
              </a:rPr>
              <a:t>プロファイルから分かること</a:t>
            </a:r>
            <a:endParaRPr lang="en-US" altLang="ja-JP" sz="2400">
              <a:solidFill>
                <a:schemeClr val="bg1"/>
              </a:solidFill>
            </a:endParaRPr>
          </a:p>
          <a:p>
            <a:r>
              <a:rPr lang="ja-JP" altLang="en-US" sz="2400">
                <a:solidFill>
                  <a:schemeClr val="bg1"/>
                </a:solidFill>
              </a:rPr>
              <a:t>→中心ほど</a:t>
            </a:r>
            <a:r>
              <a:rPr lang="en-US" altLang="ja-JP" sz="2400">
                <a:solidFill>
                  <a:schemeClr val="bg1"/>
                </a:solidFill>
              </a:rPr>
              <a:t>DM</a:t>
            </a:r>
            <a:r>
              <a:rPr lang="ja-JP" altLang="en-US" sz="2400">
                <a:solidFill>
                  <a:schemeClr val="bg1"/>
                </a:solidFill>
              </a:rPr>
              <a:t>密度が高い</a:t>
            </a:r>
          </a:p>
          <a:p>
            <a:endParaRPr lang="en-US">
              <a:solidFill>
                <a:schemeClr val="bg1"/>
              </a:solidFill>
            </a:endParaRPr>
          </a:p>
        </p:txBody>
      </p:sp>
      <p:pic>
        <p:nvPicPr>
          <p:cNvPr id="6" name="Picture 5" descr="The image depicts a Dark Matter (DM) density profile, showing a high density near the center (galactic center) and decreasing with increasing distance from the center.&#10;&#10;AI-generated content may be incorrect.">
            <a:extLst>
              <a:ext uri="{FF2B5EF4-FFF2-40B4-BE49-F238E27FC236}">
                <a16:creationId xmlns:a16="http://schemas.microsoft.com/office/drawing/2014/main" id="{87094E53-6584-2C45-1174-5B6433C952C5}"/>
              </a:ext>
            </a:extLst>
          </p:cNvPr>
          <p:cNvPicPr>
            <a:picLocks noChangeAspect="1"/>
          </p:cNvPicPr>
          <p:nvPr/>
        </p:nvPicPr>
        <p:blipFill>
          <a:blip r:embed="rId3"/>
          <a:stretch>
            <a:fillRect/>
          </a:stretch>
        </p:blipFill>
        <p:spPr>
          <a:xfrm>
            <a:off x="91530" y="1196809"/>
            <a:ext cx="6004470" cy="5170516"/>
          </a:xfrm>
          <a:prstGeom prst="rect">
            <a:avLst/>
          </a:prstGeom>
        </p:spPr>
      </p:pic>
      <p:sp>
        <p:nvSpPr>
          <p:cNvPr id="7" name="TextBox 6">
            <a:extLst>
              <a:ext uri="{FF2B5EF4-FFF2-40B4-BE49-F238E27FC236}">
                <a16:creationId xmlns:a16="http://schemas.microsoft.com/office/drawing/2014/main" id="{176A9B2A-9991-1BB8-5360-89D5BFC56D94}"/>
              </a:ext>
            </a:extLst>
          </p:cNvPr>
          <p:cNvSpPr txBox="1"/>
          <p:nvPr/>
        </p:nvSpPr>
        <p:spPr>
          <a:xfrm>
            <a:off x="6390426" y="2313917"/>
            <a:ext cx="6424612" cy="830997"/>
          </a:xfrm>
          <a:prstGeom prst="rect">
            <a:avLst/>
          </a:prstGeom>
          <a:noFill/>
        </p:spPr>
        <p:txBody>
          <a:bodyPr wrap="square">
            <a:spAutoFit/>
          </a:bodyPr>
          <a:lstStyle/>
          <a:p>
            <a:r>
              <a:rPr lang="ja-JP" altLang="en-US" sz="2400">
                <a:solidFill>
                  <a:schemeClr val="bg1"/>
                </a:solidFill>
              </a:rPr>
              <a:t>ダークマター（</a:t>
            </a:r>
            <a:r>
              <a:rPr lang="en-US" altLang="ja-JP" sz="2400">
                <a:solidFill>
                  <a:schemeClr val="bg1"/>
                </a:solidFill>
              </a:rPr>
              <a:t>DM</a:t>
            </a:r>
            <a:r>
              <a:rPr lang="ja-JP" altLang="en-US" sz="2400">
                <a:solidFill>
                  <a:schemeClr val="bg1"/>
                </a:solidFill>
              </a:rPr>
              <a:t>）は銀河中心に密集</a:t>
            </a:r>
            <a:endParaRPr lang="en-US" altLang="ja-JP" sz="2400">
              <a:solidFill>
                <a:schemeClr val="bg1"/>
              </a:solidFill>
            </a:endParaRPr>
          </a:p>
          <a:p>
            <a:r>
              <a:rPr lang="ja-JP" altLang="en-US" sz="2400">
                <a:solidFill>
                  <a:schemeClr val="bg1"/>
                </a:solidFill>
              </a:rPr>
              <a:t> → </a:t>
            </a:r>
            <a:r>
              <a:rPr lang="en-US" altLang="ja-JP" sz="2400">
                <a:solidFill>
                  <a:schemeClr val="bg1"/>
                </a:solidFill>
              </a:rPr>
              <a:t>NFW</a:t>
            </a:r>
            <a:r>
              <a:rPr lang="ja-JP" altLang="en-US" sz="2400">
                <a:solidFill>
                  <a:schemeClr val="bg1"/>
                </a:solidFill>
              </a:rPr>
              <a:t>プロファイル（左の密度図）</a:t>
            </a:r>
            <a:endParaRPr lang="en-US" sz="2400">
              <a:solidFill>
                <a:schemeClr val="bg1"/>
              </a:solidFill>
            </a:endParaRPr>
          </a:p>
        </p:txBody>
      </p:sp>
      <p:sp>
        <p:nvSpPr>
          <p:cNvPr id="4" name="Slide Number Placeholder 4">
            <a:extLst>
              <a:ext uri="{FF2B5EF4-FFF2-40B4-BE49-F238E27FC236}">
                <a16:creationId xmlns:a16="http://schemas.microsoft.com/office/drawing/2014/main" id="{EC74C117-8344-8724-3FED-ADF8A1A87BD8}"/>
              </a:ext>
            </a:extLst>
          </p:cNvPr>
          <p:cNvSpPr>
            <a:spLocks noGrp="1"/>
          </p:cNvSpPr>
          <p:nvPr>
            <p:ph type="sldNum" sz="quarter" idx="12"/>
          </p:nvPr>
        </p:nvSpPr>
        <p:spPr>
          <a:xfrm>
            <a:off x="11392930" y="6367325"/>
            <a:ext cx="381558" cy="490675"/>
          </a:xfrm>
        </p:spPr>
        <p:txBody>
          <a:bodyPr/>
          <a:lstStyle/>
          <a:p>
            <a:fld id="{C1FF6DA9-008F-8B48-92A6-B652298478BF}" type="slidenum">
              <a:rPr lang="en-US" sz="3200" smtClean="0">
                <a:solidFill>
                  <a:schemeClr val="bg1"/>
                </a:solidFill>
              </a:rPr>
              <a:t>4</a:t>
            </a:fld>
            <a:endParaRPr lang="en-US" sz="3200">
              <a:solidFill>
                <a:schemeClr val="bg1"/>
              </a:solidFill>
            </a:endParaRPr>
          </a:p>
        </p:txBody>
      </p:sp>
      <p:sp>
        <p:nvSpPr>
          <p:cNvPr id="8" name="TextBox 7">
            <a:extLst>
              <a:ext uri="{FF2B5EF4-FFF2-40B4-BE49-F238E27FC236}">
                <a16:creationId xmlns:a16="http://schemas.microsoft.com/office/drawing/2014/main" id="{9420B2D4-9AC5-0A6F-571C-034394C1A2C9}"/>
              </a:ext>
            </a:extLst>
          </p:cNvPr>
          <p:cNvSpPr txBox="1"/>
          <p:nvPr/>
        </p:nvSpPr>
        <p:spPr>
          <a:xfrm>
            <a:off x="6390426" y="1215835"/>
            <a:ext cx="6465454" cy="584775"/>
          </a:xfrm>
          <a:prstGeom prst="rect">
            <a:avLst/>
          </a:prstGeom>
          <a:noFill/>
        </p:spPr>
        <p:txBody>
          <a:bodyPr wrap="square">
            <a:spAutoFit/>
          </a:bodyPr>
          <a:lstStyle/>
          <a:p>
            <a:r>
              <a:rPr lang="en-US" sz="3200" b="0" i="0" kern="1200">
                <a:solidFill>
                  <a:schemeClr val="bg1"/>
                </a:solidFill>
                <a:effectLst/>
                <a:latin typeface="+mn-lt"/>
                <a:ea typeface="+mn-ea"/>
                <a:cs typeface="+mn-cs"/>
              </a:rPr>
              <a:t>有力候補:ダークマター対消滅</a:t>
            </a:r>
            <a:endParaRPr lang="en-US" altLang="ja-JP" sz="3200">
              <a:solidFill>
                <a:schemeClr val="bg1"/>
              </a:solidFill>
            </a:endParaRPr>
          </a:p>
        </p:txBody>
      </p:sp>
    </p:spTree>
    <p:extLst>
      <p:ext uri="{BB962C8B-B14F-4D97-AF65-F5344CB8AC3E}">
        <p14:creationId xmlns:p14="http://schemas.microsoft.com/office/powerpoint/2010/main" val="2702961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E923090-27AC-9D99-B484-4B90966087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236C86-1109-A8B1-B29C-6C8B8D7E281C}"/>
              </a:ext>
            </a:extLst>
          </p:cNvPr>
          <p:cNvSpPr txBox="1"/>
          <p:nvPr/>
        </p:nvSpPr>
        <p:spPr>
          <a:xfrm>
            <a:off x="457200" y="274320"/>
            <a:ext cx="6710562" cy="523220"/>
          </a:xfrm>
          <a:prstGeom prst="rect">
            <a:avLst/>
          </a:prstGeom>
          <a:noFill/>
        </p:spPr>
        <p:txBody>
          <a:bodyPr wrap="square">
            <a:spAutoFit/>
          </a:bodyPr>
          <a:lstStyle/>
          <a:p>
            <a:pPr>
              <a:defRPr sz="2800" b="1">
                <a:solidFill>
                  <a:srgbClr val="FFFFFF"/>
                </a:solidFill>
              </a:defRPr>
            </a:pPr>
            <a:r>
              <a:rPr lang="en-US"/>
              <a:t>Introduction</a:t>
            </a:r>
            <a:r>
              <a:rPr lang="ja-JP" altLang="en-US"/>
              <a:t>　</a:t>
            </a:r>
            <a:r>
              <a:rPr lang="en-US" altLang="ja-JP" sz="2800"/>
              <a:t> WIMP</a:t>
            </a:r>
            <a:r>
              <a:rPr lang="ja-JP" altLang="en-US" sz="2800"/>
              <a:t>対消滅の過程</a:t>
            </a:r>
            <a:endParaRPr/>
          </a:p>
        </p:txBody>
      </p:sp>
      <p:sp>
        <p:nvSpPr>
          <p:cNvPr id="24" name="TextBox 23">
            <a:extLst>
              <a:ext uri="{FF2B5EF4-FFF2-40B4-BE49-F238E27FC236}">
                <a16:creationId xmlns:a16="http://schemas.microsoft.com/office/drawing/2014/main" id="{87FF9376-740D-35A8-E17C-7CA63DE7B05C}"/>
              </a:ext>
            </a:extLst>
          </p:cNvPr>
          <p:cNvSpPr txBox="1"/>
          <p:nvPr/>
        </p:nvSpPr>
        <p:spPr>
          <a:xfrm>
            <a:off x="2656036" y="1099236"/>
            <a:ext cx="9144000" cy="461665"/>
          </a:xfrm>
          <a:prstGeom prst="rect">
            <a:avLst/>
          </a:prstGeom>
          <a:noFill/>
        </p:spPr>
        <p:txBody>
          <a:bodyPr wrap="square">
            <a:spAutoFit/>
          </a:bodyPr>
          <a:lstStyle/>
          <a:p>
            <a:r>
              <a:rPr lang="en-US" altLang="ja-JP" sz="2400">
                <a:solidFill>
                  <a:schemeClr val="bg1"/>
                </a:solidFill>
              </a:rPr>
              <a:t>WIMP</a:t>
            </a:r>
            <a:r>
              <a:rPr lang="ja-JP" altLang="en-US" sz="2400">
                <a:solidFill>
                  <a:schemeClr val="bg1"/>
                </a:solidFill>
              </a:rPr>
              <a:t>対消滅 </a:t>
            </a:r>
            <a:r>
              <a:rPr lang="en-US" altLang="ja-JP" sz="2400">
                <a:solidFill>
                  <a:schemeClr val="bg1"/>
                </a:solidFill>
              </a:rPr>
              <a:t>χχ → q q̄ → </a:t>
            </a:r>
            <a:r>
              <a:rPr lang="ja-JP" altLang="en-US" sz="2400">
                <a:solidFill>
                  <a:schemeClr val="bg1"/>
                </a:solidFill>
              </a:rPr>
              <a:t>ハドロン化 → </a:t>
            </a:r>
            <a:r>
              <a:rPr lang="en-US" altLang="ja-JP" sz="2400">
                <a:solidFill>
                  <a:schemeClr val="bg1"/>
                </a:solidFill>
              </a:rPr>
              <a:t>π⁰ → γγ</a:t>
            </a:r>
            <a:endParaRPr lang="en-US" sz="2400">
              <a:solidFill>
                <a:schemeClr val="bg1"/>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FE554B5-63ED-1BA1-3913-05A17559141A}"/>
                  </a:ext>
                </a:extLst>
              </p:cNvPr>
              <p:cNvSpPr txBox="1"/>
              <p:nvPr/>
            </p:nvSpPr>
            <p:spPr>
              <a:xfrm>
                <a:off x="375920" y="5113080"/>
                <a:ext cx="6090845" cy="502445"/>
              </a:xfrm>
              <a:prstGeom prst="rect">
                <a:avLst/>
              </a:prstGeom>
              <a:noFill/>
            </p:spPr>
            <p:txBody>
              <a:bodyPr wrap="square" rtlCol="0">
                <a:spAutoFit/>
              </a:bodyPr>
              <a:lstStyle/>
              <a:p>
                <a:r>
                  <a:rPr lang="ja-JP" altLang="en-US" sz="2400">
                    <a:solidFill>
                      <a:schemeClr val="bg1"/>
                    </a:solidFill>
                  </a:rPr>
                  <a:t>質量候補　</a:t>
                </a:r>
                <a14:m>
                  <m:oMath xmlns:m="http://schemas.openxmlformats.org/officeDocument/2006/math">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𝑚</m:t>
                        </m:r>
                      </m:e>
                      <m:sub>
                        <m:r>
                          <m:rPr>
                            <m:nor/>
                          </m:rPr>
                          <a:rPr lang="en-US" altLang="ja-JP" sz="2400" i="0">
                            <a:solidFill>
                              <a:schemeClr val="bg1"/>
                            </a:solidFill>
                          </a:rPr>
                          <m:t>χ</m:t>
                        </m:r>
                      </m:sub>
                    </m:sSub>
                  </m:oMath>
                </a14:m>
                <a:r>
                  <a:rPr lang="ja-JP" altLang="en-US" sz="2400">
                    <a:solidFill>
                      <a:schemeClr val="bg1"/>
                    </a:solidFill>
                  </a:rPr>
                  <a:t>　</a:t>
                </a:r>
                <a:r>
                  <a:rPr lang="en-US" altLang="ja-JP" sz="2400">
                    <a:solidFill>
                      <a:schemeClr val="bg1"/>
                    </a:solidFill>
                  </a:rPr>
                  <a:t>	</a:t>
                </a:r>
                <a:r>
                  <a:rPr lang="ja-JP" altLang="en-US" sz="2400">
                    <a:solidFill>
                      <a:schemeClr val="bg1"/>
                    </a:solidFill>
                  </a:rPr>
                  <a:t>　　　：</a:t>
                </a:r>
                <a:r>
                  <a:rPr lang="en-US" altLang="ja-JP" sz="2400">
                    <a:solidFill>
                      <a:schemeClr val="bg1"/>
                    </a:solidFill>
                  </a:rPr>
                  <a:t>1GeV – 1</a:t>
                </a:r>
                <a:r>
                  <a:rPr lang="en-US" sz="2400">
                    <a:solidFill>
                      <a:schemeClr val="bg1"/>
                    </a:solidFill>
                  </a:rPr>
                  <a:t>0TeV</a:t>
                </a:r>
              </a:p>
            </p:txBody>
          </p:sp>
        </mc:Choice>
        <mc:Fallback xmlns="">
          <p:sp>
            <p:nvSpPr>
              <p:cNvPr id="3" name="TextBox 2">
                <a:extLst>
                  <a:ext uri="{FF2B5EF4-FFF2-40B4-BE49-F238E27FC236}">
                    <a16:creationId xmlns:a16="http://schemas.microsoft.com/office/drawing/2014/main" id="{DFE554B5-63ED-1BA1-3913-05A17559141A}"/>
                  </a:ext>
                </a:extLst>
              </p:cNvPr>
              <p:cNvSpPr txBox="1">
                <a:spLocks noRot="1" noChangeAspect="1" noMove="1" noResize="1" noEditPoints="1" noAdjustHandles="1" noChangeArrowheads="1" noChangeShapeType="1" noTextEdit="1"/>
              </p:cNvSpPr>
              <p:nvPr/>
            </p:nvSpPr>
            <p:spPr>
              <a:xfrm>
                <a:off x="375920" y="5113080"/>
                <a:ext cx="6090845" cy="502445"/>
              </a:xfrm>
              <a:prstGeom prst="rect">
                <a:avLst/>
              </a:prstGeom>
              <a:blipFill>
                <a:blip r:embed="rId3"/>
                <a:stretch>
                  <a:fillRect l="-1602" t="-13415" b="-219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26673E0-F076-59AE-6800-C2925DC697D1}"/>
                  </a:ext>
                </a:extLst>
              </p:cNvPr>
              <p:cNvSpPr txBox="1"/>
              <p:nvPr/>
            </p:nvSpPr>
            <p:spPr>
              <a:xfrm>
                <a:off x="375920" y="5496534"/>
                <a:ext cx="6545242" cy="461665"/>
              </a:xfrm>
              <a:prstGeom prst="rect">
                <a:avLst/>
              </a:prstGeom>
              <a:noFill/>
            </p:spPr>
            <p:txBody>
              <a:bodyPr wrap="square" rtlCol="0">
                <a:spAutoFit/>
              </a:bodyPr>
              <a:lstStyle/>
              <a:p>
                <a:r>
                  <a:rPr lang="ja-JP" altLang="en-US" sz="2400">
                    <a:solidFill>
                      <a:schemeClr val="bg1"/>
                    </a:solidFill>
                  </a:rPr>
                  <a:t>対消滅断面積</a:t>
                </a:r>
                <a14:m>
                  <m:oMath xmlns:m="http://schemas.openxmlformats.org/officeDocument/2006/math">
                    <m:sSub>
                      <m:sSubPr>
                        <m:ctrlPr>
                          <a:rPr lang="ja-JP" altLang="en-US" sz="2400" i="1" smtClean="0">
                            <a:solidFill>
                              <a:schemeClr val="bg1"/>
                            </a:solidFill>
                            <a:latin typeface="Cambria Math" panose="02040503050406030204" pitchFamily="18" charset="0"/>
                          </a:rPr>
                        </m:ctrlPr>
                      </m:sSubPr>
                      <m:e>
                        <m:d>
                          <m:dPr>
                            <m:begChr m:val="⟨"/>
                            <m:endChr m:val="⟩"/>
                            <m:ctrlPr>
                              <a:rPr lang="ja-JP" altLang="en-US" sz="2400" i="1" smtClean="0">
                                <a:solidFill>
                                  <a:schemeClr val="bg1"/>
                                </a:solidFill>
                                <a:latin typeface="Cambria Math" panose="02040503050406030204" pitchFamily="18" charset="0"/>
                              </a:rPr>
                            </m:ctrlPr>
                          </m:dPr>
                          <m:e>
                            <m:r>
                              <a:rPr lang="ja-JP" altLang="en-US" sz="2400" i="1" smtClean="0">
                                <a:solidFill>
                                  <a:schemeClr val="bg1"/>
                                </a:solidFill>
                                <a:latin typeface="Cambria Math" panose="02040503050406030204" pitchFamily="18" charset="0"/>
                              </a:rPr>
                              <m:t>𝜎</m:t>
                            </m:r>
                            <m:r>
                              <a:rPr lang="ja-JP" altLang="en-US" sz="2400" i="1" smtClean="0">
                                <a:solidFill>
                                  <a:schemeClr val="bg1"/>
                                </a:solidFill>
                                <a:latin typeface="Cambria Math" panose="02040503050406030204" pitchFamily="18" charset="0"/>
                              </a:rPr>
                              <m:t>𝑣</m:t>
                            </m:r>
                          </m:e>
                        </m:d>
                      </m:e>
                      <m:sub>
                        <m:r>
                          <a:rPr lang="ja-JP" altLang="en-US" sz="2400" i="1" smtClean="0">
                            <a:solidFill>
                              <a:schemeClr val="bg1"/>
                            </a:solidFill>
                            <a:latin typeface="Cambria Math" panose="02040503050406030204" pitchFamily="18" charset="0"/>
                          </a:rPr>
                          <m:t>𝑡ℎ</m:t>
                        </m:r>
                      </m:sub>
                    </m:sSub>
                  </m:oMath>
                </a14:m>
                <a:r>
                  <a:rPr lang="ja-JP" altLang="en-US" sz="2400">
                    <a:solidFill>
                      <a:schemeClr val="bg1"/>
                    </a:solidFill>
                  </a:rPr>
                  <a:t>　： </a:t>
                </a:r>
                <a14:m>
                  <m:oMath xmlns:m="http://schemas.openxmlformats.org/officeDocument/2006/math">
                    <m:r>
                      <a:rPr lang="en-US" altLang="ja-JP" sz="2400" i="1">
                        <a:solidFill>
                          <a:schemeClr val="bg1"/>
                        </a:solidFill>
                        <a:latin typeface="Cambria Math" panose="02040503050406030204" pitchFamily="18" charset="0"/>
                        <a:ea typeface="Cambria Math" panose="02040503050406030204" pitchFamily="18" charset="0"/>
                      </a:rPr>
                      <m:t>3</m:t>
                    </m:r>
                    <m:r>
                      <a:rPr lang="en-US" altLang="ja-JP" sz="2400" i="1" smtClean="0">
                        <a:solidFill>
                          <a:schemeClr val="bg1"/>
                        </a:solidFill>
                        <a:latin typeface="Cambria Math" panose="02040503050406030204" pitchFamily="18" charset="0"/>
                        <a:ea typeface="Cambria Math" panose="02040503050406030204" pitchFamily="18" charset="0"/>
                      </a:rPr>
                      <m:t>×</m:t>
                    </m:r>
                    <m:sSup>
                      <m:sSupPr>
                        <m:ctrlPr>
                          <a:rPr lang="en-US" altLang="ja-JP" sz="2400" i="1">
                            <a:solidFill>
                              <a:schemeClr val="bg1"/>
                            </a:solidFill>
                            <a:latin typeface="Cambria Math" panose="02040503050406030204" pitchFamily="18" charset="0"/>
                            <a:ea typeface="Cambria Math" panose="02040503050406030204" pitchFamily="18" charset="0"/>
                          </a:rPr>
                        </m:ctrlPr>
                      </m:sSupPr>
                      <m:e>
                        <m:r>
                          <a:rPr lang="en-US" altLang="ja-JP" sz="2400" i="1">
                            <a:solidFill>
                              <a:schemeClr val="bg1"/>
                            </a:solidFill>
                            <a:latin typeface="Cambria Math" panose="02040503050406030204" pitchFamily="18" charset="0"/>
                            <a:ea typeface="Cambria Math" panose="02040503050406030204" pitchFamily="18" charset="0"/>
                          </a:rPr>
                          <m:t>10</m:t>
                        </m:r>
                      </m:e>
                      <m:sup>
                        <m:r>
                          <a:rPr lang="en-US" altLang="ja-JP" sz="2400" b="0" i="1" smtClean="0">
                            <a:solidFill>
                              <a:schemeClr val="bg1"/>
                            </a:solidFill>
                            <a:latin typeface="Cambria Math" panose="02040503050406030204" pitchFamily="18" charset="0"/>
                            <a:ea typeface="Cambria Math" panose="02040503050406030204" pitchFamily="18" charset="0"/>
                          </a:rPr>
                          <m:t>−26</m:t>
                        </m:r>
                      </m:sup>
                    </m:sSup>
                    <m:r>
                      <a:rPr lang="ja-JP" altLang="en-US" sz="2400" i="1">
                        <a:solidFill>
                          <a:schemeClr val="bg1"/>
                        </a:solidFill>
                        <a:latin typeface="Cambria Math" panose="02040503050406030204" pitchFamily="18" charset="0"/>
                      </a:rPr>
                      <m:t>𝑐</m:t>
                    </m:r>
                    <m:sSup>
                      <m:sSupPr>
                        <m:ctrlPr>
                          <a:rPr lang="ja-JP" altLang="en-US" sz="2400" i="1">
                            <a:solidFill>
                              <a:schemeClr val="bg1"/>
                            </a:solidFill>
                            <a:latin typeface="Cambria Math" panose="02040503050406030204" pitchFamily="18" charset="0"/>
                          </a:rPr>
                        </m:ctrlPr>
                      </m:sSupPr>
                      <m:e>
                        <m:r>
                          <a:rPr lang="ja-JP" altLang="en-US" sz="2400" i="1">
                            <a:solidFill>
                              <a:schemeClr val="bg1"/>
                            </a:solidFill>
                            <a:latin typeface="Cambria Math" panose="02040503050406030204" pitchFamily="18" charset="0"/>
                          </a:rPr>
                          <m:t>𝑚</m:t>
                        </m:r>
                      </m:e>
                      <m:sup>
                        <m:r>
                          <a:rPr lang="ja-JP" altLang="en-US" sz="2400" i="1">
                            <a:solidFill>
                              <a:schemeClr val="bg1"/>
                            </a:solidFill>
                            <a:latin typeface="Cambria Math" panose="02040503050406030204" pitchFamily="18" charset="0"/>
                          </a:rPr>
                          <m:t>3</m:t>
                        </m:r>
                      </m:sup>
                    </m:sSup>
                    <m:sSup>
                      <m:sSupPr>
                        <m:ctrlPr>
                          <a:rPr lang="ja-JP" altLang="en-US" sz="2400" i="1">
                            <a:solidFill>
                              <a:schemeClr val="bg1"/>
                            </a:solidFill>
                            <a:latin typeface="Cambria Math" panose="02040503050406030204" pitchFamily="18" charset="0"/>
                          </a:rPr>
                        </m:ctrlPr>
                      </m:sSupPr>
                      <m:e>
                        <m:r>
                          <a:rPr lang="ja-JP" altLang="en-US" sz="2400" i="1">
                            <a:solidFill>
                              <a:schemeClr val="bg1"/>
                            </a:solidFill>
                            <a:latin typeface="Cambria Math" panose="02040503050406030204" pitchFamily="18" charset="0"/>
                          </a:rPr>
                          <m:t>𝑠</m:t>
                        </m:r>
                      </m:e>
                      <m:sup>
                        <m:r>
                          <a:rPr lang="ja-JP" altLang="en-US" sz="2400" i="1">
                            <a:solidFill>
                              <a:schemeClr val="bg1"/>
                            </a:solidFill>
                            <a:latin typeface="Cambria Math" panose="02040503050406030204" pitchFamily="18" charset="0"/>
                          </a:rPr>
                          <m:t>−1</m:t>
                        </m:r>
                      </m:sup>
                    </m:sSup>
                  </m:oMath>
                </a14:m>
                <a:endParaRPr lang="en-US" sz="2400">
                  <a:solidFill>
                    <a:schemeClr val="bg1"/>
                  </a:solidFill>
                </a:endParaRPr>
              </a:p>
            </p:txBody>
          </p:sp>
        </mc:Choice>
        <mc:Fallback xmlns="">
          <p:sp>
            <p:nvSpPr>
              <p:cNvPr id="4" name="TextBox 3">
                <a:extLst>
                  <a:ext uri="{FF2B5EF4-FFF2-40B4-BE49-F238E27FC236}">
                    <a16:creationId xmlns:a16="http://schemas.microsoft.com/office/drawing/2014/main" id="{526673E0-F076-59AE-6800-C2925DC697D1}"/>
                  </a:ext>
                </a:extLst>
              </p:cNvPr>
              <p:cNvSpPr txBox="1">
                <a:spLocks noRot="1" noChangeAspect="1" noMove="1" noResize="1" noEditPoints="1" noAdjustHandles="1" noChangeArrowheads="1" noChangeShapeType="1" noTextEdit="1"/>
              </p:cNvSpPr>
              <p:nvPr/>
            </p:nvSpPr>
            <p:spPr>
              <a:xfrm>
                <a:off x="375920" y="5496534"/>
                <a:ext cx="6545242" cy="461665"/>
              </a:xfrm>
              <a:prstGeom prst="rect">
                <a:avLst/>
              </a:prstGeom>
              <a:blipFill>
                <a:blip r:embed="rId4"/>
                <a:stretch>
                  <a:fillRect l="-1491" t="-16000" b="-25333"/>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165D569B-ADDF-297E-D78D-F472712AC816}"/>
              </a:ext>
            </a:extLst>
          </p:cNvPr>
          <p:cNvGrpSpPr>
            <a:grpSpLocks noChangeAspect="1"/>
          </p:cNvGrpSpPr>
          <p:nvPr/>
        </p:nvGrpSpPr>
        <p:grpSpPr>
          <a:xfrm>
            <a:off x="2016804" y="1725295"/>
            <a:ext cx="8470866" cy="2839937"/>
            <a:chOff x="0" y="1136213"/>
            <a:chExt cx="11452191" cy="3839454"/>
          </a:xfrm>
        </p:grpSpPr>
        <p:sp>
          <p:nvSpPr>
            <p:cNvPr id="7" name="Flowchart: Connector 6">
              <a:extLst>
                <a:ext uri="{FF2B5EF4-FFF2-40B4-BE49-F238E27FC236}">
                  <a16:creationId xmlns:a16="http://schemas.microsoft.com/office/drawing/2014/main" id="{9E0EBD2F-57CB-85D4-CE3B-DF82DD142BEC}"/>
                </a:ext>
              </a:extLst>
            </p:cNvPr>
            <p:cNvSpPr/>
            <p:nvPr/>
          </p:nvSpPr>
          <p:spPr>
            <a:xfrm>
              <a:off x="0" y="1136213"/>
              <a:ext cx="1495168" cy="1463040"/>
            </a:xfrm>
            <a:prstGeom prst="flowChartConnector">
              <a:avLst/>
            </a:prstGeom>
            <a:solidFill>
              <a:schemeClr val="accent4"/>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9" name="Flowchart: Connector 8">
              <a:extLst>
                <a:ext uri="{FF2B5EF4-FFF2-40B4-BE49-F238E27FC236}">
                  <a16:creationId xmlns:a16="http://schemas.microsoft.com/office/drawing/2014/main" id="{DEE9C517-2B96-3594-62F8-6326BBD22A4E}"/>
                </a:ext>
              </a:extLst>
            </p:cNvPr>
            <p:cNvSpPr/>
            <p:nvPr/>
          </p:nvSpPr>
          <p:spPr>
            <a:xfrm>
              <a:off x="24001" y="3176206"/>
              <a:ext cx="1495168" cy="1463040"/>
            </a:xfrm>
            <a:prstGeom prst="flowChartConnector">
              <a:avLst/>
            </a:prstGeom>
            <a:solidFill>
              <a:schemeClr val="accent4"/>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2" name="Arrow: Right 11">
              <a:extLst>
                <a:ext uri="{FF2B5EF4-FFF2-40B4-BE49-F238E27FC236}">
                  <a16:creationId xmlns:a16="http://schemas.microsoft.com/office/drawing/2014/main" id="{4451ED57-F5E6-8066-C238-72B8E620320C}"/>
                </a:ext>
              </a:extLst>
            </p:cNvPr>
            <p:cNvSpPr/>
            <p:nvPr/>
          </p:nvSpPr>
          <p:spPr>
            <a:xfrm rot="20338903">
              <a:off x="1643352" y="3342432"/>
              <a:ext cx="2014750" cy="320215"/>
            </a:xfrm>
            <a:prstGeom prst="rightArrow">
              <a:avLst>
                <a:gd name="adj1" fmla="val 50000"/>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4" name="Arrow: Right 13">
              <a:extLst>
                <a:ext uri="{FF2B5EF4-FFF2-40B4-BE49-F238E27FC236}">
                  <a16:creationId xmlns:a16="http://schemas.microsoft.com/office/drawing/2014/main" id="{D446AC4A-0D0E-A93B-171C-562F2ACC9714}"/>
                </a:ext>
              </a:extLst>
            </p:cNvPr>
            <p:cNvSpPr/>
            <p:nvPr/>
          </p:nvSpPr>
          <p:spPr>
            <a:xfrm rot="1358062">
              <a:off x="1640055" y="2252559"/>
              <a:ext cx="2069349" cy="347114"/>
            </a:xfrm>
            <a:prstGeom prst="rightArrow">
              <a:avLst>
                <a:gd name="adj1" fmla="val 47281"/>
                <a:gd name="adj2" fmla="val 188509"/>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5" name="Star: 7 Points 14">
              <a:extLst>
                <a:ext uri="{FF2B5EF4-FFF2-40B4-BE49-F238E27FC236}">
                  <a16:creationId xmlns:a16="http://schemas.microsoft.com/office/drawing/2014/main" id="{C86E5ADF-8B9D-5852-8C19-566315AA3F8B}"/>
                </a:ext>
              </a:extLst>
            </p:cNvPr>
            <p:cNvSpPr/>
            <p:nvPr/>
          </p:nvSpPr>
          <p:spPr>
            <a:xfrm>
              <a:off x="3564107" y="2104918"/>
              <a:ext cx="1603021" cy="1393983"/>
            </a:xfrm>
            <a:prstGeom prst="star7">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p>
          </p:txBody>
        </p:sp>
        <p:sp>
          <p:nvSpPr>
            <p:cNvPr id="17" name="Arrow: Right 16">
              <a:extLst>
                <a:ext uri="{FF2B5EF4-FFF2-40B4-BE49-F238E27FC236}">
                  <a16:creationId xmlns:a16="http://schemas.microsoft.com/office/drawing/2014/main" id="{9D8F8B09-3296-776B-AE86-E2B491AD47C2}"/>
                </a:ext>
              </a:extLst>
            </p:cNvPr>
            <p:cNvSpPr/>
            <p:nvPr/>
          </p:nvSpPr>
          <p:spPr>
            <a:xfrm rot="1358062">
              <a:off x="5277269" y="3349831"/>
              <a:ext cx="2069349" cy="347114"/>
            </a:xfrm>
            <a:prstGeom prst="rightArrow">
              <a:avLst>
                <a:gd name="adj1" fmla="val 47281"/>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19" name="Arrow: Right 18">
              <a:extLst>
                <a:ext uri="{FF2B5EF4-FFF2-40B4-BE49-F238E27FC236}">
                  <a16:creationId xmlns:a16="http://schemas.microsoft.com/office/drawing/2014/main" id="{01201B5D-3BE7-0C72-26D8-6CDC93C8E4C9}"/>
                </a:ext>
              </a:extLst>
            </p:cNvPr>
            <p:cNvSpPr/>
            <p:nvPr/>
          </p:nvSpPr>
          <p:spPr>
            <a:xfrm rot="20679634">
              <a:off x="5303819" y="2187267"/>
              <a:ext cx="2069349" cy="347114"/>
            </a:xfrm>
            <a:prstGeom prst="rightArrow">
              <a:avLst>
                <a:gd name="adj1" fmla="val 47281"/>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20" name="TextBox 19">
              <a:extLst>
                <a:ext uri="{FF2B5EF4-FFF2-40B4-BE49-F238E27FC236}">
                  <a16:creationId xmlns:a16="http://schemas.microsoft.com/office/drawing/2014/main" id="{A5576C31-623E-EE8D-9737-B57A10D637A0}"/>
                </a:ext>
              </a:extLst>
            </p:cNvPr>
            <p:cNvSpPr txBox="1"/>
            <p:nvPr/>
          </p:nvSpPr>
          <p:spPr>
            <a:xfrm>
              <a:off x="5780818" y="1520143"/>
              <a:ext cx="472943" cy="1123467"/>
            </a:xfrm>
            <a:prstGeom prst="rect">
              <a:avLst/>
            </a:prstGeom>
            <a:noFill/>
          </p:spPr>
          <p:txBody>
            <a:bodyPr wrap="square" rtlCol="0">
              <a:spAutoFit/>
            </a:bodyPr>
            <a:lstStyle/>
            <a:p>
              <a:r>
                <a:rPr lang="ja-JP" altLang="en-US" sz="2400">
                  <a:solidFill>
                    <a:schemeClr val="bg1"/>
                  </a:solidFill>
                </a:rPr>
                <a:t>ｑ</a:t>
              </a:r>
              <a:endParaRPr lang="en-US" sz="2400">
                <a:solidFill>
                  <a:schemeClr val="bg1"/>
                </a:solidFill>
              </a:endParaRPr>
            </a:p>
            <a:p>
              <a:endParaRPr lang="en-US" sz="2400">
                <a:solidFill>
                  <a:schemeClr val="bg1"/>
                </a:solidFill>
              </a:endParaRPr>
            </a:p>
          </p:txBody>
        </p:sp>
        <p:sp>
          <p:nvSpPr>
            <p:cNvPr id="22" name="TextBox 21">
              <a:extLst>
                <a:ext uri="{FF2B5EF4-FFF2-40B4-BE49-F238E27FC236}">
                  <a16:creationId xmlns:a16="http://schemas.microsoft.com/office/drawing/2014/main" id="{AFE21421-6B1B-9D93-200C-EE8FE8F1F5FA}"/>
                </a:ext>
              </a:extLst>
            </p:cNvPr>
            <p:cNvSpPr txBox="1"/>
            <p:nvPr/>
          </p:nvSpPr>
          <p:spPr>
            <a:xfrm>
              <a:off x="5633495" y="3615337"/>
              <a:ext cx="448051" cy="624148"/>
            </a:xfrm>
            <a:prstGeom prst="rect">
              <a:avLst/>
            </a:prstGeom>
            <a:noFill/>
          </p:spPr>
          <p:txBody>
            <a:bodyPr wrap="square">
              <a:spAutoFit/>
            </a:bodyPr>
            <a:lstStyle/>
            <a:p>
              <a:r>
                <a:rPr lang="en-US" sz="2400">
                  <a:solidFill>
                    <a:schemeClr val="bg1"/>
                  </a:solidFill>
                </a:rPr>
                <a:t>q̄</a:t>
              </a:r>
            </a:p>
          </p:txBody>
        </p:sp>
        <p:sp>
          <p:nvSpPr>
            <p:cNvPr id="26" name="Flowchart: Connector 25">
              <a:extLst>
                <a:ext uri="{FF2B5EF4-FFF2-40B4-BE49-F238E27FC236}">
                  <a16:creationId xmlns:a16="http://schemas.microsoft.com/office/drawing/2014/main" id="{33E9ECEA-4C71-E35D-4AE4-3F393FFA1A1A}"/>
                </a:ext>
              </a:extLst>
            </p:cNvPr>
            <p:cNvSpPr/>
            <p:nvPr/>
          </p:nvSpPr>
          <p:spPr>
            <a:xfrm>
              <a:off x="7491506" y="2134016"/>
              <a:ext cx="1495168" cy="1463040"/>
            </a:xfrm>
            <a:prstGeom prst="flowChartConnector">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36" name="Arrow: Right 35">
              <a:extLst>
                <a:ext uri="{FF2B5EF4-FFF2-40B4-BE49-F238E27FC236}">
                  <a16:creationId xmlns:a16="http://schemas.microsoft.com/office/drawing/2014/main" id="{9377FD7E-03F2-B0FA-ACB8-8D861F090211}"/>
                </a:ext>
              </a:extLst>
            </p:cNvPr>
            <p:cNvSpPr/>
            <p:nvPr/>
          </p:nvSpPr>
          <p:spPr>
            <a:xfrm rot="1358062">
              <a:off x="9298468" y="3839749"/>
              <a:ext cx="2069349" cy="347114"/>
            </a:xfrm>
            <a:prstGeom prst="rightArrow">
              <a:avLst>
                <a:gd name="adj1" fmla="val 47281"/>
                <a:gd name="adj2" fmla="val 188509"/>
              </a:avLst>
            </a:prstGeom>
            <a:solidFill>
              <a:schemeClr val="bg1"/>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400"/>
            </a:p>
          </p:txBody>
        </p:sp>
        <p:sp>
          <p:nvSpPr>
            <p:cNvPr id="38" name="Arrow: Right 37">
              <a:extLst>
                <a:ext uri="{FF2B5EF4-FFF2-40B4-BE49-F238E27FC236}">
                  <a16:creationId xmlns:a16="http://schemas.microsoft.com/office/drawing/2014/main" id="{99B033BF-925D-CF09-0DB1-77B60B6BCEBC}"/>
                </a:ext>
              </a:extLst>
            </p:cNvPr>
            <p:cNvSpPr/>
            <p:nvPr/>
          </p:nvSpPr>
          <p:spPr>
            <a:xfrm rot="20893965">
              <a:off x="9382842" y="1960459"/>
              <a:ext cx="2069349" cy="347114"/>
            </a:xfrm>
            <a:prstGeom prst="rightArrow">
              <a:avLst>
                <a:gd name="adj1" fmla="val 47281"/>
                <a:gd name="adj2" fmla="val 188509"/>
              </a:avLst>
            </a:prstGeom>
            <a:solidFill>
              <a:schemeClr val="bg1"/>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400"/>
            </a:p>
          </p:txBody>
        </p:sp>
        <p:sp>
          <p:nvSpPr>
            <p:cNvPr id="40" name="TextBox 39">
              <a:extLst>
                <a:ext uri="{FF2B5EF4-FFF2-40B4-BE49-F238E27FC236}">
                  <a16:creationId xmlns:a16="http://schemas.microsoft.com/office/drawing/2014/main" id="{3EF3FB99-E071-CEE3-F02F-02C9801D4B78}"/>
                </a:ext>
              </a:extLst>
            </p:cNvPr>
            <p:cNvSpPr txBox="1"/>
            <p:nvPr/>
          </p:nvSpPr>
          <p:spPr>
            <a:xfrm>
              <a:off x="10182566" y="2509522"/>
              <a:ext cx="469900" cy="624148"/>
            </a:xfrm>
            <a:prstGeom prst="rect">
              <a:avLst/>
            </a:prstGeom>
            <a:noFill/>
          </p:spPr>
          <p:txBody>
            <a:bodyPr wrap="square">
              <a:spAutoFit/>
            </a:bodyPr>
            <a:lstStyle/>
            <a:p>
              <a:r>
                <a:rPr lang="en-US" altLang="ja-JP" sz="2400">
                  <a:solidFill>
                    <a:schemeClr val="bg1"/>
                  </a:solidFill>
                </a:rPr>
                <a:t>γ</a:t>
              </a:r>
              <a:endParaRPr lang="en-US" sz="1400"/>
            </a:p>
          </p:txBody>
        </p:sp>
        <p:sp>
          <p:nvSpPr>
            <p:cNvPr id="41" name="TextBox 40">
              <a:extLst>
                <a:ext uri="{FF2B5EF4-FFF2-40B4-BE49-F238E27FC236}">
                  <a16:creationId xmlns:a16="http://schemas.microsoft.com/office/drawing/2014/main" id="{B46290CC-444E-9BCE-5F76-D46478787887}"/>
                </a:ext>
              </a:extLst>
            </p:cNvPr>
            <p:cNvSpPr txBox="1"/>
            <p:nvPr/>
          </p:nvSpPr>
          <p:spPr>
            <a:xfrm>
              <a:off x="3737263" y="2516576"/>
              <a:ext cx="2043556" cy="540929"/>
            </a:xfrm>
            <a:prstGeom prst="rect">
              <a:avLst/>
            </a:prstGeom>
            <a:noFill/>
          </p:spPr>
          <p:txBody>
            <a:bodyPr wrap="square" rtlCol="0">
              <a:spAutoFit/>
            </a:bodyPr>
            <a:lstStyle/>
            <a:p>
              <a:r>
                <a:rPr lang="ja-JP" altLang="en-US" sz="2000" b="1"/>
                <a:t>対消滅</a:t>
              </a:r>
              <a:endParaRPr lang="en-US" sz="2000" b="1"/>
            </a:p>
          </p:txBody>
        </p:sp>
        <p:sp>
          <p:nvSpPr>
            <p:cNvPr id="6" name="TextBox 5">
              <a:extLst>
                <a:ext uri="{FF2B5EF4-FFF2-40B4-BE49-F238E27FC236}">
                  <a16:creationId xmlns:a16="http://schemas.microsoft.com/office/drawing/2014/main" id="{22880D03-3134-5638-B421-1FBACD6E1CBB}"/>
                </a:ext>
              </a:extLst>
            </p:cNvPr>
            <p:cNvSpPr txBox="1"/>
            <p:nvPr/>
          </p:nvSpPr>
          <p:spPr>
            <a:xfrm>
              <a:off x="5075930" y="4434738"/>
              <a:ext cx="2038955" cy="540929"/>
            </a:xfrm>
            <a:prstGeom prst="rect">
              <a:avLst/>
            </a:prstGeom>
            <a:noFill/>
          </p:spPr>
          <p:txBody>
            <a:bodyPr wrap="square" rtlCol="0">
              <a:spAutoFit/>
            </a:bodyPr>
            <a:lstStyle/>
            <a:p>
              <a:r>
                <a:rPr lang="ja-JP" altLang="en-US" sz="2000">
                  <a:solidFill>
                    <a:schemeClr val="bg1"/>
                  </a:solidFill>
                </a:rPr>
                <a:t>クォーク対</a:t>
              </a:r>
              <a:endParaRPr lang="en-US" sz="2000">
                <a:solidFill>
                  <a:schemeClr val="bg1"/>
                </a:solidFill>
              </a:endParaRPr>
            </a:p>
          </p:txBody>
        </p:sp>
        <p:sp>
          <p:nvSpPr>
            <p:cNvPr id="8" name="TextBox 7">
              <a:extLst>
                <a:ext uri="{FF2B5EF4-FFF2-40B4-BE49-F238E27FC236}">
                  <a16:creationId xmlns:a16="http://schemas.microsoft.com/office/drawing/2014/main" id="{39E92778-0D46-78C2-F46F-2CACAA65FAA5}"/>
                </a:ext>
              </a:extLst>
            </p:cNvPr>
            <p:cNvSpPr txBox="1"/>
            <p:nvPr/>
          </p:nvSpPr>
          <p:spPr>
            <a:xfrm>
              <a:off x="183005" y="3686366"/>
              <a:ext cx="1177159" cy="540929"/>
            </a:xfrm>
            <a:prstGeom prst="rect">
              <a:avLst/>
            </a:prstGeom>
            <a:noFill/>
          </p:spPr>
          <p:txBody>
            <a:bodyPr wrap="square" rtlCol="0">
              <a:spAutoFit/>
            </a:bodyPr>
            <a:lstStyle/>
            <a:p>
              <a:r>
                <a:rPr lang="en-US" altLang="ja-JP" sz="2000">
                  <a:solidFill>
                    <a:schemeClr val="bg1"/>
                  </a:solidFill>
                </a:rPr>
                <a:t>WIMP</a:t>
              </a:r>
              <a:endParaRPr lang="en-US" sz="2000">
                <a:solidFill>
                  <a:schemeClr val="bg1"/>
                </a:solidFill>
              </a:endParaRPr>
            </a:p>
          </p:txBody>
        </p:sp>
        <p:sp>
          <p:nvSpPr>
            <p:cNvPr id="11" name="TextBox 10">
              <a:extLst>
                <a:ext uri="{FF2B5EF4-FFF2-40B4-BE49-F238E27FC236}">
                  <a16:creationId xmlns:a16="http://schemas.microsoft.com/office/drawing/2014/main" id="{B01E1297-F418-1156-833F-FDC94F643ECB}"/>
                </a:ext>
              </a:extLst>
            </p:cNvPr>
            <p:cNvSpPr txBox="1"/>
            <p:nvPr/>
          </p:nvSpPr>
          <p:spPr>
            <a:xfrm>
              <a:off x="214717" y="1591184"/>
              <a:ext cx="1177159" cy="540929"/>
            </a:xfrm>
            <a:prstGeom prst="rect">
              <a:avLst/>
            </a:prstGeom>
            <a:noFill/>
          </p:spPr>
          <p:txBody>
            <a:bodyPr wrap="square" rtlCol="0">
              <a:spAutoFit/>
            </a:bodyPr>
            <a:lstStyle/>
            <a:p>
              <a:r>
                <a:rPr lang="en-US" altLang="ja-JP" sz="2000">
                  <a:solidFill>
                    <a:schemeClr val="bg1"/>
                  </a:solidFill>
                </a:rPr>
                <a:t>WIMP</a:t>
              </a:r>
              <a:endParaRPr lang="en-US" sz="2000">
                <a:solidFill>
                  <a:schemeClr val="bg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36B4A4F-6587-4D87-21E8-C8D52189C139}"/>
                    </a:ext>
                  </a:extLst>
                </p:cNvPr>
                <p:cNvSpPr txBox="1"/>
                <p:nvPr/>
              </p:nvSpPr>
              <p:spPr>
                <a:xfrm>
                  <a:off x="7905506" y="2447965"/>
                  <a:ext cx="865131" cy="790587"/>
                </a:xfrm>
                <a:prstGeom prst="rect">
                  <a:avLst/>
                </a:prstGeom>
                <a:noFill/>
              </p:spPr>
              <p:txBody>
                <a:bodyPr wrap="square">
                  <a:spAutoFit/>
                </a:bodyPr>
                <a:lstStyle/>
                <a:p>
                  <a:pPr/>
                  <a14:m>
                    <m:oMathPara xmlns:m="http://schemas.openxmlformats.org/officeDocument/2006/math">
                      <m:oMath>
                        <m:sSup>
                          <m:sSupPr>
                            <m:ctrlPr>
                              <a:rPr lang="en-US" sz="3200" i="1">
                                <a:solidFill>
                                  <a:schemeClr val="bg1"/>
                                </a:solidFill>
                                <a:latin typeface="Cambria Math" panose="02040503050406030204" pitchFamily="18" charset="0"/>
                              </a:rPr>
                            </m:ctrlPr>
                          </m:sSupPr>
                          <m:e>
                            <m:r>
                              <a:rPr lang="en-US" sz="3200" i="1">
                                <a:solidFill>
                                  <a:schemeClr val="bg1"/>
                                </a:solidFill>
                                <a:latin typeface="Cambria Math" panose="02040503050406030204" pitchFamily="18" charset="0"/>
                              </a:rPr>
                              <m:t>𝜋</m:t>
                            </m:r>
                          </m:e>
                          <m:sup>
                            <m:r>
                              <a:rPr lang="en-US" sz="3200" i="0">
                                <a:solidFill>
                                  <a:schemeClr val="bg1"/>
                                </a:solidFill>
                                <a:latin typeface="Cambria Math" panose="02040503050406030204" pitchFamily="18" charset="0"/>
                              </a:rPr>
                              <m:t>0</m:t>
                            </m:r>
                          </m:sup>
                        </m:sSup>
                      </m:oMath>
                    </m:oMathPara>
                  </a14:m>
                  <a:endParaRPr lang="en-US" sz="3200">
                    <a:solidFill>
                      <a:schemeClr val="bg1"/>
                    </a:solidFill>
                  </a:endParaRPr>
                </a:p>
              </p:txBody>
            </p:sp>
          </mc:Choice>
          <mc:Fallback xmlns="">
            <p:sp>
              <p:nvSpPr>
                <p:cNvPr id="16" name="TextBox 15">
                  <a:extLst>
                    <a:ext uri="{FF2B5EF4-FFF2-40B4-BE49-F238E27FC236}">
                      <a16:creationId xmlns:a16="http://schemas.microsoft.com/office/drawing/2014/main" id="{336B4A4F-6587-4D87-21E8-C8D52189C139}"/>
                    </a:ext>
                  </a:extLst>
                </p:cNvPr>
                <p:cNvSpPr txBox="1">
                  <a:spLocks noRot="1" noChangeAspect="1" noMove="1" noResize="1" noEditPoints="1" noAdjustHandles="1" noChangeArrowheads="1" noChangeShapeType="1" noTextEdit="1"/>
                </p:cNvSpPr>
                <p:nvPr/>
              </p:nvSpPr>
              <p:spPr>
                <a:xfrm>
                  <a:off x="7905506" y="2447965"/>
                  <a:ext cx="865131" cy="790587"/>
                </a:xfrm>
                <a:prstGeom prst="rect">
                  <a:avLst/>
                </a:prstGeom>
                <a:blipFill>
                  <a:blip r:embed="rId5"/>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F5EB9F4-814D-E74E-D372-1CAEB3A21A46}"/>
                  </a:ext>
                </a:extLst>
              </p:cNvPr>
              <p:cNvSpPr txBox="1"/>
              <p:nvPr/>
            </p:nvSpPr>
            <p:spPr>
              <a:xfrm>
                <a:off x="6517129" y="4974033"/>
                <a:ext cx="5298951" cy="881139"/>
              </a:xfrm>
              <a:prstGeom prst="rect">
                <a:avLst/>
              </a:prstGeom>
              <a:noFill/>
            </p:spPr>
            <p:txBody>
              <a:bodyPr wrap="none" lIns="0" tIns="0" rIns="0" bIns="0" rtlCol="0">
                <a:spAutoFit/>
              </a:bodyPr>
              <a:lstStyle/>
              <a:p>
                <a:pPr/>
                <a14:m>
                  <m:oMathPara xmlns:m="http://schemas.openxmlformats.org/officeDocument/2006/math">
                    <m:oMath>
                      <m:r>
                        <m:rPr>
                          <m:nor/>
                        </m:rPr>
                        <a:rPr lang="en-US" sz="2800" i="0" smtClean="0">
                          <a:solidFill>
                            <a:schemeClr val="bg1"/>
                          </a:solidFill>
                          <a:latin typeface="Britannic Bold" panose="020B0903060703020204" pitchFamily="34" charset="0"/>
                        </a:rPr>
                        <m:t>対消滅の起きやすさ</m:t>
                      </m:r>
                      <m:r>
                        <a:rPr lang="en-US" sz="2800" i="1">
                          <a:solidFill>
                            <a:schemeClr val="bg1"/>
                          </a:solidFill>
                          <a:latin typeface="Cambria Math" panose="02040503050406030204" pitchFamily="18" charset="0"/>
                        </a:rPr>
                        <m:t>∝</m:t>
                      </m:r>
                      <m:nary>
                        <m:naryPr>
                          <m:limLoc m:val="subSup"/>
                          <m:subHide m:val="on"/>
                          <m:supHide m:val="on"/>
                          <m:ctrlPr>
                            <a:rPr lang="en-US" sz="2800" i="1">
                              <a:solidFill>
                                <a:schemeClr val="bg1"/>
                              </a:solidFill>
                              <a:latin typeface="Cambria Math" panose="02040503050406030204" pitchFamily="18" charset="0"/>
                            </a:rPr>
                          </m:ctrlPr>
                        </m:naryPr>
                        <m:sub/>
                        <m:sup/>
                        <m:e>
                          <m:sSup>
                            <m:sSupPr>
                              <m:ctrlPr>
                                <a:rPr lang="en-US" sz="2800" i="1">
                                  <a:solidFill>
                                    <a:schemeClr val="bg1"/>
                                  </a:solidFill>
                                  <a:latin typeface="Cambria Math" panose="02040503050406030204" pitchFamily="18" charset="0"/>
                                </a:rPr>
                              </m:ctrlPr>
                            </m:sSupPr>
                            <m:e>
                              <m:r>
                                <a:rPr lang="en-US" sz="2800" i="1">
                                  <a:solidFill>
                                    <a:schemeClr val="bg1"/>
                                  </a:solidFill>
                                  <a:latin typeface="Cambria Math" panose="02040503050406030204" pitchFamily="18" charset="0"/>
                                </a:rPr>
                                <m:t>𝜌</m:t>
                              </m:r>
                            </m:e>
                            <m:sup>
                              <m:r>
                                <a:rPr lang="en-US" sz="2800" i="1">
                                  <a:solidFill>
                                    <a:schemeClr val="bg1"/>
                                  </a:solidFill>
                                  <a:latin typeface="Cambria Math" panose="02040503050406030204" pitchFamily="18" charset="0"/>
                                </a:rPr>
                                <m:t>2</m:t>
                              </m:r>
                            </m:sup>
                          </m:sSup>
                        </m:e>
                      </m:nary>
                      <m:d>
                        <m:dPr>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𝑟</m:t>
                          </m:r>
                        </m:e>
                      </m:d>
                      <m:r>
                        <a:rPr lang="en-US" sz="2800" i="1">
                          <a:solidFill>
                            <a:schemeClr val="bg1"/>
                          </a:solidFill>
                          <a:latin typeface="Cambria Math" panose="02040503050406030204" pitchFamily="18" charset="0"/>
                        </a:rPr>
                        <m:t>𝑑𝑙</m:t>
                      </m:r>
                    </m:oMath>
                  </m:oMathPara>
                </a14:m>
                <a:endParaRPr/>
              </a:p>
            </p:txBody>
          </p:sp>
        </mc:Choice>
        <mc:Fallback xmlns="">
          <p:sp>
            <p:nvSpPr>
              <p:cNvPr id="5" name="TextBox 4">
                <a:extLst>
                  <a:ext uri="{FF2B5EF4-FFF2-40B4-BE49-F238E27FC236}">
                    <a16:creationId xmlns:a16="http://schemas.microsoft.com/office/drawing/2014/main" id="{DF5EB9F4-814D-E74E-D372-1CAEB3A21A46}"/>
                  </a:ext>
                </a:extLst>
              </p:cNvPr>
              <p:cNvSpPr txBox="1">
                <a:spLocks noRot="1" noChangeAspect="1" noMove="1" noResize="1" noEditPoints="1" noAdjustHandles="1" noChangeArrowheads="1" noChangeShapeType="1" noTextEdit="1"/>
              </p:cNvSpPr>
              <p:nvPr/>
            </p:nvSpPr>
            <p:spPr>
              <a:xfrm>
                <a:off x="6517129" y="4974033"/>
                <a:ext cx="5298951" cy="881139"/>
              </a:xfrm>
              <a:prstGeom prst="rect">
                <a:avLst/>
              </a:prstGeom>
              <a:blipFill>
                <a:blip r:embed="rId6"/>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703B4593-5A15-0BA3-660B-6397113629C2}"/>
              </a:ext>
            </a:extLst>
          </p:cNvPr>
          <p:cNvSpPr/>
          <p:nvPr/>
        </p:nvSpPr>
        <p:spPr>
          <a:xfrm>
            <a:off x="257175" y="4899858"/>
            <a:ext cx="5838825" cy="1082170"/>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9B5482E-AEAC-370D-F7FF-BA2B343AA7AE}"/>
              </a:ext>
            </a:extLst>
          </p:cNvPr>
          <p:cNvSpPr txBox="1"/>
          <p:nvPr/>
        </p:nvSpPr>
        <p:spPr>
          <a:xfrm>
            <a:off x="2559896" y="4691082"/>
            <a:ext cx="1259268" cy="369332"/>
          </a:xfrm>
          <a:prstGeom prst="rect">
            <a:avLst/>
          </a:prstGeom>
          <a:solidFill>
            <a:schemeClr val="tx1"/>
          </a:solidFill>
          <a:ln>
            <a:solidFill>
              <a:schemeClr val="bg1"/>
            </a:solidFill>
          </a:ln>
        </p:spPr>
        <p:txBody>
          <a:bodyPr wrap="square" rtlCol="0">
            <a:spAutoFit/>
          </a:bodyPr>
          <a:lstStyle/>
          <a:p>
            <a:r>
              <a:rPr lang="ja-JP" altLang="en-US">
                <a:solidFill>
                  <a:schemeClr val="bg1"/>
                </a:solidFill>
              </a:rPr>
              <a:t>パラメータ</a:t>
            </a:r>
            <a:endParaRPr lang="en-US">
              <a:solidFill>
                <a:schemeClr val="bg1"/>
              </a:solidFill>
            </a:endParaRPr>
          </a:p>
        </p:txBody>
      </p:sp>
      <p:sp>
        <p:nvSpPr>
          <p:cNvPr id="21" name="Slide Number Placeholder 4">
            <a:extLst>
              <a:ext uri="{FF2B5EF4-FFF2-40B4-BE49-F238E27FC236}">
                <a16:creationId xmlns:a16="http://schemas.microsoft.com/office/drawing/2014/main" id="{0031FBDF-439F-6CD4-2D46-963EA46D38A9}"/>
              </a:ext>
            </a:extLst>
          </p:cNvPr>
          <p:cNvSpPr>
            <a:spLocks noGrp="1"/>
          </p:cNvSpPr>
          <p:nvPr>
            <p:ph type="sldNum" sz="quarter" idx="12"/>
          </p:nvPr>
        </p:nvSpPr>
        <p:spPr>
          <a:xfrm>
            <a:off x="11392930" y="6367325"/>
            <a:ext cx="381558" cy="490675"/>
          </a:xfrm>
        </p:spPr>
        <p:txBody>
          <a:bodyPr/>
          <a:lstStyle/>
          <a:p>
            <a:fld id="{C1FF6DA9-008F-8B48-92A6-B652298478BF}" type="slidenum">
              <a:rPr lang="en-US" sz="3200" smtClean="0">
                <a:solidFill>
                  <a:schemeClr val="bg1"/>
                </a:solidFill>
              </a:rPr>
              <a:t>5</a:t>
            </a:fld>
            <a:endParaRPr lang="en-US" sz="3200">
              <a:solidFill>
                <a:schemeClr val="bg1"/>
              </a:solidFill>
            </a:endParaRPr>
          </a:p>
        </p:txBody>
      </p:sp>
    </p:spTree>
    <p:extLst>
      <p:ext uri="{BB962C8B-B14F-4D97-AF65-F5344CB8AC3E}">
        <p14:creationId xmlns:p14="http://schemas.microsoft.com/office/powerpoint/2010/main" val="3147523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123825" y="19768"/>
            <a:ext cx="9793736" cy="584775"/>
          </a:xfrm>
          <a:prstGeom prst="rect">
            <a:avLst/>
          </a:prstGeom>
          <a:noFill/>
        </p:spPr>
        <p:txBody>
          <a:bodyPr wrap="square">
            <a:spAutoFit/>
          </a:bodyPr>
          <a:lstStyle/>
          <a:p>
            <a:pPr algn="ctr">
              <a:defRPr sz="4000" b="1">
                <a:solidFill>
                  <a:srgbClr val="FFFFFF"/>
                </a:solidFill>
              </a:defRPr>
            </a:pPr>
            <a:r>
              <a:rPr lang="en-US" sz="3200"/>
              <a:t>Motivation</a:t>
            </a:r>
            <a:r>
              <a:rPr lang="ja-JP" altLang="en-US" sz="3200"/>
              <a:t>　 ガンマ線過剰の</a:t>
            </a:r>
            <a:r>
              <a:rPr lang="en-US" altLang="ja-JP" sz="3200"/>
              <a:t>DM</a:t>
            </a:r>
            <a:r>
              <a:rPr lang="ja-JP" altLang="en-US" sz="3200"/>
              <a:t>起源説の検証 　</a:t>
            </a:r>
            <a:r>
              <a:rPr lang="en-US" sz="3200"/>
              <a:t> </a:t>
            </a:r>
            <a:r>
              <a:rPr lang="ja-JP" altLang="en-US" sz="3200"/>
              <a:t>　</a:t>
            </a:r>
            <a:r>
              <a:rPr lang="en-US" sz="3200"/>
              <a:t> </a:t>
            </a:r>
            <a:endParaRPr sz="3200"/>
          </a:p>
        </p:txBody>
      </p:sp>
      <p:sp>
        <p:nvSpPr>
          <p:cNvPr id="3" name="TextBox 2">
            <a:extLst>
              <a:ext uri="{FF2B5EF4-FFF2-40B4-BE49-F238E27FC236}">
                <a16:creationId xmlns:a16="http://schemas.microsoft.com/office/drawing/2014/main" id="{195CAE74-0790-6E96-A1AD-A1A2F96D4741}"/>
              </a:ext>
            </a:extLst>
          </p:cNvPr>
          <p:cNvSpPr txBox="1"/>
          <p:nvPr/>
        </p:nvSpPr>
        <p:spPr>
          <a:xfrm>
            <a:off x="6096000" y="783320"/>
            <a:ext cx="5579284" cy="4185761"/>
          </a:xfrm>
          <a:prstGeom prst="rect">
            <a:avLst/>
          </a:prstGeom>
          <a:noFill/>
        </p:spPr>
        <p:txBody>
          <a:bodyPr wrap="square" rtlCol="0">
            <a:spAutoFit/>
          </a:bodyPr>
          <a:lstStyle/>
          <a:p>
            <a:r>
              <a:rPr lang="ja-JP" altLang="en-US" sz="3200">
                <a:solidFill>
                  <a:schemeClr val="bg1"/>
                </a:solidFill>
              </a:rPr>
              <a:t>先行研究</a:t>
            </a:r>
            <a:r>
              <a:rPr lang="ja-JP" altLang="en-US" sz="2000">
                <a:solidFill>
                  <a:schemeClr val="bg1"/>
                </a:solidFill>
              </a:rPr>
              <a:t>（</a:t>
            </a:r>
            <a:r>
              <a:rPr lang="en-US" altLang="ja-JP" sz="2000">
                <a:solidFill>
                  <a:schemeClr val="bg1"/>
                </a:solidFill>
              </a:rPr>
              <a:t>Totani</a:t>
            </a:r>
            <a:r>
              <a:rPr lang="ja-JP" altLang="en-US" sz="2000">
                <a:solidFill>
                  <a:schemeClr val="bg1"/>
                </a:solidFill>
              </a:rPr>
              <a:t> </a:t>
            </a:r>
            <a:r>
              <a:rPr lang="en-US" altLang="ja-JP" sz="2000">
                <a:solidFill>
                  <a:schemeClr val="bg1"/>
                </a:solidFill>
              </a:rPr>
              <a:t>2025;</a:t>
            </a:r>
            <a:r>
              <a:rPr lang="ja-JP" altLang="en-US" sz="2000">
                <a:solidFill>
                  <a:schemeClr val="bg1"/>
                </a:solidFill>
              </a:rPr>
              <a:t> </a:t>
            </a:r>
            <a:r>
              <a:rPr lang="en-US" altLang="ja-JP" sz="2000">
                <a:solidFill>
                  <a:schemeClr val="bg1"/>
                </a:solidFill>
              </a:rPr>
              <a:t>T25)</a:t>
            </a:r>
            <a:r>
              <a:rPr lang="ja-JP" altLang="en-US" sz="2000">
                <a:solidFill>
                  <a:schemeClr val="bg1"/>
                </a:solidFill>
              </a:rPr>
              <a:t>：天の川銀河中心方向から</a:t>
            </a:r>
            <a:r>
              <a:rPr lang="en-US" altLang="ja-JP" sz="2000">
                <a:solidFill>
                  <a:schemeClr val="bg1"/>
                </a:solidFill>
              </a:rPr>
              <a:t>20GeV</a:t>
            </a:r>
            <a:r>
              <a:rPr lang="ja-JP" altLang="en-US" sz="2000">
                <a:solidFill>
                  <a:schemeClr val="bg1"/>
                </a:solidFill>
              </a:rPr>
              <a:t>エネルギーでガンマ線過剰ピークが存在。</a:t>
            </a:r>
            <a:endParaRPr lang="en-US" altLang="ja-JP" sz="2000">
              <a:solidFill>
                <a:schemeClr val="bg1"/>
              </a:solidFill>
            </a:endParaRPr>
          </a:p>
          <a:p>
            <a:endParaRPr lang="en-US" altLang="ja-JP" sz="2000">
              <a:solidFill>
                <a:schemeClr val="bg1"/>
              </a:solidFill>
            </a:endParaRPr>
          </a:p>
          <a:p>
            <a:r>
              <a:rPr lang="ja-JP" altLang="en-US" sz="2000">
                <a:solidFill>
                  <a:schemeClr val="bg1"/>
                </a:solidFill>
              </a:rPr>
              <a:t>手法の新規性</a:t>
            </a:r>
            <a:endParaRPr lang="en-US" altLang="ja-JP" sz="2000">
              <a:solidFill>
                <a:schemeClr val="bg1"/>
              </a:solidFill>
            </a:endParaRPr>
          </a:p>
          <a:p>
            <a:pPr marL="285750" indent="-285750">
              <a:buFont typeface="Arial" panose="020B0604020202020204" pitchFamily="34" charset="0"/>
              <a:buChar char="•"/>
            </a:pPr>
            <a:r>
              <a:rPr lang="en-US" sz="2000">
                <a:solidFill>
                  <a:schemeClr val="bg1"/>
                </a:solidFill>
              </a:rPr>
              <a:t>ノイズの多い銀河中心</a:t>
            </a:r>
            <a:r>
              <a:rPr lang="ja-JP" altLang="en-US" sz="2000">
                <a:solidFill>
                  <a:schemeClr val="bg1"/>
                </a:solidFill>
              </a:rPr>
              <a:t>を</a:t>
            </a:r>
            <a:r>
              <a:rPr lang="en-US" sz="2000">
                <a:solidFill>
                  <a:schemeClr val="bg1"/>
                </a:solidFill>
              </a:rPr>
              <a:t>完全除外</a:t>
            </a:r>
          </a:p>
          <a:p>
            <a:pPr marL="285750" indent="-285750">
              <a:buFont typeface="Arial" panose="020B0604020202020204" pitchFamily="34" charset="0"/>
              <a:buChar char="•"/>
            </a:pPr>
            <a:r>
              <a:rPr lang="en-US" sz="2000">
                <a:solidFill>
                  <a:schemeClr val="bg1"/>
                </a:solidFill>
              </a:rPr>
              <a:t>中心部への過度な暗黒物質の集中を前提としない  </a:t>
            </a:r>
          </a:p>
          <a:p>
            <a:pPr marL="285750" indent="-285750">
              <a:buFont typeface="Arial" panose="020B0604020202020204" pitchFamily="34" charset="0"/>
              <a:buChar char="•"/>
            </a:pPr>
            <a:r>
              <a:rPr lang="en-US" sz="2000">
                <a:solidFill>
                  <a:schemeClr val="bg1"/>
                </a:solidFill>
              </a:rPr>
              <a:t>解像度を下げて星間ガスなどの微小ノイズを抑制</a:t>
            </a:r>
          </a:p>
          <a:p>
            <a:endParaRPr lang="en-US" altLang="ja-JP">
              <a:solidFill>
                <a:schemeClr val="bg1"/>
              </a:solidFill>
            </a:endParaRPr>
          </a:p>
          <a:p>
            <a:endParaRPr lang="en-US" altLang="ja-JP"/>
          </a:p>
          <a:p>
            <a:endParaRPr lang="en-US"/>
          </a:p>
        </p:txBody>
      </p:sp>
      <p:sp>
        <p:nvSpPr>
          <p:cNvPr id="4" name="TextBox 3">
            <a:extLst>
              <a:ext uri="{FF2B5EF4-FFF2-40B4-BE49-F238E27FC236}">
                <a16:creationId xmlns:a16="http://schemas.microsoft.com/office/drawing/2014/main" id="{89192561-F636-13B4-C1DC-C5848DF9C2B9}"/>
              </a:ext>
            </a:extLst>
          </p:cNvPr>
          <p:cNvSpPr txBox="1"/>
          <p:nvPr/>
        </p:nvSpPr>
        <p:spPr>
          <a:xfrm>
            <a:off x="6042750" y="4384405"/>
            <a:ext cx="6205277" cy="2400657"/>
          </a:xfrm>
          <a:prstGeom prst="rect">
            <a:avLst/>
          </a:prstGeom>
          <a:noFill/>
        </p:spPr>
        <p:txBody>
          <a:bodyPr wrap="square" rtlCol="0">
            <a:spAutoFit/>
          </a:bodyPr>
          <a:lstStyle/>
          <a:p>
            <a:r>
              <a:rPr lang="ja-JP" altLang="en-US" sz="3200">
                <a:solidFill>
                  <a:schemeClr val="bg1"/>
                </a:solidFill>
              </a:rPr>
              <a:t>本研究：統計的検証</a:t>
            </a:r>
            <a:endParaRPr lang="en-US" altLang="ja-JP" sz="3200">
              <a:solidFill>
                <a:schemeClr val="bg1"/>
              </a:solidFill>
            </a:endParaRPr>
          </a:p>
          <a:p>
            <a:r>
              <a:rPr lang="en-US" altLang="ja-JP" sz="2000" b="1">
                <a:solidFill>
                  <a:srgbClr val="FFC000"/>
                </a:solidFill>
              </a:rPr>
              <a:t>T25</a:t>
            </a:r>
            <a:r>
              <a:rPr lang="ja-JP" altLang="en-US" sz="2000" b="1">
                <a:solidFill>
                  <a:srgbClr val="FFC000"/>
                </a:solidFill>
              </a:rPr>
              <a:t>の手法を独自再現（今回の発表内容）</a:t>
            </a:r>
            <a:r>
              <a:rPr lang="ja-JP" altLang="en-US" sz="2000">
                <a:solidFill>
                  <a:schemeClr val="bg1"/>
                </a:solidFill>
              </a:rPr>
              <a:t>し、</a:t>
            </a:r>
            <a:endParaRPr lang="en-US" altLang="ja-JP" sz="2000">
              <a:solidFill>
                <a:schemeClr val="bg1"/>
              </a:solidFill>
            </a:endParaRPr>
          </a:p>
          <a:p>
            <a:r>
              <a:rPr lang="ja-JP" altLang="en-US" sz="2000">
                <a:solidFill>
                  <a:schemeClr val="bg1"/>
                </a:solidFill>
              </a:rPr>
              <a:t>さらに矮小銀河や近傍の他銀河に</a:t>
            </a:r>
            <a:endParaRPr lang="en-US" altLang="ja-JP" sz="2000">
              <a:solidFill>
                <a:schemeClr val="bg1"/>
              </a:solidFill>
            </a:endParaRPr>
          </a:p>
          <a:p>
            <a:r>
              <a:rPr lang="ja-JP" altLang="en-US" sz="2000">
                <a:solidFill>
                  <a:schemeClr val="bg1"/>
                </a:solidFill>
              </a:rPr>
              <a:t>その手法を適用する拡張を実施</a:t>
            </a:r>
            <a:endParaRPr lang="en-US" altLang="ja-JP" sz="2000">
              <a:solidFill>
                <a:schemeClr val="bg1"/>
              </a:solidFill>
            </a:endParaRPr>
          </a:p>
          <a:p>
            <a:endParaRPr lang="en-US" altLang="ja-JP" sz="2000">
              <a:solidFill>
                <a:schemeClr val="bg1"/>
              </a:solidFill>
            </a:endParaRPr>
          </a:p>
          <a:p>
            <a:r>
              <a:rPr lang="ja-JP" altLang="en-US" sz="2000">
                <a:solidFill>
                  <a:schemeClr val="bg1"/>
                </a:solidFill>
              </a:rPr>
              <a:t>→ガンマ線過剰が天の川銀河固有の事象か検証</a:t>
            </a:r>
            <a:endParaRPr lang="en-US" sz="2000">
              <a:solidFill>
                <a:schemeClr val="bg1"/>
              </a:solidFill>
            </a:endParaRPr>
          </a:p>
          <a:p>
            <a:endParaRPr lang="en-US">
              <a:solidFill>
                <a:schemeClr val="bg1"/>
              </a:solidFill>
            </a:endParaRPr>
          </a:p>
        </p:txBody>
      </p:sp>
      <p:sp>
        <p:nvSpPr>
          <p:cNvPr id="11" name="Rectangle 10">
            <a:extLst>
              <a:ext uri="{FF2B5EF4-FFF2-40B4-BE49-F238E27FC236}">
                <a16:creationId xmlns:a16="http://schemas.microsoft.com/office/drawing/2014/main" id="{935DA095-F0A8-973B-CD81-98BD5C9DDC87}"/>
              </a:ext>
            </a:extLst>
          </p:cNvPr>
          <p:cNvSpPr/>
          <p:nvPr/>
        </p:nvSpPr>
        <p:spPr>
          <a:xfrm>
            <a:off x="6096001" y="770474"/>
            <a:ext cx="5579284" cy="3406110"/>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1D7F801-C1B2-8CC0-4097-1FA74BEF5183}"/>
              </a:ext>
            </a:extLst>
          </p:cNvPr>
          <p:cNvSpPr/>
          <p:nvPr/>
        </p:nvSpPr>
        <p:spPr>
          <a:xfrm>
            <a:off x="6042750" y="4384405"/>
            <a:ext cx="5579284" cy="2400657"/>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67B643C-A88F-799B-0F55-69BF7CA4CC36}"/>
              </a:ext>
            </a:extLst>
          </p:cNvPr>
          <p:cNvGrpSpPr>
            <a:grpSpLocks noChangeAspect="1"/>
          </p:cNvGrpSpPr>
          <p:nvPr/>
        </p:nvGrpSpPr>
        <p:grpSpPr>
          <a:xfrm>
            <a:off x="401534" y="1360718"/>
            <a:ext cx="5416757" cy="4224015"/>
            <a:chOff x="0" y="1363902"/>
            <a:chExt cx="5862898" cy="4571918"/>
          </a:xfrm>
        </p:grpSpPr>
        <p:pic>
          <p:nvPicPr>
            <p:cNvPr id="10" name="Picture 9" descr="The diagram depicts a graph of photon energy versus mean background flux for different cosmic sources, illustrating the energy distribution and flux levels for various types of celestial objects.&#10;&#10;AI-generated content may be incorrect.">
              <a:extLst>
                <a:ext uri="{FF2B5EF4-FFF2-40B4-BE49-F238E27FC236}">
                  <a16:creationId xmlns:a16="http://schemas.microsoft.com/office/drawing/2014/main" id="{B263DA2E-1072-52A3-5234-884AFA53F581}"/>
                </a:ext>
              </a:extLst>
            </p:cNvPr>
            <p:cNvPicPr>
              <a:picLocks noChangeAspect="1"/>
            </p:cNvPicPr>
            <p:nvPr/>
          </p:nvPicPr>
          <p:blipFill>
            <a:blip r:embed="rId3"/>
            <a:srcRect l="6135" t="4461" r="20103" b="2543"/>
            <a:stretch>
              <a:fillRect/>
            </a:stretch>
          </p:blipFill>
          <p:spPr>
            <a:xfrm>
              <a:off x="0" y="1363902"/>
              <a:ext cx="5862898" cy="4571918"/>
            </a:xfrm>
            <a:prstGeom prst="rect">
              <a:avLst/>
            </a:prstGeom>
          </p:spPr>
        </p:pic>
        <p:sp>
          <p:nvSpPr>
            <p:cNvPr id="8" name="Freeform: Shape 7">
              <a:extLst>
                <a:ext uri="{FF2B5EF4-FFF2-40B4-BE49-F238E27FC236}">
                  <a16:creationId xmlns:a16="http://schemas.microsoft.com/office/drawing/2014/main" id="{E2BE65E7-F5E3-321B-7A85-3DEFD063BE6C}"/>
                </a:ext>
              </a:extLst>
            </p:cNvPr>
            <p:cNvSpPr/>
            <p:nvPr/>
          </p:nvSpPr>
          <p:spPr>
            <a:xfrm>
              <a:off x="1219200" y="3177309"/>
              <a:ext cx="4322624" cy="1459346"/>
            </a:xfrm>
            <a:custGeom>
              <a:avLst/>
              <a:gdLst>
                <a:gd name="csX0" fmla="*/ 0 w 4322624"/>
                <a:gd name="csY0" fmla="*/ 1459346 h 1459346"/>
                <a:gd name="csX1" fmla="*/ 9236 w 4322624"/>
                <a:gd name="csY1" fmla="*/ 1394691 h 1459346"/>
                <a:gd name="csX2" fmla="*/ 55418 w 4322624"/>
                <a:gd name="csY2" fmla="*/ 1293091 h 1459346"/>
                <a:gd name="csX3" fmla="*/ 64655 w 4322624"/>
                <a:gd name="csY3" fmla="*/ 1265382 h 1459346"/>
                <a:gd name="csX4" fmla="*/ 129309 w 4322624"/>
                <a:gd name="csY4" fmla="*/ 1191491 h 1459346"/>
                <a:gd name="csX5" fmla="*/ 166255 w 4322624"/>
                <a:gd name="csY5" fmla="*/ 1126836 h 1459346"/>
                <a:gd name="csX6" fmla="*/ 212436 w 4322624"/>
                <a:gd name="csY6" fmla="*/ 1034473 h 1459346"/>
                <a:gd name="csX7" fmla="*/ 230909 w 4322624"/>
                <a:gd name="csY7" fmla="*/ 1006764 h 1459346"/>
                <a:gd name="csX8" fmla="*/ 267855 w 4322624"/>
                <a:gd name="csY8" fmla="*/ 932873 h 1459346"/>
                <a:gd name="csX9" fmla="*/ 277091 w 4322624"/>
                <a:gd name="csY9" fmla="*/ 905164 h 1459346"/>
                <a:gd name="csX10" fmla="*/ 295564 w 4322624"/>
                <a:gd name="csY10" fmla="*/ 877455 h 1459346"/>
                <a:gd name="csX11" fmla="*/ 323273 w 4322624"/>
                <a:gd name="csY11" fmla="*/ 812800 h 1459346"/>
                <a:gd name="csX12" fmla="*/ 341745 w 4322624"/>
                <a:gd name="csY12" fmla="*/ 757382 h 1459346"/>
                <a:gd name="csX13" fmla="*/ 350982 w 4322624"/>
                <a:gd name="csY13" fmla="*/ 729673 h 1459346"/>
                <a:gd name="csX14" fmla="*/ 378691 w 4322624"/>
                <a:gd name="csY14" fmla="*/ 692727 h 1459346"/>
                <a:gd name="csX15" fmla="*/ 406400 w 4322624"/>
                <a:gd name="csY15" fmla="*/ 600364 h 1459346"/>
                <a:gd name="csX16" fmla="*/ 415636 w 4322624"/>
                <a:gd name="csY16" fmla="*/ 572655 h 1459346"/>
                <a:gd name="csX17" fmla="*/ 443345 w 4322624"/>
                <a:gd name="csY17" fmla="*/ 424873 h 1459346"/>
                <a:gd name="csX18" fmla="*/ 535709 w 4322624"/>
                <a:gd name="csY18" fmla="*/ 350982 h 1459346"/>
                <a:gd name="csX19" fmla="*/ 572655 w 4322624"/>
                <a:gd name="csY19" fmla="*/ 314036 h 1459346"/>
                <a:gd name="csX20" fmla="*/ 665018 w 4322624"/>
                <a:gd name="csY20" fmla="*/ 258618 h 1459346"/>
                <a:gd name="csX21" fmla="*/ 701964 w 4322624"/>
                <a:gd name="csY21" fmla="*/ 230909 h 1459346"/>
                <a:gd name="csX22" fmla="*/ 775855 w 4322624"/>
                <a:gd name="csY22" fmla="*/ 203200 h 1459346"/>
                <a:gd name="csX23" fmla="*/ 840509 w 4322624"/>
                <a:gd name="csY23" fmla="*/ 166255 h 1459346"/>
                <a:gd name="csX24" fmla="*/ 877455 w 4322624"/>
                <a:gd name="csY24" fmla="*/ 138546 h 1459346"/>
                <a:gd name="csX25" fmla="*/ 979055 w 4322624"/>
                <a:gd name="csY25" fmla="*/ 120073 h 1459346"/>
                <a:gd name="csX26" fmla="*/ 1006764 w 4322624"/>
                <a:gd name="csY26" fmla="*/ 110836 h 1459346"/>
                <a:gd name="csX27" fmla="*/ 1256145 w 4322624"/>
                <a:gd name="csY27" fmla="*/ 92364 h 1459346"/>
                <a:gd name="csX28" fmla="*/ 1283855 w 4322624"/>
                <a:gd name="csY28" fmla="*/ 73891 h 1459346"/>
                <a:gd name="csX29" fmla="*/ 1413164 w 4322624"/>
                <a:gd name="csY29" fmla="*/ 36946 h 1459346"/>
                <a:gd name="csX30" fmla="*/ 1524000 w 4322624"/>
                <a:gd name="csY30" fmla="*/ 18473 h 1459346"/>
                <a:gd name="csX31" fmla="*/ 1625600 w 4322624"/>
                <a:gd name="csY31" fmla="*/ 0 h 1459346"/>
                <a:gd name="csX32" fmla="*/ 1717964 w 4322624"/>
                <a:gd name="csY32" fmla="*/ 9236 h 1459346"/>
                <a:gd name="csX33" fmla="*/ 1810327 w 4322624"/>
                <a:gd name="csY33" fmla="*/ 46182 h 1459346"/>
                <a:gd name="csX34" fmla="*/ 1874982 w 4322624"/>
                <a:gd name="csY34" fmla="*/ 64655 h 1459346"/>
                <a:gd name="csX35" fmla="*/ 1911927 w 4322624"/>
                <a:gd name="csY35" fmla="*/ 83127 h 1459346"/>
                <a:gd name="csX36" fmla="*/ 1948873 w 4322624"/>
                <a:gd name="csY36" fmla="*/ 92364 h 1459346"/>
                <a:gd name="csX37" fmla="*/ 2004291 w 4322624"/>
                <a:gd name="csY37" fmla="*/ 110836 h 1459346"/>
                <a:gd name="csX38" fmla="*/ 2032000 w 4322624"/>
                <a:gd name="csY38" fmla="*/ 120073 h 1459346"/>
                <a:gd name="csX39" fmla="*/ 2078182 w 4322624"/>
                <a:gd name="csY39" fmla="*/ 129309 h 1459346"/>
                <a:gd name="csX40" fmla="*/ 2133600 w 4322624"/>
                <a:gd name="csY40" fmla="*/ 157018 h 1459346"/>
                <a:gd name="csX41" fmla="*/ 2170545 w 4322624"/>
                <a:gd name="csY41" fmla="*/ 166255 h 1459346"/>
                <a:gd name="csX42" fmla="*/ 2216727 w 4322624"/>
                <a:gd name="csY42" fmla="*/ 184727 h 1459346"/>
                <a:gd name="csX43" fmla="*/ 2244436 w 4322624"/>
                <a:gd name="csY43" fmla="*/ 193964 h 1459346"/>
                <a:gd name="csX44" fmla="*/ 2336800 w 4322624"/>
                <a:gd name="csY44" fmla="*/ 230909 h 1459346"/>
                <a:gd name="csX45" fmla="*/ 2392218 w 4322624"/>
                <a:gd name="csY45" fmla="*/ 258618 h 1459346"/>
                <a:gd name="csX46" fmla="*/ 2429164 w 4322624"/>
                <a:gd name="csY46" fmla="*/ 277091 h 1459346"/>
                <a:gd name="csX47" fmla="*/ 2512291 w 4322624"/>
                <a:gd name="csY47" fmla="*/ 304800 h 1459346"/>
                <a:gd name="csX48" fmla="*/ 2613891 w 4322624"/>
                <a:gd name="csY48" fmla="*/ 341746 h 1459346"/>
                <a:gd name="csX49" fmla="*/ 2641600 w 4322624"/>
                <a:gd name="csY49" fmla="*/ 350982 h 1459346"/>
                <a:gd name="csX50" fmla="*/ 2669309 w 4322624"/>
                <a:gd name="csY50" fmla="*/ 360218 h 1459346"/>
                <a:gd name="csX51" fmla="*/ 2733964 w 4322624"/>
                <a:gd name="csY51" fmla="*/ 387927 h 1459346"/>
                <a:gd name="csX52" fmla="*/ 2798618 w 4322624"/>
                <a:gd name="csY52" fmla="*/ 415636 h 1459346"/>
                <a:gd name="csX53" fmla="*/ 2826327 w 4322624"/>
                <a:gd name="csY53" fmla="*/ 434109 h 1459346"/>
                <a:gd name="csX54" fmla="*/ 2863273 w 4322624"/>
                <a:gd name="csY54" fmla="*/ 443346 h 1459346"/>
                <a:gd name="csX55" fmla="*/ 2890982 w 4322624"/>
                <a:gd name="csY55" fmla="*/ 452582 h 1459346"/>
                <a:gd name="csX56" fmla="*/ 3131127 w 4322624"/>
                <a:gd name="csY56" fmla="*/ 461818 h 1459346"/>
                <a:gd name="csX57" fmla="*/ 3186545 w 4322624"/>
                <a:gd name="csY57" fmla="*/ 526473 h 1459346"/>
                <a:gd name="csX58" fmla="*/ 3214255 w 4322624"/>
                <a:gd name="csY58" fmla="*/ 535709 h 1459346"/>
                <a:gd name="csX59" fmla="*/ 3260436 w 4322624"/>
                <a:gd name="csY59" fmla="*/ 591127 h 1459346"/>
                <a:gd name="csX60" fmla="*/ 3315855 w 4322624"/>
                <a:gd name="csY60" fmla="*/ 628073 h 1459346"/>
                <a:gd name="csX61" fmla="*/ 3380509 w 4322624"/>
                <a:gd name="csY61" fmla="*/ 674255 h 1459346"/>
                <a:gd name="csX62" fmla="*/ 3417455 w 4322624"/>
                <a:gd name="csY62" fmla="*/ 701964 h 1459346"/>
                <a:gd name="csX63" fmla="*/ 3482109 w 4322624"/>
                <a:gd name="csY63" fmla="*/ 720436 h 1459346"/>
                <a:gd name="csX64" fmla="*/ 3509818 w 4322624"/>
                <a:gd name="csY64" fmla="*/ 738909 h 1459346"/>
                <a:gd name="csX65" fmla="*/ 3565236 w 4322624"/>
                <a:gd name="csY65" fmla="*/ 757382 h 1459346"/>
                <a:gd name="csX66" fmla="*/ 3592945 w 4322624"/>
                <a:gd name="csY66" fmla="*/ 785091 h 1459346"/>
                <a:gd name="csX67" fmla="*/ 3666836 w 4322624"/>
                <a:gd name="csY67" fmla="*/ 812800 h 1459346"/>
                <a:gd name="csX68" fmla="*/ 3703782 w 4322624"/>
                <a:gd name="csY68" fmla="*/ 840509 h 1459346"/>
                <a:gd name="csX69" fmla="*/ 3731491 w 4322624"/>
                <a:gd name="csY69" fmla="*/ 868218 h 1459346"/>
                <a:gd name="csX70" fmla="*/ 3823855 w 4322624"/>
                <a:gd name="csY70" fmla="*/ 923636 h 1459346"/>
                <a:gd name="csX71" fmla="*/ 3851564 w 4322624"/>
                <a:gd name="csY71" fmla="*/ 951346 h 1459346"/>
                <a:gd name="csX72" fmla="*/ 3934691 w 4322624"/>
                <a:gd name="csY72" fmla="*/ 988291 h 1459346"/>
                <a:gd name="csX73" fmla="*/ 3962400 w 4322624"/>
                <a:gd name="csY73" fmla="*/ 1006764 h 1459346"/>
                <a:gd name="csX74" fmla="*/ 4054764 w 4322624"/>
                <a:gd name="csY74" fmla="*/ 988291 h 1459346"/>
                <a:gd name="csX75" fmla="*/ 4156364 w 4322624"/>
                <a:gd name="csY75" fmla="*/ 923636 h 1459346"/>
                <a:gd name="csX76" fmla="*/ 4230255 w 4322624"/>
                <a:gd name="csY76" fmla="*/ 868218 h 1459346"/>
                <a:gd name="csX77" fmla="*/ 4285673 w 4322624"/>
                <a:gd name="csY77" fmla="*/ 812800 h 1459346"/>
                <a:gd name="csX78" fmla="*/ 4322618 w 4322624"/>
                <a:gd name="csY78" fmla="*/ 729673 h 1459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Lst>
              <a:rect l="l" t="t" r="r" b="b"/>
              <a:pathLst>
                <a:path w="4322624" h="1459346">
                  <a:moveTo>
                    <a:pt x="0" y="1459346"/>
                  </a:moveTo>
                  <a:cubicBezTo>
                    <a:pt x="3079" y="1437794"/>
                    <a:pt x="4341" y="1415904"/>
                    <a:pt x="9236" y="1394691"/>
                  </a:cubicBezTo>
                  <a:cubicBezTo>
                    <a:pt x="25431" y="1324514"/>
                    <a:pt x="25026" y="1353875"/>
                    <a:pt x="55418" y="1293091"/>
                  </a:cubicBezTo>
                  <a:cubicBezTo>
                    <a:pt x="59772" y="1284383"/>
                    <a:pt x="59495" y="1273638"/>
                    <a:pt x="64655" y="1265382"/>
                  </a:cubicBezTo>
                  <a:cubicBezTo>
                    <a:pt x="83450" y="1235310"/>
                    <a:pt x="105093" y="1215707"/>
                    <a:pt x="129309" y="1191491"/>
                  </a:cubicBezTo>
                  <a:cubicBezTo>
                    <a:pt x="151094" y="1104347"/>
                    <a:pt x="119915" y="1202138"/>
                    <a:pt x="166255" y="1126836"/>
                  </a:cubicBezTo>
                  <a:cubicBezTo>
                    <a:pt x="184295" y="1097521"/>
                    <a:pt x="193342" y="1063113"/>
                    <a:pt x="212436" y="1034473"/>
                  </a:cubicBezTo>
                  <a:cubicBezTo>
                    <a:pt x="218594" y="1025237"/>
                    <a:pt x="225593" y="1016509"/>
                    <a:pt x="230909" y="1006764"/>
                  </a:cubicBezTo>
                  <a:cubicBezTo>
                    <a:pt x="244096" y="982589"/>
                    <a:pt x="259147" y="958998"/>
                    <a:pt x="267855" y="932873"/>
                  </a:cubicBezTo>
                  <a:cubicBezTo>
                    <a:pt x="270934" y="923637"/>
                    <a:pt x="272737" y="913872"/>
                    <a:pt x="277091" y="905164"/>
                  </a:cubicBezTo>
                  <a:cubicBezTo>
                    <a:pt x="282055" y="895235"/>
                    <a:pt x="289406" y="886691"/>
                    <a:pt x="295564" y="877455"/>
                  </a:cubicBezTo>
                  <a:cubicBezTo>
                    <a:pt x="325294" y="788262"/>
                    <a:pt x="277620" y="926934"/>
                    <a:pt x="323273" y="812800"/>
                  </a:cubicBezTo>
                  <a:cubicBezTo>
                    <a:pt x="330505" y="794721"/>
                    <a:pt x="335587" y="775855"/>
                    <a:pt x="341745" y="757382"/>
                  </a:cubicBezTo>
                  <a:cubicBezTo>
                    <a:pt x="344824" y="748146"/>
                    <a:pt x="345140" y="737462"/>
                    <a:pt x="350982" y="729673"/>
                  </a:cubicBezTo>
                  <a:lnTo>
                    <a:pt x="378691" y="692727"/>
                  </a:lnTo>
                  <a:cubicBezTo>
                    <a:pt x="392650" y="636888"/>
                    <a:pt x="383912" y="667829"/>
                    <a:pt x="406400" y="600364"/>
                  </a:cubicBezTo>
                  <a:cubicBezTo>
                    <a:pt x="409479" y="591128"/>
                    <a:pt x="413842" y="582224"/>
                    <a:pt x="415636" y="572655"/>
                  </a:cubicBezTo>
                  <a:cubicBezTo>
                    <a:pt x="424872" y="523394"/>
                    <a:pt x="426788" y="472178"/>
                    <a:pt x="443345" y="424873"/>
                  </a:cubicBezTo>
                  <a:cubicBezTo>
                    <a:pt x="453189" y="396748"/>
                    <a:pt x="520359" y="366332"/>
                    <a:pt x="535709" y="350982"/>
                  </a:cubicBezTo>
                  <a:cubicBezTo>
                    <a:pt x="548024" y="338667"/>
                    <a:pt x="559055" y="324916"/>
                    <a:pt x="572655" y="314036"/>
                  </a:cubicBezTo>
                  <a:cubicBezTo>
                    <a:pt x="653992" y="248966"/>
                    <a:pt x="599246" y="299726"/>
                    <a:pt x="665018" y="258618"/>
                  </a:cubicBezTo>
                  <a:cubicBezTo>
                    <a:pt x="678072" y="250459"/>
                    <a:pt x="688910" y="239068"/>
                    <a:pt x="701964" y="230909"/>
                  </a:cubicBezTo>
                  <a:cubicBezTo>
                    <a:pt x="734166" y="210783"/>
                    <a:pt x="740393" y="212065"/>
                    <a:pt x="775855" y="203200"/>
                  </a:cubicBezTo>
                  <a:cubicBezTo>
                    <a:pt x="811930" y="185162"/>
                    <a:pt x="810049" y="188011"/>
                    <a:pt x="840509" y="166255"/>
                  </a:cubicBezTo>
                  <a:cubicBezTo>
                    <a:pt x="853036" y="157308"/>
                    <a:pt x="863686" y="145431"/>
                    <a:pt x="877455" y="138546"/>
                  </a:cubicBezTo>
                  <a:cubicBezTo>
                    <a:pt x="894878" y="129834"/>
                    <a:pt x="971535" y="121147"/>
                    <a:pt x="979055" y="120073"/>
                  </a:cubicBezTo>
                  <a:cubicBezTo>
                    <a:pt x="988291" y="116994"/>
                    <a:pt x="997076" y="111805"/>
                    <a:pt x="1006764" y="110836"/>
                  </a:cubicBezTo>
                  <a:cubicBezTo>
                    <a:pt x="1089705" y="102542"/>
                    <a:pt x="1256145" y="92364"/>
                    <a:pt x="1256145" y="92364"/>
                  </a:cubicBezTo>
                  <a:cubicBezTo>
                    <a:pt x="1265382" y="86206"/>
                    <a:pt x="1273711" y="78400"/>
                    <a:pt x="1283855" y="73891"/>
                  </a:cubicBezTo>
                  <a:cubicBezTo>
                    <a:pt x="1321340" y="57231"/>
                    <a:pt x="1375168" y="47308"/>
                    <a:pt x="1413164" y="36946"/>
                  </a:cubicBezTo>
                  <a:cubicBezTo>
                    <a:pt x="1496047" y="14342"/>
                    <a:pt x="1348941" y="41815"/>
                    <a:pt x="1524000" y="18473"/>
                  </a:cubicBezTo>
                  <a:cubicBezTo>
                    <a:pt x="1559435" y="13748"/>
                    <a:pt x="1590786" y="6963"/>
                    <a:pt x="1625600" y="0"/>
                  </a:cubicBezTo>
                  <a:cubicBezTo>
                    <a:pt x="1656388" y="3079"/>
                    <a:pt x="1687552" y="3534"/>
                    <a:pt x="1717964" y="9236"/>
                  </a:cubicBezTo>
                  <a:cubicBezTo>
                    <a:pt x="1784438" y="21700"/>
                    <a:pt x="1757384" y="26329"/>
                    <a:pt x="1810327" y="46182"/>
                  </a:cubicBezTo>
                  <a:cubicBezTo>
                    <a:pt x="1872852" y="69629"/>
                    <a:pt x="1822856" y="42315"/>
                    <a:pt x="1874982" y="64655"/>
                  </a:cubicBezTo>
                  <a:cubicBezTo>
                    <a:pt x="1887637" y="70079"/>
                    <a:pt x="1899035" y="78293"/>
                    <a:pt x="1911927" y="83127"/>
                  </a:cubicBezTo>
                  <a:cubicBezTo>
                    <a:pt x="1923813" y="87584"/>
                    <a:pt x="1936714" y="88716"/>
                    <a:pt x="1948873" y="92364"/>
                  </a:cubicBezTo>
                  <a:cubicBezTo>
                    <a:pt x="1967524" y="97959"/>
                    <a:pt x="1985818" y="104678"/>
                    <a:pt x="2004291" y="110836"/>
                  </a:cubicBezTo>
                  <a:cubicBezTo>
                    <a:pt x="2013527" y="113915"/>
                    <a:pt x="2022453" y="118164"/>
                    <a:pt x="2032000" y="120073"/>
                  </a:cubicBezTo>
                  <a:lnTo>
                    <a:pt x="2078182" y="129309"/>
                  </a:lnTo>
                  <a:cubicBezTo>
                    <a:pt x="2096655" y="138545"/>
                    <a:pt x="2114424" y="149347"/>
                    <a:pt x="2133600" y="157018"/>
                  </a:cubicBezTo>
                  <a:cubicBezTo>
                    <a:pt x="2145386" y="161733"/>
                    <a:pt x="2158502" y="162241"/>
                    <a:pt x="2170545" y="166255"/>
                  </a:cubicBezTo>
                  <a:cubicBezTo>
                    <a:pt x="2186274" y="171498"/>
                    <a:pt x="2201203" y="178905"/>
                    <a:pt x="2216727" y="184727"/>
                  </a:cubicBezTo>
                  <a:cubicBezTo>
                    <a:pt x="2225843" y="188146"/>
                    <a:pt x="2235728" y="189610"/>
                    <a:pt x="2244436" y="193964"/>
                  </a:cubicBezTo>
                  <a:cubicBezTo>
                    <a:pt x="2323958" y="233725"/>
                    <a:pt x="2255631" y="214676"/>
                    <a:pt x="2336800" y="230909"/>
                  </a:cubicBezTo>
                  <a:cubicBezTo>
                    <a:pt x="2390050" y="266410"/>
                    <a:pt x="2338682" y="235674"/>
                    <a:pt x="2392218" y="258618"/>
                  </a:cubicBezTo>
                  <a:cubicBezTo>
                    <a:pt x="2404874" y="264042"/>
                    <a:pt x="2416313" y="272148"/>
                    <a:pt x="2429164" y="277091"/>
                  </a:cubicBezTo>
                  <a:cubicBezTo>
                    <a:pt x="2456425" y="287576"/>
                    <a:pt x="2485172" y="293952"/>
                    <a:pt x="2512291" y="304800"/>
                  </a:cubicBezTo>
                  <a:cubicBezTo>
                    <a:pt x="2576547" y="330503"/>
                    <a:pt x="2542750" y="318032"/>
                    <a:pt x="2613891" y="341746"/>
                  </a:cubicBezTo>
                  <a:lnTo>
                    <a:pt x="2641600" y="350982"/>
                  </a:lnTo>
                  <a:cubicBezTo>
                    <a:pt x="2650836" y="354061"/>
                    <a:pt x="2660601" y="355864"/>
                    <a:pt x="2669309" y="360218"/>
                  </a:cubicBezTo>
                  <a:cubicBezTo>
                    <a:pt x="2714963" y="383045"/>
                    <a:pt x="2693193" y="374337"/>
                    <a:pt x="2733964" y="387927"/>
                  </a:cubicBezTo>
                  <a:cubicBezTo>
                    <a:pt x="2803529" y="434305"/>
                    <a:pt x="2715118" y="379850"/>
                    <a:pt x="2798618" y="415636"/>
                  </a:cubicBezTo>
                  <a:cubicBezTo>
                    <a:pt x="2808821" y="420009"/>
                    <a:pt x="2816124" y="429736"/>
                    <a:pt x="2826327" y="434109"/>
                  </a:cubicBezTo>
                  <a:cubicBezTo>
                    <a:pt x="2837995" y="439110"/>
                    <a:pt x="2851067" y="439859"/>
                    <a:pt x="2863273" y="443346"/>
                  </a:cubicBezTo>
                  <a:cubicBezTo>
                    <a:pt x="2872634" y="446021"/>
                    <a:pt x="2881269" y="451912"/>
                    <a:pt x="2890982" y="452582"/>
                  </a:cubicBezTo>
                  <a:cubicBezTo>
                    <a:pt x="2970900" y="458093"/>
                    <a:pt x="3051079" y="458739"/>
                    <a:pt x="3131127" y="461818"/>
                  </a:cubicBezTo>
                  <a:cubicBezTo>
                    <a:pt x="3215109" y="517807"/>
                    <a:pt x="3086275" y="426205"/>
                    <a:pt x="3186545" y="526473"/>
                  </a:cubicBezTo>
                  <a:cubicBezTo>
                    <a:pt x="3193430" y="533357"/>
                    <a:pt x="3205018" y="532630"/>
                    <a:pt x="3214255" y="535709"/>
                  </a:cubicBezTo>
                  <a:cubicBezTo>
                    <a:pt x="3230675" y="560340"/>
                    <a:pt x="3235818" y="571980"/>
                    <a:pt x="3260436" y="591127"/>
                  </a:cubicBezTo>
                  <a:cubicBezTo>
                    <a:pt x="3277961" y="604758"/>
                    <a:pt x="3298094" y="614752"/>
                    <a:pt x="3315855" y="628073"/>
                  </a:cubicBezTo>
                  <a:cubicBezTo>
                    <a:pt x="3436555" y="718599"/>
                    <a:pt x="3285998" y="606748"/>
                    <a:pt x="3380509" y="674255"/>
                  </a:cubicBezTo>
                  <a:cubicBezTo>
                    <a:pt x="3393036" y="683203"/>
                    <a:pt x="3404089" y="694327"/>
                    <a:pt x="3417455" y="701964"/>
                  </a:cubicBezTo>
                  <a:cubicBezTo>
                    <a:pt x="3427760" y="707853"/>
                    <a:pt x="3474112" y="718437"/>
                    <a:pt x="3482109" y="720436"/>
                  </a:cubicBezTo>
                  <a:cubicBezTo>
                    <a:pt x="3491345" y="726594"/>
                    <a:pt x="3499674" y="734400"/>
                    <a:pt x="3509818" y="738909"/>
                  </a:cubicBezTo>
                  <a:cubicBezTo>
                    <a:pt x="3527612" y="746817"/>
                    <a:pt x="3565236" y="757382"/>
                    <a:pt x="3565236" y="757382"/>
                  </a:cubicBezTo>
                  <a:cubicBezTo>
                    <a:pt x="3574472" y="766618"/>
                    <a:pt x="3581868" y="778168"/>
                    <a:pt x="3592945" y="785091"/>
                  </a:cubicBezTo>
                  <a:cubicBezTo>
                    <a:pt x="3605570" y="792981"/>
                    <a:pt x="3648411" y="806659"/>
                    <a:pt x="3666836" y="812800"/>
                  </a:cubicBezTo>
                  <a:cubicBezTo>
                    <a:pt x="3679151" y="822036"/>
                    <a:pt x="3692094" y="830491"/>
                    <a:pt x="3703782" y="840509"/>
                  </a:cubicBezTo>
                  <a:cubicBezTo>
                    <a:pt x="3713700" y="849010"/>
                    <a:pt x="3721180" y="860199"/>
                    <a:pt x="3731491" y="868218"/>
                  </a:cubicBezTo>
                  <a:cubicBezTo>
                    <a:pt x="3771620" y="899430"/>
                    <a:pt x="3783638" y="903529"/>
                    <a:pt x="3823855" y="923636"/>
                  </a:cubicBezTo>
                  <a:cubicBezTo>
                    <a:pt x="3833091" y="932873"/>
                    <a:pt x="3840935" y="943754"/>
                    <a:pt x="3851564" y="951346"/>
                  </a:cubicBezTo>
                  <a:cubicBezTo>
                    <a:pt x="3874411" y="967665"/>
                    <a:pt x="3910560" y="976225"/>
                    <a:pt x="3934691" y="988291"/>
                  </a:cubicBezTo>
                  <a:cubicBezTo>
                    <a:pt x="3944620" y="993255"/>
                    <a:pt x="3953164" y="1000606"/>
                    <a:pt x="3962400" y="1006764"/>
                  </a:cubicBezTo>
                  <a:cubicBezTo>
                    <a:pt x="3993188" y="1000606"/>
                    <a:pt x="4027841" y="1004445"/>
                    <a:pt x="4054764" y="988291"/>
                  </a:cubicBezTo>
                  <a:cubicBezTo>
                    <a:pt x="4088377" y="968123"/>
                    <a:pt x="4125096" y="947087"/>
                    <a:pt x="4156364" y="923636"/>
                  </a:cubicBezTo>
                  <a:lnTo>
                    <a:pt x="4230255" y="868218"/>
                  </a:lnTo>
                  <a:cubicBezTo>
                    <a:pt x="4264553" y="842494"/>
                    <a:pt x="4266973" y="847083"/>
                    <a:pt x="4285673" y="812800"/>
                  </a:cubicBezTo>
                  <a:cubicBezTo>
                    <a:pt x="4323995" y="742543"/>
                    <a:pt x="4322618" y="765732"/>
                    <a:pt x="4322618" y="729673"/>
                  </a:cubicBezTo>
                </a:path>
              </a:pathLst>
            </a:custGeom>
            <a:noFill/>
            <a:ln w="1270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700F424-F388-02A6-767E-7C152EB790BF}"/>
                </a:ext>
              </a:extLst>
            </p:cNvPr>
            <p:cNvSpPr txBox="1"/>
            <p:nvPr/>
          </p:nvSpPr>
          <p:spPr>
            <a:xfrm>
              <a:off x="1803259" y="4055878"/>
              <a:ext cx="2826327" cy="584775"/>
            </a:xfrm>
            <a:prstGeom prst="rect">
              <a:avLst/>
            </a:prstGeom>
            <a:noFill/>
          </p:spPr>
          <p:txBody>
            <a:bodyPr wrap="square" rtlCol="0">
              <a:spAutoFit/>
            </a:bodyPr>
            <a:lstStyle/>
            <a:p>
              <a:r>
                <a:rPr lang="ja-JP" altLang="en-US" sz="3200" b="1">
                  <a:solidFill>
                    <a:srgbClr val="FF0000"/>
                  </a:solidFill>
                </a:rPr>
                <a:t>ガンマ線過剰</a:t>
              </a:r>
              <a:endParaRPr lang="en-US" sz="3200" b="1">
                <a:solidFill>
                  <a:srgbClr val="FF0000"/>
                </a:solidFill>
              </a:endParaRPr>
            </a:p>
          </p:txBody>
        </p:sp>
      </p:grpSp>
      <p:sp>
        <p:nvSpPr>
          <p:cNvPr id="5" name="Slide Number Placeholder 4">
            <a:extLst>
              <a:ext uri="{FF2B5EF4-FFF2-40B4-BE49-F238E27FC236}">
                <a16:creationId xmlns:a16="http://schemas.microsoft.com/office/drawing/2014/main" id="{5BED4180-F3D6-BCD8-2ACD-2FDBB52ADFBC}"/>
              </a:ext>
            </a:extLst>
          </p:cNvPr>
          <p:cNvSpPr>
            <a:spLocks noGrp="1"/>
          </p:cNvSpPr>
          <p:nvPr>
            <p:ph type="sldNum" sz="quarter" idx="12"/>
          </p:nvPr>
        </p:nvSpPr>
        <p:spPr>
          <a:xfrm>
            <a:off x="11392930" y="6367325"/>
            <a:ext cx="381558" cy="490675"/>
          </a:xfrm>
        </p:spPr>
        <p:txBody>
          <a:bodyPr/>
          <a:lstStyle/>
          <a:p>
            <a:fld id="{C1FF6DA9-008F-8B48-92A6-B652298478BF}" type="slidenum">
              <a:rPr lang="en-US" sz="3200" smtClean="0">
                <a:solidFill>
                  <a:schemeClr val="bg1"/>
                </a:solidFill>
              </a:rPr>
              <a:t>6</a:t>
            </a:fld>
            <a:endParaRPr lang="en-US" sz="3200">
              <a:solidFill>
                <a:schemeClr val="bg1"/>
              </a:solidFill>
            </a:endParaRPr>
          </a:p>
        </p:txBody>
      </p:sp>
      <p:sp>
        <p:nvSpPr>
          <p:cNvPr id="7" name="TextBox 6">
            <a:extLst>
              <a:ext uri="{FF2B5EF4-FFF2-40B4-BE49-F238E27FC236}">
                <a16:creationId xmlns:a16="http://schemas.microsoft.com/office/drawing/2014/main" id="{4A264D37-8D6E-97DA-EDB3-C9123CD17F81}"/>
              </a:ext>
            </a:extLst>
          </p:cNvPr>
          <p:cNvSpPr txBox="1"/>
          <p:nvPr/>
        </p:nvSpPr>
        <p:spPr>
          <a:xfrm>
            <a:off x="569966" y="5777544"/>
            <a:ext cx="5565775" cy="707886"/>
          </a:xfrm>
          <a:prstGeom prst="rect">
            <a:avLst/>
          </a:prstGeom>
          <a:noFill/>
        </p:spPr>
        <p:txBody>
          <a:bodyPr wrap="square">
            <a:spAutoFit/>
          </a:bodyPr>
          <a:lstStyle/>
          <a:p>
            <a:pPr lvl="0" algn="l"/>
            <a:r>
              <a:rPr lang="en-US" sz="2000" b="1" i="0">
                <a:solidFill>
                  <a:schemeClr val="bg1"/>
                </a:solidFill>
                <a:effectLst/>
                <a:latin typeface="-apple-system"/>
              </a:rPr>
              <a:t>質量 mχ ≈ 0.5〜0.8 TeV（＝ 500〜800 GeV）</a:t>
            </a:r>
            <a:endParaRPr lang="en-US" sz="2000" b="0" i="0">
              <a:solidFill>
                <a:schemeClr val="bg1"/>
              </a:solidFill>
              <a:effectLst/>
              <a:latin typeface="-apple-system"/>
            </a:endParaRPr>
          </a:p>
          <a:p>
            <a:pPr lvl="0" algn="l"/>
            <a:r>
              <a:rPr lang="en-US" sz="2000" b="1" i="0">
                <a:solidFill>
                  <a:schemeClr val="bg1"/>
                </a:solidFill>
                <a:effectLst/>
                <a:latin typeface="-apple-system"/>
              </a:rPr>
              <a:t>対消滅断面積 ⟨σv⟩ ≈ (5〜8)×10⁻²⁵ cm³ s⁻¹</a:t>
            </a:r>
            <a:endParaRPr lang="en-US" sz="1000" b="0" i="0">
              <a:solidFill>
                <a:schemeClr val="bg1"/>
              </a:solidFill>
              <a:effectLst/>
              <a:latin typeface="-apple-syste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2B6E58-BECE-8017-6BD9-4D2871FB2ED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FA8569A-DFDC-DA90-A79A-18CE87ED614D}"/>
              </a:ext>
            </a:extLst>
          </p:cNvPr>
          <p:cNvSpPr txBox="1"/>
          <p:nvPr/>
        </p:nvSpPr>
        <p:spPr>
          <a:xfrm>
            <a:off x="114392" y="90536"/>
            <a:ext cx="7615273" cy="584775"/>
          </a:xfrm>
          <a:prstGeom prst="rect">
            <a:avLst/>
          </a:prstGeom>
          <a:noFill/>
        </p:spPr>
        <p:txBody>
          <a:bodyPr wrap="square" rtlCol="0">
            <a:spAutoFit/>
          </a:bodyPr>
          <a:lstStyle/>
          <a:p>
            <a:r>
              <a:rPr lang="en-US" altLang="ja-JP" sz="3200" dirty="0">
                <a:solidFill>
                  <a:schemeClr val="bg1"/>
                </a:solidFill>
              </a:rPr>
              <a:t>Method</a:t>
            </a:r>
            <a:r>
              <a:rPr lang="ja-JP" altLang="en-US" sz="3200">
                <a:solidFill>
                  <a:schemeClr val="bg1"/>
                </a:solidFill>
              </a:rPr>
              <a:t>　ガンマ線過剰の解析手法の概要</a:t>
            </a:r>
            <a:endParaRPr lang="en-US" sz="3200" dirty="0">
              <a:solidFill>
                <a:schemeClr val="bg1"/>
              </a:solidFill>
            </a:endParaRPr>
          </a:p>
        </p:txBody>
      </p:sp>
      <p:grpSp>
        <p:nvGrpSpPr>
          <p:cNvPr id="6" name="Group 5">
            <a:extLst>
              <a:ext uri="{FF2B5EF4-FFF2-40B4-BE49-F238E27FC236}">
                <a16:creationId xmlns:a16="http://schemas.microsoft.com/office/drawing/2014/main" id="{1478F023-4A06-0DBC-2195-1B707D6DEF3A}"/>
              </a:ext>
            </a:extLst>
          </p:cNvPr>
          <p:cNvGrpSpPr/>
          <p:nvPr/>
        </p:nvGrpSpPr>
        <p:grpSpPr>
          <a:xfrm>
            <a:off x="7773273" y="148418"/>
            <a:ext cx="4245787" cy="6350689"/>
            <a:chOff x="6341439" y="314595"/>
            <a:chExt cx="5295777" cy="6128887"/>
          </a:xfrm>
        </p:grpSpPr>
        <p:sp>
          <p:nvSpPr>
            <p:cNvPr id="10" name="Rounded Rectangle 9"/>
            <p:cNvSpPr/>
            <p:nvPr/>
          </p:nvSpPr>
          <p:spPr>
            <a:xfrm>
              <a:off x="6341439" y="314595"/>
              <a:ext cx="5254752" cy="1337547"/>
            </a:xfrm>
            <a:prstGeom prst="roundRect">
              <a:avLst/>
            </a:prstGeom>
            <a:solidFill>
              <a:schemeClr val="bg1"/>
            </a:solidFill>
            <a:ln w="19050">
              <a:solidFill>
                <a:srgbClr val="4A90D2"/>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dirty="0">
                  <a:solidFill>
                    <a:schemeClr val="tx1"/>
                  </a:solidFill>
                </a:rPr>
                <a:t>① </a:t>
              </a:r>
              <a:r>
                <a:rPr lang="ja-JP" altLang="en-US" sz="2400" b="1">
                  <a:solidFill>
                    <a:schemeClr val="tx1"/>
                  </a:solidFill>
                </a:rPr>
                <a:t>生</a:t>
              </a:r>
              <a:r>
                <a:rPr sz="2400" b="1" dirty="0" err="1">
                  <a:solidFill>
                    <a:schemeClr val="tx1"/>
                  </a:solidFill>
                </a:rPr>
                <a:t>データ</a:t>
              </a:r>
              <a:endParaRPr sz="2400" b="1">
                <a:solidFill>
                  <a:schemeClr val="tx1"/>
                </a:solidFill>
              </a:endParaRPr>
            </a:p>
            <a:p>
              <a:pPr algn="ctr"/>
              <a:r>
                <a:rPr>
                  <a:solidFill>
                    <a:schemeClr val="tx1"/>
                  </a:solidFill>
                </a:rPr>
                <a:t>Fermi-LAT 光子</a:t>
              </a:r>
            </a:p>
            <a:p>
              <a:pPr algn="ctr"/>
              <a:r>
                <a:rPr>
                  <a:solidFill>
                    <a:schemeClr val="tx1"/>
                  </a:solidFill>
                </a:rPr>
                <a:t>1–814 GeV を対数13ビンに分割</a:t>
              </a:r>
            </a:p>
            <a:p>
              <a:pPr algn="ctr"/>
              <a:r>
                <a:rPr>
                  <a:solidFill>
                    <a:schemeClr val="tx1"/>
                  </a:solidFill>
                </a:rPr>
                <a:t>|b|&lt;10° は除外</a:t>
              </a:r>
            </a:p>
          </p:txBody>
        </p:sp>
        <p:sp>
          <p:nvSpPr>
            <p:cNvPr id="12" name="Rounded Rectangle 11"/>
            <p:cNvSpPr/>
            <p:nvPr/>
          </p:nvSpPr>
          <p:spPr>
            <a:xfrm>
              <a:off x="6341440" y="1906156"/>
              <a:ext cx="5295776" cy="1454659"/>
            </a:xfrm>
            <a:prstGeom prst="roundRect">
              <a:avLst/>
            </a:prstGeom>
            <a:solidFill>
              <a:schemeClr val="bg1"/>
            </a:solidFill>
            <a:ln w="19050">
              <a:solidFill>
                <a:srgbClr val="4A90D2"/>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r>
                <a:rPr lang="en-US" sz="2400" b="1">
                  <a:solidFill>
                    <a:schemeClr val="tx1"/>
                  </a:solidFill>
                </a:rPr>
                <a:t>		② </a:t>
              </a:r>
              <a:r>
                <a:rPr sz="2400" b="1">
                  <a:solidFill>
                    <a:schemeClr val="tx1"/>
                  </a:solidFill>
                </a:rPr>
                <a:t>フィット</a:t>
              </a:r>
            </a:p>
            <a:p>
              <a:r>
                <a:rPr lang="ja-JP" altLang="en-US" sz="2000">
                  <a:solidFill>
                    <a:schemeClr val="tx1"/>
                  </a:solidFill>
                </a:rPr>
                <a:t>各成分</a:t>
              </a:r>
              <a:r>
                <a:rPr sz="2000">
                  <a:solidFill>
                    <a:schemeClr val="tx1"/>
                  </a:solidFill>
                </a:rPr>
                <a:t> </a:t>
              </a:r>
              <a:r>
                <a:rPr lang="ja-JP" altLang="en-US" sz="2000">
                  <a:solidFill>
                    <a:schemeClr val="tx1"/>
                  </a:solidFill>
                </a:rPr>
                <a:t>に</a:t>
              </a:r>
              <a:r>
                <a:rPr sz="2000">
                  <a:solidFill>
                    <a:schemeClr val="tx1"/>
                  </a:solidFill>
                </a:rPr>
                <a:t>MCMC が係数 f_n を決める</a:t>
              </a:r>
              <a:endParaRPr sz="1100">
                <a:solidFill>
                  <a:schemeClr val="tx1"/>
                </a:solidFill>
              </a:endParaRPr>
            </a:p>
          </p:txBody>
        </p:sp>
        <p:sp>
          <p:nvSpPr>
            <p:cNvPr id="13" name="Rounded Rectangle 12"/>
            <p:cNvSpPr/>
            <p:nvPr/>
          </p:nvSpPr>
          <p:spPr>
            <a:xfrm>
              <a:off x="6368504" y="3541764"/>
              <a:ext cx="5254753" cy="1342751"/>
            </a:xfrm>
            <a:prstGeom prst="roundRect">
              <a:avLst/>
            </a:prstGeom>
            <a:solidFill>
              <a:schemeClr val="bg1"/>
            </a:solidFill>
            <a:ln w="19050">
              <a:solidFill>
                <a:srgbClr val="4A90D2"/>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lang="ja-JP" altLang="en-US" sz="2400" b="1">
                  <a:solidFill>
                    <a:schemeClr val="tx1"/>
                  </a:solidFill>
                </a:rPr>
                <a:t>③</a:t>
              </a:r>
              <a:r>
                <a:rPr sz="2400" b="1">
                  <a:solidFill>
                    <a:schemeClr val="tx1"/>
                  </a:solidFill>
                </a:rPr>
                <a:t> 差し引き</a:t>
              </a:r>
            </a:p>
            <a:p>
              <a:pPr algn="ctr"/>
              <a:r>
                <a:rPr lang="ja-JP" altLang="en-US">
                  <a:solidFill>
                    <a:schemeClr val="tx1"/>
                  </a:solidFill>
                </a:rPr>
                <a:t>既知の６</a:t>
              </a:r>
              <a:r>
                <a:rPr>
                  <a:solidFill>
                    <a:schemeClr val="tx1"/>
                  </a:solidFill>
                </a:rPr>
                <a:t>成分</a:t>
              </a:r>
              <a:r>
                <a:rPr lang="ja-JP" altLang="en-US">
                  <a:solidFill>
                    <a:schemeClr val="tx1"/>
                  </a:solidFill>
                </a:rPr>
                <a:t>＋</a:t>
              </a:r>
              <a:r>
                <a:rPr lang="en-US" altLang="ja-JP" sz="2000" b="1">
                  <a:solidFill>
                    <a:srgbClr val="FF0000"/>
                  </a:solidFill>
                </a:rPr>
                <a:t>DM</a:t>
              </a:r>
              <a:r>
                <a:rPr lang="ja-JP" altLang="en-US" sz="2000" b="1">
                  <a:solidFill>
                    <a:srgbClr val="FF0000"/>
                  </a:solidFill>
                </a:rPr>
                <a:t>　</a:t>
              </a:r>
              <a:r>
                <a:rPr lang="en-US" altLang="ja-JP" sz="2000" b="1">
                  <a:solidFill>
                    <a:srgbClr val="FF0000"/>
                  </a:solidFill>
                </a:rPr>
                <a:t>halo</a:t>
              </a:r>
              <a:endParaRPr b="1">
                <a:solidFill>
                  <a:srgbClr val="FF0000"/>
                </a:solidFill>
              </a:endParaRPr>
            </a:p>
            <a:p>
              <a:pPr algn="ctr"/>
              <a:r>
                <a:rPr>
                  <a:solidFill>
                    <a:schemeClr val="tx1"/>
                  </a:solidFill>
                </a:rPr>
                <a:t>すべて引く → </a:t>
              </a:r>
              <a:r>
                <a:rPr lang="ja-JP" altLang="en-US">
                  <a:solidFill>
                    <a:schemeClr val="tx1"/>
                  </a:solidFill>
                </a:rPr>
                <a:t>０</a:t>
              </a:r>
              <a:endParaRPr>
                <a:solidFill>
                  <a:schemeClr val="tx1"/>
                </a:solidFill>
              </a:endParaRPr>
            </a:p>
          </p:txBody>
        </p:sp>
        <p:sp>
          <p:nvSpPr>
            <p:cNvPr id="14" name="Rounded Rectangle 13"/>
            <p:cNvSpPr/>
            <p:nvPr/>
          </p:nvSpPr>
          <p:spPr>
            <a:xfrm>
              <a:off x="6341440" y="5157504"/>
              <a:ext cx="5254753" cy="1285978"/>
            </a:xfrm>
            <a:prstGeom prst="roundRect">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lang="ja-JP" altLang="en-US" sz="2400" b="1">
                  <a:solidFill>
                    <a:schemeClr val="tx1"/>
                  </a:solidFill>
                </a:rPr>
                <a:t>④</a:t>
              </a:r>
              <a:r>
                <a:rPr sz="2400" b="1">
                  <a:solidFill>
                    <a:schemeClr val="tx1"/>
                  </a:solidFill>
                </a:rPr>
                <a:t> 有意度 σ</a:t>
              </a:r>
            </a:p>
            <a:p>
              <a:pPr algn="ctr"/>
              <a:r>
                <a:rPr lang="en-US" sz="2400" b="1">
                  <a:solidFill>
                    <a:srgbClr val="FF0000"/>
                  </a:solidFill>
                </a:rPr>
                <a:t>DM </a:t>
              </a:r>
              <a:r>
                <a:rPr sz="2400" b="1">
                  <a:solidFill>
                    <a:srgbClr val="FF0000"/>
                  </a:solidFill>
                </a:rPr>
                <a:t>halo </a:t>
              </a:r>
              <a:r>
                <a:rPr lang="ja-JP" altLang="en-US" sz="2000">
                  <a:solidFill>
                    <a:schemeClr val="tx1"/>
                  </a:solidFill>
                </a:rPr>
                <a:t>含む</a:t>
              </a:r>
              <a:r>
                <a:rPr lang="en-US" altLang="ja-JP" sz="2000">
                  <a:solidFill>
                    <a:schemeClr val="tx1"/>
                  </a:solidFill>
                </a:rPr>
                <a:t>/</a:t>
              </a:r>
              <a:r>
                <a:rPr lang="ja-JP" altLang="en-US" sz="2000">
                  <a:solidFill>
                    <a:schemeClr val="tx1"/>
                  </a:solidFill>
                </a:rPr>
                <a:t>含ま</a:t>
              </a:r>
              <a:r>
                <a:rPr sz="2000">
                  <a:solidFill>
                    <a:schemeClr val="tx1"/>
                  </a:solidFill>
                </a:rPr>
                <a:t>ないで</a:t>
              </a:r>
              <a:r>
                <a:rPr lang="ja-JP" altLang="en-US" sz="2000">
                  <a:solidFill>
                    <a:schemeClr val="tx1"/>
                  </a:solidFill>
                </a:rPr>
                <a:t>比較</a:t>
              </a:r>
              <a:endParaRPr lang="en-US" altLang="ja-JP" sz="2000">
                <a:solidFill>
                  <a:schemeClr val="tx1"/>
                </a:solidFill>
              </a:endParaRPr>
            </a:p>
            <a:p>
              <a:pPr algn="ctr"/>
              <a:endParaRPr sz="2000">
                <a:solidFill>
                  <a:schemeClr val="tx1"/>
                </a:solidFill>
              </a:endParaRPr>
            </a:p>
            <a:p>
              <a:pPr algn="ctr"/>
              <a:endParaRPr sz="2000">
                <a:solidFill>
                  <a:schemeClr val="tx1"/>
                </a:solidFill>
              </a:endParaRPr>
            </a:p>
          </p:txBody>
        </p:sp>
        <p:sp>
          <p:nvSpPr>
            <p:cNvPr id="18" name="Down Arrow 17"/>
            <p:cNvSpPr/>
            <p:nvPr/>
          </p:nvSpPr>
          <p:spPr>
            <a:xfrm>
              <a:off x="6341439" y="1311783"/>
              <a:ext cx="402336" cy="914399"/>
            </a:xfrm>
            <a:prstGeom prst="downArrow">
              <a:avLst/>
            </a:prstGeom>
            <a:solidFill>
              <a:srgbClr val="E8E8E8"/>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wn Arrow 17">
              <a:extLst>
                <a:ext uri="{FF2B5EF4-FFF2-40B4-BE49-F238E27FC236}">
                  <a16:creationId xmlns:a16="http://schemas.microsoft.com/office/drawing/2014/main" id="{1345564D-8BA6-C9D2-CEB5-78DE4B6A1E9E}"/>
                </a:ext>
              </a:extLst>
            </p:cNvPr>
            <p:cNvSpPr/>
            <p:nvPr/>
          </p:nvSpPr>
          <p:spPr>
            <a:xfrm>
              <a:off x="6383742" y="3126418"/>
              <a:ext cx="402336" cy="914399"/>
            </a:xfrm>
            <a:prstGeom prst="downArrow">
              <a:avLst/>
            </a:prstGeom>
            <a:solidFill>
              <a:srgbClr val="E8E8E8"/>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wn Arrow 17">
              <a:extLst>
                <a:ext uri="{FF2B5EF4-FFF2-40B4-BE49-F238E27FC236}">
                  <a16:creationId xmlns:a16="http://schemas.microsoft.com/office/drawing/2014/main" id="{26B5F550-A88D-0E63-7A2C-67992AB81884}"/>
                </a:ext>
              </a:extLst>
            </p:cNvPr>
            <p:cNvSpPr/>
            <p:nvPr/>
          </p:nvSpPr>
          <p:spPr>
            <a:xfrm>
              <a:off x="6368505" y="4720823"/>
              <a:ext cx="402336" cy="914399"/>
            </a:xfrm>
            <a:prstGeom prst="downArrow">
              <a:avLst/>
            </a:prstGeom>
            <a:solidFill>
              <a:srgbClr val="E8E8E8"/>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pic>
        <p:nvPicPr>
          <p:cNvPr id="7" name="Picture 6" descr="The image depicts various astrophysical phenomena and data points, including gas-correlated emissions, IC emission, Fermi bubbles, loop structures, point sources, and a mask for further analysis, all annotated with specific measurements and energy values.&#10;&#10;AI-generated content may be incorrect.">
            <a:extLst>
              <a:ext uri="{FF2B5EF4-FFF2-40B4-BE49-F238E27FC236}">
                <a16:creationId xmlns:a16="http://schemas.microsoft.com/office/drawing/2014/main" id="{86A4618C-118A-52A3-4D57-29E4C7797A3C}"/>
              </a:ext>
            </a:extLst>
          </p:cNvPr>
          <p:cNvPicPr>
            <a:picLocks noChangeAspect="1"/>
          </p:cNvPicPr>
          <p:nvPr/>
        </p:nvPicPr>
        <p:blipFill>
          <a:blip r:embed="rId3"/>
          <a:srcRect r="67387" b="52362"/>
          <a:stretch>
            <a:fillRect/>
          </a:stretch>
        </p:blipFill>
        <p:spPr>
          <a:xfrm>
            <a:off x="249439" y="736247"/>
            <a:ext cx="2236573" cy="1790641"/>
          </a:xfrm>
          <a:prstGeom prst="rect">
            <a:avLst/>
          </a:prstGeom>
        </p:spPr>
      </p:pic>
      <p:sp>
        <p:nvSpPr>
          <p:cNvPr id="4" name="TextBox 3">
            <a:extLst>
              <a:ext uri="{FF2B5EF4-FFF2-40B4-BE49-F238E27FC236}">
                <a16:creationId xmlns:a16="http://schemas.microsoft.com/office/drawing/2014/main" id="{122D01AF-31FD-1B8A-A25F-A7E41995EE1B}"/>
              </a:ext>
            </a:extLst>
          </p:cNvPr>
          <p:cNvSpPr txBox="1"/>
          <p:nvPr/>
        </p:nvSpPr>
        <p:spPr>
          <a:xfrm>
            <a:off x="3389893" y="6420556"/>
            <a:ext cx="3037443" cy="369332"/>
          </a:xfrm>
          <a:prstGeom prst="rect">
            <a:avLst/>
          </a:prstGeom>
          <a:noFill/>
        </p:spPr>
        <p:txBody>
          <a:bodyPr wrap="square">
            <a:spAutoFit/>
          </a:bodyPr>
          <a:lstStyle/>
          <a:p>
            <a:r>
              <a:rPr lang="en-US">
                <a:solidFill>
                  <a:schemeClr val="bg1"/>
                </a:solidFill>
              </a:rPr>
              <a:t>Alemanno et al. (2026)</a:t>
            </a:r>
          </a:p>
        </p:txBody>
      </p:sp>
      <p:sp>
        <p:nvSpPr>
          <p:cNvPr id="16" name="TextBox 15">
            <a:extLst>
              <a:ext uri="{FF2B5EF4-FFF2-40B4-BE49-F238E27FC236}">
                <a16:creationId xmlns:a16="http://schemas.microsoft.com/office/drawing/2014/main" id="{D29F2465-06AD-0D9D-8370-B91A1DAC2E93}"/>
              </a:ext>
            </a:extLst>
          </p:cNvPr>
          <p:cNvSpPr txBox="1"/>
          <p:nvPr/>
        </p:nvSpPr>
        <p:spPr>
          <a:xfrm>
            <a:off x="-67375" y="2580513"/>
            <a:ext cx="3098365" cy="369332"/>
          </a:xfrm>
          <a:prstGeom prst="rect">
            <a:avLst/>
          </a:prstGeom>
          <a:noFill/>
        </p:spPr>
        <p:txBody>
          <a:bodyPr wrap="square">
            <a:spAutoFit/>
          </a:bodyPr>
          <a:lstStyle/>
          <a:p>
            <a:r>
              <a:rPr lang="ja-JP" altLang="en-US">
                <a:solidFill>
                  <a:schemeClr val="bg1"/>
                </a:solidFill>
              </a:rPr>
              <a:t>星間ガスに当たって出る </a:t>
            </a:r>
            <a:r>
              <a:rPr lang="en-US" altLang="ja-JP">
                <a:solidFill>
                  <a:schemeClr val="bg1"/>
                </a:solidFill>
              </a:rPr>
              <a:t>γ </a:t>
            </a:r>
            <a:r>
              <a:rPr lang="ja-JP" altLang="en-US">
                <a:solidFill>
                  <a:schemeClr val="bg1"/>
                </a:solidFill>
              </a:rPr>
              <a:t>線</a:t>
            </a:r>
            <a:endParaRPr lang="en-US">
              <a:solidFill>
                <a:schemeClr val="bg1"/>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8EE1F6-7759-B366-5F79-74EF4DD8CEC3}"/>
                  </a:ext>
                </a:extLst>
              </p:cNvPr>
              <p:cNvSpPr txBox="1"/>
              <p:nvPr/>
            </p:nvSpPr>
            <p:spPr>
              <a:xfrm>
                <a:off x="7502621" y="5989594"/>
                <a:ext cx="4516439" cy="465064"/>
              </a:xfrm>
              <a:prstGeom prst="rect">
                <a:avLst/>
              </a:prstGeom>
              <a:noFill/>
            </p:spPr>
            <p:txBody>
              <a:bodyPr wrap="square">
                <a:spAutoFit/>
              </a:bodyPr>
              <a:lstStyle/>
              <a:p>
                <a:pPr/>
                <a14:m>
                  <m:oMathPara xmlns:m="http://schemas.openxmlformats.org/officeDocument/2006/math">
                    <m:oMath>
                      <m:r>
                        <a:rPr lang="en-US" sz="2000" b="1" i="1" smtClean="0">
                          <a:solidFill>
                            <a:schemeClr val="tx1"/>
                          </a:solidFill>
                          <a:latin typeface="Cambria Math" panose="02040503050406030204" pitchFamily="18" charset="0"/>
                        </a:rPr>
                        <m:t>𝝈</m:t>
                      </m:r>
                      <m:r>
                        <a:rPr lang="en-US" sz="2000" b="1" i="0">
                          <a:solidFill>
                            <a:schemeClr val="tx1"/>
                          </a:solidFill>
                          <a:latin typeface="Cambria Math" panose="02040503050406030204" pitchFamily="18" charset="0"/>
                        </a:rPr>
                        <m:t>=</m:t>
                      </m:r>
                      <m:rad>
                        <m:radPr>
                          <m:degHide m:val="on"/>
                          <m:ctrlPr>
                            <a:rPr lang="en-US" sz="2000" b="1" i="1">
                              <a:solidFill>
                                <a:schemeClr val="tx1"/>
                              </a:solidFill>
                              <a:latin typeface="Cambria Math" panose="02040503050406030204" pitchFamily="18" charset="0"/>
                            </a:rPr>
                          </m:ctrlPr>
                        </m:radPr>
                        <m:deg/>
                        <m:e>
                          <m:r>
                            <a:rPr lang="en-US" sz="2000" b="1" i="0">
                              <a:solidFill>
                                <a:schemeClr val="tx1"/>
                              </a:solidFill>
                              <a:latin typeface="Cambria Math" panose="02040503050406030204" pitchFamily="18" charset="0"/>
                            </a:rPr>
                            <m:t>𝟐</m:t>
                          </m:r>
                          <m:d>
                            <m:dPr>
                              <m:ctrlPr>
                                <a:rPr lang="en-US" sz="2000" b="1" i="1">
                                  <a:solidFill>
                                    <a:schemeClr val="tx1"/>
                                  </a:solidFill>
                                  <a:latin typeface="Cambria Math" panose="02040503050406030204" pitchFamily="18" charset="0"/>
                                </a:rPr>
                              </m:ctrlPr>
                            </m:dPr>
                            <m:e>
                              <m:sSub>
                                <m:sSubPr>
                                  <m:ctrlPr>
                                    <a:rPr lang="en-US" sz="2000" b="1" i="1">
                                      <a:solidFill>
                                        <a:schemeClr val="tx1"/>
                                      </a:solidFill>
                                      <a:latin typeface="Cambria Math" panose="02040503050406030204" pitchFamily="18" charset="0"/>
                                    </a:rPr>
                                  </m:ctrlPr>
                                </m:sSubPr>
                                <m:e>
                                  <m:func>
                                    <m:funcPr>
                                      <m:ctrlPr>
                                        <a:rPr lang="en-US" sz="2000" b="1" i="0">
                                          <a:solidFill>
                                            <a:schemeClr val="tx1"/>
                                          </a:solidFill>
                                          <a:latin typeface="Cambria Math" panose="02040503050406030204" pitchFamily="18" charset="0"/>
                                        </a:rPr>
                                      </m:ctrlPr>
                                    </m:funcPr>
                                    <m:fName>
                                      <m:r>
                                        <a:rPr lang="en-US" sz="2000" b="1" i="0">
                                          <a:solidFill>
                                            <a:schemeClr val="tx1"/>
                                          </a:solidFill>
                                          <a:latin typeface="Cambria Math" panose="02040503050406030204" pitchFamily="18" charset="0"/>
                                        </a:rPr>
                                        <m:t>𝐥𝐧</m:t>
                                      </m:r>
                                    </m:fName>
                                    <m:e>
                                      <m:r>
                                        <a:rPr lang="en-US" sz="2000" b="1" i="1">
                                          <a:solidFill>
                                            <a:schemeClr val="tx1"/>
                                          </a:solidFill>
                                          <a:latin typeface="Cambria Math" panose="02040503050406030204" pitchFamily="18" charset="0"/>
                                        </a:rPr>
                                        <m:t>𝑳</m:t>
                                      </m:r>
                                    </m:e>
                                  </m:func>
                                </m:e>
                                <m:sub>
                                  <m:r>
                                    <a:rPr lang="en-US" sz="2000" b="1" i="0">
                                      <a:solidFill>
                                        <a:schemeClr val="tx1"/>
                                      </a:solidFill>
                                      <a:latin typeface="Cambria Math" panose="02040503050406030204" pitchFamily="18" charset="0"/>
                                    </a:rPr>
                                    <m:t>𝐡𝐚𝐥𝐨</m:t>
                                  </m:r>
                                </m:sub>
                              </m:sSub>
                              <m:r>
                                <a:rPr lang="en-US" sz="2000" b="1" i="0">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func>
                                    <m:funcPr>
                                      <m:ctrlPr>
                                        <a:rPr lang="en-US" sz="2000" b="1" i="0">
                                          <a:solidFill>
                                            <a:schemeClr val="tx1"/>
                                          </a:solidFill>
                                          <a:latin typeface="Cambria Math" panose="02040503050406030204" pitchFamily="18" charset="0"/>
                                        </a:rPr>
                                      </m:ctrlPr>
                                    </m:funcPr>
                                    <m:fName>
                                      <m:r>
                                        <a:rPr lang="en-US" sz="2000" b="1" i="0">
                                          <a:solidFill>
                                            <a:schemeClr val="tx1"/>
                                          </a:solidFill>
                                          <a:latin typeface="Cambria Math" panose="02040503050406030204" pitchFamily="18" charset="0"/>
                                        </a:rPr>
                                        <m:t>𝐥𝐧</m:t>
                                      </m:r>
                                    </m:fName>
                                    <m:e>
                                      <m:r>
                                        <a:rPr lang="en-US" sz="2000" b="1" i="1">
                                          <a:solidFill>
                                            <a:schemeClr val="tx1"/>
                                          </a:solidFill>
                                          <a:latin typeface="Cambria Math" panose="02040503050406030204" pitchFamily="18" charset="0"/>
                                        </a:rPr>
                                        <m:t>𝑳</m:t>
                                      </m:r>
                                    </m:e>
                                  </m:func>
                                </m:e>
                                <m:sub>
                                  <m:r>
                                    <a:rPr lang="en-US" sz="2000" b="1" i="0">
                                      <a:solidFill>
                                        <a:schemeClr val="tx1"/>
                                      </a:solidFill>
                                      <a:latin typeface="Cambria Math" panose="02040503050406030204" pitchFamily="18" charset="0"/>
                                    </a:rPr>
                                    <m:t>𝐧𝐨</m:t>
                                  </m:r>
                                  <m:r>
                                    <m:rPr>
                                      <m:nor/>
                                    </m:rPr>
                                    <a:rPr lang="en-US" sz="2000" b="0" i="0">
                                      <a:solidFill>
                                        <a:schemeClr val="tx1"/>
                                      </a:solidFill>
                                      <a:latin typeface="Cambria Math" panose="02040503050406030204" pitchFamily="18" charset="0"/>
                                    </a:rPr>
                                    <m:t>−</m:t>
                                  </m:r>
                                  <m:r>
                                    <a:rPr lang="en-US" sz="2000" b="1" i="0">
                                      <a:solidFill>
                                        <a:schemeClr val="tx1"/>
                                      </a:solidFill>
                                      <a:latin typeface="Cambria Math" panose="02040503050406030204" pitchFamily="18" charset="0"/>
                                    </a:rPr>
                                    <m:t>𝐡𝐚𝐥𝐨</m:t>
                                  </m:r>
                                </m:sub>
                              </m:sSub>
                            </m:e>
                          </m:d>
                        </m:e>
                      </m:rad>
                    </m:oMath>
                  </m:oMathPara>
                </a14:m>
                <a:endParaRPr lang="en-US" b="1">
                  <a:solidFill>
                    <a:schemeClr val="tx1"/>
                  </a:solidFill>
                </a:endParaRPr>
              </a:p>
            </p:txBody>
          </p:sp>
        </mc:Choice>
        <mc:Fallback xmlns="">
          <p:sp>
            <p:nvSpPr>
              <p:cNvPr id="8" name="TextBox 7">
                <a:extLst>
                  <a:ext uri="{FF2B5EF4-FFF2-40B4-BE49-F238E27FC236}">
                    <a16:creationId xmlns:a16="http://schemas.microsoft.com/office/drawing/2014/main" id="{1A8EE1F6-7759-B366-5F79-74EF4DD8CEC3}"/>
                  </a:ext>
                </a:extLst>
              </p:cNvPr>
              <p:cNvSpPr txBox="1">
                <a:spLocks noRot="1" noChangeAspect="1" noMove="1" noResize="1" noEditPoints="1" noAdjustHandles="1" noChangeArrowheads="1" noChangeShapeType="1" noTextEdit="1"/>
              </p:cNvSpPr>
              <p:nvPr/>
            </p:nvSpPr>
            <p:spPr>
              <a:xfrm>
                <a:off x="7502621" y="5989594"/>
                <a:ext cx="4516439" cy="465064"/>
              </a:xfrm>
              <a:prstGeom prst="rect">
                <a:avLst/>
              </a:prstGeom>
              <a:blipFill>
                <a:blip r:embed="rId4"/>
                <a:stretch>
                  <a:fillRect b="-2632"/>
                </a:stretch>
              </a:blipFill>
            </p:spPr>
            <p:txBody>
              <a:bodyPr/>
              <a:lstStyle/>
              <a:p>
                <a:r>
                  <a:rPr lang="en-US">
                    <a:noFill/>
                  </a:rPr>
                  <a:t> </a:t>
                </a:r>
              </a:p>
            </p:txBody>
          </p:sp>
        </mc:Fallback>
      </mc:AlternateContent>
      <p:sp>
        <p:nvSpPr>
          <p:cNvPr id="2" name="Slide Number Placeholder 4">
            <a:extLst>
              <a:ext uri="{FF2B5EF4-FFF2-40B4-BE49-F238E27FC236}">
                <a16:creationId xmlns:a16="http://schemas.microsoft.com/office/drawing/2014/main" id="{5F54D5C3-65F9-1348-801E-DB1FFF67C00F}"/>
              </a:ext>
            </a:extLst>
          </p:cNvPr>
          <p:cNvSpPr>
            <a:spLocks noGrp="1"/>
          </p:cNvSpPr>
          <p:nvPr>
            <p:ph type="sldNum" sz="quarter" idx="12"/>
          </p:nvPr>
        </p:nvSpPr>
        <p:spPr>
          <a:xfrm>
            <a:off x="11637502" y="6420556"/>
            <a:ext cx="381558" cy="490675"/>
          </a:xfrm>
        </p:spPr>
        <p:txBody>
          <a:bodyPr/>
          <a:lstStyle/>
          <a:p>
            <a:fld id="{C1FF6DA9-008F-8B48-92A6-B652298478BF}" type="slidenum">
              <a:rPr lang="en-US" sz="3200" smtClean="0">
                <a:solidFill>
                  <a:schemeClr val="bg1"/>
                </a:solidFill>
              </a:rPr>
              <a:t>7</a:t>
            </a:fld>
            <a:endParaRPr lang="en-US" sz="3200">
              <a:solidFill>
                <a:schemeClr val="bg1"/>
              </a:solidFill>
            </a:endParaRPr>
          </a:p>
        </p:txBody>
      </p:sp>
      <p:pic>
        <p:nvPicPr>
          <p:cNvPr id="15" name="Picture 14" descr="The image depicts a series of plots and graphs illustrating various measurements and observations related to high-energy gamma-ray emissions, such as gas-correlated emissions, Fermi Bubbles, and point sources, along with specific parameters like angle and flux, and includes a mask for further analysis.&#10;&#10;AI-generated content may be incorrect.">
            <a:extLst>
              <a:ext uri="{FF2B5EF4-FFF2-40B4-BE49-F238E27FC236}">
                <a16:creationId xmlns:a16="http://schemas.microsoft.com/office/drawing/2014/main" id="{550C1521-70D7-93B1-DA76-68E691072220}"/>
              </a:ext>
            </a:extLst>
          </p:cNvPr>
          <p:cNvPicPr>
            <a:picLocks noChangeAspect="1"/>
          </p:cNvPicPr>
          <p:nvPr/>
        </p:nvPicPr>
        <p:blipFill>
          <a:blip r:embed="rId5"/>
          <a:srcRect l="33542" r="32479" b="48459"/>
          <a:stretch>
            <a:fillRect/>
          </a:stretch>
        </p:blipFill>
        <p:spPr>
          <a:xfrm>
            <a:off x="3030990" y="736247"/>
            <a:ext cx="2225726" cy="1851577"/>
          </a:xfrm>
          <a:prstGeom prst="rect">
            <a:avLst/>
          </a:prstGeom>
        </p:spPr>
      </p:pic>
      <p:sp>
        <p:nvSpPr>
          <p:cNvPr id="22" name="TextBox 21">
            <a:extLst>
              <a:ext uri="{FF2B5EF4-FFF2-40B4-BE49-F238E27FC236}">
                <a16:creationId xmlns:a16="http://schemas.microsoft.com/office/drawing/2014/main" id="{EA40E714-FE74-CFBF-7FEA-E725C9FC24ED}"/>
              </a:ext>
            </a:extLst>
          </p:cNvPr>
          <p:cNvSpPr txBox="1"/>
          <p:nvPr/>
        </p:nvSpPr>
        <p:spPr>
          <a:xfrm>
            <a:off x="3052899" y="2587824"/>
            <a:ext cx="2508022" cy="369332"/>
          </a:xfrm>
          <a:prstGeom prst="rect">
            <a:avLst/>
          </a:prstGeom>
          <a:noFill/>
        </p:spPr>
        <p:txBody>
          <a:bodyPr wrap="square">
            <a:spAutoFit/>
          </a:bodyPr>
          <a:lstStyle/>
          <a:p>
            <a:r>
              <a:rPr lang="ja-JP" altLang="en-US" sz="1800" b="1">
                <a:solidFill>
                  <a:schemeClr val="bg1"/>
                </a:solidFill>
              </a:rPr>
              <a:t>逆コンプトン散乱（</a:t>
            </a:r>
            <a:r>
              <a:rPr lang="en-US" altLang="ja-JP" sz="1800" b="1">
                <a:solidFill>
                  <a:schemeClr val="bg1"/>
                </a:solidFill>
              </a:rPr>
              <a:t>ICS</a:t>
            </a:r>
            <a:r>
              <a:rPr lang="ja-JP" altLang="en-US" sz="1800" b="1">
                <a:solidFill>
                  <a:schemeClr val="bg1"/>
                </a:solidFill>
              </a:rPr>
              <a:t>）</a:t>
            </a:r>
            <a:endParaRPr lang="en-US" sz="1800" b="1">
              <a:solidFill>
                <a:schemeClr val="bg1"/>
              </a:solidFill>
            </a:endParaRPr>
          </a:p>
        </p:txBody>
      </p:sp>
      <p:pic>
        <p:nvPicPr>
          <p:cNvPr id="28" name="Picture 27" descr="The image depicts various astrophysical phenomena and data points, including gas-correlated emissions, IC emission, Fermi bubbles, loop structures, point sources, and a mask for further analysis, all annotated with specific measurements and energy values.&#10;&#10;AI-generated content may be incorrect.">
            <a:extLst>
              <a:ext uri="{FF2B5EF4-FFF2-40B4-BE49-F238E27FC236}">
                <a16:creationId xmlns:a16="http://schemas.microsoft.com/office/drawing/2014/main" id="{CB791166-5984-8B3B-28FF-1C854453958B}"/>
              </a:ext>
            </a:extLst>
          </p:cNvPr>
          <p:cNvPicPr>
            <a:picLocks noChangeAspect="1"/>
          </p:cNvPicPr>
          <p:nvPr/>
        </p:nvPicPr>
        <p:blipFill>
          <a:blip r:embed="rId6"/>
          <a:srcRect l="68917" b="50000"/>
          <a:stretch>
            <a:fillRect/>
          </a:stretch>
        </p:blipFill>
        <p:spPr>
          <a:xfrm>
            <a:off x="5455920" y="729061"/>
            <a:ext cx="2152476" cy="1897760"/>
          </a:xfrm>
          <a:prstGeom prst="rect">
            <a:avLst/>
          </a:prstGeom>
        </p:spPr>
      </p:pic>
      <p:sp>
        <p:nvSpPr>
          <p:cNvPr id="30" name="TextBox 29">
            <a:extLst>
              <a:ext uri="{FF2B5EF4-FFF2-40B4-BE49-F238E27FC236}">
                <a16:creationId xmlns:a16="http://schemas.microsoft.com/office/drawing/2014/main" id="{550C0CDA-5BD6-2C05-C7F2-8275BF344A63}"/>
              </a:ext>
            </a:extLst>
          </p:cNvPr>
          <p:cNvSpPr txBox="1"/>
          <p:nvPr/>
        </p:nvSpPr>
        <p:spPr>
          <a:xfrm>
            <a:off x="5617528" y="2741772"/>
            <a:ext cx="1990868" cy="400110"/>
          </a:xfrm>
          <a:prstGeom prst="rect">
            <a:avLst/>
          </a:prstGeom>
          <a:noFill/>
        </p:spPr>
        <p:txBody>
          <a:bodyPr wrap="square">
            <a:spAutoFit/>
          </a:bodyPr>
          <a:lstStyle/>
          <a:p>
            <a:r>
              <a:rPr lang="en-US" sz="2000">
                <a:solidFill>
                  <a:schemeClr val="bg1"/>
                </a:solidFill>
              </a:rPr>
              <a:t>Fermi Bubbles</a:t>
            </a:r>
          </a:p>
        </p:txBody>
      </p:sp>
      <p:pic>
        <p:nvPicPr>
          <p:cNvPr id="34" name="Picture 33" descr="The image depicts various astrophysical phenomena and data points, including gas-correlated emissions, IC emission, Fermi bubbles, loop structures, point sources, and a mask for further analysis, all annotated with specific measurements and energy values.&#10;&#10;AI-generated content may be incorrect.">
            <a:extLst>
              <a:ext uri="{FF2B5EF4-FFF2-40B4-BE49-F238E27FC236}">
                <a16:creationId xmlns:a16="http://schemas.microsoft.com/office/drawing/2014/main" id="{2B824D65-B597-13B9-E6A8-1B7F59F8F2E7}"/>
              </a:ext>
            </a:extLst>
          </p:cNvPr>
          <p:cNvPicPr>
            <a:picLocks noChangeAspect="1"/>
          </p:cNvPicPr>
          <p:nvPr/>
        </p:nvPicPr>
        <p:blipFill>
          <a:blip r:embed="rId6"/>
          <a:srcRect l="-5229" t="50050" r="70017" b="-55931"/>
          <a:stretch>
            <a:fillRect/>
          </a:stretch>
        </p:blipFill>
        <p:spPr>
          <a:xfrm>
            <a:off x="-405224" y="3482549"/>
            <a:ext cx="2968333" cy="4901017"/>
          </a:xfrm>
          <a:prstGeom prst="rect">
            <a:avLst/>
          </a:prstGeom>
        </p:spPr>
      </p:pic>
      <p:pic>
        <p:nvPicPr>
          <p:cNvPr id="36" name="Picture 35" descr="The image depicts various astrophysical phenomena and data points, including gas-correlated emissions, IC emission, Fermi bubbles, loop structures, point sources, and a mask for further analysis, all annotated with specific measurements and energy values.">
            <a:extLst>
              <a:ext uri="{FF2B5EF4-FFF2-40B4-BE49-F238E27FC236}">
                <a16:creationId xmlns:a16="http://schemas.microsoft.com/office/drawing/2014/main" id="{714A38AF-ACC6-B88C-5017-65C1BCA817FD}"/>
              </a:ext>
            </a:extLst>
          </p:cNvPr>
          <p:cNvPicPr>
            <a:picLocks noChangeAspect="1"/>
          </p:cNvPicPr>
          <p:nvPr/>
        </p:nvPicPr>
        <p:blipFill>
          <a:blip r:embed="rId6"/>
          <a:srcRect l="34750" t="50895" r="32334" b="41"/>
          <a:stretch>
            <a:fillRect/>
          </a:stretch>
        </p:blipFill>
        <p:spPr>
          <a:xfrm>
            <a:off x="2636464" y="3492377"/>
            <a:ext cx="2640794" cy="2157426"/>
          </a:xfrm>
          <a:prstGeom prst="rect">
            <a:avLst/>
          </a:prstGeom>
        </p:spPr>
      </p:pic>
      <p:sp>
        <p:nvSpPr>
          <p:cNvPr id="38" name="TextBox 37">
            <a:extLst>
              <a:ext uri="{FF2B5EF4-FFF2-40B4-BE49-F238E27FC236}">
                <a16:creationId xmlns:a16="http://schemas.microsoft.com/office/drawing/2014/main" id="{3D008E07-B5AE-53CF-C47F-304B03D473FB}"/>
              </a:ext>
            </a:extLst>
          </p:cNvPr>
          <p:cNvSpPr txBox="1"/>
          <p:nvPr/>
        </p:nvSpPr>
        <p:spPr>
          <a:xfrm>
            <a:off x="-67375" y="6065786"/>
            <a:ext cx="2698815" cy="646331"/>
          </a:xfrm>
          <a:prstGeom prst="rect">
            <a:avLst/>
          </a:prstGeom>
          <a:noFill/>
        </p:spPr>
        <p:txBody>
          <a:bodyPr wrap="square">
            <a:spAutoFit/>
          </a:bodyPr>
          <a:lstStyle/>
          <a:p>
            <a:r>
              <a:rPr lang="ja-JP" altLang="en-US">
                <a:solidFill>
                  <a:schemeClr val="bg1"/>
                </a:solidFill>
              </a:rPr>
              <a:t>近傍の超新星残骸由来の巨大電波ループ</a:t>
            </a:r>
          </a:p>
        </p:txBody>
      </p:sp>
      <p:sp>
        <p:nvSpPr>
          <p:cNvPr id="40" name="TextBox 39">
            <a:extLst>
              <a:ext uri="{FF2B5EF4-FFF2-40B4-BE49-F238E27FC236}">
                <a16:creationId xmlns:a16="http://schemas.microsoft.com/office/drawing/2014/main" id="{20F8FE7A-D352-E8DC-35F8-FA0B71891405}"/>
              </a:ext>
            </a:extLst>
          </p:cNvPr>
          <p:cNvSpPr txBox="1"/>
          <p:nvPr/>
        </p:nvSpPr>
        <p:spPr>
          <a:xfrm>
            <a:off x="3075867" y="6019135"/>
            <a:ext cx="2135972" cy="369332"/>
          </a:xfrm>
          <a:prstGeom prst="rect">
            <a:avLst/>
          </a:prstGeom>
          <a:noFill/>
        </p:spPr>
        <p:txBody>
          <a:bodyPr wrap="square">
            <a:spAutoFit/>
          </a:bodyPr>
          <a:lstStyle/>
          <a:p>
            <a:r>
              <a:rPr lang="ja-JP" altLang="en-US" b="1">
                <a:solidFill>
                  <a:schemeClr val="bg1"/>
                </a:solidFill>
              </a:rPr>
              <a:t>既知の個別天体</a:t>
            </a:r>
            <a:endParaRPr lang="en-US" b="1">
              <a:solidFill>
                <a:schemeClr val="bg1"/>
              </a:solidFill>
            </a:endParaRPr>
          </a:p>
        </p:txBody>
      </p:sp>
      <p:pic>
        <p:nvPicPr>
          <p:cNvPr id="17" name="Picture 16" descr="The image depicts a Dark Matter (DM) density profile, showing a high density near the center (galactic center) and decreasing with increasing distance from the center.&#10;&#10;AI-generated content may be incorrect.">
            <a:extLst>
              <a:ext uri="{FF2B5EF4-FFF2-40B4-BE49-F238E27FC236}">
                <a16:creationId xmlns:a16="http://schemas.microsoft.com/office/drawing/2014/main" id="{E6C92A5D-BAC1-F617-ADE6-8D5CCD8F2808}"/>
              </a:ext>
            </a:extLst>
          </p:cNvPr>
          <p:cNvPicPr>
            <a:picLocks noChangeAspect="1"/>
          </p:cNvPicPr>
          <p:nvPr/>
        </p:nvPicPr>
        <p:blipFill>
          <a:blip r:embed="rId7"/>
          <a:srcRect l="1903" t="217" r="3904" b="2210"/>
          <a:stretch>
            <a:fillRect/>
          </a:stretch>
        </p:blipFill>
        <p:spPr>
          <a:xfrm>
            <a:off x="5430884" y="3492377"/>
            <a:ext cx="2298781" cy="2050533"/>
          </a:xfrm>
          <a:prstGeom prst="rect">
            <a:avLst/>
          </a:prstGeom>
        </p:spPr>
      </p:pic>
      <p:sp>
        <p:nvSpPr>
          <p:cNvPr id="23" name="TextBox 22">
            <a:extLst>
              <a:ext uri="{FF2B5EF4-FFF2-40B4-BE49-F238E27FC236}">
                <a16:creationId xmlns:a16="http://schemas.microsoft.com/office/drawing/2014/main" id="{4B77384E-D755-EE2D-8867-8E38962B8E0B}"/>
              </a:ext>
            </a:extLst>
          </p:cNvPr>
          <p:cNvSpPr txBox="1"/>
          <p:nvPr/>
        </p:nvSpPr>
        <p:spPr>
          <a:xfrm>
            <a:off x="5798487" y="5847415"/>
            <a:ext cx="1931178" cy="523220"/>
          </a:xfrm>
          <a:prstGeom prst="rect">
            <a:avLst/>
          </a:prstGeom>
          <a:noFill/>
        </p:spPr>
        <p:txBody>
          <a:bodyPr wrap="square">
            <a:spAutoFit/>
          </a:bodyPr>
          <a:lstStyle/>
          <a:p>
            <a:r>
              <a:rPr lang="en-US" altLang="ja-JP" sz="2800" b="1">
                <a:solidFill>
                  <a:srgbClr val="FF0000"/>
                </a:solidFill>
              </a:rPr>
              <a:t>DM</a:t>
            </a:r>
            <a:r>
              <a:rPr lang="ja-JP" altLang="en-US" sz="2800" b="1">
                <a:solidFill>
                  <a:srgbClr val="FF0000"/>
                </a:solidFill>
              </a:rPr>
              <a:t>　</a:t>
            </a:r>
            <a:r>
              <a:rPr lang="en-US" altLang="ja-JP" sz="2800" b="1">
                <a:solidFill>
                  <a:srgbClr val="FF0000"/>
                </a:solidFill>
              </a:rPr>
              <a:t>halo</a:t>
            </a:r>
            <a:endParaRPr lang="en-US" sz="2400"/>
          </a:p>
        </p:txBody>
      </p:sp>
    </p:spTree>
    <p:extLst>
      <p:ext uri="{BB962C8B-B14F-4D97-AF65-F5344CB8AC3E}">
        <p14:creationId xmlns:p14="http://schemas.microsoft.com/office/powerpoint/2010/main" val="2857538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92443"/>
          </a:xfrm>
          <a:prstGeom prst="rect">
            <a:avLst/>
          </a:prstGeom>
          <a:noFill/>
        </p:spPr>
        <p:txBody>
          <a:bodyPr wrap="square">
            <a:spAutoFit/>
          </a:bodyPr>
          <a:lstStyle/>
          <a:p>
            <a:pPr>
              <a:defRPr sz="2600" b="1">
                <a:solidFill>
                  <a:srgbClr val="FFFFFF"/>
                </a:solidFill>
              </a:defRPr>
            </a:pPr>
            <a:r>
              <a:rPr lang="en-US"/>
              <a:t>Result</a:t>
            </a:r>
            <a:r>
              <a:rPr lang="ja-JP" altLang="en-US"/>
              <a:t>　</a:t>
            </a:r>
            <a:r>
              <a:rPr lang="en-US" altLang="ja-JP"/>
              <a:t>DM</a:t>
            </a:r>
            <a:r>
              <a:rPr lang="ja-JP" altLang="en-US"/>
              <a:t>以外の</a:t>
            </a:r>
            <a:r>
              <a:rPr lang="en-US" altLang="ja-JP"/>
              <a:t>6</a:t>
            </a:r>
            <a:r>
              <a:rPr lang="ja-JP" altLang="en-US"/>
              <a:t>成分の差し引き結果</a:t>
            </a:r>
            <a:endParaRPr/>
          </a:p>
        </p:txBody>
      </p:sp>
      <p:pic>
        <p:nvPicPr>
          <p:cNvPr id="11" name="Picture 10" descr="The image shows a plot comparing the flux of cosmic rays at different energies (20.76 GeV and 21 GeV) before and after subtracting the halo component, plotted against latitude and longitude.">
            <a:extLst>
              <a:ext uri="{FF2B5EF4-FFF2-40B4-BE49-F238E27FC236}">
                <a16:creationId xmlns:a16="http://schemas.microsoft.com/office/drawing/2014/main" id="{85A69A19-C7F9-F4E8-790A-93B08439F0A7}"/>
              </a:ext>
            </a:extLst>
          </p:cNvPr>
          <p:cNvPicPr>
            <a:picLocks noChangeAspect="1"/>
          </p:cNvPicPr>
          <p:nvPr/>
        </p:nvPicPr>
        <p:blipFill>
          <a:blip r:embed="rId3"/>
          <a:srcRect l="52786" t="8639" r="3069" b="-2690"/>
          <a:stretch>
            <a:fillRect/>
          </a:stretch>
        </p:blipFill>
        <p:spPr>
          <a:xfrm>
            <a:off x="6841278" y="958780"/>
            <a:ext cx="4863042" cy="5328366"/>
          </a:xfrm>
          <a:prstGeom prst="rect">
            <a:avLst/>
          </a:prstGeom>
        </p:spPr>
      </p:pic>
      <p:pic>
        <p:nvPicPr>
          <p:cNvPr id="4" name="Picture 3" descr="The image shows a color-coded map with a grid of flux values (in cmￂﾲ/s/sr/MeV/1) and latitude and longitude coordinates, possibly representing a cosmic event or an astronomical object.&#10;&#10;AI-generated content may be incorrect.">
            <a:extLst>
              <a:ext uri="{FF2B5EF4-FFF2-40B4-BE49-F238E27FC236}">
                <a16:creationId xmlns:a16="http://schemas.microsoft.com/office/drawing/2014/main" id="{C069CAD2-ABAD-EB27-9A3C-11BBDD13D227}"/>
              </a:ext>
            </a:extLst>
          </p:cNvPr>
          <p:cNvPicPr>
            <a:picLocks noChangeAspect="1"/>
          </p:cNvPicPr>
          <p:nvPr/>
        </p:nvPicPr>
        <p:blipFill>
          <a:blip r:embed="rId4"/>
          <a:srcRect r="52157"/>
          <a:stretch>
            <a:fillRect/>
          </a:stretch>
        </p:blipFill>
        <p:spPr>
          <a:xfrm>
            <a:off x="587172" y="958780"/>
            <a:ext cx="4917701" cy="5328366"/>
          </a:xfrm>
          <a:prstGeom prst="rect">
            <a:avLst/>
          </a:prstGeom>
        </p:spPr>
      </p:pic>
      <p:sp>
        <p:nvSpPr>
          <p:cNvPr id="3" name="Slide Number Placeholder 4">
            <a:extLst>
              <a:ext uri="{FF2B5EF4-FFF2-40B4-BE49-F238E27FC236}">
                <a16:creationId xmlns:a16="http://schemas.microsoft.com/office/drawing/2014/main" id="{1F846124-E17F-722E-5F2B-5504C9C38FF9}"/>
              </a:ext>
            </a:extLst>
          </p:cNvPr>
          <p:cNvSpPr>
            <a:spLocks noGrp="1"/>
          </p:cNvSpPr>
          <p:nvPr>
            <p:ph type="sldNum" sz="quarter" idx="12"/>
          </p:nvPr>
        </p:nvSpPr>
        <p:spPr>
          <a:xfrm>
            <a:off x="11392930" y="6367325"/>
            <a:ext cx="381558" cy="490675"/>
          </a:xfrm>
        </p:spPr>
        <p:txBody>
          <a:bodyPr/>
          <a:lstStyle/>
          <a:p>
            <a:fld id="{C1FF6DA9-008F-8B48-92A6-B652298478BF}" type="slidenum">
              <a:rPr lang="en-US" sz="3200" smtClean="0">
                <a:solidFill>
                  <a:schemeClr val="bg1"/>
                </a:solidFill>
              </a:rPr>
              <a:t>8</a:t>
            </a:fld>
            <a:endParaRPr lang="en-US" sz="3200">
              <a:solidFill>
                <a:schemeClr val="bg1"/>
              </a:solidFill>
            </a:endParaRPr>
          </a:p>
        </p:txBody>
      </p:sp>
      <p:sp>
        <p:nvSpPr>
          <p:cNvPr id="5" name="Arrow: Right 4">
            <a:extLst>
              <a:ext uri="{FF2B5EF4-FFF2-40B4-BE49-F238E27FC236}">
                <a16:creationId xmlns:a16="http://schemas.microsoft.com/office/drawing/2014/main" id="{D56D86E9-AF0A-E4CA-29B1-9F80AD0EB258}"/>
              </a:ext>
            </a:extLst>
          </p:cNvPr>
          <p:cNvSpPr/>
          <p:nvPr/>
        </p:nvSpPr>
        <p:spPr>
          <a:xfrm>
            <a:off x="5581947" y="2885440"/>
            <a:ext cx="1182256" cy="2153920"/>
          </a:xfrm>
          <a:prstGeom prst="rightArrow">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D7C40B-7A21-DBB4-8A23-335F546E2683}"/>
              </a:ext>
            </a:extLst>
          </p:cNvPr>
          <p:cNvSpPr txBox="1"/>
          <p:nvPr/>
        </p:nvSpPr>
        <p:spPr>
          <a:xfrm>
            <a:off x="6926482" y="820103"/>
            <a:ext cx="1650357" cy="461665"/>
          </a:xfrm>
          <a:prstGeom prst="rect">
            <a:avLst/>
          </a:prstGeom>
          <a:solidFill>
            <a:schemeClr val="bg1"/>
          </a:solidFill>
        </p:spPr>
        <p:txBody>
          <a:bodyPr wrap="square" rtlCol="0">
            <a:spAutoFit/>
          </a:bodyPr>
          <a:lstStyle/>
          <a:p>
            <a:r>
              <a:rPr lang="en-US" sz="2400"/>
              <a:t>-2x10-12</a:t>
            </a:r>
          </a:p>
        </p:txBody>
      </p:sp>
      <p:sp>
        <p:nvSpPr>
          <p:cNvPr id="8" name="TextBox 7">
            <a:extLst>
              <a:ext uri="{FF2B5EF4-FFF2-40B4-BE49-F238E27FC236}">
                <a16:creationId xmlns:a16="http://schemas.microsoft.com/office/drawing/2014/main" id="{53777BCA-497F-134A-B8A4-8964EF65D66C}"/>
              </a:ext>
            </a:extLst>
          </p:cNvPr>
          <p:cNvSpPr txBox="1"/>
          <p:nvPr/>
        </p:nvSpPr>
        <p:spPr>
          <a:xfrm>
            <a:off x="10385962" y="820102"/>
            <a:ext cx="1650357" cy="461665"/>
          </a:xfrm>
          <a:prstGeom prst="rect">
            <a:avLst/>
          </a:prstGeom>
          <a:solidFill>
            <a:schemeClr val="bg1"/>
          </a:solidFill>
        </p:spPr>
        <p:txBody>
          <a:bodyPr wrap="square" rtlCol="0">
            <a:spAutoFit/>
          </a:bodyPr>
          <a:lstStyle/>
          <a:p>
            <a:r>
              <a:rPr lang="en-US" sz="2400"/>
              <a:t>2x10-12</a:t>
            </a:r>
          </a:p>
        </p:txBody>
      </p:sp>
      <p:sp>
        <p:nvSpPr>
          <p:cNvPr id="10" name="TextBox 9">
            <a:extLst>
              <a:ext uri="{FF2B5EF4-FFF2-40B4-BE49-F238E27FC236}">
                <a16:creationId xmlns:a16="http://schemas.microsoft.com/office/drawing/2014/main" id="{B28963DF-B627-0F58-0B37-F4AA35DCDB2A}"/>
              </a:ext>
            </a:extLst>
          </p:cNvPr>
          <p:cNvSpPr txBox="1"/>
          <p:nvPr/>
        </p:nvSpPr>
        <p:spPr>
          <a:xfrm>
            <a:off x="4738157" y="799932"/>
            <a:ext cx="1650357" cy="461665"/>
          </a:xfrm>
          <a:prstGeom prst="rect">
            <a:avLst/>
          </a:prstGeom>
          <a:solidFill>
            <a:schemeClr val="bg1"/>
          </a:solidFill>
        </p:spPr>
        <p:txBody>
          <a:bodyPr wrap="square" rtlCol="0">
            <a:spAutoFit/>
          </a:bodyPr>
          <a:lstStyle/>
          <a:p>
            <a:r>
              <a:rPr lang="en-US" sz="2400"/>
              <a:t>9x10-12</a:t>
            </a:r>
          </a:p>
        </p:txBody>
      </p:sp>
      <p:sp>
        <p:nvSpPr>
          <p:cNvPr id="13" name="TextBox 12">
            <a:extLst>
              <a:ext uri="{FF2B5EF4-FFF2-40B4-BE49-F238E27FC236}">
                <a16:creationId xmlns:a16="http://schemas.microsoft.com/office/drawing/2014/main" id="{70188BD4-5460-B85B-BBED-C731289C85C0}"/>
              </a:ext>
            </a:extLst>
          </p:cNvPr>
          <p:cNvSpPr txBox="1"/>
          <p:nvPr/>
        </p:nvSpPr>
        <p:spPr>
          <a:xfrm>
            <a:off x="587172" y="773043"/>
            <a:ext cx="436245" cy="461665"/>
          </a:xfrm>
          <a:prstGeom prst="rect">
            <a:avLst/>
          </a:prstGeom>
          <a:solidFill>
            <a:schemeClr val="bg1"/>
          </a:solidFill>
        </p:spPr>
        <p:txBody>
          <a:bodyPr wrap="square" rtlCol="0">
            <a:spAutoFit/>
          </a:bodyPr>
          <a:lstStyle/>
          <a:p>
            <a:r>
              <a:rPr lang="en-US" sz="2400"/>
              <a:t>0</a:t>
            </a:r>
          </a:p>
        </p:txBody>
      </p:sp>
      <p:sp>
        <p:nvSpPr>
          <p:cNvPr id="7" name="TextBox 6">
            <a:extLst>
              <a:ext uri="{FF2B5EF4-FFF2-40B4-BE49-F238E27FC236}">
                <a16:creationId xmlns:a16="http://schemas.microsoft.com/office/drawing/2014/main" id="{73BB3595-034F-B602-33FE-A272A4BE4A76}"/>
              </a:ext>
            </a:extLst>
          </p:cNvPr>
          <p:cNvSpPr txBox="1"/>
          <p:nvPr/>
        </p:nvSpPr>
        <p:spPr>
          <a:xfrm>
            <a:off x="7751660" y="6258821"/>
            <a:ext cx="3641270" cy="523220"/>
          </a:xfrm>
          <a:prstGeom prst="rect">
            <a:avLst/>
          </a:prstGeom>
          <a:noFill/>
        </p:spPr>
        <p:txBody>
          <a:bodyPr wrap="square" rtlCol="0">
            <a:spAutoFit/>
          </a:bodyPr>
          <a:lstStyle/>
          <a:p>
            <a:r>
              <a:rPr lang="en-US" altLang="ja-JP" sz="2800">
                <a:solidFill>
                  <a:schemeClr val="bg1"/>
                </a:solidFill>
              </a:rPr>
              <a:t>DM</a:t>
            </a:r>
            <a:r>
              <a:rPr lang="ja-JP" altLang="en-US" sz="2800">
                <a:solidFill>
                  <a:schemeClr val="bg1"/>
                </a:solidFill>
              </a:rPr>
              <a:t>以外差し引き後</a:t>
            </a:r>
            <a:endParaRPr lang="en-US" sz="2800">
              <a:solidFill>
                <a:schemeClr val="bg1"/>
              </a:solidFill>
            </a:endParaRPr>
          </a:p>
        </p:txBody>
      </p:sp>
      <p:sp>
        <p:nvSpPr>
          <p:cNvPr id="12" name="TextBox 11">
            <a:extLst>
              <a:ext uri="{FF2B5EF4-FFF2-40B4-BE49-F238E27FC236}">
                <a16:creationId xmlns:a16="http://schemas.microsoft.com/office/drawing/2014/main" id="{8EC01AE1-8FDB-29AB-0BDC-EDCE5BE91A80}"/>
              </a:ext>
            </a:extLst>
          </p:cNvPr>
          <p:cNvSpPr txBox="1"/>
          <p:nvPr/>
        </p:nvSpPr>
        <p:spPr>
          <a:xfrm>
            <a:off x="1896253" y="6474470"/>
            <a:ext cx="2855856" cy="523220"/>
          </a:xfrm>
          <a:prstGeom prst="rect">
            <a:avLst/>
          </a:prstGeom>
          <a:noFill/>
        </p:spPr>
        <p:txBody>
          <a:bodyPr wrap="square" rtlCol="0">
            <a:spAutoFit/>
          </a:bodyPr>
          <a:lstStyle/>
          <a:p>
            <a:r>
              <a:rPr lang="ja-JP" altLang="en-US" sz="2800">
                <a:solidFill>
                  <a:schemeClr val="bg1"/>
                </a:solidFill>
              </a:rPr>
              <a:t>差し引き前</a:t>
            </a:r>
            <a:endParaRPr lang="en-US" sz="280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92443"/>
          </a:xfrm>
          <a:prstGeom prst="rect">
            <a:avLst/>
          </a:prstGeom>
          <a:noFill/>
        </p:spPr>
        <p:txBody>
          <a:bodyPr wrap="square">
            <a:spAutoFit/>
          </a:bodyPr>
          <a:lstStyle/>
          <a:p>
            <a:pPr>
              <a:defRPr sz="2600" b="1">
                <a:solidFill>
                  <a:srgbClr val="FFFFFF"/>
                </a:solidFill>
              </a:defRPr>
            </a:pPr>
            <a:r>
              <a:rPr lang="en-US"/>
              <a:t>result</a:t>
            </a:r>
            <a:r>
              <a:t>：全13ビンでのハロー有意度スペクトル</a:t>
            </a:r>
          </a:p>
        </p:txBody>
      </p:sp>
      <p:sp>
        <p:nvSpPr>
          <p:cNvPr id="8" name="TextBox 7">
            <a:extLst>
              <a:ext uri="{FF2B5EF4-FFF2-40B4-BE49-F238E27FC236}">
                <a16:creationId xmlns:a16="http://schemas.microsoft.com/office/drawing/2014/main" id="{797C876B-04DC-52E0-EFD2-9688967CAF01}"/>
              </a:ext>
            </a:extLst>
          </p:cNvPr>
          <p:cNvSpPr txBox="1"/>
          <p:nvPr/>
        </p:nvSpPr>
        <p:spPr>
          <a:xfrm>
            <a:off x="6710481" y="1348514"/>
            <a:ext cx="5481519" cy="3170099"/>
          </a:xfrm>
          <a:prstGeom prst="rect">
            <a:avLst/>
          </a:prstGeom>
          <a:noFill/>
        </p:spPr>
        <p:txBody>
          <a:bodyPr wrap="square">
            <a:spAutoFit/>
          </a:bodyPr>
          <a:lstStyle/>
          <a:p>
            <a:r>
              <a:rPr lang="ja-JP" altLang="en-US" sz="2000" b="1">
                <a:solidFill>
                  <a:srgbClr val="BFBFBF"/>
                </a:solidFill>
                <a:latin typeface="-apple-system"/>
              </a:rPr>
              <a:t>①</a:t>
            </a:r>
            <a:r>
              <a:rPr lang="ja-JP" altLang="en-US" sz="2000" b="1">
                <a:solidFill>
                  <a:schemeClr val="bg1"/>
                </a:solidFill>
                <a:latin typeface="-apple-system"/>
              </a:rPr>
              <a:t>主要域（ｎからｍ）での比較</a:t>
            </a:r>
            <a:endParaRPr lang="ja-JP" altLang="en-US" sz="2000" b="1">
              <a:solidFill>
                <a:srgbClr val="BFBFBF"/>
              </a:solidFill>
              <a:latin typeface="-apple-system"/>
            </a:endParaRPr>
          </a:p>
          <a:p>
            <a:r>
              <a:rPr lang="ja-JP" altLang="en-US" sz="2000" b="1">
                <a:solidFill>
                  <a:schemeClr val="bg1"/>
                </a:solidFill>
                <a:latin typeface="-apple-system"/>
              </a:rPr>
              <a:t>有意度スペクトルの形が </a:t>
            </a:r>
            <a:r>
              <a:rPr lang="en-US" altLang="ja-JP" sz="2000" b="1">
                <a:solidFill>
                  <a:schemeClr val="bg1"/>
                </a:solidFill>
                <a:latin typeface="-apple-system"/>
              </a:rPr>
              <a:t>T25</a:t>
            </a:r>
            <a:r>
              <a:rPr lang="ja-JP" altLang="en-US" sz="2000" b="1">
                <a:solidFill>
                  <a:schemeClr val="bg1"/>
                </a:solidFill>
                <a:latin typeface="-apple-system"/>
              </a:rPr>
              <a:t>と比べて</a:t>
            </a:r>
            <a:r>
              <a:rPr lang="en-US" altLang="ja-JP" sz="2000" b="1">
                <a:solidFill>
                  <a:schemeClr val="bg1"/>
                </a:solidFill>
                <a:latin typeface="-apple-system"/>
              </a:rPr>
              <a:t>1.3〜1.6 </a:t>
            </a:r>
            <a:r>
              <a:rPr lang="ja-JP" altLang="en-US" sz="2000" b="1">
                <a:solidFill>
                  <a:schemeClr val="bg1"/>
                </a:solidFill>
                <a:latin typeface="-apple-system"/>
              </a:rPr>
              <a:t>倍</a:t>
            </a:r>
            <a:endParaRPr lang="en-US" altLang="ja-JP" sz="2000" b="1">
              <a:solidFill>
                <a:schemeClr val="bg1"/>
              </a:solidFill>
              <a:latin typeface="-apple-system"/>
            </a:endParaRPr>
          </a:p>
          <a:p>
            <a:endParaRPr lang="en-US" altLang="ja-JP" sz="2000" b="1">
              <a:solidFill>
                <a:schemeClr val="bg1"/>
              </a:solidFill>
              <a:latin typeface="-apple-system"/>
            </a:endParaRPr>
          </a:p>
          <a:p>
            <a:endParaRPr lang="en-US" altLang="ja-JP" sz="2000" b="1">
              <a:solidFill>
                <a:schemeClr val="bg1"/>
              </a:solidFill>
              <a:latin typeface="-apple-system"/>
            </a:endParaRPr>
          </a:p>
          <a:p>
            <a:r>
              <a:rPr lang="ja-JP" altLang="en-US" sz="2000" b="1">
                <a:solidFill>
                  <a:schemeClr val="bg1"/>
                </a:solidFill>
                <a:latin typeface="-apple-system"/>
              </a:rPr>
              <a:t>②</a:t>
            </a:r>
            <a:r>
              <a:rPr lang="en-US" altLang="ja-JP" sz="2000" b="1">
                <a:solidFill>
                  <a:schemeClr val="bg1"/>
                </a:solidFill>
                <a:latin typeface="-apple-system"/>
              </a:rPr>
              <a:t>T25</a:t>
            </a:r>
            <a:r>
              <a:rPr lang="ja-JP" altLang="en-US" sz="2000" b="1">
                <a:solidFill>
                  <a:schemeClr val="bg1"/>
                </a:solidFill>
                <a:latin typeface="-apple-system"/>
              </a:rPr>
              <a:t>スペクトルのピーク（</a:t>
            </a:r>
            <a:r>
              <a:rPr lang="en-US" altLang="ja-JP" sz="2000" b="1">
                <a:solidFill>
                  <a:schemeClr val="bg1"/>
                </a:solidFill>
                <a:latin typeface="-apple-system"/>
              </a:rPr>
              <a:t>20.76GeV</a:t>
            </a:r>
            <a:r>
              <a:rPr lang="ja-JP" altLang="en-US" sz="2000" b="1">
                <a:solidFill>
                  <a:schemeClr val="bg1"/>
                </a:solidFill>
                <a:latin typeface="-apple-system"/>
              </a:rPr>
              <a:t>）での比較</a:t>
            </a:r>
            <a:endParaRPr lang="en-US" altLang="ja-JP" sz="2000" b="1">
              <a:solidFill>
                <a:schemeClr val="bg1"/>
              </a:solidFill>
              <a:latin typeface="-apple-system"/>
            </a:endParaRPr>
          </a:p>
          <a:p>
            <a:r>
              <a:rPr lang="ja-JP" altLang="en-US" sz="2000" b="1">
                <a:solidFill>
                  <a:schemeClr val="bg1"/>
                </a:solidFill>
                <a:latin typeface="-apple-system"/>
              </a:rPr>
              <a:t>本研究</a:t>
            </a:r>
            <a:r>
              <a:rPr lang="en-US" altLang="ja-JP" sz="2000" b="1">
                <a:solidFill>
                  <a:schemeClr val="bg1"/>
                </a:solidFill>
                <a:latin typeface="-apple-system"/>
              </a:rPr>
              <a:t>		</a:t>
            </a:r>
            <a:r>
              <a:rPr lang="ja-JP" altLang="en-US" sz="2000" b="1">
                <a:solidFill>
                  <a:schemeClr val="bg1"/>
                </a:solidFill>
                <a:latin typeface="-apple-system"/>
              </a:rPr>
              <a:t>　  ：　ｎ</a:t>
            </a:r>
            <a:r>
              <a:rPr lang="en-US" altLang="ja-JP" sz="2000" b="1">
                <a:solidFill>
                  <a:schemeClr val="bg1"/>
                </a:solidFill>
                <a:latin typeface="-apple-system"/>
              </a:rPr>
              <a:t>σ</a:t>
            </a:r>
          </a:p>
          <a:p>
            <a:r>
              <a:rPr lang="en-US" altLang="ja-JP" sz="2000" b="1">
                <a:solidFill>
                  <a:schemeClr val="bg1"/>
                </a:solidFill>
                <a:latin typeface="-apple-system"/>
              </a:rPr>
              <a:t>T25 </a:t>
            </a:r>
            <a:r>
              <a:rPr lang="ja-JP" altLang="en-US" sz="2000" b="1">
                <a:solidFill>
                  <a:schemeClr val="bg1"/>
                </a:solidFill>
                <a:latin typeface="-apple-system"/>
              </a:rPr>
              <a:t>　　</a:t>
            </a:r>
            <a:r>
              <a:rPr lang="en-US" altLang="ja-JP" sz="2000" b="1">
                <a:solidFill>
                  <a:schemeClr val="bg1"/>
                </a:solidFill>
                <a:latin typeface="-apple-system"/>
              </a:rPr>
              <a:t>		     </a:t>
            </a:r>
            <a:r>
              <a:rPr lang="ja-JP" altLang="en-US" sz="2000" b="1">
                <a:solidFill>
                  <a:schemeClr val="bg1"/>
                </a:solidFill>
                <a:latin typeface="-apple-system"/>
              </a:rPr>
              <a:t>：　</a:t>
            </a:r>
            <a:r>
              <a:rPr lang="en-US" altLang="ja-JP" sz="2000" b="1">
                <a:solidFill>
                  <a:schemeClr val="bg1"/>
                </a:solidFill>
                <a:latin typeface="-apple-system"/>
              </a:rPr>
              <a:t>mσ</a:t>
            </a:r>
          </a:p>
          <a:p>
            <a:r>
              <a:rPr lang="ja-JP" altLang="en-US" sz="2000" b="1">
                <a:solidFill>
                  <a:schemeClr val="bg1"/>
                </a:solidFill>
                <a:latin typeface="-apple-system"/>
              </a:rPr>
              <a:t>オレンジの範囲：　</a:t>
            </a:r>
            <a:r>
              <a:rPr lang="en-US" altLang="ja-JP" sz="2000" b="1">
                <a:solidFill>
                  <a:schemeClr val="bg1"/>
                </a:solidFill>
                <a:latin typeface="-apple-system"/>
              </a:rPr>
              <a:t>13〜19σ</a:t>
            </a:r>
            <a:r>
              <a:rPr lang="ja-JP" altLang="en-US" sz="2000" b="1">
                <a:solidFill>
                  <a:schemeClr val="bg1"/>
                </a:solidFill>
                <a:latin typeface="-apple-system"/>
              </a:rPr>
              <a:t>　</a:t>
            </a:r>
            <a:r>
              <a:rPr lang="en-US" altLang="ja-JP" sz="2000" b="1">
                <a:solidFill>
                  <a:schemeClr val="bg1"/>
                </a:solidFill>
                <a:latin typeface="-apple-system"/>
              </a:rPr>
              <a:t> T25</a:t>
            </a:r>
            <a:r>
              <a:rPr lang="ja-JP" altLang="en-US" sz="2000" b="1">
                <a:solidFill>
                  <a:schemeClr val="bg1"/>
                </a:solidFill>
                <a:latin typeface="-apple-system"/>
              </a:rPr>
              <a:t>におけるフィットパラメーターの自由度に起因する分散</a:t>
            </a:r>
            <a:endParaRPr lang="en-US" altLang="ja-JP" sz="2000" b="1">
              <a:solidFill>
                <a:schemeClr val="bg1"/>
              </a:solidFill>
              <a:latin typeface="-apple-system"/>
            </a:endParaRPr>
          </a:p>
          <a:p>
            <a:endParaRPr lang="en-US" altLang="ja-JP" sz="2000" b="1">
              <a:solidFill>
                <a:schemeClr val="bg1"/>
              </a:solidFill>
              <a:latin typeface="-apple-system"/>
            </a:endParaRPr>
          </a:p>
        </p:txBody>
      </p:sp>
      <p:sp>
        <p:nvSpPr>
          <p:cNvPr id="7" name="Slide Number Placeholder 4">
            <a:extLst>
              <a:ext uri="{FF2B5EF4-FFF2-40B4-BE49-F238E27FC236}">
                <a16:creationId xmlns:a16="http://schemas.microsoft.com/office/drawing/2014/main" id="{7518C704-5894-47D1-ECA3-7A8A314CC796}"/>
              </a:ext>
            </a:extLst>
          </p:cNvPr>
          <p:cNvSpPr>
            <a:spLocks noGrp="1"/>
          </p:cNvSpPr>
          <p:nvPr>
            <p:ph type="sldNum" sz="quarter" idx="12"/>
          </p:nvPr>
        </p:nvSpPr>
        <p:spPr>
          <a:xfrm>
            <a:off x="11392930" y="6367325"/>
            <a:ext cx="381558" cy="490675"/>
          </a:xfrm>
        </p:spPr>
        <p:txBody>
          <a:bodyPr/>
          <a:lstStyle/>
          <a:p>
            <a:fld id="{C1FF6DA9-008F-8B48-92A6-B652298478BF}" type="slidenum">
              <a:rPr lang="en-US" sz="3200" smtClean="0">
                <a:solidFill>
                  <a:schemeClr val="bg1"/>
                </a:solidFill>
              </a:rPr>
              <a:t>9</a:t>
            </a:fld>
            <a:endParaRPr lang="en-US" sz="3200">
              <a:solidFill>
                <a:schemeClr val="bg1"/>
              </a:solidFill>
            </a:endParaRPr>
          </a:p>
        </p:txBody>
      </p:sp>
      <p:pic>
        <p:nvPicPr>
          <p:cNvPr id="5" name="Picture 4" descr="The image displays a graph with a line chart illustrating the significance levels of halogen components, plotted against photon energy in GeV.&#10;&#10;AI-generated content may be incorrect.">
            <a:extLst>
              <a:ext uri="{FF2B5EF4-FFF2-40B4-BE49-F238E27FC236}">
                <a16:creationId xmlns:a16="http://schemas.microsoft.com/office/drawing/2014/main" id="{E18CF7F6-3D98-D308-ED1C-C8DA815CD081}"/>
              </a:ext>
            </a:extLst>
          </p:cNvPr>
          <p:cNvPicPr>
            <a:picLocks noChangeAspect="1"/>
          </p:cNvPicPr>
          <p:nvPr/>
        </p:nvPicPr>
        <p:blipFill>
          <a:blip r:embed="rId3"/>
          <a:srcRect l="4749" t="10235" r="7870"/>
          <a:stretch>
            <a:fillRect/>
          </a:stretch>
        </p:blipFill>
        <p:spPr>
          <a:xfrm>
            <a:off x="75768" y="974904"/>
            <a:ext cx="6592888" cy="52827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105669" y="113534"/>
            <a:ext cx="11247120" cy="584775"/>
          </a:xfrm>
          <a:prstGeom prst="rect">
            <a:avLst/>
          </a:prstGeom>
          <a:noFill/>
        </p:spPr>
        <p:txBody>
          <a:bodyPr wrap="square">
            <a:spAutoFit/>
          </a:bodyPr>
          <a:lstStyle/>
          <a:p>
            <a:pPr>
              <a:defRPr sz="2300" b="1">
                <a:solidFill>
                  <a:srgbClr val="FFFFFF"/>
                </a:solidFill>
              </a:defRPr>
            </a:pPr>
            <a:r>
              <a:rPr lang="en-US" sz="3200"/>
              <a:t>Disucussion</a:t>
            </a:r>
            <a:r>
              <a:rPr sz="3200"/>
              <a:t>：T</a:t>
            </a:r>
            <a:r>
              <a:rPr lang="en-US" altLang="ja-JP" sz="3200"/>
              <a:t>25</a:t>
            </a:r>
            <a:r>
              <a:rPr sz="3200"/>
              <a:t> と</a:t>
            </a:r>
            <a:r>
              <a:rPr lang="ja-JP" altLang="en-US" sz="3200"/>
              <a:t>本研究の結果</a:t>
            </a:r>
            <a:r>
              <a:rPr sz="3200"/>
              <a:t>比較</a:t>
            </a:r>
          </a:p>
        </p:txBody>
      </p:sp>
      <p:sp>
        <p:nvSpPr>
          <p:cNvPr id="8" name="Slide Number Placeholder 4">
            <a:extLst>
              <a:ext uri="{FF2B5EF4-FFF2-40B4-BE49-F238E27FC236}">
                <a16:creationId xmlns:a16="http://schemas.microsoft.com/office/drawing/2014/main" id="{C40BDC5C-697D-02C5-22C6-FB130DBB71F5}"/>
              </a:ext>
            </a:extLst>
          </p:cNvPr>
          <p:cNvSpPr>
            <a:spLocks noGrp="1"/>
          </p:cNvSpPr>
          <p:nvPr>
            <p:ph type="sldNum" sz="quarter" idx="12"/>
          </p:nvPr>
        </p:nvSpPr>
        <p:spPr>
          <a:xfrm>
            <a:off x="11392930" y="6367325"/>
            <a:ext cx="799070" cy="490675"/>
          </a:xfrm>
        </p:spPr>
        <p:txBody>
          <a:bodyPr/>
          <a:lstStyle/>
          <a:p>
            <a:fld id="{C1FF6DA9-008F-8B48-92A6-B652298478BF}" type="slidenum">
              <a:rPr lang="en-US" sz="3200" smtClean="0">
                <a:solidFill>
                  <a:schemeClr val="bg1"/>
                </a:solidFill>
              </a:rPr>
              <a:t>10</a:t>
            </a:fld>
            <a:endParaRPr lang="en-US" sz="3200">
              <a:solidFill>
                <a:schemeClr val="bg1"/>
              </a:solidFill>
            </a:endParaRPr>
          </a:p>
        </p:txBody>
      </p:sp>
      <p:pic>
        <p:nvPicPr>
          <p:cNvPr id="6" name="Picture 5" descr="The image appears to be a graph or chart showing various measurements or data points related to astrophysical phenomena, such as energy levels (GeV), different types of energy components, and possibly different models or theories (e.g., NFW-p2, ICS, IGRB). It includes a comparison between different studies or data sets, possibly illustrating the differences in measurements or predictions for phenomena like galactic halos.&#10;&#10;AI-generated content may be incorrect.">
            <a:extLst>
              <a:ext uri="{FF2B5EF4-FFF2-40B4-BE49-F238E27FC236}">
                <a16:creationId xmlns:a16="http://schemas.microsoft.com/office/drawing/2014/main" id="{3ED1F1D1-2184-79C6-2D95-4900B02AA44E}"/>
              </a:ext>
            </a:extLst>
          </p:cNvPr>
          <p:cNvPicPr>
            <a:picLocks noChangeAspect="1"/>
          </p:cNvPicPr>
          <p:nvPr/>
        </p:nvPicPr>
        <p:blipFill>
          <a:blip r:embed="rId3"/>
          <a:srcRect b="49984"/>
          <a:stretch>
            <a:fillRect/>
          </a:stretch>
        </p:blipFill>
        <p:spPr>
          <a:xfrm>
            <a:off x="1760636" y="698309"/>
            <a:ext cx="9093125" cy="57622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EC8771C-978C-A338-82AF-ABAD4E127CD1}"/>
            </a:ext>
          </a:extLst>
        </p:cNvPr>
        <p:cNvGrpSpPr/>
        <p:nvPr/>
      </p:nvGrpSpPr>
      <p:grpSpPr>
        <a:xfrm>
          <a:off x="0" y="0"/>
          <a:ext cx="0" cy="0"/>
          <a:chOff x="0" y="0"/>
          <a:chExt cx="0" cy="0"/>
        </a:xfrm>
      </p:grpSpPr>
      <p:pic>
        <p:nvPicPr>
          <p:cNvPr id="8" name="Picture 7" descr="The image appears to be a graph or chart showing various measurements or data points related to astrophysical phenomena, such as energy levels (GeV), different types of energy components, and possibly different models or theories (e.g., NFW-p2, ICS, IGRB). It includes a comparison between different studies or data sets, possibly illustrating the differences in measurements or predictions for phenomena like galactic halos.&#10;&#10;AI-generated content may be incorrect.">
            <a:extLst>
              <a:ext uri="{FF2B5EF4-FFF2-40B4-BE49-F238E27FC236}">
                <a16:creationId xmlns:a16="http://schemas.microsoft.com/office/drawing/2014/main" id="{ACCC9B37-F470-E881-A8E2-0F21537C7939}"/>
              </a:ext>
            </a:extLst>
          </p:cNvPr>
          <p:cNvPicPr>
            <a:picLocks noChangeAspect="1"/>
          </p:cNvPicPr>
          <p:nvPr/>
        </p:nvPicPr>
        <p:blipFill>
          <a:blip r:embed="rId3"/>
          <a:srcRect t="50000"/>
          <a:stretch>
            <a:fillRect/>
          </a:stretch>
        </p:blipFill>
        <p:spPr>
          <a:xfrm>
            <a:off x="5208608" y="1409998"/>
            <a:ext cx="6773312" cy="4290874"/>
          </a:xfrm>
          <a:prstGeom prst="rect">
            <a:avLst/>
          </a:prstGeom>
        </p:spPr>
      </p:pic>
      <p:sp>
        <p:nvSpPr>
          <p:cNvPr id="2" name="TextBox 1">
            <a:extLst>
              <a:ext uri="{FF2B5EF4-FFF2-40B4-BE49-F238E27FC236}">
                <a16:creationId xmlns:a16="http://schemas.microsoft.com/office/drawing/2014/main" id="{57044AFE-B5F3-3E3B-88EB-3EA1FA07B9C4}"/>
              </a:ext>
            </a:extLst>
          </p:cNvPr>
          <p:cNvSpPr txBox="1"/>
          <p:nvPr/>
        </p:nvSpPr>
        <p:spPr>
          <a:xfrm>
            <a:off x="89360" y="113534"/>
            <a:ext cx="11247120" cy="584775"/>
          </a:xfrm>
          <a:prstGeom prst="rect">
            <a:avLst/>
          </a:prstGeom>
          <a:noFill/>
        </p:spPr>
        <p:txBody>
          <a:bodyPr wrap="square">
            <a:spAutoFit/>
          </a:bodyPr>
          <a:lstStyle/>
          <a:p>
            <a:pPr>
              <a:defRPr sz="2300" b="1">
                <a:solidFill>
                  <a:srgbClr val="FFFFFF"/>
                </a:solidFill>
              </a:defRPr>
            </a:pPr>
            <a:r>
              <a:rPr lang="en-US" sz="3200"/>
              <a:t>Disucussion</a:t>
            </a:r>
            <a:r>
              <a:rPr sz="3200"/>
              <a:t>：T</a:t>
            </a:r>
            <a:r>
              <a:rPr lang="en-US" altLang="ja-JP" sz="3200"/>
              <a:t>25</a:t>
            </a:r>
            <a:r>
              <a:rPr sz="3200"/>
              <a:t> と</a:t>
            </a:r>
            <a:r>
              <a:rPr lang="ja-JP" altLang="en-US" sz="3200"/>
              <a:t>本研究の結果</a:t>
            </a:r>
            <a:r>
              <a:rPr sz="3200"/>
              <a:t>比較</a:t>
            </a:r>
          </a:p>
        </p:txBody>
      </p:sp>
      <p:sp>
        <p:nvSpPr>
          <p:cNvPr id="4" name="TextBox 3">
            <a:extLst>
              <a:ext uri="{FF2B5EF4-FFF2-40B4-BE49-F238E27FC236}">
                <a16:creationId xmlns:a16="http://schemas.microsoft.com/office/drawing/2014/main" id="{48905D36-0958-7D17-1C52-F117F46A377F}"/>
              </a:ext>
            </a:extLst>
          </p:cNvPr>
          <p:cNvSpPr txBox="1"/>
          <p:nvPr/>
        </p:nvSpPr>
        <p:spPr>
          <a:xfrm>
            <a:off x="100325" y="875045"/>
            <a:ext cx="6097464" cy="5909310"/>
          </a:xfrm>
          <a:prstGeom prst="rect">
            <a:avLst/>
          </a:prstGeom>
          <a:noFill/>
        </p:spPr>
        <p:txBody>
          <a:bodyPr wrap="square">
            <a:spAutoFit/>
          </a:bodyPr>
          <a:lstStyle/>
          <a:p>
            <a:r>
              <a:rPr lang="ja-JP" altLang="en-US" sz="2400">
                <a:solidFill>
                  <a:schemeClr val="bg1"/>
                </a:solidFill>
              </a:rPr>
              <a:t>右図は本研究とＴ</a:t>
            </a:r>
            <a:r>
              <a:rPr lang="en-US" altLang="ja-JP" sz="2400">
                <a:solidFill>
                  <a:schemeClr val="bg1"/>
                </a:solidFill>
              </a:rPr>
              <a:t>25</a:t>
            </a:r>
            <a:r>
              <a:rPr lang="ja-JP" altLang="en-US" sz="2400">
                <a:solidFill>
                  <a:schemeClr val="bg1"/>
                </a:solidFill>
              </a:rPr>
              <a:t>手法の再現度比較</a:t>
            </a:r>
            <a:endParaRPr lang="en-US" altLang="ja-JP" sz="2400">
              <a:solidFill>
                <a:schemeClr val="bg1"/>
              </a:solidFill>
            </a:endParaRPr>
          </a:p>
          <a:p>
            <a:endParaRPr lang="en-US" sz="2400">
              <a:solidFill>
                <a:schemeClr val="bg1"/>
              </a:solidFill>
            </a:endParaRPr>
          </a:p>
          <a:p>
            <a:r>
              <a:rPr lang="ja-JP" altLang="en-US" sz="2400" b="1">
                <a:solidFill>
                  <a:schemeClr val="bg1"/>
                </a:solidFill>
              </a:rPr>
              <a:t>①</a:t>
            </a:r>
            <a:r>
              <a:rPr lang="en-US" sz="2400" b="1">
                <a:solidFill>
                  <a:schemeClr val="bg1"/>
                </a:solidFill>
              </a:rPr>
              <a:t>halo・Loop I はほぼ一致</a:t>
            </a:r>
            <a:endParaRPr lang="en-US" sz="2400">
              <a:solidFill>
                <a:schemeClr val="bg1"/>
              </a:solidFill>
            </a:endParaRPr>
          </a:p>
          <a:p>
            <a:endParaRPr lang="en-US" sz="2400">
              <a:solidFill>
                <a:schemeClr val="bg1"/>
              </a:solidFill>
            </a:endParaRPr>
          </a:p>
          <a:p>
            <a:endParaRPr lang="en-US" sz="2400">
              <a:solidFill>
                <a:schemeClr val="bg1"/>
              </a:solidFill>
            </a:endParaRPr>
          </a:p>
          <a:p>
            <a:r>
              <a:rPr lang="ja-JP" altLang="en-US" sz="2400" b="1">
                <a:solidFill>
                  <a:schemeClr val="bg1"/>
                </a:solidFill>
              </a:rPr>
              <a:t>②大きな</a:t>
            </a:r>
            <a:r>
              <a:rPr lang="en-US" sz="2400" b="1">
                <a:solidFill>
                  <a:schemeClr val="bg1"/>
                </a:solidFill>
              </a:rPr>
              <a:t>食い違い</a:t>
            </a:r>
          </a:p>
          <a:p>
            <a:r>
              <a:rPr lang="en-US" sz="2400" b="1">
                <a:solidFill>
                  <a:schemeClr val="bg1"/>
                </a:solidFill>
              </a:rPr>
              <a:t>	</a:t>
            </a:r>
            <a:r>
              <a:rPr lang="en-US" sz="2400">
                <a:solidFill>
                  <a:schemeClr val="bg1"/>
                </a:solidFill>
              </a:rPr>
              <a:t>＝等方成分</a:t>
            </a:r>
            <a:r>
              <a:rPr lang="ja-JP" altLang="en-US" sz="2400">
                <a:solidFill>
                  <a:schemeClr val="bg1"/>
                </a:solidFill>
              </a:rPr>
              <a:t>の係数が</a:t>
            </a:r>
            <a:r>
              <a:rPr lang="en-US" sz="2400">
                <a:solidFill>
                  <a:schemeClr val="bg1"/>
                </a:solidFill>
              </a:rPr>
              <a:t>0.38</a:t>
            </a:r>
            <a:r>
              <a:rPr lang="ja-JP" altLang="en-US" sz="2400">
                <a:solidFill>
                  <a:schemeClr val="bg1"/>
                </a:solidFill>
              </a:rPr>
              <a:t>倍</a:t>
            </a:r>
            <a:endParaRPr lang="en-US" sz="2400">
              <a:solidFill>
                <a:schemeClr val="bg1"/>
              </a:solidFill>
            </a:endParaRPr>
          </a:p>
          <a:p>
            <a:r>
              <a:rPr lang="en-US" sz="2400">
                <a:solidFill>
                  <a:schemeClr val="bg1"/>
                </a:solidFill>
              </a:rPr>
              <a:t>（低</a:t>
            </a:r>
            <a:r>
              <a:rPr lang="ja-JP" altLang="en-US" sz="2400">
                <a:solidFill>
                  <a:schemeClr val="bg1"/>
                </a:solidFill>
              </a:rPr>
              <a:t>エネルギー側</a:t>
            </a:r>
            <a:r>
              <a:rPr lang="en-US" sz="2400">
                <a:solidFill>
                  <a:schemeClr val="bg1"/>
                </a:solidFill>
              </a:rPr>
              <a:t>で</a:t>
            </a:r>
            <a:r>
              <a:rPr lang="en-US" altLang="ja-JP" sz="2400">
                <a:solidFill>
                  <a:schemeClr val="bg1"/>
                </a:solidFill>
              </a:rPr>
              <a:t>1/200</a:t>
            </a:r>
            <a:r>
              <a:rPr lang="ja-JP" altLang="en-US" sz="2400">
                <a:solidFill>
                  <a:schemeClr val="bg1"/>
                </a:solidFill>
              </a:rPr>
              <a:t>倍</a:t>
            </a:r>
            <a:r>
              <a:rPr lang="en-US" sz="2400">
                <a:solidFill>
                  <a:schemeClr val="bg1"/>
                </a:solidFill>
              </a:rPr>
              <a:t>）</a:t>
            </a:r>
          </a:p>
          <a:p>
            <a:r>
              <a:rPr lang="en-US" sz="2400">
                <a:solidFill>
                  <a:schemeClr val="bg1"/>
                </a:solidFill>
              </a:rPr>
              <a:t> </a:t>
            </a:r>
          </a:p>
          <a:p>
            <a:r>
              <a:rPr lang="en-US" sz="2400">
                <a:solidFill>
                  <a:schemeClr val="bg1"/>
                </a:solidFill>
              </a:rPr>
              <a:t>→ </a:t>
            </a:r>
            <a:r>
              <a:rPr lang="ja-JP" altLang="en-US" sz="2400">
                <a:solidFill>
                  <a:schemeClr val="bg1"/>
                </a:solidFill>
              </a:rPr>
              <a:t>考えられる</a:t>
            </a:r>
            <a:r>
              <a:rPr lang="en-US" sz="2400">
                <a:solidFill>
                  <a:schemeClr val="bg1"/>
                </a:solidFill>
              </a:rPr>
              <a:t>原因：本研究の ICS が </a:t>
            </a:r>
          </a:p>
          <a:p>
            <a:r>
              <a:rPr lang="en-US" sz="2400">
                <a:solidFill>
                  <a:schemeClr val="bg1"/>
                </a:solidFill>
              </a:rPr>
              <a:t>T</a:t>
            </a:r>
            <a:r>
              <a:rPr lang="en-US" altLang="ja-JP" sz="2400">
                <a:solidFill>
                  <a:schemeClr val="bg1"/>
                </a:solidFill>
              </a:rPr>
              <a:t>25</a:t>
            </a:r>
            <a:r>
              <a:rPr lang="en-US" sz="2400">
                <a:solidFill>
                  <a:schemeClr val="bg1"/>
                </a:solidFill>
              </a:rPr>
              <a:t>より</a:t>
            </a:r>
            <a:r>
              <a:rPr lang="ja-JP" altLang="en-US" sz="2400" b="1">
                <a:solidFill>
                  <a:schemeClr val="bg1"/>
                </a:solidFill>
              </a:rPr>
              <a:t>スペクトルが平坦で、</a:t>
            </a:r>
            <a:endParaRPr lang="en-US" altLang="ja-JP" sz="2400" b="1">
              <a:solidFill>
                <a:schemeClr val="bg1"/>
              </a:solidFill>
            </a:endParaRPr>
          </a:p>
          <a:p>
            <a:r>
              <a:rPr lang="ja-JP" altLang="en-US" sz="2400" b="1">
                <a:solidFill>
                  <a:schemeClr val="bg1"/>
                </a:solidFill>
              </a:rPr>
              <a:t>等方背景の形に似ていて縮退する</a:t>
            </a:r>
            <a:endParaRPr lang="en-US" altLang="ja-JP" sz="2400" b="1">
              <a:solidFill>
                <a:schemeClr val="bg1"/>
              </a:solidFill>
            </a:endParaRPr>
          </a:p>
          <a:p>
            <a:endParaRPr lang="en-US" sz="2400" b="1">
              <a:solidFill>
                <a:schemeClr val="bg1"/>
              </a:solidFill>
            </a:endParaRPr>
          </a:p>
          <a:p>
            <a:r>
              <a:rPr lang="ja-JP" altLang="en-US" sz="2400"/>
              <a:t>能</a:t>
            </a:r>
          </a:p>
          <a:p>
            <a:endParaRPr lang="en-US" sz="2400">
              <a:solidFill>
                <a:schemeClr val="bg1"/>
              </a:solidFill>
            </a:endParaRPr>
          </a:p>
          <a:p>
            <a:endParaRPr lang="en-US"/>
          </a:p>
        </p:txBody>
      </p:sp>
      <p:sp>
        <p:nvSpPr>
          <p:cNvPr id="3" name="Arrow: Up-Down 2">
            <a:extLst>
              <a:ext uri="{FF2B5EF4-FFF2-40B4-BE49-F238E27FC236}">
                <a16:creationId xmlns:a16="http://schemas.microsoft.com/office/drawing/2014/main" id="{8BD99596-4D21-B383-F2EA-E95E7554CC07}"/>
              </a:ext>
            </a:extLst>
          </p:cNvPr>
          <p:cNvSpPr/>
          <p:nvPr/>
        </p:nvSpPr>
        <p:spPr>
          <a:xfrm>
            <a:off x="6525530" y="2798618"/>
            <a:ext cx="554182" cy="1508135"/>
          </a:xfrm>
          <a:prstGeom prst="upDown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D19379A4-7BA2-882A-D6EE-E1A64974C977}"/>
              </a:ext>
            </a:extLst>
          </p:cNvPr>
          <p:cNvSpPr txBox="1"/>
          <p:nvPr/>
        </p:nvSpPr>
        <p:spPr>
          <a:xfrm>
            <a:off x="6096000" y="3253960"/>
            <a:ext cx="2743200" cy="461665"/>
          </a:xfrm>
          <a:prstGeom prst="rect">
            <a:avLst/>
          </a:prstGeom>
          <a:noFill/>
        </p:spPr>
        <p:txBody>
          <a:bodyPr wrap="square" rtlCol="0">
            <a:spAutoFit/>
          </a:bodyPr>
          <a:lstStyle/>
          <a:p>
            <a:r>
              <a:rPr lang="ja-JP" altLang="en-US" sz="2400" b="1">
                <a:solidFill>
                  <a:srgbClr val="FF0000"/>
                </a:solidFill>
                <a:effectLst>
                  <a:glow rad="190500">
                    <a:schemeClr val="bg1"/>
                  </a:glow>
                </a:effectLst>
              </a:rPr>
              <a:t>１</a:t>
            </a:r>
            <a:r>
              <a:rPr lang="en-US" altLang="ja-JP" sz="2400" b="1">
                <a:solidFill>
                  <a:srgbClr val="FF0000"/>
                </a:solidFill>
                <a:effectLst>
                  <a:glow rad="190500">
                    <a:schemeClr val="bg1"/>
                  </a:glow>
                </a:effectLst>
              </a:rPr>
              <a:t>/</a:t>
            </a:r>
            <a:r>
              <a:rPr lang="ja-JP" altLang="en-US" sz="2400" b="1">
                <a:solidFill>
                  <a:srgbClr val="FF0000"/>
                </a:solidFill>
                <a:effectLst>
                  <a:glow rad="190500">
                    <a:schemeClr val="bg1"/>
                  </a:glow>
                </a:effectLst>
              </a:rPr>
              <a:t>２００倍のズレ</a:t>
            </a:r>
            <a:endParaRPr lang="en-US" sz="2400" b="1">
              <a:solidFill>
                <a:srgbClr val="FF0000"/>
              </a:solidFill>
              <a:effectLst>
                <a:glow rad="190500">
                  <a:schemeClr val="bg1"/>
                </a:glow>
              </a:effectLst>
            </a:endParaRPr>
          </a:p>
        </p:txBody>
      </p:sp>
      <p:sp>
        <p:nvSpPr>
          <p:cNvPr id="7" name="Slide Number Placeholder 4">
            <a:extLst>
              <a:ext uri="{FF2B5EF4-FFF2-40B4-BE49-F238E27FC236}">
                <a16:creationId xmlns:a16="http://schemas.microsoft.com/office/drawing/2014/main" id="{1A3E9AA7-B205-8757-21BE-31FBB118154A}"/>
              </a:ext>
            </a:extLst>
          </p:cNvPr>
          <p:cNvSpPr>
            <a:spLocks noGrp="1"/>
          </p:cNvSpPr>
          <p:nvPr>
            <p:ph type="sldNum" sz="quarter" idx="12"/>
          </p:nvPr>
        </p:nvSpPr>
        <p:spPr>
          <a:xfrm>
            <a:off x="11336480" y="6367325"/>
            <a:ext cx="926756" cy="490675"/>
          </a:xfrm>
        </p:spPr>
        <p:txBody>
          <a:bodyPr/>
          <a:lstStyle/>
          <a:p>
            <a:fld id="{C1FF6DA9-008F-8B48-92A6-B652298478BF}" type="slidenum">
              <a:rPr lang="en-US" sz="3200" smtClean="0">
                <a:solidFill>
                  <a:schemeClr val="bg1"/>
                </a:solidFill>
              </a:rPr>
              <a:t>11</a:t>
            </a:fld>
            <a:endParaRPr lang="en-US" sz="3200">
              <a:solidFill>
                <a:schemeClr val="bg1"/>
              </a:solidFill>
            </a:endParaRPr>
          </a:p>
        </p:txBody>
      </p:sp>
    </p:spTree>
    <p:extLst>
      <p:ext uri="{BB962C8B-B14F-4D97-AF65-F5344CB8AC3E}">
        <p14:creationId xmlns:p14="http://schemas.microsoft.com/office/powerpoint/2010/main" val="2217445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72440" y="330197"/>
            <a:ext cx="11247120" cy="707886"/>
          </a:xfrm>
          <a:prstGeom prst="rect">
            <a:avLst/>
          </a:prstGeom>
          <a:noFill/>
        </p:spPr>
        <p:txBody>
          <a:bodyPr wrap="square">
            <a:spAutoFit/>
          </a:bodyPr>
          <a:lstStyle/>
          <a:p>
            <a:pPr>
              <a:defRPr sz="2800" b="1">
                <a:solidFill>
                  <a:srgbClr val="FFFFFF"/>
                </a:solidFill>
              </a:defRPr>
            </a:pPr>
            <a:r>
              <a:rPr sz="4000"/>
              <a:t>Conclusion</a:t>
            </a:r>
            <a:r>
              <a:rPr lang="en-US" sz="4000"/>
              <a:t>:</a:t>
            </a:r>
            <a:r>
              <a:rPr lang="ja-JP" altLang="en-US" sz="4000"/>
              <a:t> ガンマ線過剰解明のための</a:t>
            </a:r>
            <a:r>
              <a:rPr lang="en-US" sz="4000"/>
              <a:t>T25</a:t>
            </a:r>
            <a:r>
              <a:rPr lang="ja-JP" altLang="en-US" sz="4000"/>
              <a:t>再現</a:t>
            </a:r>
            <a:endParaRPr sz="4000"/>
          </a:p>
        </p:txBody>
      </p:sp>
      <p:sp>
        <p:nvSpPr>
          <p:cNvPr id="5" name="TextBox 4">
            <a:extLst>
              <a:ext uri="{FF2B5EF4-FFF2-40B4-BE49-F238E27FC236}">
                <a16:creationId xmlns:a16="http://schemas.microsoft.com/office/drawing/2014/main" id="{6BE14EFE-9B85-A353-E70A-3DCAE137C54E}"/>
              </a:ext>
            </a:extLst>
          </p:cNvPr>
          <p:cNvSpPr txBox="1"/>
          <p:nvPr/>
        </p:nvSpPr>
        <p:spPr>
          <a:xfrm>
            <a:off x="2933700" y="4428650"/>
            <a:ext cx="6096000" cy="369332"/>
          </a:xfrm>
          <a:prstGeom prst="rect">
            <a:avLst/>
          </a:prstGeom>
          <a:noFill/>
        </p:spPr>
        <p:txBody>
          <a:bodyPr wrap="square">
            <a:spAutoFit/>
          </a:bodyPr>
          <a:lstStyle/>
          <a:p>
            <a:r>
              <a:rPr lang="ja-JP" altLang="en-US"/>
              <a:t>手法の新規性</a:t>
            </a:r>
          </a:p>
        </p:txBody>
      </p:sp>
      <p:sp>
        <p:nvSpPr>
          <p:cNvPr id="7" name="TextBox 6">
            <a:extLst>
              <a:ext uri="{FF2B5EF4-FFF2-40B4-BE49-F238E27FC236}">
                <a16:creationId xmlns:a16="http://schemas.microsoft.com/office/drawing/2014/main" id="{A6931CBB-4422-8C93-03E0-11F0FC2B8D6B}"/>
              </a:ext>
            </a:extLst>
          </p:cNvPr>
          <p:cNvSpPr txBox="1"/>
          <p:nvPr/>
        </p:nvSpPr>
        <p:spPr>
          <a:xfrm>
            <a:off x="575564" y="1038083"/>
            <a:ext cx="10557249" cy="5078313"/>
          </a:xfrm>
          <a:prstGeom prst="rect">
            <a:avLst/>
          </a:prstGeom>
          <a:noFill/>
        </p:spPr>
        <p:txBody>
          <a:bodyPr wrap="square">
            <a:spAutoFit/>
          </a:bodyPr>
          <a:lstStyle/>
          <a:p>
            <a:r>
              <a:rPr lang="en-US" altLang="ja-JP" sz="2400">
                <a:solidFill>
                  <a:schemeClr val="bg1"/>
                </a:solidFill>
              </a:rPr>
              <a:t>【</a:t>
            </a:r>
            <a:r>
              <a:rPr lang="ja-JP" altLang="en-US" sz="2400">
                <a:solidFill>
                  <a:schemeClr val="bg1"/>
                </a:solidFill>
              </a:rPr>
              <a:t>成果</a:t>
            </a:r>
            <a:r>
              <a:rPr lang="en-US" altLang="ja-JP" sz="2400">
                <a:solidFill>
                  <a:schemeClr val="bg1"/>
                </a:solidFill>
              </a:rPr>
              <a:t>】</a:t>
            </a:r>
          </a:p>
          <a:p>
            <a:r>
              <a:rPr lang="en-US" altLang="ja-JP" sz="2400">
                <a:solidFill>
                  <a:schemeClr val="bg1"/>
                </a:solidFill>
              </a:rPr>
              <a:t>20 GeV </a:t>
            </a:r>
            <a:r>
              <a:rPr lang="ja-JP" altLang="en-US" sz="2400">
                <a:solidFill>
                  <a:schemeClr val="bg1"/>
                </a:solidFill>
              </a:rPr>
              <a:t>ハロー過剰を </a:t>
            </a:r>
            <a:r>
              <a:rPr lang="en-US" altLang="ja-JP" sz="2400">
                <a:solidFill>
                  <a:schemeClr val="bg1"/>
                </a:solidFill>
              </a:rPr>
              <a:t>T25</a:t>
            </a:r>
            <a:r>
              <a:rPr lang="ja-JP" altLang="en-US" sz="2400">
                <a:solidFill>
                  <a:schemeClr val="bg1"/>
                </a:solidFill>
              </a:rPr>
              <a:t>の再現</a:t>
            </a:r>
            <a:endParaRPr lang="en-US" altLang="ja-JP" sz="2400">
              <a:solidFill>
                <a:schemeClr val="bg1"/>
              </a:solidFill>
            </a:endParaRPr>
          </a:p>
          <a:p>
            <a:r>
              <a:rPr lang="ja-JP" altLang="en-US" sz="2400">
                <a:solidFill>
                  <a:schemeClr val="bg1"/>
                </a:solidFill>
              </a:rPr>
              <a:t> →有意度 </a:t>
            </a:r>
            <a:r>
              <a:rPr lang="en-US" altLang="ja-JP" sz="2400">
                <a:solidFill>
                  <a:schemeClr val="bg1"/>
                </a:solidFill>
              </a:rPr>
              <a:t>19σ</a:t>
            </a:r>
            <a:r>
              <a:rPr lang="ja-JP" altLang="en-US" sz="2400">
                <a:solidFill>
                  <a:schemeClr val="bg1"/>
                </a:solidFill>
              </a:rPr>
              <a:t>（</a:t>
            </a:r>
            <a:r>
              <a:rPr lang="en-US" altLang="ja-JP" sz="2400">
                <a:solidFill>
                  <a:schemeClr val="bg1"/>
                </a:solidFill>
              </a:rPr>
              <a:t>Bin6</a:t>
            </a:r>
            <a:r>
              <a:rPr lang="ja-JP" altLang="en-US" sz="2400">
                <a:solidFill>
                  <a:schemeClr val="bg1"/>
                </a:solidFill>
              </a:rPr>
              <a:t>）、スペクトルの形が近似 </a:t>
            </a:r>
          </a:p>
          <a:p>
            <a:endParaRPr lang="ja-JP" altLang="en-US" sz="2400">
              <a:solidFill>
                <a:schemeClr val="bg1"/>
              </a:solidFill>
            </a:endParaRPr>
          </a:p>
          <a:p>
            <a:r>
              <a:rPr lang="en-US" altLang="ja-JP" sz="2400">
                <a:solidFill>
                  <a:schemeClr val="bg1"/>
                </a:solidFill>
              </a:rPr>
              <a:t>【</a:t>
            </a:r>
            <a:r>
              <a:rPr lang="ja-JP" altLang="en-US" sz="2400">
                <a:solidFill>
                  <a:schemeClr val="bg1"/>
                </a:solidFill>
              </a:rPr>
              <a:t>今後の方針</a:t>
            </a:r>
            <a:r>
              <a:rPr lang="en-US" altLang="ja-JP" sz="2400">
                <a:solidFill>
                  <a:schemeClr val="bg1"/>
                </a:solidFill>
              </a:rPr>
              <a:t>】 </a:t>
            </a:r>
          </a:p>
          <a:p>
            <a:pPr marL="457200" indent="-457200">
              <a:buFont typeface="Arial" panose="020B0604020202020204" pitchFamily="34" charset="0"/>
              <a:buChar char="•"/>
            </a:pPr>
            <a:r>
              <a:rPr lang="ja-JP" altLang="en-US" sz="2400">
                <a:solidFill>
                  <a:schemeClr val="bg1"/>
                </a:solidFill>
              </a:rPr>
              <a:t>ダークマターが多いとされる矮小銀河や、空間分解が可能な近傍銀河</a:t>
            </a:r>
            <a:r>
              <a:rPr lang="en-US" altLang="ja-JP" sz="2400">
                <a:solidFill>
                  <a:schemeClr val="bg1"/>
                </a:solidFill>
              </a:rPr>
              <a:t> </a:t>
            </a:r>
            <a:r>
              <a:rPr lang="ja-JP" altLang="en-US" sz="2400">
                <a:solidFill>
                  <a:schemeClr val="bg1"/>
                </a:solidFill>
              </a:rPr>
              <a:t>にも拡張する</a:t>
            </a:r>
          </a:p>
          <a:p>
            <a:pPr marL="457200" indent="-457200">
              <a:buFont typeface="Arial" panose="020B0604020202020204" pitchFamily="34" charset="0"/>
              <a:buChar char="•"/>
            </a:pPr>
            <a:endParaRPr lang="ja-JP" altLang="en-US" sz="2400">
              <a:solidFill>
                <a:schemeClr val="bg1"/>
              </a:solidFill>
            </a:endParaRPr>
          </a:p>
          <a:p>
            <a:pPr marL="457200" indent="-457200">
              <a:buFont typeface="Wingdings" panose="05000000000000000000" pitchFamily="2" charset="2"/>
              <a:buChar char="§"/>
            </a:pPr>
            <a:r>
              <a:rPr lang="en-US" altLang="ja-JP" sz="2400">
                <a:solidFill>
                  <a:schemeClr val="bg1"/>
                </a:solidFill>
              </a:rPr>
              <a:t>Ackerman+(2015</a:t>
            </a:r>
            <a:r>
              <a:rPr lang="ja-JP" altLang="en-US" sz="2400">
                <a:solidFill>
                  <a:schemeClr val="bg1"/>
                </a:solidFill>
              </a:rPr>
              <a:t>）</a:t>
            </a:r>
            <a:r>
              <a:rPr lang="en-US" altLang="ja-JP" sz="2400">
                <a:solidFill>
                  <a:schemeClr val="bg1"/>
                </a:solidFill>
              </a:rPr>
              <a:t>…</a:t>
            </a:r>
            <a:r>
              <a:rPr lang="en-US" sz="2400">
                <a:solidFill>
                  <a:schemeClr val="bg1"/>
                </a:solidFill>
              </a:rPr>
              <a:t>銀河中心 GeV 超過を DM の観点で解析した先行研究</a:t>
            </a:r>
            <a:r>
              <a:rPr lang="ja-JP" altLang="en-US" sz="3600">
                <a:solidFill>
                  <a:schemeClr val="bg1"/>
                </a:solidFill>
              </a:rPr>
              <a:t>　</a:t>
            </a:r>
            <a:endParaRPr lang="en-US" altLang="ja-JP" sz="2400">
              <a:solidFill>
                <a:schemeClr val="bg1"/>
              </a:solidFill>
            </a:endParaRPr>
          </a:p>
          <a:p>
            <a:pPr marL="457200" indent="-457200">
              <a:buFont typeface="Wingdings" panose="05000000000000000000" pitchFamily="2" charset="2"/>
              <a:buChar char="§"/>
            </a:pPr>
            <a:r>
              <a:rPr lang="en-US" altLang="ja-JP" sz="2400">
                <a:solidFill>
                  <a:schemeClr val="bg1"/>
                </a:solidFill>
              </a:rPr>
              <a:t>Stenhouse+(2026</a:t>
            </a:r>
            <a:r>
              <a:rPr lang="ja-JP" altLang="en-US" sz="2400">
                <a:solidFill>
                  <a:schemeClr val="bg1"/>
                </a:solidFill>
              </a:rPr>
              <a:t>）</a:t>
            </a:r>
            <a:r>
              <a:rPr lang="en-US" altLang="ja-JP" sz="2400">
                <a:solidFill>
                  <a:schemeClr val="bg1"/>
                </a:solidFill>
              </a:rPr>
              <a:t>…</a:t>
            </a:r>
            <a:r>
              <a:rPr lang="ja-JP" altLang="en-US" sz="2400">
                <a:solidFill>
                  <a:schemeClr val="bg1"/>
                </a:solidFill>
              </a:rPr>
              <a:t>独自</a:t>
            </a:r>
            <a:r>
              <a:rPr lang="en-US" sz="2400">
                <a:solidFill>
                  <a:schemeClr val="bg1"/>
                </a:solidFill>
              </a:rPr>
              <a:t>パイプラインで追試</a:t>
            </a:r>
            <a:r>
              <a:rPr lang="ja-JP" altLang="en-US" sz="2400">
                <a:solidFill>
                  <a:schemeClr val="bg1"/>
                </a:solidFill>
              </a:rPr>
              <a:t>で</a:t>
            </a:r>
            <a:r>
              <a:rPr lang="en-US" altLang="ja-JP" sz="2400">
                <a:solidFill>
                  <a:schemeClr val="bg1"/>
                </a:solidFill>
              </a:rPr>
              <a:t>20GeV</a:t>
            </a:r>
            <a:r>
              <a:rPr lang="ja-JP" altLang="en-US" sz="2400">
                <a:solidFill>
                  <a:schemeClr val="bg1"/>
                </a:solidFill>
              </a:rPr>
              <a:t>を確認</a:t>
            </a:r>
            <a:endParaRPr lang="en-US" altLang="ja-JP" sz="2400">
              <a:solidFill>
                <a:schemeClr val="bg1"/>
              </a:solidFill>
            </a:endParaRPr>
          </a:p>
          <a:p>
            <a:pPr marL="457200" indent="-457200">
              <a:buFont typeface="Wingdings" panose="05000000000000000000" pitchFamily="2" charset="2"/>
              <a:buChar char="§"/>
            </a:pPr>
            <a:r>
              <a:rPr lang="en-US" altLang="ja-JP" sz="2400">
                <a:solidFill>
                  <a:schemeClr val="bg1"/>
                </a:solidFill>
              </a:rPr>
              <a:t>Alemanno+(2026)…</a:t>
            </a:r>
            <a:r>
              <a:rPr lang="en-US" sz="2400">
                <a:solidFill>
                  <a:schemeClr val="bg1"/>
                </a:solidFill>
              </a:rPr>
              <a:t>別衛星 DAMPE での超過を検出</a:t>
            </a:r>
          </a:p>
          <a:p>
            <a:endParaRPr lang="en-US" altLang="ja-JP" sz="2400">
              <a:solidFill>
                <a:schemeClr val="bg1"/>
              </a:solidFill>
            </a:endParaRPr>
          </a:p>
          <a:p>
            <a:r>
              <a:rPr lang="ja-JP" altLang="en-US" sz="2400">
                <a:solidFill>
                  <a:schemeClr val="bg1"/>
                </a:solidFill>
              </a:rPr>
              <a:t>などの内容を参考に手法を拡張する。</a:t>
            </a:r>
            <a:endParaRPr lang="en-US" altLang="ja-JP" sz="2400">
              <a:solidFill>
                <a:schemeClr val="bg1"/>
              </a:solidFill>
            </a:endParaRPr>
          </a:p>
        </p:txBody>
      </p:sp>
      <p:sp>
        <p:nvSpPr>
          <p:cNvPr id="3" name="Slide Number Placeholder 4">
            <a:extLst>
              <a:ext uri="{FF2B5EF4-FFF2-40B4-BE49-F238E27FC236}">
                <a16:creationId xmlns:a16="http://schemas.microsoft.com/office/drawing/2014/main" id="{7FEE2C44-0E26-9816-27FF-8CF79AA3B184}"/>
              </a:ext>
            </a:extLst>
          </p:cNvPr>
          <p:cNvSpPr>
            <a:spLocks noGrp="1"/>
          </p:cNvSpPr>
          <p:nvPr>
            <p:ph type="sldNum" sz="quarter" idx="12"/>
          </p:nvPr>
        </p:nvSpPr>
        <p:spPr>
          <a:xfrm>
            <a:off x="11392930" y="6367325"/>
            <a:ext cx="799070" cy="490675"/>
          </a:xfrm>
        </p:spPr>
        <p:txBody>
          <a:bodyPr/>
          <a:lstStyle/>
          <a:p>
            <a:fld id="{C1FF6DA9-008F-8B48-92A6-B652298478BF}" type="slidenum">
              <a:rPr lang="en-US" sz="3200" smtClean="0">
                <a:solidFill>
                  <a:schemeClr val="bg1"/>
                </a:solidFill>
              </a:rPr>
              <a:t>12</a:t>
            </a:fld>
            <a:endParaRPr lang="en-US" sz="320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660E48B-578C-183C-07E6-D66552AC6E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BDBFBA-1F2C-F482-8B90-CAD6B36C4AC8}"/>
              </a:ext>
            </a:extLst>
          </p:cNvPr>
          <p:cNvSpPr txBox="1"/>
          <p:nvPr/>
        </p:nvSpPr>
        <p:spPr>
          <a:xfrm>
            <a:off x="348672" y="206453"/>
            <a:ext cx="11247120" cy="707886"/>
          </a:xfrm>
          <a:prstGeom prst="rect">
            <a:avLst/>
          </a:prstGeom>
          <a:noFill/>
        </p:spPr>
        <p:txBody>
          <a:bodyPr wrap="square">
            <a:spAutoFit/>
          </a:bodyPr>
          <a:lstStyle/>
          <a:p>
            <a:pPr>
              <a:defRPr sz="2800" b="1">
                <a:solidFill>
                  <a:srgbClr val="FFFFFF"/>
                </a:solidFill>
              </a:defRPr>
            </a:pPr>
            <a:r>
              <a:rPr lang="en-US" altLang="ja-JP" sz="4000"/>
              <a:t>Backup</a:t>
            </a:r>
            <a:r>
              <a:rPr lang="ja-JP" altLang="en-US" sz="4000"/>
              <a:t>　</a:t>
            </a:r>
            <a:r>
              <a:rPr lang="en-US" altLang="ja-JP" sz="4000"/>
              <a:t>MCMC</a:t>
            </a:r>
            <a:r>
              <a:rPr lang="ja-JP" altLang="en-US" sz="4000"/>
              <a:t>について</a:t>
            </a:r>
            <a:endParaRPr lang="en-US" altLang="ja-JP" sz="4000"/>
          </a:p>
        </p:txBody>
      </p:sp>
      <p:sp>
        <p:nvSpPr>
          <p:cNvPr id="5" name="TextBox 4">
            <a:extLst>
              <a:ext uri="{FF2B5EF4-FFF2-40B4-BE49-F238E27FC236}">
                <a16:creationId xmlns:a16="http://schemas.microsoft.com/office/drawing/2014/main" id="{CB7843B6-B6C8-FAC2-28E5-D7CBA12C8799}"/>
              </a:ext>
            </a:extLst>
          </p:cNvPr>
          <p:cNvSpPr txBox="1"/>
          <p:nvPr/>
        </p:nvSpPr>
        <p:spPr>
          <a:xfrm>
            <a:off x="2933700" y="4428650"/>
            <a:ext cx="6096000" cy="369332"/>
          </a:xfrm>
          <a:prstGeom prst="rect">
            <a:avLst/>
          </a:prstGeom>
          <a:noFill/>
        </p:spPr>
        <p:txBody>
          <a:bodyPr wrap="square">
            <a:spAutoFit/>
          </a:bodyPr>
          <a:lstStyle/>
          <a:p>
            <a:r>
              <a:rPr lang="ja-JP" altLang="en-US"/>
              <a:t>手法の新規性</a:t>
            </a:r>
          </a:p>
        </p:txBody>
      </p:sp>
      <p:sp>
        <p:nvSpPr>
          <p:cNvPr id="3" name="Slide Number Placeholder 4">
            <a:extLst>
              <a:ext uri="{FF2B5EF4-FFF2-40B4-BE49-F238E27FC236}">
                <a16:creationId xmlns:a16="http://schemas.microsoft.com/office/drawing/2014/main" id="{08A2BC19-2441-55F1-7FA3-860E73F110EF}"/>
              </a:ext>
            </a:extLst>
          </p:cNvPr>
          <p:cNvSpPr>
            <a:spLocks noGrp="1"/>
          </p:cNvSpPr>
          <p:nvPr>
            <p:ph type="sldNum" sz="quarter" idx="12"/>
          </p:nvPr>
        </p:nvSpPr>
        <p:spPr>
          <a:xfrm>
            <a:off x="11392929" y="6367325"/>
            <a:ext cx="704335" cy="490675"/>
          </a:xfrm>
        </p:spPr>
        <p:txBody>
          <a:bodyPr/>
          <a:lstStyle/>
          <a:p>
            <a:fld id="{C1FF6DA9-008F-8B48-92A6-B652298478BF}" type="slidenum">
              <a:rPr lang="en-US" sz="3200" smtClean="0">
                <a:solidFill>
                  <a:schemeClr val="bg1"/>
                </a:solidFill>
              </a:rPr>
              <a:t>13</a:t>
            </a:fld>
            <a:endParaRPr lang="en-US" sz="3200">
              <a:solidFill>
                <a:schemeClr val="bg1"/>
              </a:solidFill>
            </a:endParaRPr>
          </a:p>
        </p:txBody>
      </p:sp>
      <p:sp>
        <p:nvSpPr>
          <p:cNvPr id="6" name="TextBox 5">
            <a:extLst>
              <a:ext uri="{FF2B5EF4-FFF2-40B4-BE49-F238E27FC236}">
                <a16:creationId xmlns:a16="http://schemas.microsoft.com/office/drawing/2014/main" id="{8662D83C-F9C5-499F-9E87-DDCE2F69F822}"/>
              </a:ext>
            </a:extLst>
          </p:cNvPr>
          <p:cNvSpPr txBox="1"/>
          <p:nvPr/>
        </p:nvSpPr>
        <p:spPr>
          <a:xfrm>
            <a:off x="348672" y="1532562"/>
            <a:ext cx="10975109" cy="2554545"/>
          </a:xfrm>
          <a:prstGeom prst="rect">
            <a:avLst/>
          </a:prstGeom>
          <a:noFill/>
        </p:spPr>
        <p:txBody>
          <a:bodyPr wrap="square">
            <a:spAutoFit/>
          </a:bodyPr>
          <a:lstStyle/>
          <a:p>
            <a:pPr indent="0" algn="l">
              <a:buNone/>
            </a:pPr>
            <a:r>
              <a:rPr lang="en-US" sz="3200" b="1" i="0">
                <a:solidFill>
                  <a:schemeClr val="bg1"/>
                </a:solidFill>
                <a:effectLst/>
                <a:latin typeface="-apple-system"/>
              </a:rPr>
              <a:t>手順</a:t>
            </a:r>
          </a:p>
          <a:p>
            <a:pPr indent="0" algn="l">
              <a:buNone/>
            </a:pPr>
            <a:r>
              <a:rPr lang="en-US" sz="3200" b="0" i="0">
                <a:solidFill>
                  <a:schemeClr val="bg1"/>
                </a:solidFill>
                <a:effectLst/>
                <a:latin typeface="-apple-system"/>
              </a:rPr>
              <a:t>① 今の点 から、近くの候補を提案する</a:t>
            </a:r>
          </a:p>
          <a:p>
            <a:pPr indent="0" algn="l">
              <a:buNone/>
            </a:pPr>
            <a:r>
              <a:rPr lang="en-US" sz="3200" b="0" i="0">
                <a:solidFill>
                  <a:schemeClr val="bg1"/>
                </a:solidFill>
                <a:effectLst/>
                <a:latin typeface="-apple-system"/>
              </a:rPr>
              <a:t>② 移動確率 α で </a:t>
            </a:r>
            <a:r>
              <a:rPr lang="ja-JP" altLang="en-US" sz="3200">
                <a:solidFill>
                  <a:schemeClr val="bg1"/>
                </a:solidFill>
                <a:latin typeface="-apple-system"/>
              </a:rPr>
              <a:t>次</a:t>
            </a:r>
            <a:r>
              <a:rPr lang="en-US" sz="3200" b="0" i="0">
                <a:solidFill>
                  <a:schemeClr val="bg1"/>
                </a:solidFill>
                <a:effectLst/>
                <a:latin typeface="-apple-system"/>
              </a:rPr>
              <a:t>へ動く</a:t>
            </a:r>
          </a:p>
          <a:p>
            <a:pPr indent="0" algn="l">
              <a:buNone/>
            </a:pPr>
            <a:r>
              <a:rPr lang="en-US" sz="3200" b="0" i="0">
                <a:solidFill>
                  <a:schemeClr val="bg1"/>
                </a:solidFill>
                <a:effectLst/>
                <a:latin typeface="-apple-system"/>
              </a:rPr>
              <a:t>③ ①②を何万回も繰り返す</a:t>
            </a:r>
          </a:p>
          <a:p>
            <a:pPr indent="0" algn="l">
              <a:buNone/>
            </a:pPr>
            <a:endParaRPr lang="en-US" sz="3200" b="0" i="0">
              <a:solidFill>
                <a:schemeClr val="bg1"/>
              </a:solidFill>
              <a:effectLst/>
              <a:latin typeface="-apple-system"/>
            </a:endParaRPr>
          </a:p>
        </p:txBody>
      </p:sp>
    </p:spTree>
    <p:extLst>
      <p:ext uri="{BB962C8B-B14F-4D97-AF65-F5344CB8AC3E}">
        <p14:creationId xmlns:p14="http://schemas.microsoft.com/office/powerpoint/2010/main" val="3944324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7AC392D-5302-BC53-69D2-53039E8ECB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BCE2D7-BE6B-7BD8-E6BA-1B9A4F35D7A6}"/>
              </a:ext>
            </a:extLst>
          </p:cNvPr>
          <p:cNvSpPr txBox="1"/>
          <p:nvPr/>
        </p:nvSpPr>
        <p:spPr>
          <a:xfrm>
            <a:off x="472440" y="338435"/>
            <a:ext cx="11247120" cy="523220"/>
          </a:xfrm>
          <a:prstGeom prst="rect">
            <a:avLst/>
          </a:prstGeom>
          <a:noFill/>
        </p:spPr>
        <p:txBody>
          <a:bodyPr wrap="square">
            <a:spAutoFit/>
          </a:bodyPr>
          <a:lstStyle/>
          <a:p>
            <a:pPr>
              <a:defRPr sz="2800" b="1">
                <a:solidFill>
                  <a:srgbClr val="FFFFFF"/>
                </a:solidFill>
              </a:defRPr>
            </a:pPr>
            <a:r>
              <a:rPr lang="en-US" altLang="ja-JP" sz="2800"/>
              <a:t>Backup </a:t>
            </a:r>
            <a:r>
              <a:rPr lang="ja-JP" altLang="en-US" sz="2800"/>
              <a:t>有意度について</a:t>
            </a:r>
            <a:endParaRPr lang="en-US" altLang="ja-JP" sz="2800"/>
          </a:p>
        </p:txBody>
      </p:sp>
      <p:sp>
        <p:nvSpPr>
          <p:cNvPr id="5" name="TextBox 4">
            <a:extLst>
              <a:ext uri="{FF2B5EF4-FFF2-40B4-BE49-F238E27FC236}">
                <a16:creationId xmlns:a16="http://schemas.microsoft.com/office/drawing/2014/main" id="{C5C649B0-4432-7D0D-DFAA-5DE752CEA0ED}"/>
              </a:ext>
            </a:extLst>
          </p:cNvPr>
          <p:cNvSpPr txBox="1"/>
          <p:nvPr/>
        </p:nvSpPr>
        <p:spPr>
          <a:xfrm>
            <a:off x="2933700" y="4428650"/>
            <a:ext cx="6096000" cy="369332"/>
          </a:xfrm>
          <a:prstGeom prst="rect">
            <a:avLst/>
          </a:prstGeom>
          <a:noFill/>
        </p:spPr>
        <p:txBody>
          <a:bodyPr wrap="square">
            <a:spAutoFit/>
          </a:bodyPr>
          <a:lstStyle/>
          <a:p>
            <a:r>
              <a:rPr lang="ja-JP" altLang="en-US"/>
              <a:t>手法の新規性</a:t>
            </a:r>
          </a:p>
        </p:txBody>
      </p:sp>
      <p:sp>
        <p:nvSpPr>
          <p:cNvPr id="3" name="Slide Number Placeholder 4">
            <a:extLst>
              <a:ext uri="{FF2B5EF4-FFF2-40B4-BE49-F238E27FC236}">
                <a16:creationId xmlns:a16="http://schemas.microsoft.com/office/drawing/2014/main" id="{81E00A55-F15C-7F59-C3A7-8BE368D8D434}"/>
              </a:ext>
            </a:extLst>
          </p:cNvPr>
          <p:cNvSpPr>
            <a:spLocks noGrp="1"/>
          </p:cNvSpPr>
          <p:nvPr>
            <p:ph type="sldNum" sz="quarter" idx="12"/>
          </p:nvPr>
        </p:nvSpPr>
        <p:spPr>
          <a:xfrm>
            <a:off x="11392930" y="6367325"/>
            <a:ext cx="799070" cy="523220"/>
          </a:xfrm>
        </p:spPr>
        <p:txBody>
          <a:bodyPr/>
          <a:lstStyle/>
          <a:p>
            <a:fld id="{C1FF6DA9-008F-8B48-92A6-B652298478BF}" type="slidenum">
              <a:rPr lang="en-US" sz="3200" smtClean="0">
                <a:solidFill>
                  <a:schemeClr val="bg1"/>
                </a:solidFill>
              </a:rPr>
              <a:t>14</a:t>
            </a:fld>
            <a:endParaRPr lang="en-US" sz="3200">
              <a:solidFill>
                <a:schemeClr val="bg1"/>
              </a:solidFill>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8BC43C8-D8EC-8CF7-5F4C-CC95758BDC14}"/>
                  </a:ext>
                </a:extLst>
              </p:cNvPr>
              <p:cNvSpPr txBox="1"/>
              <p:nvPr/>
            </p:nvSpPr>
            <p:spPr>
              <a:xfrm>
                <a:off x="7965901" y="1233815"/>
                <a:ext cx="4096790" cy="1651093"/>
              </a:xfrm>
              <a:prstGeom prst="rect">
                <a:avLst/>
              </a:prstGeom>
              <a:noFill/>
            </p:spPr>
            <p:txBody>
              <a:bodyPr wrap="square">
                <a:spAutoFit/>
              </a:bodyPr>
              <a:lstStyle/>
              <a:p>
                <a14:m>
                  <m:oMathPara xmlns:m="http://schemas.openxmlformats.org/officeDocument/2006/math">
                    <m:oMath>
                      <m:func>
                        <m:funcPr>
                          <m:ctrlPr>
                            <a:rPr lang="en-US" altLang="ja-JP" sz="2400" i="0">
                              <a:solidFill>
                                <a:schemeClr val="bg1"/>
                              </a:solidFill>
                              <a:latin typeface="Cambria Math" panose="02040503050406030204" pitchFamily="18" charset="0"/>
                            </a:rPr>
                          </m:ctrlPr>
                        </m:funcPr>
                        <m:fName>
                          <m:r>
                            <m:rPr>
                              <m:sty m:val="p"/>
                            </m:rPr>
                            <a:rPr lang="en-US" altLang="ja-JP" sz="2400" i="0">
                              <a:solidFill>
                                <a:schemeClr val="bg1"/>
                              </a:solidFill>
                              <a:latin typeface="Cambria Math" panose="02040503050406030204" pitchFamily="18" charset="0"/>
                            </a:rPr>
                            <m:t>ln</m:t>
                          </m:r>
                        </m:fName>
                        <m:e>
                          <m:r>
                            <a:rPr lang="en-US" altLang="ja-JP" sz="2400" i="1">
                              <a:solidFill>
                                <a:schemeClr val="bg1"/>
                              </a:solidFill>
                              <a:latin typeface="Cambria Math" panose="02040503050406030204" pitchFamily="18" charset="0"/>
                            </a:rPr>
                            <m:t>𝐿</m:t>
                          </m:r>
                        </m:e>
                      </m:func>
                      <m:r>
                        <a:rPr lang="en-US" altLang="ja-JP" sz="2400" i="0">
                          <a:solidFill>
                            <a:schemeClr val="bg1"/>
                          </a:solidFill>
                          <a:latin typeface="Cambria Math" panose="02040503050406030204" pitchFamily="18" charset="0"/>
                        </a:rPr>
                        <m:t>=</m:t>
                      </m:r>
                      <m:nary>
                        <m:naryPr>
                          <m:chr m:val="∑"/>
                          <m:limLoc m:val="undOvr"/>
                          <m:supHide m:val="on"/>
                          <m:ctrlPr>
                            <a:rPr lang="en-US" altLang="ja-JP" sz="2400" i="1">
                              <a:solidFill>
                                <a:schemeClr val="bg1"/>
                              </a:solidFill>
                              <a:latin typeface="Cambria Math" panose="02040503050406030204" pitchFamily="18" charset="0"/>
                            </a:rPr>
                          </m:ctrlPr>
                        </m:naryPr>
                        <m:sub>
                          <m:r>
                            <a:rPr lang="en-US" altLang="ja-JP" sz="2400" i="1">
                              <a:solidFill>
                                <a:schemeClr val="bg1"/>
                              </a:solidFill>
                              <a:latin typeface="Cambria Math" panose="02040503050406030204" pitchFamily="18" charset="0"/>
                            </a:rPr>
                            <m:t>𝑖</m:t>
                          </m:r>
                        </m:sub>
                        <m:sup/>
                        <m:e>
                          <m:d>
                            <m:dPr>
                              <m:ctrlPr>
                                <a:rPr lang="en-US" altLang="ja-JP" sz="2400" i="1">
                                  <a:solidFill>
                                    <a:schemeClr val="bg1"/>
                                  </a:solidFill>
                                  <a:latin typeface="Cambria Math" panose="02040503050406030204" pitchFamily="18" charset="0"/>
                                </a:rPr>
                              </m:ctrlPr>
                            </m:dPr>
                            <m:e>
                              <m:sSub>
                                <m:sSubPr>
                                  <m:ctrlPr>
                                    <a:rPr lang="en-US" altLang="ja-JP" sz="2400" i="1">
                                      <a:solidFill>
                                        <a:schemeClr val="bg1"/>
                                      </a:solidFill>
                                      <a:latin typeface="Cambria Math" panose="02040503050406030204" pitchFamily="18" charset="0"/>
                                    </a:rPr>
                                  </m:ctrlPr>
                                </m:sSubPr>
                                <m:e>
                                  <m:r>
                                    <a:rPr lang="en-US" altLang="ja-JP" sz="2400" i="1">
                                      <a:solidFill>
                                        <a:schemeClr val="bg1"/>
                                      </a:solidFill>
                                      <a:latin typeface="Cambria Math" panose="02040503050406030204" pitchFamily="18" charset="0"/>
                                    </a:rPr>
                                    <m:t>𝑛</m:t>
                                  </m:r>
                                </m:e>
                                <m:sub>
                                  <m:r>
                                    <a:rPr lang="en-US" altLang="ja-JP" sz="2400" i="1">
                                      <a:solidFill>
                                        <a:schemeClr val="bg1"/>
                                      </a:solidFill>
                                      <a:latin typeface="Cambria Math" panose="02040503050406030204" pitchFamily="18" charset="0"/>
                                    </a:rPr>
                                    <m:t>𝑖</m:t>
                                  </m:r>
                                </m:sub>
                              </m:sSub>
                              <m:sSub>
                                <m:sSubPr>
                                  <m:ctrlPr>
                                    <a:rPr lang="en-US" altLang="ja-JP" sz="2400" i="1">
                                      <a:solidFill>
                                        <a:schemeClr val="bg1"/>
                                      </a:solidFill>
                                      <a:latin typeface="Cambria Math" panose="02040503050406030204" pitchFamily="18" charset="0"/>
                                    </a:rPr>
                                  </m:ctrlPr>
                                </m:sSubPr>
                                <m:e>
                                  <m:func>
                                    <m:funcPr>
                                      <m:ctrlPr>
                                        <a:rPr lang="en-US" altLang="ja-JP" sz="2400" i="0">
                                          <a:solidFill>
                                            <a:schemeClr val="bg1"/>
                                          </a:solidFill>
                                          <a:latin typeface="Cambria Math" panose="02040503050406030204" pitchFamily="18" charset="0"/>
                                        </a:rPr>
                                      </m:ctrlPr>
                                    </m:funcPr>
                                    <m:fName>
                                      <m:r>
                                        <m:rPr>
                                          <m:sty m:val="p"/>
                                        </m:rPr>
                                        <a:rPr lang="en-US" altLang="ja-JP" sz="2400" i="0">
                                          <a:solidFill>
                                            <a:schemeClr val="bg1"/>
                                          </a:solidFill>
                                          <a:latin typeface="Cambria Math" panose="02040503050406030204" pitchFamily="18" charset="0"/>
                                        </a:rPr>
                                        <m:t>ln</m:t>
                                      </m:r>
                                    </m:fName>
                                    <m:e>
                                      <m:r>
                                        <a:rPr lang="en-US" altLang="ja-JP" sz="2400" i="1">
                                          <a:solidFill>
                                            <a:schemeClr val="bg1"/>
                                          </a:solidFill>
                                          <a:latin typeface="Cambria Math" panose="02040503050406030204" pitchFamily="18" charset="0"/>
                                        </a:rPr>
                                        <m:t>𝜇</m:t>
                                      </m:r>
                                    </m:e>
                                  </m:func>
                                </m:e>
                                <m:sub>
                                  <m:r>
                                    <a:rPr lang="en-US" altLang="ja-JP" sz="2400" i="1">
                                      <a:solidFill>
                                        <a:schemeClr val="bg1"/>
                                      </a:solidFill>
                                      <a:latin typeface="Cambria Math" panose="02040503050406030204" pitchFamily="18" charset="0"/>
                                    </a:rPr>
                                    <m:t>𝑖</m:t>
                                  </m:r>
                                </m:sub>
                              </m:sSub>
                              <m:r>
                                <a:rPr lang="en-US" altLang="ja-JP" sz="2400" i="0">
                                  <a:solidFill>
                                    <a:schemeClr val="bg1"/>
                                  </a:solidFill>
                                  <a:latin typeface="Cambria Math" panose="02040503050406030204" pitchFamily="18" charset="0"/>
                                </a:rPr>
                                <m:t>−</m:t>
                              </m:r>
                              <m:sSub>
                                <m:sSubPr>
                                  <m:ctrlPr>
                                    <a:rPr lang="en-US" altLang="ja-JP" sz="2400" i="1">
                                      <a:solidFill>
                                        <a:schemeClr val="bg1"/>
                                      </a:solidFill>
                                      <a:latin typeface="Cambria Math" panose="02040503050406030204" pitchFamily="18" charset="0"/>
                                    </a:rPr>
                                  </m:ctrlPr>
                                </m:sSubPr>
                                <m:e>
                                  <m:r>
                                    <a:rPr lang="en-US" altLang="ja-JP" sz="2400" i="1">
                                      <a:solidFill>
                                        <a:schemeClr val="bg1"/>
                                      </a:solidFill>
                                      <a:latin typeface="Cambria Math" panose="02040503050406030204" pitchFamily="18" charset="0"/>
                                    </a:rPr>
                                    <m:t>𝜇</m:t>
                                  </m:r>
                                </m:e>
                                <m:sub>
                                  <m:r>
                                    <a:rPr lang="en-US" altLang="ja-JP" sz="2400" i="1">
                                      <a:solidFill>
                                        <a:schemeClr val="bg1"/>
                                      </a:solidFill>
                                      <a:latin typeface="Cambria Math" panose="02040503050406030204" pitchFamily="18" charset="0"/>
                                    </a:rPr>
                                    <m:t>𝑖</m:t>
                                  </m:r>
                                </m:sub>
                              </m:sSub>
                            </m:e>
                          </m:d>
                        </m:e>
                      </m:nary>
                      <m:r>
                        <a:rPr lang="en-US" altLang="ja-JP" sz="2400" i="0">
                          <a:solidFill>
                            <a:schemeClr val="bg1"/>
                          </a:solidFill>
                          <a:latin typeface="Cambria Math" panose="02040503050406030204" pitchFamily="18" charset="0"/>
                        </a:rPr>
                        <m:t>,  </m:t>
                      </m:r>
                    </m:oMath>
                  </m:oMathPara>
                </a14:m>
                <a:endParaRPr lang="en-US" altLang="ja-JP" sz="2400" i="0">
                  <a:solidFill>
                    <a:schemeClr val="bg1"/>
                  </a:solidFill>
                  <a:latin typeface="Cambria Math" panose="02040503050406030204" pitchFamily="18" charset="0"/>
                </a:endParaRPr>
              </a:p>
              <a:p>
                <a:r>
                  <a:rPr lang="ja-JP" altLang="en-US" sz="2400">
                    <a:solidFill>
                      <a:schemeClr val="bg1"/>
                    </a:solidFill>
                  </a:rPr>
                  <a:t> </a:t>
                </a:r>
                <a14:m>
                  <m:oMath xmlns:m="http://schemas.openxmlformats.org/officeDocument/2006/math">
                    <m:sSub>
                      <m:sSubPr>
                        <m:ctrlPr>
                          <a:rPr lang="en-US" altLang="ja-JP" sz="2400" i="1">
                            <a:solidFill>
                              <a:schemeClr val="bg1"/>
                            </a:solidFill>
                            <a:latin typeface="Cambria Math" panose="02040503050406030204" pitchFamily="18" charset="0"/>
                          </a:rPr>
                        </m:ctrlPr>
                      </m:sSubPr>
                      <m:e>
                        <m:r>
                          <a:rPr lang="en-US" altLang="ja-JP" sz="2400" i="1">
                            <a:solidFill>
                              <a:schemeClr val="bg1"/>
                            </a:solidFill>
                            <a:latin typeface="Cambria Math" panose="02040503050406030204" pitchFamily="18" charset="0"/>
                          </a:rPr>
                          <m:t>𝜇</m:t>
                        </m:r>
                      </m:e>
                      <m:sub>
                        <m:r>
                          <a:rPr lang="en-US" altLang="ja-JP" sz="2400" i="1">
                            <a:solidFill>
                              <a:schemeClr val="bg1"/>
                            </a:solidFill>
                            <a:latin typeface="Cambria Math" panose="02040503050406030204" pitchFamily="18" charset="0"/>
                          </a:rPr>
                          <m:t>𝑖</m:t>
                        </m:r>
                      </m:sub>
                    </m:sSub>
                    <m:r>
                      <a:rPr lang="en-US" altLang="ja-JP" sz="2400" i="0">
                        <a:solidFill>
                          <a:schemeClr val="bg1"/>
                        </a:solidFill>
                        <a:latin typeface="Cambria Math" panose="02040503050406030204" pitchFamily="18" charset="0"/>
                      </a:rPr>
                      <m:t>=</m:t>
                    </m:r>
                    <m:nary>
                      <m:naryPr>
                        <m:chr m:val="∑"/>
                        <m:limLoc m:val="undOvr"/>
                        <m:supHide m:val="on"/>
                        <m:ctrlPr>
                          <a:rPr lang="en-US" altLang="ja-JP" sz="2400" i="1">
                            <a:solidFill>
                              <a:schemeClr val="bg1"/>
                            </a:solidFill>
                            <a:latin typeface="Cambria Math" panose="02040503050406030204" pitchFamily="18" charset="0"/>
                          </a:rPr>
                        </m:ctrlPr>
                      </m:naryPr>
                      <m:sub>
                        <m:r>
                          <a:rPr lang="en-US" altLang="ja-JP" sz="2400" i="1">
                            <a:solidFill>
                              <a:schemeClr val="bg1"/>
                            </a:solidFill>
                            <a:latin typeface="Cambria Math" panose="02040503050406030204" pitchFamily="18" charset="0"/>
                          </a:rPr>
                          <m:t>𝑘</m:t>
                        </m:r>
                      </m:sub>
                      <m:sup/>
                      <m:e>
                        <m:sSub>
                          <m:sSubPr>
                            <m:ctrlPr>
                              <a:rPr lang="en-US" altLang="ja-JP" sz="2400" i="1">
                                <a:solidFill>
                                  <a:schemeClr val="bg1"/>
                                </a:solidFill>
                                <a:latin typeface="Cambria Math" panose="02040503050406030204" pitchFamily="18" charset="0"/>
                              </a:rPr>
                            </m:ctrlPr>
                          </m:sSubPr>
                          <m:e>
                            <m:r>
                              <a:rPr lang="en-US" altLang="ja-JP" sz="2400" i="1">
                                <a:solidFill>
                                  <a:schemeClr val="bg1"/>
                                </a:solidFill>
                                <a:latin typeface="Cambria Math" panose="02040503050406030204" pitchFamily="18" charset="0"/>
                              </a:rPr>
                              <m:t>𝑓</m:t>
                            </m:r>
                          </m:e>
                          <m:sub>
                            <m:r>
                              <a:rPr lang="en-US" altLang="ja-JP" sz="2400" i="1">
                                <a:solidFill>
                                  <a:schemeClr val="bg1"/>
                                </a:solidFill>
                                <a:latin typeface="Cambria Math" panose="02040503050406030204" pitchFamily="18" charset="0"/>
                              </a:rPr>
                              <m:t>𝑘</m:t>
                            </m:r>
                          </m:sub>
                        </m:sSub>
                      </m:e>
                    </m:nary>
                    <m:r>
                      <a:rPr lang="en-US" altLang="ja-JP" sz="2400" i="0">
                        <a:solidFill>
                          <a:schemeClr val="bg1"/>
                        </a:solidFill>
                        <a:latin typeface="Cambria Math" panose="02040503050406030204" pitchFamily="18" charset="0"/>
                      </a:rPr>
                      <m:t> </m:t>
                    </m:r>
                    <m:sSub>
                      <m:sSubPr>
                        <m:ctrlPr>
                          <a:rPr lang="en-US" altLang="ja-JP" sz="2400" i="1">
                            <a:solidFill>
                              <a:schemeClr val="bg1"/>
                            </a:solidFill>
                            <a:latin typeface="Cambria Math" panose="02040503050406030204" pitchFamily="18" charset="0"/>
                          </a:rPr>
                        </m:ctrlPr>
                      </m:sSubPr>
                      <m:e>
                        <m:r>
                          <a:rPr lang="en-US" altLang="ja-JP" sz="2400" i="1">
                            <a:solidFill>
                              <a:schemeClr val="bg1"/>
                            </a:solidFill>
                            <a:latin typeface="Cambria Math" panose="02040503050406030204" pitchFamily="18" charset="0"/>
                          </a:rPr>
                          <m:t>𝑇</m:t>
                        </m:r>
                      </m:e>
                      <m:sub>
                        <m:r>
                          <a:rPr lang="en-US" altLang="ja-JP" sz="2400" i="1">
                            <a:solidFill>
                              <a:schemeClr val="bg1"/>
                            </a:solidFill>
                            <a:latin typeface="Cambria Math" panose="02040503050406030204" pitchFamily="18" charset="0"/>
                          </a:rPr>
                          <m:t>𝑘</m:t>
                        </m:r>
                        <m:r>
                          <a:rPr lang="en-US" altLang="ja-JP" sz="2400" i="0">
                            <a:solidFill>
                              <a:schemeClr val="bg1"/>
                            </a:solidFill>
                            <a:latin typeface="Cambria Math" panose="02040503050406030204" pitchFamily="18" charset="0"/>
                          </a:rPr>
                          <m:t>,</m:t>
                        </m:r>
                        <m:r>
                          <a:rPr lang="en-US" altLang="ja-JP" sz="2400" i="1">
                            <a:solidFill>
                              <a:schemeClr val="bg1"/>
                            </a:solidFill>
                            <a:latin typeface="Cambria Math" panose="02040503050406030204" pitchFamily="18" charset="0"/>
                          </a:rPr>
                          <m:t>𝑖</m:t>
                        </m:r>
                      </m:sub>
                    </m:sSub>
                  </m:oMath>
                </a14:m>
                <a:r>
                  <a:rPr lang="en-US" altLang="ja-JP" sz="2400">
                    <a:solidFill>
                      <a:schemeClr val="bg1"/>
                    </a:solidFill>
                  </a:rPr>
                  <a:t>}</a:t>
                </a:r>
              </a:p>
              <a:p>
                <a:endParaRPr lang="ja-JP" altLang="en-US"/>
              </a:p>
            </p:txBody>
          </p:sp>
        </mc:Choice>
        <mc:Fallback>
          <p:sp>
            <p:nvSpPr>
              <p:cNvPr id="6" name="TextBox 5">
                <a:extLst>
                  <a:ext uri="{FF2B5EF4-FFF2-40B4-BE49-F238E27FC236}">
                    <a16:creationId xmlns:a16="http://schemas.microsoft.com/office/drawing/2014/main" id="{88BC43C8-D8EC-8CF7-5F4C-CC95758BDC14}"/>
                  </a:ext>
                </a:extLst>
              </p:cNvPr>
              <p:cNvSpPr txBox="1">
                <a:spLocks noRot="1" noChangeAspect="1" noMove="1" noResize="1" noEditPoints="1" noAdjustHandles="1" noChangeArrowheads="1" noChangeShapeType="1" noTextEdit="1"/>
              </p:cNvSpPr>
              <p:nvPr/>
            </p:nvSpPr>
            <p:spPr>
              <a:xfrm>
                <a:off x="7965901" y="1233815"/>
                <a:ext cx="4096790" cy="1651093"/>
              </a:xfrm>
              <a:prstGeom prst="rect">
                <a:avLst/>
              </a:prstGeom>
              <a:blipFill>
                <a:blip r:embed="rId3"/>
                <a:stretch>
                  <a:fillRect b="-3653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E8EFAFB-76EA-22A1-DB68-577CEA285E67}"/>
              </a:ext>
            </a:extLst>
          </p:cNvPr>
          <p:cNvSpPr txBox="1"/>
          <p:nvPr/>
        </p:nvSpPr>
        <p:spPr>
          <a:xfrm>
            <a:off x="472440" y="3812780"/>
            <a:ext cx="12115799" cy="2062103"/>
          </a:xfrm>
          <a:prstGeom prst="rect">
            <a:avLst/>
          </a:prstGeom>
          <a:noFill/>
        </p:spPr>
        <p:txBody>
          <a:bodyPr wrap="square">
            <a:spAutoFit/>
          </a:bodyPr>
          <a:lstStyle/>
          <a:p>
            <a:pPr indent="0" algn="l">
              <a:buNone/>
            </a:pPr>
            <a:r>
              <a:rPr lang="en-US" sz="3200" b="1" i="0">
                <a:solidFill>
                  <a:schemeClr val="bg1"/>
                </a:solidFill>
                <a:effectLst/>
                <a:latin typeface="-apple-system"/>
              </a:rPr>
              <a:t>モデルの予測 μ と、尤度 lnL</a:t>
            </a:r>
            <a:endParaRPr lang="en-US" sz="3200" b="0" i="0">
              <a:solidFill>
                <a:schemeClr val="bg1"/>
              </a:solidFill>
              <a:effectLst/>
              <a:latin typeface="-apple-system"/>
            </a:endParaRPr>
          </a:p>
          <a:p>
            <a:pPr indent="0" algn="l">
              <a:buNone/>
            </a:pPr>
            <a:r>
              <a:rPr lang="en-US" sz="3200" b="0" i="0">
                <a:solidFill>
                  <a:schemeClr val="bg1"/>
                </a:solidFill>
                <a:effectLst/>
                <a:latin typeface="-apple-system"/>
              </a:rPr>
              <a:t>・</a:t>
            </a:r>
            <a:r>
              <a:rPr lang="en-US" sz="3200" b="0" i="0">
                <a:solidFill>
                  <a:schemeClr val="bg1"/>
                </a:solidFill>
                <a:effectLst/>
                <a:latin typeface="Courier New" panose="02070309020205020404" pitchFamily="49" charset="0"/>
              </a:rPr>
              <a:t>μ_i</a:t>
            </a:r>
            <a:r>
              <a:rPr lang="en-US" sz="3200" b="0" i="0">
                <a:solidFill>
                  <a:schemeClr val="bg1"/>
                </a:solidFill>
                <a:effectLst/>
                <a:latin typeface="-apple-system"/>
              </a:rPr>
              <a:t> ＝ ピクセル i にモデルが予測する</a:t>
            </a:r>
            <a:r>
              <a:rPr lang="en-US" sz="3200" b="1" i="0">
                <a:solidFill>
                  <a:schemeClr val="bg1"/>
                </a:solidFill>
                <a:effectLst/>
                <a:latin typeface="-apple-system"/>
              </a:rPr>
              <a:t>平均光子数</a:t>
            </a:r>
            <a:r>
              <a:rPr lang="en-US" sz="3200" b="0" i="0">
                <a:solidFill>
                  <a:schemeClr val="bg1"/>
                </a:solidFill>
                <a:effectLst/>
                <a:latin typeface="-apple-system"/>
              </a:rPr>
              <a:t> </a:t>
            </a:r>
          </a:p>
          <a:p>
            <a:pPr indent="0" algn="l">
              <a:buNone/>
            </a:pPr>
            <a:r>
              <a:rPr lang="en-US" sz="3200" b="0" i="0">
                <a:solidFill>
                  <a:schemeClr val="bg1"/>
                </a:solidFill>
                <a:effectLst/>
                <a:latin typeface="-apple-system"/>
              </a:rPr>
              <a:t>・</a:t>
            </a:r>
            <a:r>
              <a:rPr lang="en-US" sz="3200" b="0" i="0">
                <a:solidFill>
                  <a:schemeClr val="bg1"/>
                </a:solidFill>
                <a:effectLst/>
                <a:latin typeface="Courier New" panose="02070309020205020404" pitchFamily="49" charset="0"/>
              </a:rPr>
              <a:t>n_i</a:t>
            </a:r>
            <a:r>
              <a:rPr lang="en-US" sz="3200" b="0" i="0">
                <a:solidFill>
                  <a:schemeClr val="bg1"/>
                </a:solidFill>
                <a:effectLst/>
                <a:latin typeface="-apple-system"/>
              </a:rPr>
              <a:t> ＝ ピクセル i の</a:t>
            </a:r>
            <a:r>
              <a:rPr lang="en-US" sz="3200" b="1" i="0">
                <a:solidFill>
                  <a:schemeClr val="bg1"/>
                </a:solidFill>
                <a:effectLst/>
                <a:latin typeface="-apple-system"/>
              </a:rPr>
              <a:t>実際の観測光子数</a:t>
            </a:r>
            <a:r>
              <a:rPr lang="en-US" sz="3200" b="0" i="0">
                <a:solidFill>
                  <a:schemeClr val="bg1"/>
                </a:solidFill>
                <a:effectLst/>
                <a:latin typeface="-apple-system"/>
              </a:rPr>
              <a:t> </a:t>
            </a:r>
          </a:p>
          <a:p>
            <a:pPr indent="0" algn="l">
              <a:buNone/>
            </a:pPr>
            <a:r>
              <a:rPr lang="ja-JP" altLang="en-US" sz="3200" b="0" i="0">
                <a:solidFill>
                  <a:schemeClr val="bg1"/>
                </a:solidFill>
                <a:effectLst/>
                <a:latin typeface="-apple-system"/>
              </a:rPr>
              <a:t>→</a:t>
            </a:r>
            <a:r>
              <a:rPr lang="en-US" sz="3200" b="0" i="0">
                <a:solidFill>
                  <a:schemeClr val="bg1"/>
                </a:solidFill>
                <a:effectLst/>
                <a:latin typeface="-apple-system"/>
              </a:rPr>
              <a:t>halo を入れた時と入れない時で比べる</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D15ABED-6B16-7D08-FBD9-18A433C497FD}"/>
                  </a:ext>
                </a:extLst>
              </p:cNvPr>
              <p:cNvSpPr txBox="1"/>
              <p:nvPr/>
            </p:nvSpPr>
            <p:spPr>
              <a:xfrm>
                <a:off x="289021" y="1320550"/>
                <a:ext cx="7478761" cy="688715"/>
              </a:xfrm>
              <a:prstGeom prst="rect">
                <a:avLst/>
              </a:prstGeom>
              <a:noFill/>
            </p:spPr>
            <p:txBody>
              <a:bodyPr wrap="square">
                <a:spAutoFit/>
              </a:bodyPr>
              <a:lstStyle/>
              <a:p>
                <a:pPr/>
                <a:r>
                  <a:rPr lang="ja-JP" altLang="en-US" sz="3200" b="1">
                    <a:solidFill>
                      <a:schemeClr val="bg1"/>
                    </a:solidFill>
                  </a:rPr>
                  <a:t>有意度</a:t>
                </a:r>
                <a14:m>
                  <m:oMath xmlns:m="http://schemas.openxmlformats.org/officeDocument/2006/math">
                    <m:r>
                      <a:rPr lang="en-US" sz="3200" b="1" i="1" smtClean="0">
                        <a:solidFill>
                          <a:schemeClr val="bg1"/>
                        </a:solidFill>
                        <a:latin typeface="Cambria Math" panose="02040503050406030204" pitchFamily="18" charset="0"/>
                      </a:rPr>
                      <m:t>𝝈</m:t>
                    </m:r>
                    <m:r>
                      <a:rPr lang="en-US" sz="3200" b="1" i="0" smtClean="0">
                        <a:solidFill>
                          <a:schemeClr val="bg1"/>
                        </a:solidFill>
                        <a:latin typeface="Cambria Math" panose="02040503050406030204" pitchFamily="18" charset="0"/>
                      </a:rPr>
                      <m:t>=</m:t>
                    </m:r>
                    <m:rad>
                      <m:radPr>
                        <m:degHide m:val="on"/>
                        <m:ctrlPr>
                          <a:rPr lang="en-US" sz="3200" b="1" i="1">
                            <a:solidFill>
                              <a:schemeClr val="bg1"/>
                            </a:solidFill>
                            <a:latin typeface="Cambria Math" panose="02040503050406030204" pitchFamily="18" charset="0"/>
                          </a:rPr>
                        </m:ctrlPr>
                      </m:radPr>
                      <m:deg/>
                      <m:e>
                        <m:r>
                          <a:rPr lang="en-US" sz="3200" b="1" i="0">
                            <a:solidFill>
                              <a:schemeClr val="bg1"/>
                            </a:solidFill>
                            <a:latin typeface="Cambria Math" panose="02040503050406030204" pitchFamily="18" charset="0"/>
                          </a:rPr>
                          <m:t>𝟐</m:t>
                        </m:r>
                        <m:d>
                          <m:dPr>
                            <m:ctrlPr>
                              <a:rPr lang="en-US" sz="3200" b="1" i="1">
                                <a:solidFill>
                                  <a:schemeClr val="bg1"/>
                                </a:solidFill>
                                <a:latin typeface="Cambria Math" panose="02040503050406030204" pitchFamily="18" charset="0"/>
                              </a:rPr>
                            </m:ctrlPr>
                          </m:dPr>
                          <m:e>
                            <m:sSub>
                              <m:sSubPr>
                                <m:ctrlPr>
                                  <a:rPr lang="en-US" sz="3200" b="1" i="1">
                                    <a:solidFill>
                                      <a:schemeClr val="bg1"/>
                                    </a:solidFill>
                                    <a:latin typeface="Cambria Math" panose="02040503050406030204" pitchFamily="18" charset="0"/>
                                  </a:rPr>
                                </m:ctrlPr>
                              </m:sSubPr>
                              <m:e>
                                <m:func>
                                  <m:funcPr>
                                    <m:ctrlPr>
                                      <a:rPr lang="en-US" sz="3200" b="1" i="0" smtClean="0">
                                        <a:solidFill>
                                          <a:schemeClr val="bg1"/>
                                        </a:solidFill>
                                        <a:latin typeface="Cambria Math" panose="02040503050406030204" pitchFamily="18" charset="0"/>
                                      </a:rPr>
                                    </m:ctrlPr>
                                  </m:funcPr>
                                  <m:fName>
                                    <m:r>
                                      <a:rPr lang="en-US" sz="3200" b="1" i="0" smtClean="0">
                                        <a:solidFill>
                                          <a:schemeClr val="bg1"/>
                                        </a:solidFill>
                                        <a:latin typeface="Cambria Math" panose="02040503050406030204" pitchFamily="18" charset="0"/>
                                      </a:rPr>
                                      <m:t>𝐥𝐧</m:t>
                                    </m:r>
                                  </m:fName>
                                  <m:e>
                                    <m:r>
                                      <a:rPr lang="en-US" sz="3200" b="1" i="1">
                                        <a:solidFill>
                                          <a:schemeClr val="bg1"/>
                                        </a:solidFill>
                                        <a:latin typeface="Cambria Math" panose="02040503050406030204" pitchFamily="18" charset="0"/>
                                      </a:rPr>
                                      <m:t>𝑳</m:t>
                                    </m:r>
                                  </m:e>
                                </m:func>
                              </m:e>
                              <m:sub>
                                <m:r>
                                  <a:rPr lang="en-US" sz="3200" b="1" i="0">
                                    <a:solidFill>
                                      <a:schemeClr val="bg1"/>
                                    </a:solidFill>
                                    <a:latin typeface="Cambria Math" panose="02040503050406030204" pitchFamily="18" charset="0"/>
                                  </a:rPr>
                                  <m:t>𝐡𝐚𝐥𝐨</m:t>
                                </m:r>
                              </m:sub>
                            </m:sSub>
                            <m:r>
                              <a:rPr lang="en-US" sz="3200" b="1" i="0">
                                <a:solidFill>
                                  <a:schemeClr val="bg1"/>
                                </a:solidFill>
                                <a:latin typeface="Cambria Math" panose="02040503050406030204" pitchFamily="18" charset="0"/>
                              </a:rPr>
                              <m:t>−</m:t>
                            </m:r>
                            <m:sSub>
                              <m:sSubPr>
                                <m:ctrlPr>
                                  <a:rPr lang="en-US" sz="3200" b="1" i="1">
                                    <a:solidFill>
                                      <a:schemeClr val="bg1"/>
                                    </a:solidFill>
                                    <a:latin typeface="Cambria Math" panose="02040503050406030204" pitchFamily="18" charset="0"/>
                                  </a:rPr>
                                </m:ctrlPr>
                              </m:sSubPr>
                              <m:e>
                                <m:func>
                                  <m:funcPr>
                                    <m:ctrlPr>
                                      <a:rPr lang="en-US" sz="3200" b="1" i="0">
                                        <a:solidFill>
                                          <a:schemeClr val="bg1"/>
                                        </a:solidFill>
                                        <a:latin typeface="Cambria Math" panose="02040503050406030204" pitchFamily="18" charset="0"/>
                                      </a:rPr>
                                    </m:ctrlPr>
                                  </m:funcPr>
                                  <m:fName>
                                    <m:r>
                                      <a:rPr lang="en-US" sz="3200" b="1" i="0">
                                        <a:solidFill>
                                          <a:schemeClr val="bg1"/>
                                        </a:solidFill>
                                        <a:latin typeface="Cambria Math" panose="02040503050406030204" pitchFamily="18" charset="0"/>
                                      </a:rPr>
                                      <m:t>𝐥𝐧</m:t>
                                    </m:r>
                                  </m:fName>
                                  <m:e>
                                    <m:r>
                                      <a:rPr lang="en-US" sz="3200" b="1" i="1">
                                        <a:solidFill>
                                          <a:schemeClr val="bg1"/>
                                        </a:solidFill>
                                        <a:latin typeface="Cambria Math" panose="02040503050406030204" pitchFamily="18" charset="0"/>
                                      </a:rPr>
                                      <m:t>𝑳</m:t>
                                    </m:r>
                                  </m:e>
                                </m:func>
                              </m:e>
                              <m:sub>
                                <m:r>
                                  <a:rPr lang="en-US" sz="3200" b="1" i="0">
                                    <a:solidFill>
                                      <a:schemeClr val="bg1"/>
                                    </a:solidFill>
                                    <a:latin typeface="Cambria Math" panose="02040503050406030204" pitchFamily="18" charset="0"/>
                                  </a:rPr>
                                  <m:t>𝐧𝐨</m:t>
                                </m:r>
                                <m:r>
                                  <m:rPr>
                                    <m:nor/>
                                  </m:rPr>
                                  <a:rPr lang="en-US" sz="3200" b="0" i="0">
                                    <a:solidFill>
                                      <a:schemeClr val="bg1"/>
                                    </a:solidFill>
                                    <a:latin typeface="Cambria Math" panose="02040503050406030204" pitchFamily="18" charset="0"/>
                                  </a:rPr>
                                  <m:t>−</m:t>
                                </m:r>
                                <m:r>
                                  <a:rPr lang="en-US" sz="3200" b="1" i="0">
                                    <a:solidFill>
                                      <a:schemeClr val="bg1"/>
                                    </a:solidFill>
                                    <a:latin typeface="Cambria Math" panose="02040503050406030204" pitchFamily="18" charset="0"/>
                                  </a:rPr>
                                  <m:t>𝐡𝐚𝐥𝐨</m:t>
                                </m:r>
                              </m:sub>
                            </m:sSub>
                          </m:e>
                        </m:d>
                      </m:e>
                    </m:rad>
                  </m:oMath>
                </a14:m>
                <a:endParaRPr lang="en-US" b="1">
                  <a:solidFill>
                    <a:schemeClr val="tx1"/>
                  </a:solidFill>
                </a:endParaRPr>
              </a:p>
            </p:txBody>
          </p:sp>
        </mc:Choice>
        <mc:Fallback>
          <p:sp>
            <p:nvSpPr>
              <p:cNvPr id="9" name="TextBox 8">
                <a:extLst>
                  <a:ext uri="{FF2B5EF4-FFF2-40B4-BE49-F238E27FC236}">
                    <a16:creationId xmlns:a16="http://schemas.microsoft.com/office/drawing/2014/main" id="{FD15ABED-6B16-7D08-FBD9-18A433C497FD}"/>
                  </a:ext>
                </a:extLst>
              </p:cNvPr>
              <p:cNvSpPr txBox="1">
                <a:spLocks noRot="1" noChangeAspect="1" noMove="1" noResize="1" noEditPoints="1" noAdjustHandles="1" noChangeArrowheads="1" noChangeShapeType="1" noTextEdit="1"/>
              </p:cNvSpPr>
              <p:nvPr/>
            </p:nvSpPr>
            <p:spPr>
              <a:xfrm>
                <a:off x="289021" y="1320550"/>
                <a:ext cx="7478761" cy="688715"/>
              </a:xfrm>
              <a:prstGeom prst="rect">
                <a:avLst/>
              </a:prstGeom>
              <a:blipFill>
                <a:blip r:embed="rId4"/>
                <a:stretch>
                  <a:fillRect l="-2037" t="-3540" b="-21239"/>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6CF1EA4E-9EF7-FEB8-23B1-3A56D8CC0A7B}"/>
              </a:ext>
            </a:extLst>
          </p:cNvPr>
          <p:cNvSpPr/>
          <p:nvPr/>
        </p:nvSpPr>
        <p:spPr>
          <a:xfrm>
            <a:off x="7965901" y="1142245"/>
            <a:ext cx="3838172" cy="1651093"/>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149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6A31B79-873D-1BA5-79FF-8C6302E5D0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87377B-D487-719F-3C49-984436632153}"/>
              </a:ext>
            </a:extLst>
          </p:cNvPr>
          <p:cNvSpPr txBox="1"/>
          <p:nvPr/>
        </p:nvSpPr>
        <p:spPr>
          <a:xfrm>
            <a:off x="457200" y="128043"/>
            <a:ext cx="8094518" cy="584775"/>
          </a:xfrm>
          <a:prstGeom prst="rect">
            <a:avLst/>
          </a:prstGeom>
          <a:noFill/>
        </p:spPr>
        <p:txBody>
          <a:bodyPr wrap="square">
            <a:spAutoFit/>
          </a:bodyPr>
          <a:lstStyle/>
          <a:p>
            <a:pPr>
              <a:defRPr sz="2500" b="1">
                <a:solidFill>
                  <a:srgbClr val="FFFFFF"/>
                </a:solidFill>
              </a:defRPr>
            </a:pPr>
            <a:r>
              <a:rPr lang="en-US" sz="3200"/>
              <a:t>method</a:t>
            </a:r>
            <a:r>
              <a:rPr sz="3200"/>
              <a:t>：</a:t>
            </a:r>
            <a:r>
              <a:rPr lang="en-US" altLang="ja-JP" sz="3200"/>
              <a:t>MCMC</a:t>
            </a:r>
            <a:r>
              <a:rPr lang="ja-JP" altLang="en-US" sz="3200"/>
              <a:t>フィットと差し引きについて</a:t>
            </a:r>
            <a:endParaRPr sz="3200"/>
          </a:p>
        </p:txBody>
      </p:sp>
      <p:sp>
        <p:nvSpPr>
          <p:cNvPr id="6" name="TextBox 5">
            <a:extLst>
              <a:ext uri="{FF2B5EF4-FFF2-40B4-BE49-F238E27FC236}">
                <a16:creationId xmlns:a16="http://schemas.microsoft.com/office/drawing/2014/main" id="{7124490F-9C88-D48B-C3EF-5CCFEE0A81BE}"/>
              </a:ext>
            </a:extLst>
          </p:cNvPr>
          <p:cNvSpPr txBox="1"/>
          <p:nvPr/>
        </p:nvSpPr>
        <p:spPr>
          <a:xfrm>
            <a:off x="6037205" y="708770"/>
            <a:ext cx="5766487" cy="5262979"/>
          </a:xfrm>
          <a:prstGeom prst="rect">
            <a:avLst/>
          </a:prstGeom>
          <a:noFill/>
        </p:spPr>
        <p:txBody>
          <a:bodyPr wrap="square">
            <a:spAutoFit/>
          </a:bodyPr>
          <a:lstStyle/>
          <a:p>
            <a:r>
              <a:rPr lang="ja-JP" altLang="en-US" sz="2400" b="1">
                <a:solidFill>
                  <a:schemeClr val="bg1"/>
                </a:solidFill>
              </a:rPr>
              <a:t>生データ　ー</a:t>
            </a:r>
            <a:endParaRPr lang="en-US" altLang="ja-JP" sz="2400" b="1">
              <a:solidFill>
                <a:schemeClr val="bg1"/>
              </a:solidFill>
            </a:endParaRPr>
          </a:p>
          <a:p>
            <a:r>
              <a:rPr lang="en-US" altLang="ja-JP" sz="2400" b="1">
                <a:solidFill>
                  <a:schemeClr val="bg1"/>
                </a:solidFill>
              </a:rPr>
              <a:t>			</a:t>
            </a:r>
            <a:r>
              <a:rPr lang="ja-JP" altLang="en-US" sz="2400" b="1">
                <a:solidFill>
                  <a:schemeClr val="bg1"/>
                </a:solidFill>
              </a:rPr>
              <a:t>等方背景　 </a:t>
            </a:r>
            <a:r>
              <a:rPr lang="en-US" altLang="ja-JP" sz="2400" b="1">
                <a:solidFill>
                  <a:schemeClr val="bg1"/>
                </a:solidFill>
              </a:rPr>
              <a:t>×</a:t>
            </a:r>
            <a:r>
              <a:rPr lang="en-US" altLang="ja-JP" sz="2400" b="1">
                <a:solidFill>
                  <a:srgbClr val="FF0000"/>
                </a:solidFill>
              </a:rPr>
              <a:t>f_iso</a:t>
            </a:r>
          </a:p>
          <a:p>
            <a:r>
              <a:rPr lang="en-US" altLang="ja-JP" sz="2400" b="1">
                <a:solidFill>
                  <a:schemeClr val="bg1"/>
                </a:solidFill>
              </a:rPr>
              <a:t>			</a:t>
            </a:r>
            <a:r>
              <a:rPr lang="ja-JP" altLang="en-US" sz="2400" b="1">
                <a:solidFill>
                  <a:schemeClr val="bg1"/>
                </a:solidFill>
              </a:rPr>
              <a:t>既知点源　</a:t>
            </a:r>
            <a:r>
              <a:rPr lang="en-US" altLang="ja-JP" sz="2400" b="1">
                <a:solidFill>
                  <a:schemeClr val="bg1"/>
                </a:solidFill>
              </a:rPr>
              <a:t> ×</a:t>
            </a:r>
            <a:r>
              <a:rPr lang="en-US" altLang="ja-JP" sz="2400" b="1">
                <a:solidFill>
                  <a:srgbClr val="FFC000"/>
                </a:solidFill>
              </a:rPr>
              <a:t>f_ps</a:t>
            </a:r>
          </a:p>
          <a:p>
            <a:r>
              <a:rPr lang="en-US" sz="2400" b="1">
                <a:solidFill>
                  <a:schemeClr val="bg1"/>
                </a:solidFill>
              </a:rPr>
              <a:t>			</a:t>
            </a:r>
            <a:r>
              <a:rPr lang="en-US" altLang="ja-JP" sz="2400" b="1">
                <a:solidFill>
                  <a:schemeClr val="bg1"/>
                </a:solidFill>
              </a:rPr>
              <a:t>GALPLOP</a:t>
            </a:r>
            <a:r>
              <a:rPr lang="ja-JP" altLang="en-US" sz="2400" b="1">
                <a:solidFill>
                  <a:schemeClr val="bg1"/>
                </a:solidFill>
              </a:rPr>
              <a:t>（</a:t>
            </a:r>
            <a:r>
              <a:rPr lang="en-US" sz="2400" b="1">
                <a:solidFill>
                  <a:schemeClr val="bg1"/>
                </a:solidFill>
              </a:rPr>
              <a:t>gas</a:t>
            </a:r>
            <a:r>
              <a:rPr lang="ja-JP" altLang="en-US" sz="2400" b="1">
                <a:solidFill>
                  <a:schemeClr val="bg1"/>
                </a:solidFill>
              </a:rPr>
              <a:t>）　</a:t>
            </a:r>
            <a:r>
              <a:rPr lang="en-US" altLang="ja-JP" sz="2400" b="1">
                <a:solidFill>
                  <a:schemeClr val="bg1"/>
                </a:solidFill>
              </a:rPr>
              <a:t> ×</a:t>
            </a:r>
            <a:r>
              <a:rPr lang="ja-JP" altLang="en-US" sz="2400" b="1">
                <a:solidFill>
                  <a:srgbClr val="FFFF00"/>
                </a:solidFill>
              </a:rPr>
              <a:t>ｆ</a:t>
            </a:r>
            <a:r>
              <a:rPr lang="en-US" altLang="ja-JP" sz="2400" b="1">
                <a:solidFill>
                  <a:srgbClr val="FFFF00"/>
                </a:solidFill>
              </a:rPr>
              <a:t>_gas </a:t>
            </a:r>
          </a:p>
          <a:p>
            <a:r>
              <a:rPr lang="en-US" sz="2400" b="1">
                <a:solidFill>
                  <a:schemeClr val="bg1"/>
                </a:solidFill>
              </a:rPr>
              <a:t>			</a:t>
            </a:r>
            <a:r>
              <a:rPr lang="en-US" altLang="ja-JP" sz="2400" b="1">
                <a:solidFill>
                  <a:schemeClr val="bg1"/>
                </a:solidFill>
              </a:rPr>
              <a:t>GALPLOP</a:t>
            </a:r>
            <a:r>
              <a:rPr lang="ja-JP" altLang="en-US" sz="2400" b="1">
                <a:solidFill>
                  <a:schemeClr val="bg1"/>
                </a:solidFill>
              </a:rPr>
              <a:t>（</a:t>
            </a:r>
            <a:r>
              <a:rPr lang="en-US" sz="2400" b="1">
                <a:solidFill>
                  <a:schemeClr val="bg1"/>
                </a:solidFill>
              </a:rPr>
              <a:t>ICS</a:t>
            </a:r>
            <a:r>
              <a:rPr lang="ja-JP" altLang="en-US" sz="2400" b="1">
                <a:solidFill>
                  <a:schemeClr val="bg1"/>
                </a:solidFill>
              </a:rPr>
              <a:t>）　</a:t>
            </a:r>
            <a:r>
              <a:rPr lang="en-US" altLang="ja-JP" sz="2400" b="1">
                <a:solidFill>
                  <a:schemeClr val="bg1"/>
                </a:solidFill>
              </a:rPr>
              <a:t> ×</a:t>
            </a:r>
            <a:r>
              <a:rPr lang="en-US" altLang="ja-JP" sz="2400" b="1">
                <a:solidFill>
                  <a:srgbClr val="92D050"/>
                </a:solidFill>
              </a:rPr>
              <a:t>f_ics</a:t>
            </a:r>
            <a:endParaRPr lang="en-US" sz="2400" b="1">
              <a:solidFill>
                <a:srgbClr val="92D050"/>
              </a:solidFill>
            </a:endParaRPr>
          </a:p>
          <a:p>
            <a:r>
              <a:rPr lang="en-US" sz="2400" b="1">
                <a:solidFill>
                  <a:schemeClr val="bg1"/>
                </a:solidFill>
              </a:rPr>
              <a:t>			LoopI a	</a:t>
            </a:r>
            <a:r>
              <a:rPr lang="en-US" altLang="ja-JP" sz="2400" b="1">
                <a:solidFill>
                  <a:schemeClr val="bg1"/>
                </a:solidFill>
              </a:rPr>
              <a:t>×	</a:t>
            </a:r>
            <a:r>
              <a:rPr lang="en-US" sz="2400" b="1">
                <a:solidFill>
                  <a:srgbClr val="00B0F0"/>
                </a:solidFill>
              </a:rPr>
              <a:t>loopI_a</a:t>
            </a:r>
            <a:endParaRPr lang="en-US" altLang="ja-JP" sz="2400" b="1">
              <a:solidFill>
                <a:srgbClr val="00B0F0"/>
              </a:solidFill>
            </a:endParaRPr>
          </a:p>
          <a:p>
            <a:r>
              <a:rPr lang="en-US" altLang="ja-JP" sz="2400" b="1">
                <a:solidFill>
                  <a:schemeClr val="bg1"/>
                </a:solidFill>
              </a:rPr>
              <a:t>			LoopI b	×	</a:t>
            </a:r>
            <a:r>
              <a:rPr lang="en-US" sz="2400" b="1">
                <a:solidFill>
                  <a:srgbClr val="0070C0"/>
                </a:solidFill>
              </a:rPr>
              <a:t>loopI_b</a:t>
            </a:r>
          </a:p>
          <a:p>
            <a:r>
              <a:rPr lang="en-US" sz="2400" b="1">
                <a:solidFill>
                  <a:schemeClr val="bg1"/>
                </a:solidFill>
              </a:rPr>
              <a:t>			FermiBuble</a:t>
            </a:r>
            <a:r>
              <a:rPr lang="ja-JP" altLang="en-US" sz="2400" b="1">
                <a:solidFill>
                  <a:schemeClr val="bg1"/>
                </a:solidFill>
              </a:rPr>
              <a:t>（正）</a:t>
            </a:r>
            <a:r>
              <a:rPr lang="en-US" altLang="ja-JP" sz="2400" b="1">
                <a:solidFill>
                  <a:schemeClr val="bg1"/>
                </a:solidFill>
              </a:rPr>
              <a:t> ×</a:t>
            </a:r>
            <a:r>
              <a:rPr lang="ja-JP" altLang="en-US" sz="2400" b="1">
                <a:solidFill>
                  <a:schemeClr val="bg1"/>
                </a:solidFill>
              </a:rPr>
              <a:t>　</a:t>
            </a:r>
            <a:r>
              <a:rPr lang="ja-JP" altLang="en-US" sz="2400" b="1">
                <a:solidFill>
                  <a:schemeClr val="tx2">
                    <a:lumMod val="60000"/>
                    <a:lumOff val="40000"/>
                  </a:schemeClr>
                </a:solidFill>
              </a:rPr>
              <a:t>ｆ</a:t>
            </a:r>
            <a:r>
              <a:rPr lang="en-US" altLang="ja-JP" sz="2400" b="1">
                <a:solidFill>
                  <a:schemeClr val="tx2">
                    <a:lumMod val="60000"/>
                    <a:lumOff val="40000"/>
                  </a:schemeClr>
                </a:solidFill>
              </a:rPr>
              <a:t>_</a:t>
            </a:r>
            <a:r>
              <a:rPr lang="ja-JP" altLang="en-US" sz="2400" b="1">
                <a:solidFill>
                  <a:schemeClr val="tx2">
                    <a:lumMod val="60000"/>
                    <a:lumOff val="40000"/>
                  </a:schemeClr>
                </a:solidFill>
              </a:rPr>
              <a:t>ｆｂ</a:t>
            </a:r>
            <a:endParaRPr lang="en-US" altLang="ja-JP" sz="2400" b="1">
              <a:solidFill>
                <a:schemeClr val="tx2">
                  <a:lumMod val="60000"/>
                  <a:lumOff val="40000"/>
                </a:schemeClr>
              </a:solidFill>
            </a:endParaRPr>
          </a:p>
          <a:p>
            <a:r>
              <a:rPr lang="en-US" altLang="ja-JP" sz="2400" b="1">
                <a:solidFill>
                  <a:schemeClr val="bg1"/>
                </a:solidFill>
              </a:rPr>
              <a:t>			</a:t>
            </a:r>
            <a:r>
              <a:rPr lang="en-US" sz="2400" b="1">
                <a:solidFill>
                  <a:schemeClr val="bg1"/>
                </a:solidFill>
              </a:rPr>
              <a:t>FermiBuble</a:t>
            </a:r>
            <a:r>
              <a:rPr lang="ja-JP" altLang="en-US" sz="2400" b="1">
                <a:solidFill>
                  <a:schemeClr val="bg1"/>
                </a:solidFill>
              </a:rPr>
              <a:t>（負）</a:t>
            </a:r>
            <a:r>
              <a:rPr lang="en-US" altLang="ja-JP" sz="2400" b="1">
                <a:solidFill>
                  <a:schemeClr val="bg1"/>
                </a:solidFill>
              </a:rPr>
              <a:t>×</a:t>
            </a:r>
            <a:r>
              <a:rPr lang="ja-JP" altLang="en-US" sz="2400" b="1">
                <a:solidFill>
                  <a:schemeClr val="bg1"/>
                </a:solidFill>
              </a:rPr>
              <a:t>　</a:t>
            </a:r>
            <a:r>
              <a:rPr lang="en-US" altLang="ja-JP" sz="2400" b="1">
                <a:solidFill>
                  <a:srgbClr val="7030A0"/>
                </a:solidFill>
              </a:rPr>
              <a:t>f_fbneg</a:t>
            </a:r>
          </a:p>
          <a:p>
            <a:r>
              <a:rPr lang="en-US" altLang="ja-JP" sz="2400" b="1">
                <a:solidFill>
                  <a:srgbClr val="7030A0"/>
                </a:solidFill>
              </a:rPr>
              <a:t>			</a:t>
            </a:r>
            <a:r>
              <a:rPr lang="en-US" altLang="ja-JP" sz="2400" b="1" u="sng">
                <a:solidFill>
                  <a:schemeClr val="bg1"/>
                </a:solidFill>
              </a:rPr>
              <a:t>halo	×</a:t>
            </a:r>
            <a:r>
              <a:rPr lang="en-US" altLang="ja-JP" sz="2400" b="1" u="sng">
                <a:solidFill>
                  <a:srgbClr val="7030A0"/>
                </a:solidFill>
              </a:rPr>
              <a:t>	</a:t>
            </a:r>
            <a:r>
              <a:rPr lang="en-US" altLang="ja-JP" sz="2400" b="1" u="sng">
                <a:solidFill>
                  <a:schemeClr val="bg2">
                    <a:lumMod val="75000"/>
                  </a:schemeClr>
                </a:solidFill>
              </a:rPr>
              <a:t>f_halo</a:t>
            </a:r>
            <a:r>
              <a:rPr lang="ja-JP" altLang="en-US" sz="2400" b="1" u="sng">
                <a:solidFill>
                  <a:schemeClr val="bg2">
                    <a:lumMod val="75000"/>
                  </a:schemeClr>
                </a:solidFill>
              </a:rPr>
              <a:t> </a:t>
            </a:r>
            <a:r>
              <a:rPr lang="en-US" altLang="ja-JP" sz="2400" b="1">
                <a:solidFill>
                  <a:schemeClr val="bg2">
                    <a:lumMod val="75000"/>
                  </a:schemeClr>
                </a:solidFill>
              </a:rPr>
              <a:t>	</a:t>
            </a:r>
            <a:endParaRPr lang="en-US" sz="2400" b="1">
              <a:solidFill>
                <a:schemeClr val="bg2">
                  <a:lumMod val="75000"/>
                </a:schemeClr>
              </a:solidFill>
            </a:endParaRPr>
          </a:p>
          <a:p>
            <a:r>
              <a:rPr lang="en-US" sz="2400" b="1">
                <a:solidFill>
                  <a:schemeClr val="bg1"/>
                </a:solidFill>
              </a:rPr>
              <a:t>			</a:t>
            </a:r>
          </a:p>
          <a:p>
            <a:r>
              <a:rPr lang="ja-JP" altLang="en-US" sz="2400" b="1">
                <a:solidFill>
                  <a:schemeClr val="bg1"/>
                </a:solidFill>
              </a:rPr>
              <a:t>＝</a:t>
            </a:r>
            <a:r>
              <a:rPr lang="en-US" altLang="ja-JP" sz="2400" b="1">
                <a:solidFill>
                  <a:schemeClr val="bg1"/>
                </a:solidFill>
              </a:rPr>
              <a:t>0	</a:t>
            </a:r>
          </a:p>
          <a:p>
            <a:r>
              <a:rPr lang="en-US" altLang="ja-JP" sz="2400" b="1">
                <a:solidFill>
                  <a:schemeClr val="bg1"/>
                </a:solidFill>
              </a:rPr>
              <a:t>			DM</a:t>
            </a:r>
            <a:r>
              <a:rPr lang="ja-JP" altLang="en-US" sz="2400" b="1">
                <a:solidFill>
                  <a:schemeClr val="bg1"/>
                </a:solidFill>
              </a:rPr>
              <a:t>の可能性</a:t>
            </a:r>
            <a:endParaRPr lang="en-US" altLang="ja-JP" sz="2400" b="1">
              <a:solidFill>
                <a:schemeClr val="bg1"/>
              </a:solidFill>
            </a:endParaRPr>
          </a:p>
          <a:p>
            <a:r>
              <a:rPr lang="en-US" altLang="ja-JP" sz="2400" b="1">
                <a:solidFill>
                  <a:schemeClr val="bg1"/>
                </a:solidFill>
              </a:rPr>
              <a:t>			</a:t>
            </a:r>
            <a:r>
              <a:rPr lang="ja-JP" altLang="en-US" sz="2400" b="1">
                <a:solidFill>
                  <a:schemeClr val="bg1"/>
                </a:solidFill>
              </a:rPr>
              <a:t>（</a:t>
            </a:r>
            <a:r>
              <a:rPr lang="en-US" altLang="ja-JP" sz="2400" b="1">
                <a:solidFill>
                  <a:schemeClr val="bg1"/>
                </a:solidFill>
              </a:rPr>
              <a:t>halo-like )</a:t>
            </a:r>
            <a:endParaRPr lang="en-US">
              <a:solidFill>
                <a:schemeClr val="bg1"/>
              </a:solidFill>
            </a:endParaRPr>
          </a:p>
        </p:txBody>
      </p:sp>
      <p:sp>
        <p:nvSpPr>
          <p:cNvPr id="3" name="Double Brace 2">
            <a:extLst>
              <a:ext uri="{FF2B5EF4-FFF2-40B4-BE49-F238E27FC236}">
                <a16:creationId xmlns:a16="http://schemas.microsoft.com/office/drawing/2014/main" id="{6360E538-0907-888A-EF4A-BAE1A4030AA6}"/>
              </a:ext>
            </a:extLst>
          </p:cNvPr>
          <p:cNvSpPr/>
          <p:nvPr/>
        </p:nvSpPr>
        <p:spPr>
          <a:xfrm>
            <a:off x="6364508" y="1113246"/>
            <a:ext cx="5615573" cy="3373407"/>
          </a:xfrm>
          <a:prstGeom prst="bracePair">
            <a:avLst>
              <a:gd name="adj" fmla="val 16769"/>
            </a:avLst>
          </a:prstGeom>
          <a:noFill/>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7" name="Picture 6" descr="The provided text appears to be a sequence of numbers representing a data set or a graph, likely showing a distribution or a change over time or another variable. Without further context or visual representation, it's challenging to describe it accurately. If this is a bar chart or a line graph, the numbers may indicate the frequency or magnitude of an observed phenomenon. If you have a specific image or diagram, please provide it, and I can offer a more precise description.&#10;&#10;AI-generated content may be incorrect.">
            <a:extLst>
              <a:ext uri="{FF2B5EF4-FFF2-40B4-BE49-F238E27FC236}">
                <a16:creationId xmlns:a16="http://schemas.microsoft.com/office/drawing/2014/main" id="{9E67313D-5A6F-6463-FEB1-6DC0EE59C783}"/>
              </a:ext>
            </a:extLst>
          </p:cNvPr>
          <p:cNvPicPr>
            <a:picLocks noChangeAspect="1"/>
          </p:cNvPicPr>
          <p:nvPr/>
        </p:nvPicPr>
        <p:blipFill>
          <a:blip r:embed="rId3"/>
          <a:stretch>
            <a:fillRect/>
          </a:stretch>
        </p:blipFill>
        <p:spPr>
          <a:xfrm>
            <a:off x="159706" y="1455915"/>
            <a:ext cx="5877499" cy="5033334"/>
          </a:xfrm>
          <a:prstGeom prst="rect">
            <a:avLst/>
          </a:prstGeom>
        </p:spPr>
      </p:pic>
      <p:sp>
        <p:nvSpPr>
          <p:cNvPr id="5" name="TextBox 4">
            <a:extLst>
              <a:ext uri="{FF2B5EF4-FFF2-40B4-BE49-F238E27FC236}">
                <a16:creationId xmlns:a16="http://schemas.microsoft.com/office/drawing/2014/main" id="{DF6F5339-5830-586B-8D67-5099DCC2057A}"/>
              </a:ext>
            </a:extLst>
          </p:cNvPr>
          <p:cNvSpPr txBox="1"/>
          <p:nvPr/>
        </p:nvSpPr>
        <p:spPr>
          <a:xfrm>
            <a:off x="6085187" y="5971749"/>
            <a:ext cx="5061243" cy="830997"/>
          </a:xfrm>
          <a:prstGeom prst="rect">
            <a:avLst/>
          </a:prstGeom>
          <a:noFill/>
        </p:spPr>
        <p:txBody>
          <a:bodyPr wrap="square" rtlCol="0">
            <a:spAutoFit/>
          </a:bodyPr>
          <a:lstStyle/>
          <a:p>
            <a:r>
              <a:rPr lang="ja-JP" altLang="en-US" sz="2400">
                <a:solidFill>
                  <a:schemeClr val="bg1"/>
                </a:solidFill>
              </a:rPr>
              <a:t>各係数はマルコフ連鎖モンテカルロ法（＝</a:t>
            </a:r>
            <a:r>
              <a:rPr lang="en-US" altLang="ja-JP" sz="2400">
                <a:solidFill>
                  <a:schemeClr val="bg1"/>
                </a:solidFill>
              </a:rPr>
              <a:t>MCMC</a:t>
            </a:r>
            <a:r>
              <a:rPr lang="ja-JP" altLang="en-US" sz="2400">
                <a:solidFill>
                  <a:schemeClr val="bg1"/>
                </a:solidFill>
              </a:rPr>
              <a:t>）で決定</a:t>
            </a:r>
            <a:endParaRPr lang="en-US" sz="2400">
              <a:solidFill>
                <a:schemeClr val="bg1"/>
              </a:solidFill>
            </a:endParaRPr>
          </a:p>
        </p:txBody>
      </p:sp>
      <p:sp>
        <p:nvSpPr>
          <p:cNvPr id="4" name="Arrow: Up 3">
            <a:extLst>
              <a:ext uri="{FF2B5EF4-FFF2-40B4-BE49-F238E27FC236}">
                <a16:creationId xmlns:a16="http://schemas.microsoft.com/office/drawing/2014/main" id="{C1DC0DAE-58DD-576C-2783-C79D1ACC7B10}"/>
              </a:ext>
            </a:extLst>
          </p:cNvPr>
          <p:cNvSpPr/>
          <p:nvPr/>
        </p:nvSpPr>
        <p:spPr>
          <a:xfrm>
            <a:off x="7971652" y="4482891"/>
            <a:ext cx="864131" cy="572763"/>
          </a:xfrm>
          <a:prstGeom prst="upArrow">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88F3D32-4DF4-FF3A-2183-FD7815E809B7}"/>
              </a:ext>
            </a:extLst>
          </p:cNvPr>
          <p:cNvSpPr/>
          <p:nvPr/>
        </p:nvSpPr>
        <p:spPr>
          <a:xfrm>
            <a:off x="6037205" y="5971749"/>
            <a:ext cx="5232157" cy="830996"/>
          </a:xfrm>
          <a:prstGeom prst="rect">
            <a:avLst/>
          </a:pr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Slide Number Placeholder 4">
            <a:extLst>
              <a:ext uri="{FF2B5EF4-FFF2-40B4-BE49-F238E27FC236}">
                <a16:creationId xmlns:a16="http://schemas.microsoft.com/office/drawing/2014/main" id="{2E46D0FE-AA6C-CFF6-866F-23FDB91EADA4}"/>
              </a:ext>
            </a:extLst>
          </p:cNvPr>
          <p:cNvSpPr>
            <a:spLocks noGrp="1"/>
          </p:cNvSpPr>
          <p:nvPr>
            <p:ph type="sldNum" sz="quarter" idx="12"/>
          </p:nvPr>
        </p:nvSpPr>
        <p:spPr>
          <a:xfrm>
            <a:off x="11392930" y="6367325"/>
            <a:ext cx="799070" cy="490675"/>
          </a:xfrm>
        </p:spPr>
        <p:txBody>
          <a:bodyPr/>
          <a:lstStyle/>
          <a:p>
            <a:fld id="{C1FF6DA9-008F-8B48-92A6-B652298478BF}" type="slidenum">
              <a:rPr lang="en-US" sz="3200" smtClean="0">
                <a:solidFill>
                  <a:schemeClr val="bg1"/>
                </a:solidFill>
              </a:rPr>
              <a:t>15</a:t>
            </a:fld>
            <a:endParaRPr lang="en-US" sz="3200">
              <a:solidFill>
                <a:schemeClr val="bg1"/>
              </a:solidFill>
            </a:endParaRPr>
          </a:p>
        </p:txBody>
      </p:sp>
    </p:spTree>
    <p:extLst>
      <p:ext uri="{BB962C8B-B14F-4D97-AF65-F5344CB8AC3E}">
        <p14:creationId xmlns:p14="http://schemas.microsoft.com/office/powerpoint/2010/main" val="1316406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AA64856-B83B-ACBE-A73C-8F523F8E7C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578DE0-7210-7B45-AD55-1268219D4EA0}"/>
              </a:ext>
            </a:extLst>
          </p:cNvPr>
          <p:cNvSpPr txBox="1"/>
          <p:nvPr/>
        </p:nvSpPr>
        <p:spPr>
          <a:xfrm>
            <a:off x="183930" y="323165"/>
            <a:ext cx="8198070" cy="707886"/>
          </a:xfrm>
          <a:prstGeom prst="rect">
            <a:avLst/>
          </a:prstGeom>
          <a:noFill/>
        </p:spPr>
        <p:txBody>
          <a:bodyPr wrap="square">
            <a:spAutoFit/>
          </a:bodyPr>
          <a:lstStyle/>
          <a:p>
            <a:pPr>
              <a:defRPr sz="2800" b="1">
                <a:solidFill>
                  <a:srgbClr val="FFFFFF"/>
                </a:solidFill>
              </a:defRPr>
            </a:pPr>
            <a:r>
              <a:rPr lang="en-US" altLang="ja-JP" sz="4000">
                <a:solidFill>
                  <a:schemeClr val="bg1"/>
                </a:solidFill>
              </a:rPr>
              <a:t>Discussion</a:t>
            </a:r>
            <a:r>
              <a:rPr lang="ja-JP" altLang="en-US" sz="4000">
                <a:solidFill>
                  <a:schemeClr val="bg1"/>
                </a:solidFill>
              </a:rPr>
              <a:t>　成果と課題</a:t>
            </a:r>
            <a:endParaRPr lang="en-US" altLang="ja-JP" sz="4000">
              <a:solidFill>
                <a:schemeClr val="bg1"/>
              </a:solidFill>
            </a:endParaRPr>
          </a:p>
        </p:txBody>
      </p:sp>
      <p:sp>
        <p:nvSpPr>
          <p:cNvPr id="7" name="TextBox 6">
            <a:extLst>
              <a:ext uri="{FF2B5EF4-FFF2-40B4-BE49-F238E27FC236}">
                <a16:creationId xmlns:a16="http://schemas.microsoft.com/office/drawing/2014/main" id="{B809A210-E4A4-8D25-78B7-1C77802FC7BD}"/>
              </a:ext>
            </a:extLst>
          </p:cNvPr>
          <p:cNvSpPr txBox="1"/>
          <p:nvPr/>
        </p:nvSpPr>
        <p:spPr>
          <a:xfrm>
            <a:off x="624310" y="2400657"/>
            <a:ext cx="11691257" cy="2246769"/>
          </a:xfrm>
          <a:prstGeom prst="rect">
            <a:avLst/>
          </a:prstGeom>
          <a:noFill/>
        </p:spPr>
        <p:txBody>
          <a:bodyPr wrap="square">
            <a:spAutoFit/>
          </a:bodyPr>
          <a:lstStyle/>
          <a:p>
            <a:pPr indent="0" algn="l">
              <a:buNone/>
            </a:pPr>
            <a:r>
              <a:rPr lang="en-US" sz="2800" b="1" i="0">
                <a:solidFill>
                  <a:schemeClr val="bg1"/>
                </a:solidFill>
                <a:effectLst/>
                <a:latin typeface="-apple-system"/>
              </a:rPr>
              <a:t>【</a:t>
            </a:r>
            <a:r>
              <a:rPr lang="ja-JP" altLang="en-US" sz="2800" b="1" i="0">
                <a:solidFill>
                  <a:schemeClr val="bg1"/>
                </a:solidFill>
                <a:effectLst/>
                <a:latin typeface="-apple-system"/>
              </a:rPr>
              <a:t>課題</a:t>
            </a:r>
            <a:r>
              <a:rPr lang="en-US" sz="2800" b="1" i="0">
                <a:solidFill>
                  <a:schemeClr val="bg1"/>
                </a:solidFill>
                <a:effectLst/>
                <a:latin typeface="-apple-system"/>
              </a:rPr>
              <a:t>】</a:t>
            </a:r>
            <a:endParaRPr lang="en-US" sz="2800" b="0" i="0">
              <a:solidFill>
                <a:schemeClr val="bg1"/>
              </a:solidFill>
              <a:effectLst/>
              <a:latin typeface="-apple-system"/>
            </a:endParaRPr>
          </a:p>
          <a:p>
            <a:r>
              <a:rPr lang="ja-JP" altLang="en-US" sz="2800">
                <a:solidFill>
                  <a:schemeClr val="bg1"/>
                </a:solidFill>
              </a:rPr>
              <a:t>・等方成分が </a:t>
            </a:r>
            <a:r>
              <a:rPr lang="en-US" altLang="ja-JP" sz="2800">
                <a:solidFill>
                  <a:schemeClr val="bg1"/>
                </a:solidFill>
              </a:rPr>
              <a:t>Totani </a:t>
            </a:r>
            <a:r>
              <a:rPr lang="ja-JP" altLang="en-US" sz="2800">
                <a:solidFill>
                  <a:schemeClr val="bg1"/>
                </a:solidFill>
              </a:rPr>
              <a:t>の </a:t>
            </a:r>
            <a:r>
              <a:rPr lang="en-US" altLang="ja-JP" sz="2800">
                <a:solidFill>
                  <a:schemeClr val="bg1"/>
                </a:solidFill>
              </a:rPr>
              <a:t>0.38 </a:t>
            </a:r>
            <a:r>
              <a:rPr lang="ja-JP" altLang="en-US" sz="2800">
                <a:solidFill>
                  <a:schemeClr val="bg1"/>
                </a:solidFill>
              </a:rPr>
              <a:t>倍 </a:t>
            </a:r>
            <a:endParaRPr lang="en-US" altLang="ja-JP" sz="2800">
              <a:solidFill>
                <a:schemeClr val="bg1"/>
              </a:solidFill>
            </a:endParaRPr>
          </a:p>
          <a:p>
            <a:r>
              <a:rPr lang="ja-JP" altLang="en-US" sz="2800">
                <a:solidFill>
                  <a:schemeClr val="bg1"/>
                </a:solidFill>
              </a:rPr>
              <a:t>→本研究の </a:t>
            </a:r>
            <a:r>
              <a:rPr lang="en-US" altLang="ja-JP" sz="2800">
                <a:solidFill>
                  <a:schemeClr val="bg1"/>
                </a:solidFill>
              </a:rPr>
              <a:t>ICS </a:t>
            </a:r>
            <a:r>
              <a:rPr lang="ja-JP" altLang="en-US" sz="2800">
                <a:solidFill>
                  <a:schemeClr val="bg1"/>
                </a:solidFill>
              </a:rPr>
              <a:t>が平坦（</a:t>
            </a:r>
            <a:r>
              <a:rPr lang="en-US" sz="2800">
                <a:solidFill>
                  <a:schemeClr val="bg1"/>
                </a:solidFill>
                <a:latin typeface="-apple-system"/>
              </a:rPr>
              <a:t> 確定には再計算が必要 </a:t>
            </a:r>
            <a:r>
              <a:rPr lang="ja-JP" altLang="en-US" sz="2800">
                <a:solidFill>
                  <a:schemeClr val="bg1"/>
                </a:solidFill>
              </a:rPr>
              <a:t>）</a:t>
            </a:r>
          </a:p>
          <a:p>
            <a:r>
              <a:rPr lang="ja-JP" altLang="en-US" sz="2800">
                <a:solidFill>
                  <a:schemeClr val="bg1"/>
                </a:solidFill>
              </a:rPr>
              <a:t> ・有意度の「大きさ」が </a:t>
            </a:r>
            <a:r>
              <a:rPr lang="en-US" altLang="ja-JP" sz="2800">
                <a:solidFill>
                  <a:schemeClr val="bg1"/>
                </a:solidFill>
              </a:rPr>
              <a:t>Totani </a:t>
            </a:r>
            <a:r>
              <a:rPr lang="ja-JP" altLang="en-US" sz="2800">
                <a:solidFill>
                  <a:schemeClr val="bg1"/>
                </a:solidFill>
              </a:rPr>
              <a:t>の </a:t>
            </a:r>
            <a:r>
              <a:rPr lang="en-US" altLang="ja-JP" sz="2800">
                <a:solidFill>
                  <a:schemeClr val="bg1"/>
                </a:solidFill>
              </a:rPr>
              <a:t>1.3〜1.6 </a:t>
            </a:r>
            <a:r>
              <a:rPr lang="ja-JP" altLang="en-US" sz="2800">
                <a:solidFill>
                  <a:schemeClr val="bg1"/>
                </a:solidFill>
              </a:rPr>
              <a:t>倍（「形」は一致） </a:t>
            </a:r>
            <a:r>
              <a:rPr lang="ja-JP" altLang="en-US" sz="2800"/>
              <a:t>定不能</a:t>
            </a:r>
          </a:p>
          <a:p>
            <a:pPr indent="0" algn="l">
              <a:buNone/>
            </a:pPr>
            <a:endParaRPr lang="en-US" sz="2800" b="0" i="0">
              <a:solidFill>
                <a:schemeClr val="bg1"/>
              </a:solidFill>
              <a:effectLst/>
              <a:latin typeface="-apple-system"/>
            </a:endParaRPr>
          </a:p>
        </p:txBody>
      </p:sp>
      <p:sp>
        <p:nvSpPr>
          <p:cNvPr id="9" name="TextBox 8">
            <a:extLst>
              <a:ext uri="{FF2B5EF4-FFF2-40B4-BE49-F238E27FC236}">
                <a16:creationId xmlns:a16="http://schemas.microsoft.com/office/drawing/2014/main" id="{3B509CF3-7298-5B1F-E774-22D97FD1ED52}"/>
              </a:ext>
            </a:extLst>
          </p:cNvPr>
          <p:cNvSpPr txBox="1"/>
          <p:nvPr/>
        </p:nvSpPr>
        <p:spPr>
          <a:xfrm>
            <a:off x="529828" y="1272921"/>
            <a:ext cx="10903744" cy="1354217"/>
          </a:xfrm>
          <a:prstGeom prst="rect">
            <a:avLst/>
          </a:prstGeom>
          <a:noFill/>
        </p:spPr>
        <p:txBody>
          <a:bodyPr wrap="square">
            <a:spAutoFit/>
          </a:bodyPr>
          <a:lstStyle/>
          <a:p>
            <a:r>
              <a:rPr lang="en-US" sz="3200" b="1">
                <a:solidFill>
                  <a:schemeClr val="bg1"/>
                </a:solidFill>
                <a:latin typeface="-apple-system"/>
              </a:rPr>
              <a:t>【</a:t>
            </a:r>
            <a:r>
              <a:rPr lang="ja-JP" altLang="en-US" sz="3200" b="1">
                <a:solidFill>
                  <a:schemeClr val="bg1"/>
                </a:solidFill>
                <a:latin typeface="-apple-system"/>
              </a:rPr>
              <a:t>成果</a:t>
            </a:r>
            <a:r>
              <a:rPr lang="en-US" sz="3200" b="1">
                <a:solidFill>
                  <a:schemeClr val="bg1"/>
                </a:solidFill>
                <a:latin typeface="-apple-system"/>
              </a:rPr>
              <a:t>】</a:t>
            </a:r>
            <a:endParaRPr lang="en-US" sz="3200">
              <a:solidFill>
                <a:schemeClr val="bg1"/>
              </a:solidFill>
              <a:latin typeface="-apple-system"/>
            </a:endParaRPr>
          </a:p>
          <a:p>
            <a:r>
              <a:rPr lang="ja-JP" altLang="en-US" sz="3200">
                <a:solidFill>
                  <a:schemeClr val="bg1"/>
                </a:solidFill>
              </a:rPr>
              <a:t>戸谷さんの</a:t>
            </a:r>
            <a:r>
              <a:rPr lang="en-US" sz="3200" b="1">
                <a:solidFill>
                  <a:schemeClr val="bg1"/>
                </a:solidFill>
              </a:rPr>
              <a:t>20 GeV ハロー過剰の</a:t>
            </a:r>
            <a:r>
              <a:rPr lang="ja-JP" altLang="en-US" sz="3200">
                <a:solidFill>
                  <a:schemeClr val="bg1"/>
                </a:solidFill>
              </a:rPr>
              <a:t>再現にほぼ成功　</a:t>
            </a:r>
            <a:endParaRPr lang="en-US" altLang="ja-JP" sz="3200">
              <a:solidFill>
                <a:schemeClr val="bg1"/>
              </a:solidFill>
            </a:endParaRPr>
          </a:p>
          <a:p>
            <a:endParaRPr lang="en-US" altLang="ja-JP" sz="1800">
              <a:solidFill>
                <a:schemeClr val="bg1"/>
              </a:solidFill>
            </a:endParaRPr>
          </a:p>
        </p:txBody>
      </p:sp>
      <p:sp>
        <p:nvSpPr>
          <p:cNvPr id="3" name="Slide Number Placeholder 4">
            <a:extLst>
              <a:ext uri="{FF2B5EF4-FFF2-40B4-BE49-F238E27FC236}">
                <a16:creationId xmlns:a16="http://schemas.microsoft.com/office/drawing/2014/main" id="{40C39366-F776-C6FE-1B05-0C4F7F32D4FF}"/>
              </a:ext>
            </a:extLst>
          </p:cNvPr>
          <p:cNvSpPr>
            <a:spLocks noGrp="1"/>
          </p:cNvSpPr>
          <p:nvPr>
            <p:ph type="sldNum" sz="quarter" idx="12"/>
          </p:nvPr>
        </p:nvSpPr>
        <p:spPr>
          <a:xfrm>
            <a:off x="11269363" y="6367325"/>
            <a:ext cx="922637" cy="490675"/>
          </a:xfrm>
        </p:spPr>
        <p:txBody>
          <a:bodyPr/>
          <a:lstStyle/>
          <a:p>
            <a:fld id="{C1FF6DA9-008F-8B48-92A6-B652298478BF}" type="slidenum">
              <a:rPr lang="en-US" sz="3200" smtClean="0">
                <a:solidFill>
                  <a:schemeClr val="bg1"/>
                </a:solidFill>
              </a:rPr>
              <a:t>16</a:t>
            </a:fld>
            <a:endParaRPr lang="en-US" sz="3200">
              <a:solidFill>
                <a:schemeClr val="bg1"/>
              </a:solidFill>
            </a:endParaRPr>
          </a:p>
        </p:txBody>
      </p:sp>
      <p:graphicFrame>
        <p:nvGraphicFramePr>
          <p:cNvPr id="5" name="Table 4">
            <a:extLst>
              <a:ext uri="{FF2B5EF4-FFF2-40B4-BE49-F238E27FC236}">
                <a16:creationId xmlns:a16="http://schemas.microsoft.com/office/drawing/2014/main" id="{19D9DF99-8873-1706-EDDE-C36B94528400}"/>
              </a:ext>
            </a:extLst>
          </p:cNvPr>
          <p:cNvGraphicFramePr>
            <a:graphicFrameLocks noGrp="1"/>
          </p:cNvGraphicFramePr>
          <p:nvPr>
            <p:extLst>
              <p:ext uri="{D42A27DB-BD31-4B8C-83A1-F6EECF244321}">
                <p14:modId xmlns:p14="http://schemas.microsoft.com/office/powerpoint/2010/main" val="1584638782"/>
              </p:ext>
            </p:extLst>
          </p:nvPr>
        </p:nvGraphicFramePr>
        <p:xfrm>
          <a:off x="2671530" y="4198616"/>
          <a:ext cx="7395232" cy="2659384"/>
        </p:xfrm>
        <a:graphic>
          <a:graphicData uri="http://schemas.openxmlformats.org/drawingml/2006/table">
            <a:tbl>
              <a:tblPr bandRow="1">
                <a:tableStyleId>{5C22544A-7EE6-4342-B048-85BDC9FD1C3A}</a:tableStyleId>
              </a:tblPr>
              <a:tblGrid>
                <a:gridCol w="2099626">
                  <a:extLst>
                    <a:ext uri="{9D8B030D-6E8A-4147-A177-3AD203B41FA5}">
                      <a16:colId xmlns:a16="http://schemas.microsoft.com/office/drawing/2014/main" val="147019469"/>
                    </a:ext>
                  </a:extLst>
                </a:gridCol>
                <a:gridCol w="5295606">
                  <a:extLst>
                    <a:ext uri="{9D8B030D-6E8A-4147-A177-3AD203B41FA5}">
                      <a16:colId xmlns:a16="http://schemas.microsoft.com/office/drawing/2014/main" val="136375181"/>
                    </a:ext>
                  </a:extLst>
                </a:gridCol>
              </a:tblGrid>
              <a:tr h="556264">
                <a:tc>
                  <a:txBody>
                    <a:bodyPr/>
                    <a:lstStyle/>
                    <a:p>
                      <a:r>
                        <a:rPr lang="en-US" altLang="ja-JP" b="1">
                          <a:solidFill>
                            <a:schemeClr val="bg1"/>
                          </a:solidFill>
                        </a:rPr>
                        <a:t>gas</a:t>
                      </a:r>
                      <a:r>
                        <a:rPr lang="ja-JP" altLang="en-US" b="1">
                          <a:solidFill>
                            <a:schemeClr val="bg1"/>
                          </a:solidFill>
                        </a:rPr>
                        <a:t>（星間ガス）</a:t>
                      </a:r>
                      <a:endParaRPr lang="en-US" b="1">
                        <a:solidFill>
                          <a:schemeClr val="bg1"/>
                        </a:solidFill>
                      </a:endParaRPr>
                    </a:p>
                  </a:txBody>
                  <a:tcPr>
                    <a:solidFill>
                      <a:schemeClr val="tx1"/>
                    </a:solidFill>
                  </a:tcPr>
                </a:tc>
                <a:tc>
                  <a:txBody>
                    <a:bodyPr/>
                    <a:lstStyle/>
                    <a:p>
                      <a:r>
                        <a:rPr lang="en-US" sz="1800" b="1" i="0" kern="1200">
                          <a:solidFill>
                            <a:schemeClr val="bg1"/>
                          </a:solidFill>
                          <a:effectLst/>
                          <a:latin typeface="+mn-lt"/>
                          <a:ea typeface="+mn-ea"/>
                          <a:cs typeface="+mn-cs"/>
                        </a:rPr>
                        <a:t>宇宙線が星間ガスに当たって出る γ 線</a:t>
                      </a:r>
                      <a:endParaRPr lang="en-US" b="1">
                        <a:solidFill>
                          <a:schemeClr val="bg1"/>
                        </a:solidFill>
                      </a:endParaRPr>
                    </a:p>
                  </a:txBody>
                  <a:tcPr>
                    <a:solidFill>
                      <a:schemeClr val="tx1"/>
                    </a:solidFill>
                  </a:tcPr>
                </a:tc>
                <a:extLst>
                  <a:ext uri="{0D108BD9-81ED-4DB2-BD59-A6C34878D82A}">
                    <a16:rowId xmlns:a16="http://schemas.microsoft.com/office/drawing/2014/main" val="502767625"/>
                  </a:ext>
                </a:extLst>
              </a:tr>
              <a:tr h="355255">
                <a:tc>
                  <a:txBody>
                    <a:bodyPr/>
                    <a:lstStyle/>
                    <a:p>
                      <a:r>
                        <a:rPr lang="ja-JP" altLang="en-US" b="1">
                          <a:solidFill>
                            <a:schemeClr val="bg1"/>
                          </a:solidFill>
                        </a:rPr>
                        <a:t>逆コンプトン散乱</a:t>
                      </a:r>
                      <a:endParaRPr lang="en-US" b="1">
                        <a:solidFill>
                          <a:schemeClr val="bg1"/>
                        </a:solidFill>
                      </a:endParaRPr>
                    </a:p>
                  </a:txBody>
                  <a:tcPr>
                    <a:solidFill>
                      <a:schemeClr val="tx1"/>
                    </a:solidFill>
                  </a:tcPr>
                </a:tc>
                <a:tc>
                  <a:txBody>
                    <a:bodyPr/>
                    <a:lstStyle/>
                    <a:p>
                      <a:r>
                        <a:rPr lang="ja-JP" altLang="en-US" b="1">
                          <a:solidFill>
                            <a:schemeClr val="bg1"/>
                          </a:solidFill>
                        </a:rPr>
                        <a:t>電子が星や宇宙背景の光を散乱して出る </a:t>
                      </a:r>
                      <a:r>
                        <a:rPr lang="en-US" altLang="ja-JP" b="1">
                          <a:solidFill>
                            <a:schemeClr val="bg1"/>
                          </a:solidFill>
                        </a:rPr>
                        <a:t>γ </a:t>
                      </a:r>
                      <a:r>
                        <a:rPr lang="ja-JP" altLang="en-US" b="1">
                          <a:solidFill>
                            <a:schemeClr val="bg1"/>
                          </a:solidFill>
                        </a:rPr>
                        <a:t>線</a:t>
                      </a:r>
                      <a:endParaRPr lang="en-US" b="1">
                        <a:solidFill>
                          <a:schemeClr val="bg1"/>
                        </a:solidFill>
                      </a:endParaRPr>
                    </a:p>
                  </a:txBody>
                  <a:tcPr>
                    <a:solidFill>
                      <a:schemeClr val="tx1"/>
                    </a:solidFill>
                  </a:tcPr>
                </a:tc>
                <a:extLst>
                  <a:ext uri="{0D108BD9-81ED-4DB2-BD59-A6C34878D82A}">
                    <a16:rowId xmlns:a16="http://schemas.microsoft.com/office/drawing/2014/main" val="3009192295"/>
                  </a:ext>
                </a:extLst>
              </a:tr>
              <a:tr h="360189">
                <a:tc>
                  <a:txBody>
                    <a:bodyPr/>
                    <a:lstStyle/>
                    <a:p>
                      <a:r>
                        <a:rPr lang="en-US" b="1">
                          <a:solidFill>
                            <a:schemeClr val="bg1"/>
                          </a:solidFill>
                        </a:rPr>
                        <a:t>Fermi Bubbles</a:t>
                      </a:r>
                    </a:p>
                  </a:txBody>
                  <a:tcPr>
                    <a:solidFill>
                      <a:schemeClr val="tx1"/>
                    </a:solidFill>
                  </a:tcPr>
                </a:tc>
                <a:tc>
                  <a:txBody>
                    <a:bodyPr/>
                    <a:lstStyle/>
                    <a:p>
                      <a:r>
                        <a:rPr lang="ja-JP" altLang="en-US" b="1">
                          <a:solidFill>
                            <a:schemeClr val="bg1"/>
                          </a:solidFill>
                        </a:rPr>
                        <a:t>銀河中心から南北に伸びる巨大構造</a:t>
                      </a:r>
                      <a:endParaRPr lang="en-US" b="1">
                        <a:solidFill>
                          <a:schemeClr val="bg1"/>
                        </a:solidFill>
                      </a:endParaRPr>
                    </a:p>
                  </a:txBody>
                  <a:tcPr>
                    <a:solidFill>
                      <a:schemeClr val="tx1"/>
                    </a:solidFill>
                  </a:tcPr>
                </a:tc>
                <a:extLst>
                  <a:ext uri="{0D108BD9-81ED-4DB2-BD59-A6C34878D82A}">
                    <a16:rowId xmlns:a16="http://schemas.microsoft.com/office/drawing/2014/main" val="216514250"/>
                  </a:ext>
                </a:extLst>
              </a:tr>
              <a:tr h="360189">
                <a:tc>
                  <a:txBody>
                    <a:bodyPr/>
                    <a:lstStyle/>
                    <a:p>
                      <a:r>
                        <a:rPr lang="en-US" b="1">
                          <a:solidFill>
                            <a:schemeClr val="bg1"/>
                          </a:solidFill>
                        </a:rPr>
                        <a:t>Loop I</a:t>
                      </a:r>
                    </a:p>
                  </a:txBody>
                  <a:tcPr>
                    <a:solidFill>
                      <a:schemeClr val="tx1"/>
                    </a:solidFill>
                  </a:tcPr>
                </a:tc>
                <a:tc>
                  <a:txBody>
                    <a:bodyPr/>
                    <a:lstStyle/>
                    <a:p>
                      <a:r>
                        <a:rPr lang="ja-JP" altLang="en-US" b="1">
                          <a:solidFill>
                            <a:schemeClr val="bg1"/>
                          </a:solidFill>
                        </a:rPr>
                        <a:t>近傍の超新星残骸由来の巨大電波ループ</a:t>
                      </a:r>
                      <a:endParaRPr lang="en-US" b="1">
                        <a:solidFill>
                          <a:schemeClr val="bg1"/>
                        </a:solidFill>
                      </a:endParaRPr>
                    </a:p>
                  </a:txBody>
                  <a:tcPr>
                    <a:solidFill>
                      <a:schemeClr val="tx1"/>
                    </a:solidFill>
                  </a:tcPr>
                </a:tc>
                <a:extLst>
                  <a:ext uri="{0D108BD9-81ED-4DB2-BD59-A6C34878D82A}">
                    <a16:rowId xmlns:a16="http://schemas.microsoft.com/office/drawing/2014/main" val="2792810681"/>
                  </a:ext>
                </a:extLst>
              </a:tr>
              <a:tr h="360189">
                <a:tc>
                  <a:txBody>
                    <a:bodyPr/>
                    <a:lstStyle/>
                    <a:p>
                      <a:r>
                        <a:rPr lang="ja-JP" altLang="en-US" b="1">
                          <a:solidFill>
                            <a:schemeClr val="bg1"/>
                          </a:solidFill>
                        </a:rPr>
                        <a:t>点源</a:t>
                      </a:r>
                      <a:endParaRPr lang="en-US" b="1">
                        <a:solidFill>
                          <a:schemeClr val="bg1"/>
                        </a:solidFill>
                      </a:endParaRPr>
                    </a:p>
                  </a:txBody>
                  <a:tcPr>
                    <a:solidFill>
                      <a:schemeClr val="tx1"/>
                    </a:solidFill>
                  </a:tcPr>
                </a:tc>
                <a:tc>
                  <a:txBody>
                    <a:bodyPr/>
                    <a:lstStyle/>
                    <a:p>
                      <a:r>
                        <a:rPr lang="ja-JP" altLang="en-US" b="1">
                          <a:solidFill>
                            <a:schemeClr val="bg1"/>
                          </a:solidFill>
                        </a:rPr>
                        <a:t>既知の個別天体</a:t>
                      </a:r>
                      <a:endParaRPr lang="en-US" b="1">
                        <a:solidFill>
                          <a:schemeClr val="bg1"/>
                        </a:solidFill>
                      </a:endParaRPr>
                    </a:p>
                  </a:txBody>
                  <a:tcPr>
                    <a:solidFill>
                      <a:schemeClr val="tx1"/>
                    </a:solidFill>
                  </a:tcPr>
                </a:tc>
                <a:extLst>
                  <a:ext uri="{0D108BD9-81ED-4DB2-BD59-A6C34878D82A}">
                    <a16:rowId xmlns:a16="http://schemas.microsoft.com/office/drawing/2014/main" val="987638980"/>
                  </a:ext>
                </a:extLst>
              </a:tr>
              <a:tr h="621697">
                <a:tc>
                  <a:txBody>
                    <a:bodyPr/>
                    <a:lstStyle/>
                    <a:p>
                      <a:r>
                        <a:rPr lang="ja-JP" altLang="en-US" b="1">
                          <a:solidFill>
                            <a:schemeClr val="bg1"/>
                          </a:solidFill>
                        </a:rPr>
                        <a:t>等方背景放射（</a:t>
                      </a:r>
                      <a:r>
                        <a:rPr lang="en-US" sz="1800" b="1" i="0" kern="1200">
                          <a:solidFill>
                            <a:schemeClr val="bg1"/>
                          </a:solidFill>
                          <a:effectLst/>
                          <a:latin typeface="+mn-lt"/>
                          <a:ea typeface="+mn-ea"/>
                          <a:cs typeface="+mn-cs"/>
                        </a:rPr>
                        <a:t>IGRB</a:t>
                      </a:r>
                      <a:r>
                        <a:rPr lang="en-US" altLang="ja-JP" b="1">
                          <a:solidFill>
                            <a:schemeClr val="bg1"/>
                          </a:solidFill>
                        </a:rPr>
                        <a:t>)</a:t>
                      </a:r>
                    </a:p>
                  </a:txBody>
                  <a:tcPr>
                    <a:solidFill>
                      <a:schemeClr val="tx1"/>
                    </a:solidFill>
                  </a:tcPr>
                </a:tc>
                <a:tc>
                  <a:txBody>
                    <a:bodyPr/>
                    <a:lstStyle/>
                    <a:p>
                      <a:r>
                        <a:rPr lang="ja-JP" altLang="en-US" b="1">
                          <a:solidFill>
                            <a:schemeClr val="bg1"/>
                          </a:solidFill>
                        </a:rPr>
                        <a:t>全天ほぼ一様な背景放射</a:t>
                      </a:r>
                      <a:endParaRPr lang="en-US" b="1">
                        <a:solidFill>
                          <a:schemeClr val="bg1"/>
                        </a:solidFill>
                      </a:endParaRPr>
                    </a:p>
                  </a:txBody>
                  <a:tcPr>
                    <a:solidFill>
                      <a:schemeClr val="tx1"/>
                    </a:solidFill>
                  </a:tcPr>
                </a:tc>
                <a:extLst>
                  <a:ext uri="{0D108BD9-81ED-4DB2-BD59-A6C34878D82A}">
                    <a16:rowId xmlns:a16="http://schemas.microsoft.com/office/drawing/2014/main" val="2125359710"/>
                  </a:ext>
                </a:extLst>
              </a:tr>
            </a:tbl>
          </a:graphicData>
        </a:graphic>
      </p:graphicFrame>
    </p:spTree>
    <p:extLst>
      <p:ext uri="{BB962C8B-B14F-4D97-AF65-F5344CB8AC3E}">
        <p14:creationId xmlns:p14="http://schemas.microsoft.com/office/powerpoint/2010/main" val="3820799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7432</TotalTime>
  <Words>4491</Words>
  <Application>Microsoft Office PowerPoint</Application>
  <PresentationFormat>Widescreen</PresentationFormat>
  <Paragraphs>317</Paragraphs>
  <Slides>16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-apple-system</vt:lpstr>
      <vt:lpstr>Aptos</vt:lpstr>
      <vt:lpstr>Arial</vt:lpstr>
      <vt:lpstr>Britannic Bold</vt:lpstr>
      <vt:lpstr>Calibri</vt:lpstr>
      <vt:lpstr>Cambria Math</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中村惺一</dc:creator>
  <cp:keywords/>
  <dc:description>generated using python-pptx</dc:description>
  <cp:lastModifiedBy>202304239</cp:lastModifiedBy>
  <cp:revision>35</cp:revision>
  <dcterms:created xsi:type="dcterms:W3CDTF">2013-01-27T09:14:16Z</dcterms:created>
  <dcterms:modified xsi:type="dcterms:W3CDTF">2026-07-30T07:57:13Z</dcterms:modified>
  <cp:category/>
</cp:coreProperties>
</file>