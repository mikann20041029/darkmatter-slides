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71" r:id="rId5"/>
    <p:sldId id="272" r:id="rId6"/>
    <p:sldId id="259" r:id="rId7"/>
    <p:sldId id="260" r:id="rId8"/>
    <p:sldId id="273" r:id="rId9"/>
    <p:sldId id="274" r:id="rId10"/>
    <p:sldId id="275" r:id="rId11"/>
    <p:sldId id="276" r:id="rId12"/>
    <p:sldId id="261" r:id="rId13"/>
    <p:sldId id="262" r:id="rId14"/>
    <p:sldId id="277" r:id="rId15"/>
    <p:sldId id="278" r:id="rId16"/>
    <p:sldId id="263" r:id="rId17"/>
    <p:sldId id="264" r:id="rId18"/>
    <p:sldId id="265" r:id="rId19"/>
    <p:sldId id="266" r:id="rId20"/>
    <p:sldId id="267" r:id="rId21"/>
    <p:sldId id="268" r:id="rId22"/>
    <p:sldId id="269" r:id="rId23"/>
    <p:sldId id="270" r:id="rId2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7666" autoAdjust="0"/>
  </p:normalViewPr>
  <p:slideViewPr>
    <p:cSldViewPr snapToGrid="0" snapToObjects="1">
      <p:cViewPr varScale="1">
        <p:scale>
          <a:sx n="64" d="100"/>
          <a:sy n="64" d="100"/>
        </p:scale>
        <p:origin x="101" y="36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9074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sz="1400" dirty="0"/>
              <a:t>【言うこと】</a:t>
            </a:r>
            <a:br>
              <a:rPr dirty="0"/>
            </a:br>
            <a:r>
              <a:rPr sz="1400" dirty="0"/>
              <a:t>「</a:t>
            </a:r>
            <a:r>
              <a:rPr sz="1400" dirty="0" err="1"/>
              <a:t>中村誠一です。本日は『銀河ハロー方向のγ線解析によるダークマター対消滅シグナルの探索』というテーマで発表します</a:t>
            </a:r>
            <a:r>
              <a:rPr sz="1400" dirty="0"/>
              <a:t>。</a:t>
            </a:r>
            <a:br>
              <a:rPr dirty="0"/>
            </a:br>
            <a:r>
              <a:rPr sz="1400" dirty="0"/>
              <a:t>Fermi-LAT衛星の15年分のデータを使って、Totani（2025）という最新論文の手法を</a:t>
            </a:r>
            <a:r>
              <a:rPr lang="ja-JP" altLang="en-US" sz="1400" dirty="0"/>
              <a:t>近似</a:t>
            </a:r>
            <a:r>
              <a:rPr sz="1400" dirty="0" err="1"/>
              <a:t>再現し、ダークマターからくるかもしれないガンマ線信号を探しました</a:t>
            </a:r>
            <a:r>
              <a:rPr sz="1400" dirty="0"/>
              <a:t>。」</a:t>
            </a:r>
            <a:br>
              <a:rPr dirty="0"/>
            </a:br>
            <a:br>
              <a:rPr dirty="0"/>
            </a:br>
            <a:r>
              <a:rPr sz="1400" dirty="0"/>
              <a:t>【</a:t>
            </a:r>
            <a:r>
              <a:rPr sz="1400" dirty="0" err="1"/>
              <a:t>補足</a:t>
            </a:r>
            <a:r>
              <a:rPr sz="1400" dirty="0"/>
              <a:t>】</a:t>
            </a:r>
            <a:br>
              <a:rPr dirty="0"/>
            </a:br>
            <a:r>
              <a:rPr sz="1400" dirty="0"/>
              <a:t>・データ期間：2008年〜2023年、780週</a:t>
            </a:r>
            <a:br>
              <a:rPr dirty="0"/>
            </a:br>
            <a:r>
              <a:rPr sz="1400" dirty="0"/>
              <a:t>・今日の発表は15分を予定しています</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sz="1400" dirty="0"/>
              <a:t>【言うこと】</a:t>
            </a:r>
            <a:br>
              <a:rPr dirty="0"/>
            </a:br>
            <a:r>
              <a:rPr sz="1400" dirty="0"/>
              <a:t>「先に結論をお伝えします。780週分のFermi-LATデータを解析した結果、20.76 GeVのエネルギービンでNFWハロープロファイルへのフィット係数が31σで有意に正と求まりました。これはTotaniさんの13〜19σという報告と同スケールの結果です。また、矮小銀河5天体への展開も行い、Coma Berenicesで4.5σの過剰の兆候を確認しました。」</a:t>
            </a:r>
            <a:endParaRPr lang="en-US" sz="1400" dirty="0"/>
          </a:p>
          <a:p>
            <a:endParaRPr lang="en-US" sz="1400" dirty="0"/>
          </a:p>
          <a:p>
            <a:r>
              <a:rPr lang="ja-JP" altLang="en-US" sz="1200" b="0" i="0" kern="1200" dirty="0">
                <a:solidFill>
                  <a:schemeClr val="tx1"/>
                </a:solidFill>
                <a:effectLst/>
                <a:latin typeface="+mn-lt"/>
                <a:ea typeface="+mn-ea"/>
                <a:cs typeface="+mn-cs"/>
              </a:rPr>
              <a:t>言うこと：「今日は卒論の中間発表として、ダークマター探索の解析結果を報告します。」</a:t>
            </a:r>
            <a:br>
              <a:rPr dirty="0"/>
            </a:br>
            <a:br>
              <a:rPr dirty="0"/>
            </a:br>
            <a:r>
              <a:rPr sz="1400" dirty="0"/>
              <a:t>【</a:t>
            </a:r>
            <a:r>
              <a:rPr sz="1400" dirty="0" err="1"/>
              <a:t>σについて聞かれたら</a:t>
            </a:r>
            <a:r>
              <a:rPr sz="1400" dirty="0"/>
              <a:t> or </a:t>
            </a:r>
            <a:r>
              <a:rPr sz="1400" dirty="0" err="1"/>
              <a:t>自分から説明する場合</a:t>
            </a:r>
            <a:r>
              <a:rPr sz="1400" dirty="0"/>
              <a:t>】</a:t>
            </a:r>
            <a:br>
              <a:rPr dirty="0"/>
            </a:br>
            <a:r>
              <a:rPr sz="1400" dirty="0"/>
              <a:t>「σはシグマと読み、統計的有意性の単位です。ノイズだけで偶然そのくらい大きな信号が出る確率を表していて、5σで約350万分の1、つまりほぼ偶然ではないと判断する水準です。詳しくはバックアップスライド14をご参照ください。」</a:t>
            </a:r>
            <a:br>
              <a:rPr dirty="0"/>
            </a:br>
            <a:br>
              <a:rPr dirty="0"/>
            </a:br>
            <a:r>
              <a:rPr sz="1400" dirty="0"/>
              <a:t>【31σとTotaniさんの13〜19σのズレについて】</a:t>
            </a:r>
            <a:br>
              <a:rPr dirty="0"/>
            </a:br>
            <a:r>
              <a:rPr sz="1400" dirty="0"/>
              <a:t>「数値のズレについては、私たちが使った統計手法（最小二乗法）とTotaniさんの手法（MCMC）の違いによるものです。詳しくはバックアップスライド15で説明します。発表中は『同スケールで再現できた』という定性的な結論に注目してください。」</a:t>
            </a:r>
            <a:br>
              <a:rPr dirty="0"/>
            </a:br>
            <a:br>
              <a:rPr dirty="0"/>
            </a:br>
            <a:r>
              <a:rPr sz="1400" dirty="0"/>
              <a:t>【</a:t>
            </a:r>
            <a:r>
              <a:rPr sz="1400" dirty="0" err="1"/>
              <a:t>矮小銀河を選んだ理由について</a:t>
            </a:r>
            <a:r>
              <a:rPr sz="1400" dirty="0"/>
              <a:t>】</a:t>
            </a:r>
            <a:br>
              <a:rPr dirty="0"/>
            </a:br>
            <a:r>
              <a:rPr sz="1400" dirty="0"/>
              <a:t>「矮小銀河を選んだ理由はスライド7（Discussion）で説明します。一言で言えば、DM密度が高く邪魔なγ線放射源が少ない天体だからです。」</a:t>
            </a:r>
            <a:br>
              <a:rPr dirty="0"/>
            </a:br>
            <a:br>
              <a:rPr dirty="0"/>
            </a:br>
            <a:r>
              <a:rPr sz="1400" dirty="0"/>
              <a:t>【</a:t>
            </a:r>
            <a:r>
              <a:rPr sz="1400" dirty="0" err="1"/>
              <a:t>時間の目安</a:t>
            </a:r>
            <a:r>
              <a:rPr sz="1400" dirty="0"/>
              <a:t>】</a:t>
            </a:r>
            <a:br>
              <a:rPr dirty="0"/>
            </a:br>
            <a:r>
              <a:rPr sz="1400" dirty="0"/>
              <a:t>このスライドの説明は1〜2分程度に収める</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err="1"/>
              <a:t>まずダークマタ</a:t>
            </a:r>
            <a:r>
              <a:rPr dirty="0"/>
              <a:t>ー</a:t>
            </a:r>
            <a:r>
              <a:rPr lang="ja-JP" altLang="en-US" dirty="0"/>
              <a:t>についてです。</a:t>
            </a:r>
            <a:endParaRPr dirty="0"/>
          </a:p>
          <a:p>
            <a:r>
              <a:rPr dirty="0"/>
              <a:t>宇宙の27%を占めるが光を出さないため直接</a:t>
            </a:r>
            <a:r>
              <a:rPr lang="ja-JP" altLang="en-US" dirty="0"/>
              <a:t>見ることはできない</a:t>
            </a:r>
            <a:r>
              <a:rPr dirty="0"/>
              <a:t>。</a:t>
            </a:r>
          </a:p>
          <a:p>
            <a:r>
              <a:rPr dirty="0" err="1"/>
              <a:t>有力候補がWIMP（ウィンプ</a:t>
            </a:r>
            <a:r>
              <a:rPr dirty="0"/>
              <a:t>）</a:t>
            </a:r>
            <a:r>
              <a:rPr lang="ja-JP" altLang="en-US" dirty="0"/>
              <a:t>という</a:t>
            </a:r>
            <a:r>
              <a:rPr dirty="0"/>
              <a:t>、</a:t>
            </a:r>
            <a:r>
              <a:rPr dirty="0" err="1"/>
              <a:t>弱い相互作用のみを持つ重い粒子</a:t>
            </a:r>
            <a:r>
              <a:rPr dirty="0"/>
              <a:t>。</a:t>
            </a:r>
          </a:p>
          <a:p>
            <a:r>
              <a:rPr dirty="0" err="1"/>
              <a:t>WIMPs同士が出会うと対消滅して、右の図のようにbb̄チャンネル</a:t>
            </a:r>
            <a:r>
              <a:rPr lang="ja-JP" altLang="en-US" dirty="0"/>
              <a:t>　ボトムクォークと反ボトム</a:t>
            </a:r>
          </a:p>
          <a:p>
            <a:r>
              <a:rPr dirty="0" err="1"/>
              <a:t>を経由してγ線を放出する</a:t>
            </a:r>
            <a:r>
              <a:rPr dirty="0"/>
              <a:t>。</a:t>
            </a:r>
            <a:r>
              <a:rPr lang="ja-JP" altLang="en-US" sz="1200" b="0" i="0" kern="1200" dirty="0">
                <a:solidFill>
                  <a:schemeClr val="tx1"/>
                </a:solidFill>
                <a:effectLst/>
                <a:latin typeface="+mn-lt"/>
                <a:ea typeface="+mn-ea"/>
                <a:cs typeface="+mn-cs"/>
              </a:rPr>
              <a:t>そのガンマ線を探せばダークマターを間接検出できます</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err="1"/>
              <a:t>次に、今回参考にしたTotani</a:t>
            </a:r>
            <a:r>
              <a:rPr dirty="0"/>
              <a:t> (2025) </a:t>
            </a:r>
            <a:r>
              <a:rPr dirty="0" err="1"/>
              <a:t>の発見について</a:t>
            </a:r>
            <a:r>
              <a:rPr dirty="0"/>
              <a:t>。</a:t>
            </a:r>
          </a:p>
          <a:p>
            <a:r>
              <a:rPr dirty="0"/>
              <a:t>Fermi-LAT の15年分（780週）のデータを使い、5成分の</a:t>
            </a:r>
            <a:r>
              <a:rPr lang="ja-JP" altLang="en-US" dirty="0"/>
              <a:t>ガンマ線</a:t>
            </a:r>
            <a:r>
              <a:rPr dirty="0" err="1"/>
              <a:t>放射を取り除いた後に</a:t>
            </a:r>
            <a:endParaRPr dirty="0"/>
          </a:p>
          <a:p>
            <a:r>
              <a:rPr dirty="0" err="1"/>
              <a:t>NFWというダークマターの理論的な分布形でフィットした</a:t>
            </a:r>
            <a:r>
              <a:rPr dirty="0"/>
              <a:t>。</a:t>
            </a:r>
          </a:p>
          <a:p>
            <a:r>
              <a:rPr dirty="0"/>
              <a:t>すると20.76 GeVのビンで13〜19σという非常に有意な過剰を発見した。</a:t>
            </a:r>
          </a:p>
          <a:p>
            <a:r>
              <a:rPr dirty="0"/>
              <a:t>なぜ20 GeVかというと、DM質量が0.5〜0.8 </a:t>
            </a:r>
            <a:r>
              <a:rPr dirty="0" err="1"/>
              <a:t>TeVのときbb̄チャンネルの</a:t>
            </a:r>
            <a:endParaRPr dirty="0"/>
          </a:p>
          <a:p>
            <a:r>
              <a:rPr dirty="0"/>
              <a:t>γ線スペクトルのピークが20 </a:t>
            </a:r>
            <a:r>
              <a:rPr dirty="0" err="1"/>
              <a:t>GeV付近に来るから</a:t>
            </a:r>
            <a:r>
              <a:rPr lang="ja-JP" altLang="en-US" dirty="0"/>
              <a:t>です</a:t>
            </a:r>
            <a:r>
              <a:rPr dirty="0"/>
              <a:t>。</a:t>
            </a:r>
          </a:p>
          <a:p>
            <a:r>
              <a:rPr dirty="0" err="1"/>
              <a:t>この質量</a:t>
            </a:r>
            <a:r>
              <a:rPr lang="ja-JP" altLang="en-US" dirty="0"/>
              <a:t>については</a:t>
            </a:r>
            <a:r>
              <a:rPr dirty="0" err="1"/>
              <a:t>Totaniさんがデータと理論を比較して特定したもの</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a:t>本研究の目標は2つ。</a:t>
            </a:r>
          </a:p>
          <a:p>
            <a:r>
              <a:rPr dirty="0" err="1"/>
              <a:t>まずTotaniさんの手法を自分で実装して再現すること</a:t>
            </a:r>
            <a:r>
              <a:rPr dirty="0"/>
              <a:t>。</a:t>
            </a:r>
          </a:p>
          <a:p>
            <a:r>
              <a:rPr dirty="0"/>
              <a:t>FITSファイルのダウンロードから5成分差し引き、NFWフィットまで全部自作した。</a:t>
            </a:r>
          </a:p>
          <a:p>
            <a:r>
              <a:rPr dirty="0"/>
              <a:t>2つ目は、Totaniさんが対象にしなかった矮小銀河5天体への展開。</a:t>
            </a:r>
          </a:p>
          <a:p>
            <a:r>
              <a:rPr dirty="0"/>
              <a:t>複数の独立した天体で同じ20 </a:t>
            </a:r>
            <a:r>
              <a:rPr dirty="0" err="1"/>
              <a:t>GeVの過剰が見えれば、DM起源の証拠がより強固になる</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a:t>Fermi-LATは2008年打ち上げのNASAのガンマ線観測衛星で、Totaniさんと同じデータを使用。</a:t>
            </a:r>
          </a:p>
          <a:p>
            <a:r>
              <a:rPr dirty="0"/>
              <a:t>780週（15年）分のデータを</a:t>
            </a:r>
            <a:r>
              <a:rPr lang="ja-JP" altLang="en-US" dirty="0"/>
              <a:t>使用</a:t>
            </a:r>
            <a:r>
              <a:rPr dirty="0"/>
              <a:t>した。合計約3950万イベ</a:t>
            </a:r>
            <a:r>
              <a:rPr lang="ja-JP" altLang="en-US" dirty="0"/>
              <a:t>ント</a:t>
            </a:r>
            <a:r>
              <a:rPr dirty="0"/>
              <a:t>。</a:t>
            </a:r>
          </a:p>
          <a:p>
            <a:r>
              <a:rPr dirty="0" err="1"/>
              <a:t>そこから銀河中心付近のROI</a:t>
            </a:r>
            <a:r>
              <a:rPr dirty="0"/>
              <a:t>（|l|≤60°、|b|≥10°）に絞ったのが5</a:t>
            </a:r>
            <a:r>
              <a:rPr lang="en-US" altLang="ja-JP" dirty="0"/>
              <a:t>45</a:t>
            </a:r>
            <a:r>
              <a:rPr dirty="0"/>
              <a:t>万イベント。</a:t>
            </a:r>
          </a:p>
          <a:p>
            <a:r>
              <a:rPr dirty="0" err="1"/>
              <a:t>銀河面</a:t>
            </a:r>
            <a:r>
              <a:rPr dirty="0"/>
              <a:t>（|b|&lt;10°）</a:t>
            </a:r>
            <a:r>
              <a:rPr dirty="0" err="1"/>
              <a:t>を外しているのは、星間ガスが多くDM信号と見分けられないため</a:t>
            </a:r>
            <a:r>
              <a:rPr dirty="0"/>
              <a:t>。</a:t>
            </a:r>
          </a:p>
          <a:p>
            <a:r>
              <a:rPr dirty="0"/>
              <a:t>右の図がBin6（20.76 </a:t>
            </a:r>
            <a:r>
              <a:rPr dirty="0" err="1"/>
              <a:t>GeV）の生マップ。中央の白い帯が除外した銀河面</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err="1"/>
              <a:t>まず最初に等方背景を引きます</a:t>
            </a:r>
            <a:r>
              <a:rPr dirty="0"/>
              <a:t>。</a:t>
            </a:r>
          </a:p>
          <a:p>
            <a:r>
              <a:rPr dirty="0" err="1"/>
              <a:t>全天球で一様なバックグラウンドで、高銀緯</a:t>
            </a:r>
            <a:r>
              <a:rPr dirty="0"/>
              <a:t>（|b|&gt;50°）</a:t>
            </a:r>
            <a:r>
              <a:rPr dirty="0" err="1"/>
              <a:t>の平均で推定します</a:t>
            </a:r>
            <a:r>
              <a:rPr dirty="0"/>
              <a:t>。</a:t>
            </a:r>
          </a:p>
          <a:p>
            <a:r>
              <a:rPr dirty="0" err="1"/>
              <a:t>これはTotaniさんと全く同じ手法を使っています</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err="1"/>
              <a:t>次に銀河面拡散放射を引きます</a:t>
            </a:r>
            <a:r>
              <a:rPr dirty="0"/>
              <a:t>。</a:t>
            </a:r>
          </a:p>
          <a:p>
            <a:r>
              <a:rPr dirty="0"/>
              <a:t>Totaniさんと同じgll_iem_v07.fitsを使用し、Poisson尤度最大化でフィットしました。</a:t>
            </a:r>
          </a:p>
          <a:p>
            <a:r>
              <a:rPr dirty="0" err="1"/>
              <a:t>Totaniさんが使うMCMCは未実装ですが、Poisson最適化で近似しています</a:t>
            </a:r>
            <a:r>
              <a:rPr dirty="0"/>
              <a:t>。</a:t>
            </a:r>
            <a:endParaRPr lang="en-US" dirty="0"/>
          </a:p>
          <a:p>
            <a:endParaRPr lang="en-US" dirty="0"/>
          </a:p>
          <a:p>
            <a:r>
              <a:rPr lang="en-US" altLang="ja-JP" sz="1200" b="1" i="0" kern="1200" dirty="0" err="1">
                <a:solidFill>
                  <a:schemeClr val="tx1"/>
                </a:solidFill>
                <a:effectLst/>
                <a:latin typeface="+mn-lt"/>
                <a:ea typeface="+mn-ea"/>
                <a:cs typeface="+mn-cs"/>
              </a:rPr>
              <a:t>gll_iem</a:t>
            </a:r>
            <a:r>
              <a:rPr lang="en-US" altLang="ja-JP" sz="1200" b="1" i="0" kern="1200" dirty="0">
                <a:solidFill>
                  <a:schemeClr val="tx1"/>
                </a:solidFill>
                <a:effectLst/>
                <a:latin typeface="+mn-lt"/>
                <a:ea typeface="+mn-ea"/>
                <a:cs typeface="+mn-cs"/>
              </a:rPr>
              <a:t> </a:t>
            </a:r>
            <a:r>
              <a:rPr lang="ja-JP" altLang="en-US" sz="1200" b="1" i="0" kern="1200" dirty="0">
                <a:solidFill>
                  <a:schemeClr val="tx1"/>
                </a:solidFill>
                <a:effectLst/>
                <a:latin typeface="+mn-lt"/>
                <a:ea typeface="+mn-ea"/>
                <a:cs typeface="+mn-cs"/>
              </a:rPr>
              <a:t>って何か</a:t>
            </a:r>
          </a:p>
          <a:p>
            <a:r>
              <a:rPr lang="en-US" altLang="ja-JP" sz="1200" b="1" i="0" kern="1200" dirty="0">
                <a:solidFill>
                  <a:schemeClr val="tx1"/>
                </a:solidFill>
                <a:effectLst/>
                <a:latin typeface="+mn-lt"/>
                <a:ea typeface="+mn-ea"/>
                <a:cs typeface="+mn-cs"/>
              </a:rPr>
              <a:t>NASA</a:t>
            </a:r>
            <a:r>
              <a:rPr lang="ja-JP" altLang="en-US" sz="1200" b="1" i="0" kern="1200" dirty="0">
                <a:solidFill>
                  <a:schemeClr val="tx1"/>
                </a:solidFill>
                <a:effectLst/>
                <a:latin typeface="+mn-lt"/>
                <a:ea typeface="+mn-ea"/>
                <a:cs typeface="+mn-cs"/>
              </a:rPr>
              <a:t>が作った「銀河の普通のガンマ線マップ」のファイル名。</a:t>
            </a:r>
            <a:endParaRPr lang="ja-JP" altLang="en-US" sz="1200" b="0" i="0" kern="1200" dirty="0">
              <a:solidFill>
                <a:schemeClr val="tx1"/>
              </a:solidFill>
              <a:effectLst/>
              <a:latin typeface="+mn-lt"/>
              <a:ea typeface="+mn-ea"/>
              <a:cs typeface="+mn-cs"/>
            </a:endParaRPr>
          </a:p>
          <a:p>
            <a:r>
              <a:rPr lang="ja-JP" altLang="en-US" sz="1200" b="0" i="0" kern="1200" dirty="0">
                <a:solidFill>
                  <a:schemeClr val="tx1"/>
                </a:solidFill>
                <a:effectLst/>
                <a:latin typeface="+mn-lt"/>
                <a:ea typeface="+mn-ea"/>
                <a:cs typeface="+mn-cs"/>
              </a:rPr>
              <a:t>銀河の中では宇宙線（高速の粒子）が星間ガスにぶつかってガンマ線が出る。これは</a:t>
            </a:r>
            <a:r>
              <a:rPr lang="en-US" altLang="ja-JP" sz="1200" b="0" i="0" kern="1200" dirty="0">
                <a:solidFill>
                  <a:schemeClr val="tx1"/>
                </a:solidFill>
                <a:effectLst/>
                <a:latin typeface="+mn-lt"/>
                <a:ea typeface="+mn-ea"/>
                <a:cs typeface="+mn-cs"/>
              </a:rPr>
              <a:t>DM</a:t>
            </a:r>
            <a:r>
              <a:rPr lang="ja-JP" altLang="en-US" sz="1200" b="0" i="0" kern="1200" dirty="0">
                <a:solidFill>
                  <a:schemeClr val="tx1"/>
                </a:solidFill>
                <a:effectLst/>
                <a:latin typeface="+mn-lt"/>
                <a:ea typeface="+mn-ea"/>
                <a:cs typeface="+mn-cs"/>
              </a:rPr>
              <a:t>と関係ない「邪魔な光」。</a:t>
            </a:r>
            <a:r>
              <a:rPr lang="en-US" altLang="ja-JP" sz="1200" b="0" i="0" kern="1200" dirty="0">
                <a:solidFill>
                  <a:schemeClr val="tx1"/>
                </a:solidFill>
                <a:effectLst/>
                <a:latin typeface="+mn-lt"/>
                <a:ea typeface="+mn-ea"/>
                <a:cs typeface="+mn-cs"/>
              </a:rPr>
              <a:t>NASA</a:t>
            </a:r>
            <a:r>
              <a:rPr lang="ja-JP" altLang="en-US" sz="1200" b="0" i="0" kern="1200" dirty="0">
                <a:solidFill>
                  <a:schemeClr val="tx1"/>
                </a:solidFill>
                <a:effectLst/>
                <a:latin typeface="+mn-lt"/>
                <a:ea typeface="+mn-ea"/>
                <a:cs typeface="+mn-cs"/>
              </a:rPr>
              <a:t>が何年もかけて「どの方向から、どのエネルギーで、どのくらい出るか」を計算したマップをファイルにしてくれている。それが </a:t>
            </a:r>
            <a:r>
              <a:rPr lang="en-US" altLang="ja-JP" sz="1200" b="0" i="0" kern="1200" dirty="0">
                <a:solidFill>
                  <a:schemeClr val="tx1"/>
                </a:solidFill>
                <a:effectLst/>
                <a:latin typeface="+mn-lt"/>
                <a:ea typeface="+mn-ea"/>
                <a:cs typeface="+mn-cs"/>
              </a:rPr>
              <a:t>gll_iem_v07.fits</a:t>
            </a:r>
            <a:r>
              <a:rPr lang="ja-JP" altLang="en-US" sz="1200" b="0" i="0" kern="1200" dirty="0">
                <a:solidFill>
                  <a:schemeClr val="tx1"/>
                </a:solidFill>
                <a:effectLst/>
                <a:latin typeface="+mn-lt"/>
                <a:ea typeface="+mn-ea"/>
                <a:cs typeface="+mn-cs"/>
              </a:rPr>
              <a:t>。</a:t>
            </a:r>
          </a:p>
          <a:p>
            <a:r>
              <a:rPr lang="ja-JP" altLang="en-US" sz="1200" b="1" i="0" kern="1200" dirty="0">
                <a:solidFill>
                  <a:schemeClr val="tx1"/>
                </a:solidFill>
                <a:effectLst/>
                <a:latin typeface="+mn-lt"/>
                <a:ea typeface="+mn-ea"/>
                <a:cs typeface="+mn-cs"/>
              </a:rPr>
              <a:t>発表での言い方：</a:t>
            </a:r>
            <a:r>
              <a:rPr lang="ja-JP" altLang="en-US" sz="1200" b="0" i="0" kern="1200" dirty="0">
                <a:solidFill>
                  <a:schemeClr val="tx1"/>
                </a:solidFill>
                <a:effectLst/>
                <a:latin typeface="+mn-lt"/>
                <a:ea typeface="+mn-ea"/>
                <a:cs typeface="+mn-cs"/>
              </a:rPr>
              <a:t> 「</a:t>
            </a:r>
            <a:r>
              <a:rPr lang="en-US" altLang="ja-JP" sz="1200" b="0" i="0" kern="1200" dirty="0">
                <a:solidFill>
                  <a:schemeClr val="tx1"/>
                </a:solidFill>
                <a:effectLst/>
                <a:latin typeface="+mn-lt"/>
                <a:ea typeface="+mn-ea"/>
                <a:cs typeface="+mn-cs"/>
              </a:rPr>
              <a:t>NASA</a:t>
            </a:r>
            <a:r>
              <a:rPr lang="ja-JP" altLang="en-US" sz="1200" b="0" i="0" kern="1200" dirty="0">
                <a:solidFill>
                  <a:schemeClr val="tx1"/>
                </a:solidFill>
                <a:effectLst/>
                <a:latin typeface="+mn-lt"/>
                <a:ea typeface="+mn-ea"/>
                <a:cs typeface="+mn-cs"/>
              </a:rPr>
              <a:t>が公式に提供している銀河拡散放射のモデルマップを使いました」</a:t>
            </a:r>
          </a:p>
          <a:p>
            <a:endParaRPr lang="en-US" dirty="0"/>
          </a:p>
          <a:p>
            <a:r>
              <a:rPr lang="en-US" altLang="ja-JP" sz="1200" b="1" i="0" kern="1200" dirty="0">
                <a:solidFill>
                  <a:schemeClr val="tx1"/>
                </a:solidFill>
                <a:effectLst/>
                <a:latin typeface="+mn-lt"/>
                <a:ea typeface="+mn-ea"/>
                <a:cs typeface="+mn-cs"/>
              </a:rPr>
              <a:t>Poisson</a:t>
            </a:r>
            <a:r>
              <a:rPr lang="ja-JP" altLang="en-US" sz="1200" b="1" i="0" kern="1200" dirty="0">
                <a:solidFill>
                  <a:schemeClr val="tx1"/>
                </a:solidFill>
                <a:effectLst/>
                <a:latin typeface="+mn-lt"/>
                <a:ea typeface="+mn-ea"/>
                <a:cs typeface="+mn-cs"/>
              </a:rPr>
              <a:t>尤度最大化って何か</a:t>
            </a:r>
          </a:p>
          <a:p>
            <a:r>
              <a:rPr lang="ja-JP" altLang="en-US" sz="1200" b="1" i="0" kern="1200" dirty="0">
                <a:solidFill>
                  <a:schemeClr val="tx1"/>
                </a:solidFill>
                <a:effectLst/>
                <a:latin typeface="+mn-lt"/>
                <a:ea typeface="+mn-ea"/>
                <a:cs typeface="+mn-cs"/>
              </a:rPr>
              <a:t>「光子を数えるデータに正しい統計手法を使ってフィットした」ということ。</a:t>
            </a:r>
            <a:endParaRPr lang="ja-JP" altLang="en-US" sz="1200" b="0" i="0" kern="1200" dirty="0">
              <a:solidFill>
                <a:schemeClr val="tx1"/>
              </a:solidFill>
              <a:effectLst/>
              <a:latin typeface="+mn-lt"/>
              <a:ea typeface="+mn-ea"/>
              <a:cs typeface="+mn-cs"/>
            </a:endParaRPr>
          </a:p>
          <a:p>
            <a:r>
              <a:rPr lang="ja-JP" altLang="en-US" sz="1200" b="0" i="0" kern="1200" dirty="0">
                <a:solidFill>
                  <a:schemeClr val="tx1"/>
                </a:solidFill>
                <a:effectLst/>
                <a:latin typeface="+mn-lt"/>
                <a:ea typeface="+mn-ea"/>
                <a:cs typeface="+mn-cs"/>
              </a:rPr>
              <a:t>普通のフィット（最小二乗法）は「誤差が正規分布」を前提にしている。でも光子は</a:t>
            </a:r>
            <a:r>
              <a:rPr lang="en-US" altLang="ja-JP" sz="1200" b="0" i="0" kern="1200" dirty="0">
                <a:solidFill>
                  <a:schemeClr val="tx1"/>
                </a:solidFill>
                <a:effectLst/>
                <a:latin typeface="+mn-lt"/>
                <a:ea typeface="+mn-ea"/>
                <a:cs typeface="+mn-cs"/>
              </a:rPr>
              <a:t>1</a:t>
            </a:r>
            <a:r>
              <a:rPr lang="ja-JP" altLang="en-US" sz="1200" b="0" i="0" kern="1200" dirty="0">
                <a:solidFill>
                  <a:schemeClr val="tx1"/>
                </a:solidFill>
                <a:effectLst/>
                <a:latin typeface="+mn-lt"/>
                <a:ea typeface="+mn-ea"/>
                <a:cs typeface="+mn-cs"/>
              </a:rPr>
              <a:t>個</a:t>
            </a:r>
            <a:r>
              <a:rPr lang="en-US" altLang="ja-JP" sz="1200" b="0" i="0" kern="1200" dirty="0">
                <a:solidFill>
                  <a:schemeClr val="tx1"/>
                </a:solidFill>
                <a:effectLst/>
                <a:latin typeface="+mn-lt"/>
                <a:ea typeface="+mn-ea"/>
                <a:cs typeface="+mn-cs"/>
              </a:rPr>
              <a:t>2</a:t>
            </a:r>
            <a:r>
              <a:rPr lang="ja-JP" altLang="en-US" sz="1200" b="0" i="0" kern="1200" dirty="0">
                <a:solidFill>
                  <a:schemeClr val="tx1"/>
                </a:solidFill>
                <a:effectLst/>
                <a:latin typeface="+mn-lt"/>
                <a:ea typeface="+mn-ea"/>
                <a:cs typeface="+mn-cs"/>
              </a:rPr>
              <a:t>個と整数で数えるから、</a:t>
            </a:r>
            <a:r>
              <a:rPr lang="en-US" altLang="ja-JP" sz="1200" b="0" i="0" kern="1200" dirty="0">
                <a:solidFill>
                  <a:schemeClr val="tx1"/>
                </a:solidFill>
                <a:effectLst/>
                <a:latin typeface="+mn-lt"/>
                <a:ea typeface="+mn-ea"/>
                <a:cs typeface="+mn-cs"/>
              </a:rPr>
              <a:t>Poisson</a:t>
            </a:r>
            <a:r>
              <a:rPr lang="ja-JP" altLang="en-US" sz="1200" b="0" i="0" kern="1200" dirty="0">
                <a:solidFill>
                  <a:schemeClr val="tx1"/>
                </a:solidFill>
                <a:effectLst/>
                <a:latin typeface="+mn-lt"/>
                <a:ea typeface="+mn-ea"/>
                <a:cs typeface="+mn-cs"/>
              </a:rPr>
              <a:t>分布（コンビニに</a:t>
            </a:r>
            <a:r>
              <a:rPr lang="en-US" altLang="ja-JP" sz="1200" b="0" i="0" kern="1200" dirty="0">
                <a:solidFill>
                  <a:schemeClr val="tx1"/>
                </a:solidFill>
                <a:effectLst/>
                <a:latin typeface="+mn-lt"/>
                <a:ea typeface="+mn-ea"/>
                <a:cs typeface="+mn-cs"/>
              </a:rPr>
              <a:t>1</a:t>
            </a:r>
            <a:r>
              <a:rPr lang="ja-JP" altLang="en-US" sz="1200" b="0" i="0" kern="1200" dirty="0">
                <a:solidFill>
                  <a:schemeClr val="tx1"/>
                </a:solidFill>
                <a:effectLst/>
                <a:latin typeface="+mn-lt"/>
                <a:ea typeface="+mn-ea"/>
                <a:cs typeface="+mn-cs"/>
              </a:rPr>
              <a:t>時間に何人来るか、みたいな分布）が正しい。それを使ってフィットした。</a:t>
            </a:r>
          </a:p>
          <a:p>
            <a:r>
              <a:rPr lang="ja-JP" altLang="en-US" sz="1200" b="1" i="0" kern="1200" dirty="0">
                <a:solidFill>
                  <a:schemeClr val="tx1"/>
                </a:solidFill>
                <a:effectLst/>
                <a:latin typeface="+mn-lt"/>
                <a:ea typeface="+mn-ea"/>
                <a:cs typeface="+mn-cs"/>
              </a:rPr>
              <a:t>発表での言い方：</a:t>
            </a:r>
            <a:r>
              <a:rPr lang="ja-JP" altLang="en-US" sz="1200" b="0" i="0" kern="1200" dirty="0">
                <a:solidFill>
                  <a:schemeClr val="tx1"/>
                </a:solidFill>
                <a:effectLst/>
                <a:latin typeface="+mn-lt"/>
                <a:ea typeface="+mn-ea"/>
                <a:cs typeface="+mn-cs"/>
              </a:rPr>
              <a:t> 「光子カウントデータに適切な</a:t>
            </a:r>
            <a:r>
              <a:rPr lang="en-US" altLang="ja-JP" sz="1200" b="0" i="0" kern="1200" dirty="0">
                <a:solidFill>
                  <a:schemeClr val="tx1"/>
                </a:solidFill>
                <a:effectLst/>
                <a:latin typeface="+mn-lt"/>
                <a:ea typeface="+mn-ea"/>
                <a:cs typeface="+mn-cs"/>
              </a:rPr>
              <a:t>Poisson</a:t>
            </a:r>
            <a:r>
              <a:rPr lang="ja-JP" altLang="en-US" sz="1200" b="0" i="0" kern="1200" dirty="0">
                <a:solidFill>
                  <a:schemeClr val="tx1"/>
                </a:solidFill>
                <a:effectLst/>
                <a:latin typeface="+mn-lt"/>
                <a:ea typeface="+mn-ea"/>
                <a:cs typeface="+mn-cs"/>
              </a:rPr>
              <a:t>統計でフィットしました」</a:t>
            </a: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err="1"/>
              <a:t>次に既知の明るいγ線天体を除去します</a:t>
            </a:r>
            <a:r>
              <a:rPr dirty="0"/>
              <a:t>。</a:t>
            </a:r>
          </a:p>
          <a:p>
            <a:r>
              <a:rPr dirty="0"/>
              <a:t>4FGL-DR2カタログ</a:t>
            </a:r>
            <a:r>
              <a:rPr lang="ja-JP" altLang="en-US" dirty="0"/>
              <a:t>に掲載されている</a:t>
            </a:r>
            <a:r>
              <a:rPr dirty="0"/>
              <a:t>1274天体の座標をしました。</a:t>
            </a:r>
          </a:p>
          <a:p>
            <a:r>
              <a:rPr dirty="0" err="1"/>
              <a:t>Totaniさんはより精密なPSF畳み込みを使っていますが</a:t>
            </a:r>
            <a:r>
              <a:rPr dirty="0"/>
              <a:t>、</a:t>
            </a:r>
          </a:p>
          <a:p>
            <a:r>
              <a:rPr dirty="0"/>
              <a:t>20 GeVではPSFが0.2°と1°ピクセルより小さいため、</a:t>
            </a:r>
          </a:p>
          <a:p>
            <a:r>
              <a:rPr dirty="0" err="1"/>
              <a:t>ほぼ同等の精度で除去できています</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err="1"/>
              <a:t>フェルミバブルは銀河中心の上下に広がる巨大なγ線構造です</a:t>
            </a:r>
            <a:r>
              <a:rPr dirty="0"/>
              <a:t>。</a:t>
            </a:r>
          </a:p>
          <a:p>
            <a:r>
              <a:rPr dirty="0"/>
              <a:t>Totaniさんと同じく、4.3 </a:t>
            </a:r>
            <a:r>
              <a:rPr dirty="0" err="1"/>
              <a:t>GeVの残差マップをテンプレートとして使い</a:t>
            </a:r>
            <a:r>
              <a:rPr dirty="0"/>
              <a:t>、</a:t>
            </a:r>
          </a:p>
          <a:p>
            <a:r>
              <a:rPr dirty="0" err="1"/>
              <a:t>各エネルギービンでその振幅をフィットして差し引きました</a:t>
            </a:r>
            <a:r>
              <a:rPr dirty="0"/>
              <a:t>。</a:t>
            </a:r>
          </a:p>
          <a:p>
            <a:r>
              <a:rPr dirty="0" err="1"/>
              <a:t>これはTotaniさんの手法と同じアプローチです</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err="1"/>
              <a:t>最後にループIを引きます。北天に見える大きな弧構造です</a:t>
            </a:r>
            <a:r>
              <a:rPr dirty="0"/>
              <a:t>。</a:t>
            </a:r>
          </a:p>
          <a:p>
            <a:r>
              <a:rPr dirty="0"/>
              <a:t>Totaniさんと同じく内側と外側の2成分に分けて独立にフィットしました。</a:t>
            </a:r>
          </a:p>
          <a:p>
            <a:r>
              <a:rPr dirty="0" err="1"/>
              <a:t>差し引いた後の残差がダークマターハロー成分の候補です</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err="1"/>
              <a:t>残差マップをNFWテンプレートで最小二乗フィットしました</a:t>
            </a:r>
            <a:r>
              <a:rPr dirty="0"/>
              <a:t>。</a:t>
            </a:r>
          </a:p>
          <a:p>
            <a:r>
              <a:rPr dirty="0" err="1"/>
              <a:t>NFWプロファイルは銀河中心に向かって集中する球対称の理論的DM分布です</a:t>
            </a:r>
            <a:r>
              <a:rPr dirty="0"/>
              <a:t>。</a:t>
            </a:r>
          </a:p>
          <a:p>
            <a:endParaRPr dirty="0"/>
          </a:p>
          <a:p>
            <a:r>
              <a:rPr dirty="0"/>
              <a:t>31σについて: </a:t>
            </a:r>
            <a:r>
              <a:rPr dirty="0" err="1"/>
              <a:t>これは統計的不確かさのみで、前景成分との縮退（系統誤差）を含んでいません</a:t>
            </a:r>
            <a:r>
              <a:rPr dirty="0"/>
              <a:t>。</a:t>
            </a:r>
          </a:p>
          <a:p>
            <a:r>
              <a:rPr dirty="0"/>
              <a:t>Totaniさんは全成分を同時にMCMCでフィットするため、縮退効果が正しく扱われ13-19σになります。</a:t>
            </a:r>
          </a:p>
          <a:p>
            <a:r>
              <a:rPr dirty="0"/>
              <a:t>「31σが大きすぎる」という指摘は正しく、逐次差し引きの限界による過大評価です。</a:t>
            </a:r>
          </a:p>
          <a:p>
            <a:endParaRPr dirty="0"/>
          </a:p>
          <a:p>
            <a:r>
              <a:rPr dirty="0" err="1"/>
              <a:t>低エネルギ</a:t>
            </a:r>
            <a:r>
              <a:rPr dirty="0"/>
              <a:t>ー（Bin1-3）でAが大きい理由:</a:t>
            </a:r>
          </a:p>
          <a:p>
            <a:r>
              <a:rPr dirty="0" err="1"/>
              <a:t>低エネルギーでは光子数が多く、GALPROPフィットの残差もNFW形状に似た成分が残りやすい</a:t>
            </a:r>
            <a:r>
              <a:rPr dirty="0"/>
              <a:t>。</a:t>
            </a:r>
          </a:p>
          <a:p>
            <a:r>
              <a:rPr dirty="0" err="1"/>
              <a:t>Totaniの同時MCMCではこの縮退を扱えるため、低エネルギービンのAは小さくなる</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a:t>なぜ20 GeVかというと、WIMPsの質量が0.5-0.8 TeVのとき、bb̄チャンネルで対消滅した場合のγ線スペクトルのピークがちょうど20 </a:t>
            </a:r>
            <a:r>
              <a:rPr dirty="0" err="1"/>
              <a:t>GeV付近に来るからです</a:t>
            </a:r>
            <a:r>
              <a:rPr dirty="0"/>
              <a:t>。</a:t>
            </a:r>
          </a:p>
          <a:p>
            <a:r>
              <a:rPr dirty="0" err="1"/>
              <a:t>これはCirelli</a:t>
            </a:r>
            <a:r>
              <a:rPr dirty="0"/>
              <a:t> et al. (2011)</a:t>
            </a:r>
            <a:r>
              <a:rPr dirty="0" err="1"/>
              <a:t>の理論計算から分かっています</a:t>
            </a:r>
            <a:r>
              <a:rPr dirty="0"/>
              <a:t>。</a:t>
            </a:r>
          </a:p>
          <a:p>
            <a:r>
              <a:rPr dirty="0" err="1"/>
              <a:t>他のチャンネル（W+W-やτ+τ</a:t>
            </a:r>
            <a:r>
              <a:rPr dirty="0"/>
              <a:t>-</a:t>
            </a:r>
            <a:r>
              <a:rPr lang="ja-JP" altLang="en-US" dirty="0"/>
              <a:t>　</a:t>
            </a:r>
            <a:r>
              <a:rPr lang="en-US" altLang="ja-JP" dirty="0"/>
              <a:t>W</a:t>
            </a:r>
            <a:r>
              <a:rPr lang="ja-JP" altLang="en-US" dirty="0"/>
              <a:t>ボソンの対（ペア）</a:t>
            </a:r>
          </a:p>
          <a:p>
            <a:r>
              <a:rPr lang="ja-JP" altLang="en-US" dirty="0"/>
              <a:t>や、タウレプトンのペア</a:t>
            </a:r>
            <a:r>
              <a:rPr dirty="0"/>
              <a:t>）</a:t>
            </a:r>
            <a:r>
              <a:rPr dirty="0" err="1"/>
              <a:t>ではピーク位置が合わないため、bb̄チャンネルが最も適しています</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a:t>本解析の4つの系統誤差を説明します。</a:t>
            </a:r>
          </a:p>
          <a:p>
            <a:r>
              <a:rPr dirty="0"/>
              <a:t>最も大きい影響は統計手法の差で、MCMCを使ったTotaniさんが13-19σのところ、こちらは</a:t>
            </a:r>
            <a:r>
              <a:rPr lang="en-US" altLang="ja-JP" dirty="0"/>
              <a:t>31</a:t>
            </a:r>
            <a:r>
              <a:rPr dirty="0"/>
              <a:t>σになっています。</a:t>
            </a:r>
          </a:p>
          <a:p>
            <a:r>
              <a:rPr dirty="0" err="1"/>
              <a:t>この差の理由は前のスライドで説明した通り、GALPROPとNFWの空間縮退をスペクトル拘束なしでは解けないためです</a:t>
            </a:r>
            <a:r>
              <a:rPr dirty="0"/>
              <a:t>。</a:t>
            </a:r>
          </a:p>
          <a:p>
            <a:r>
              <a:rPr dirty="0"/>
              <a:t>他の3つの誤差は中〜小程度の影響と評価しています。</a:t>
            </a:r>
            <a:endParaRPr lang="en-US" dirty="0"/>
          </a:p>
          <a:p>
            <a:endParaRPr lang="en-US" dirty="0"/>
          </a:p>
          <a:p>
            <a:r>
              <a:rPr lang="en-US" altLang="ja-JP" sz="1200" b="0" i="0" kern="1200" dirty="0">
                <a:solidFill>
                  <a:schemeClr val="tx1"/>
                </a:solidFill>
                <a:effectLst/>
                <a:latin typeface="+mn-lt"/>
                <a:ea typeface="+mn-ea"/>
                <a:cs typeface="+mn-cs"/>
              </a:rPr>
              <a:t>Markov Chain Monte Carlo</a:t>
            </a:r>
            <a:r>
              <a:rPr lang="ja-JP" altLang="en-US" sz="1200" b="0" i="0" kern="1200" dirty="0">
                <a:solidFill>
                  <a:schemeClr val="tx1"/>
                </a:solidFill>
                <a:effectLst/>
                <a:latin typeface="+mn-lt"/>
                <a:ea typeface="+mn-ea"/>
                <a:cs typeface="+mn-cs"/>
              </a:rPr>
              <a:t>です。パラメータ空間をランダムサンプリングして事後分布を推定する手法です。」</a:t>
            </a:r>
            <a:r>
              <a:rPr lang="ja-JP" altLang="en-US" sz="1200" b="1" i="0" kern="1200" dirty="0">
                <a:solidFill>
                  <a:schemeClr val="tx1"/>
                </a:solidFill>
                <a:effectLst/>
                <a:latin typeface="+mn-lt"/>
                <a:ea typeface="+mn-ea"/>
                <a:cs typeface="+mn-cs"/>
              </a:rPr>
              <a:t>一言で説明する。</a:t>
            </a:r>
            <a:endParaRPr lang="ja-JP" altLang="en-US" sz="1200" b="0" i="0" kern="1200" dirty="0">
              <a:solidFill>
                <a:schemeClr val="tx1"/>
              </a:solidFill>
              <a:effectLst/>
              <a:latin typeface="+mn-lt"/>
              <a:ea typeface="+mn-ea"/>
              <a:cs typeface="+mn-cs"/>
            </a:endParaRPr>
          </a:p>
          <a:p>
            <a:r>
              <a:rPr lang="ja-JP" altLang="en-US" sz="1200" b="0" i="0" kern="1200" dirty="0">
                <a:solidFill>
                  <a:schemeClr val="tx1"/>
                </a:solidFill>
                <a:effectLst/>
                <a:latin typeface="+mn-lt"/>
                <a:ea typeface="+mn-ea"/>
                <a:cs typeface="+mn-cs"/>
              </a:rPr>
              <a:t>「</a:t>
            </a:r>
            <a:r>
              <a:rPr lang="en-US" altLang="ja-JP" sz="1200" b="0" i="0" kern="1200" dirty="0">
                <a:solidFill>
                  <a:schemeClr val="tx1"/>
                </a:solidFill>
                <a:effectLst/>
                <a:latin typeface="+mn-lt"/>
                <a:ea typeface="+mn-ea"/>
                <a:cs typeface="+mn-cs"/>
              </a:rPr>
              <a:t>MCMC</a:t>
            </a:r>
            <a:r>
              <a:rPr lang="ja-JP" altLang="en-US" sz="1200" b="0" i="0" kern="1200" dirty="0">
                <a:solidFill>
                  <a:schemeClr val="tx1"/>
                </a:solidFill>
                <a:effectLst/>
                <a:latin typeface="+mn-lt"/>
                <a:ea typeface="+mn-ea"/>
                <a:cs typeface="+mn-cs"/>
              </a:rPr>
              <a:t>とは、全成分を同時に最適化するコンピューター計算の手法です。」</a:t>
            </a:r>
          </a:p>
          <a:p>
            <a:endParaRPr lang="en-US" dirty="0"/>
          </a:p>
          <a:p>
            <a:r>
              <a:rPr lang="ja-JP" altLang="en-US" sz="1200" b="0" i="0" kern="1200" dirty="0">
                <a:solidFill>
                  <a:schemeClr val="tx1"/>
                </a:solidFill>
                <a:effectLst/>
                <a:latin typeface="+mn-lt"/>
                <a:ea typeface="+mn-ea"/>
                <a:cs typeface="+mn-cs"/>
              </a:rPr>
              <a:t>「</a:t>
            </a:r>
            <a:r>
              <a:rPr lang="en-US" altLang="ja-JP" sz="1200" b="0" i="0" kern="1200" dirty="0">
                <a:solidFill>
                  <a:schemeClr val="tx1"/>
                </a:solidFill>
                <a:effectLst/>
                <a:latin typeface="+mn-lt"/>
                <a:ea typeface="+mn-ea"/>
                <a:cs typeface="+mn-cs"/>
              </a:rPr>
              <a:t>J-factor</a:t>
            </a:r>
            <a:r>
              <a:rPr lang="ja-JP" altLang="en-US" sz="1200" b="0" i="0" kern="1200" dirty="0">
                <a:solidFill>
                  <a:schemeClr val="tx1"/>
                </a:solidFill>
                <a:effectLst/>
                <a:latin typeface="+mn-lt"/>
                <a:ea typeface="+mn-ea"/>
                <a:cs typeface="+mn-cs"/>
              </a:rPr>
              <a:t>とは、ある方向にどれだけダークマターが集中しているかを表す数値です。</a:t>
            </a:r>
            <a:r>
              <a:rPr lang="en-US" altLang="ja-JP" sz="1200" b="0" i="0" kern="1200" dirty="0">
                <a:solidFill>
                  <a:schemeClr val="tx1"/>
                </a:solidFill>
                <a:effectLst/>
                <a:latin typeface="+mn-lt"/>
                <a:ea typeface="+mn-ea"/>
                <a:cs typeface="+mn-cs"/>
              </a:rPr>
              <a:t>J-factor</a:t>
            </a:r>
            <a:r>
              <a:rPr lang="ja-JP" altLang="en-US" sz="1200" b="0" i="0" kern="1200" dirty="0">
                <a:solidFill>
                  <a:schemeClr val="tx1"/>
                </a:solidFill>
                <a:effectLst/>
                <a:latin typeface="+mn-lt"/>
                <a:ea typeface="+mn-ea"/>
                <a:cs typeface="+mn-cs"/>
              </a:rPr>
              <a:t>が大きい天体ほど</a:t>
            </a:r>
            <a:r>
              <a:rPr lang="en-US" altLang="ja-JP" sz="1200" b="0" i="0" kern="1200" dirty="0">
                <a:solidFill>
                  <a:schemeClr val="tx1"/>
                </a:solidFill>
                <a:effectLst/>
                <a:latin typeface="+mn-lt"/>
                <a:ea typeface="+mn-ea"/>
                <a:cs typeface="+mn-cs"/>
              </a:rPr>
              <a:t>DM</a:t>
            </a:r>
            <a:r>
              <a:rPr lang="ja-JP" altLang="en-US" sz="1200" b="0" i="0" kern="1200" dirty="0">
                <a:solidFill>
                  <a:schemeClr val="tx1"/>
                </a:solidFill>
                <a:effectLst/>
                <a:latin typeface="+mn-lt"/>
                <a:ea typeface="+mn-ea"/>
                <a:cs typeface="+mn-cs"/>
              </a:rPr>
              <a:t>信号が強く出ます。」</a:t>
            </a:r>
            <a:endParaRPr lang="en-US" altLang="ja-JP"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altLang="ja-JP" sz="1200" b="1" i="0" kern="1200" dirty="0" err="1">
                <a:solidFill>
                  <a:schemeClr val="tx1"/>
                </a:solidFill>
                <a:effectLst/>
                <a:latin typeface="+mn-lt"/>
                <a:ea typeface="+mn-ea"/>
                <a:cs typeface="+mn-cs"/>
              </a:rPr>
              <a:t>J_norm</a:t>
            </a:r>
            <a:r>
              <a:rPr lang="ja-JP" altLang="en-US" sz="1200" b="1" i="0" kern="1200" dirty="0">
                <a:solidFill>
                  <a:schemeClr val="tx1"/>
                </a:solidFill>
                <a:effectLst/>
                <a:latin typeface="+mn-lt"/>
                <a:ea typeface="+mn-ea"/>
                <a:cs typeface="+mn-cs"/>
              </a:rPr>
              <a:t>は内部計算の話で、発表では言わなくていい。</a:t>
            </a:r>
            <a:endParaRPr lang="ja-JP" altLang="en-US" sz="1200" b="0" i="0" kern="1200" dirty="0">
              <a:solidFill>
                <a:schemeClr val="tx1"/>
              </a:solidFill>
              <a:effectLst/>
              <a:latin typeface="+mn-lt"/>
              <a:ea typeface="+mn-ea"/>
              <a:cs typeface="+mn-cs"/>
            </a:endParaRPr>
          </a:p>
          <a:p>
            <a:r>
              <a:rPr lang="ja-JP" altLang="en-US" sz="1200" b="0" i="0" kern="1200" dirty="0">
                <a:solidFill>
                  <a:schemeClr val="tx1"/>
                </a:solidFill>
                <a:effectLst/>
                <a:latin typeface="+mn-lt"/>
                <a:ea typeface="+mn-ea"/>
                <a:cs typeface="+mn-cs"/>
              </a:rPr>
              <a:t>正体：</a:t>
            </a:r>
            <a:r>
              <a:rPr lang="en-US" altLang="ja-JP" sz="1200" b="0" i="0" kern="1200" dirty="0">
                <a:solidFill>
                  <a:schemeClr val="tx1"/>
                </a:solidFill>
                <a:effectLst/>
                <a:latin typeface="+mn-lt"/>
                <a:ea typeface="+mn-ea"/>
                <a:cs typeface="+mn-cs"/>
              </a:rPr>
              <a:t>NFW J-factor</a:t>
            </a:r>
            <a:r>
              <a:rPr lang="ja-JP" altLang="en-US" sz="1200" b="0" i="0" kern="1200" dirty="0">
                <a:solidFill>
                  <a:schemeClr val="tx1"/>
                </a:solidFill>
                <a:effectLst/>
                <a:latin typeface="+mn-lt"/>
                <a:ea typeface="+mn-ea"/>
                <a:cs typeface="+mn-cs"/>
              </a:rPr>
              <a:t>マップを最大値で割って</a:t>
            </a:r>
            <a:r>
              <a:rPr lang="en-US" altLang="ja-JP" sz="1200" b="0" i="0" kern="1200" dirty="0">
                <a:solidFill>
                  <a:schemeClr val="tx1"/>
                </a:solidFill>
                <a:effectLst/>
                <a:latin typeface="+mn-lt"/>
                <a:ea typeface="+mn-ea"/>
                <a:cs typeface="+mn-cs"/>
              </a:rPr>
              <a:t>0〜1</a:t>
            </a:r>
            <a:r>
              <a:rPr lang="ja-JP" altLang="en-US" sz="1200" b="0" i="0" kern="1200" dirty="0">
                <a:solidFill>
                  <a:schemeClr val="tx1"/>
                </a:solidFill>
                <a:effectLst/>
                <a:latin typeface="+mn-lt"/>
                <a:ea typeface="+mn-ea"/>
                <a:cs typeface="+mn-cs"/>
              </a:rPr>
              <a:t>に正規化したもの。フィッティングの数値を扱いやすくするための処理。</a:t>
            </a:r>
          </a:p>
          <a:p>
            <a:r>
              <a:rPr lang="ja-JP" altLang="en-US" sz="1200" b="0" i="0" kern="1200" dirty="0">
                <a:solidFill>
                  <a:schemeClr val="tx1"/>
                </a:solidFill>
                <a:effectLst/>
                <a:latin typeface="+mn-lt"/>
                <a:ea typeface="+mn-ea"/>
                <a:cs typeface="+mn-cs"/>
              </a:rPr>
              <a:t>スライドで見えていても、口頭では「</a:t>
            </a:r>
            <a:r>
              <a:rPr lang="en-US" altLang="ja-JP" sz="1200" b="0" i="0" kern="1200" dirty="0">
                <a:solidFill>
                  <a:schemeClr val="tx1"/>
                </a:solidFill>
                <a:effectLst/>
                <a:latin typeface="+mn-lt"/>
                <a:ea typeface="+mn-ea"/>
                <a:cs typeface="+mn-cs"/>
              </a:rPr>
              <a:t>NFW</a:t>
            </a:r>
            <a:r>
              <a:rPr lang="ja-JP" altLang="en-US" sz="1200" b="0" i="0" kern="1200" dirty="0">
                <a:solidFill>
                  <a:schemeClr val="tx1"/>
                </a:solidFill>
                <a:effectLst/>
                <a:latin typeface="+mn-lt"/>
                <a:ea typeface="+mn-ea"/>
                <a:cs typeface="+mn-cs"/>
              </a:rPr>
              <a:t>テンプレート」と呼べばいい。「</a:t>
            </a:r>
            <a:r>
              <a:rPr lang="en-US" altLang="ja-JP" sz="1200" b="0" i="0" kern="1200" dirty="0" err="1">
                <a:solidFill>
                  <a:schemeClr val="tx1"/>
                </a:solidFill>
                <a:effectLst/>
                <a:latin typeface="+mn-lt"/>
                <a:ea typeface="+mn-ea"/>
                <a:cs typeface="+mn-cs"/>
              </a:rPr>
              <a:t>J_norm</a:t>
            </a:r>
            <a:r>
              <a:rPr lang="ja-JP" altLang="en-US" sz="1200" b="0" i="0" kern="1200" dirty="0">
                <a:solidFill>
                  <a:schemeClr val="tx1"/>
                </a:solidFill>
                <a:effectLst/>
                <a:latin typeface="+mn-lt"/>
                <a:ea typeface="+mn-ea"/>
                <a:cs typeface="+mn-cs"/>
              </a:rPr>
              <a:t>」という単語は発表中に使わなくていい。</a:t>
            </a:r>
          </a:p>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【言うこと】</a:t>
            </a:r>
          </a:p>
          <a:p>
            <a:r>
              <a:rPr dirty="0"/>
              <a:t>矮小銀河5天体に同じ20 </a:t>
            </a:r>
            <a:r>
              <a:rPr dirty="0" err="1"/>
              <a:t>GeVビンで信号があるか確認しました</a:t>
            </a:r>
            <a:r>
              <a:rPr dirty="0"/>
              <a:t>。</a:t>
            </a:r>
          </a:p>
          <a:p>
            <a:r>
              <a:rPr dirty="0" err="1"/>
              <a:t>オン</a:t>
            </a:r>
            <a:r>
              <a:rPr dirty="0"/>
              <a:t>/オフ法で天体周辺2°内と2-5°のカウントを比較します。</a:t>
            </a:r>
          </a:p>
          <a:p>
            <a:r>
              <a:rPr dirty="0" err="1"/>
              <a:t>結果はComa</a:t>
            </a:r>
            <a:r>
              <a:rPr dirty="0"/>
              <a:t> Berenicesだけ4.54σの過剰があり、他は統計的に有意ではありませんでした。</a:t>
            </a:r>
          </a:p>
          <a:p>
            <a:endParaRPr dirty="0"/>
          </a:p>
          <a:p>
            <a:r>
              <a:rPr dirty="0" err="1"/>
              <a:t>近似について正直に言うと</a:t>
            </a:r>
            <a:r>
              <a:rPr dirty="0"/>
              <a:t>:</a:t>
            </a:r>
          </a:p>
          <a:p>
            <a:r>
              <a:rPr dirty="0"/>
              <a:t>Bin6だけを確認しているので全スペクトル解析ではありません。</a:t>
            </a:r>
          </a:p>
          <a:p>
            <a:r>
              <a:rPr dirty="0" err="1"/>
              <a:t>また露出マップや各天体のJ-factorを考慮していません</a:t>
            </a:r>
            <a:r>
              <a:rPr dirty="0"/>
              <a:t>。</a:t>
            </a:r>
          </a:p>
          <a:p>
            <a:r>
              <a:rPr dirty="0" err="1"/>
              <a:t>これらは今後の改善点です</a:t>
            </a:r>
            <a:r>
              <a:rPr dirty="0"/>
              <a:t>。</a:t>
            </a:r>
          </a:p>
          <a:p>
            <a:endParaRPr dirty="0"/>
          </a:p>
          <a:p>
            <a:r>
              <a:rPr dirty="0" err="1"/>
              <a:t>それでもComa</a:t>
            </a:r>
            <a:r>
              <a:rPr dirty="0"/>
              <a:t> Berenicesの4.54σは偶然の確率が約0.1%で、天の川の結果とは独立した兆候として価値があります。</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sz="1400" dirty="0"/>
              <a:t>【言うこと】</a:t>
            </a:r>
            <a:br>
              <a:rPr dirty="0"/>
            </a:br>
            <a:r>
              <a:rPr sz="1400" dirty="0"/>
              <a:t>「</a:t>
            </a:r>
            <a:r>
              <a:rPr sz="1400" dirty="0" err="1"/>
              <a:t>まとめます。Fermi-LAT</a:t>
            </a:r>
            <a:r>
              <a:rPr sz="1400" dirty="0"/>
              <a:t> 780週分のデータでTotaniさんの解析パイプラインを実装し、Bin6（20.76 GeV）で31σという有意な過剰を確認しました。Totaniさんの13〜19σと同スケールの結果です。</a:t>
            </a:r>
            <a:br>
              <a:rPr dirty="0"/>
            </a:br>
            <a:br>
              <a:rPr dirty="0"/>
            </a:br>
            <a:r>
              <a:rPr sz="1400" dirty="0"/>
              <a:t>次のステップとして、矮小銀河への解析をさらに精緻化し、複数天体でのDMシグナル検証を進めます。また統計手法の改良（MCMCの導入）も課題です。</a:t>
            </a:r>
            <a:br>
              <a:rPr dirty="0"/>
            </a:br>
            <a:br>
              <a:rPr dirty="0"/>
            </a:br>
            <a:r>
              <a:rPr sz="1400" dirty="0" err="1"/>
              <a:t>以上です。ご質問をお受けします</a:t>
            </a:r>
            <a:r>
              <a:rPr sz="1400" dirty="0"/>
              <a:t>。」</a:t>
            </a:r>
            <a:br>
              <a:rPr dirty="0"/>
            </a:br>
            <a:br>
              <a:rPr dirty="0"/>
            </a:br>
            <a:r>
              <a:rPr sz="1400" dirty="0"/>
              <a:t>【</a:t>
            </a:r>
            <a:r>
              <a:rPr sz="1400" dirty="0" err="1"/>
              <a:t>時間の目安</a:t>
            </a:r>
            <a:r>
              <a:rPr sz="1400" dirty="0"/>
              <a:t>】</a:t>
            </a:r>
            <a:br>
              <a:rPr dirty="0"/>
            </a:br>
            <a:r>
              <a:rPr sz="1400" dirty="0"/>
              <a:t>・ここまで約12〜13分</a:t>
            </a:r>
            <a:br>
              <a:rPr dirty="0"/>
            </a:br>
            <a:r>
              <a:rPr sz="1400" dirty="0"/>
              <a:t>・質問タイムが2〜3分</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sz="1400"/>
              <a:t>【バックアップスライド】</a:t>
            </a:r>
            <a:br/>
            <a:r>
              <a:rPr sz="1400"/>
              <a:t>質問が来た時だけ使用。発表中は飛ばしてください。</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sz="1400"/>
              <a:t>【Fermi-LAT詳細】</a:t>
            </a:r>
            <a:br/>
            <a:r>
              <a:rPr sz="1400"/>
              <a:t>構造について聞かれた時に表示。</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sz="1400"/>
              <a:t>【各成分メカニズム】</a:t>
            </a:r>
            <a:br/>
            <a:r>
              <a:rPr sz="1400"/>
              <a:t>π⁰崩壊やICSについて聞かれた時。</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sz="1400"/>
              <a:t>【WIMPsパラメータ】</a:t>
            </a:r>
            <a:br/>
            <a:r>
              <a:rPr sz="1400"/>
              <a:t>DM質量・断面積の値について聞かれた時。</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sz="1400"/>
              <a:t>【矮小銀河結果】</a:t>
            </a:r>
            <a:br/>
            <a:r>
              <a:rPr sz="1400"/>
              <a:t>Coma Berenicesについて詳しく聞かれた時。</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sz="1400"/>
              <a:t>【σの説明】</a:t>
            </a:r>
            <a:br/>
            <a:r>
              <a:rPr sz="1400"/>
              <a:t>統計的有意性について聞かれた時。</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sz="1400"/>
              <a:t>【Totaniとの差異】</a:t>
            </a:r>
            <a:br/>
            <a:r>
              <a:rPr sz="1400"/>
              <a:t>手法の違いについて詳しく聞かれた時。</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47120" cy="548640"/>
          </a:xfrm>
          <a:prstGeom prst="rect">
            <a:avLst/>
          </a:prstGeom>
          <a:noFill/>
        </p:spPr>
        <p:txBody>
          <a:bodyPr wrap="square">
            <a:spAutoFit/>
          </a:bodyPr>
          <a:lstStyle/>
          <a:p>
            <a:pPr algn="ctr"/>
            <a:r>
              <a:rPr sz="2600" b="0">
                <a:solidFill>
                  <a:srgbClr val="AAAAAA"/>
                </a:solidFill>
              </a:rPr>
              <a:t>卒業論文 中間発表</a:t>
            </a:r>
          </a:p>
        </p:txBody>
      </p:sp>
      <p:sp>
        <p:nvSpPr>
          <p:cNvPr id="3" name="TextBox 2"/>
          <p:cNvSpPr txBox="1"/>
          <p:nvPr/>
        </p:nvSpPr>
        <p:spPr>
          <a:xfrm>
            <a:off x="457200" y="1097280"/>
            <a:ext cx="11247120" cy="2011680"/>
          </a:xfrm>
          <a:prstGeom prst="rect">
            <a:avLst/>
          </a:prstGeom>
          <a:noFill/>
        </p:spPr>
        <p:txBody>
          <a:bodyPr wrap="square">
            <a:spAutoFit/>
          </a:bodyPr>
          <a:lstStyle/>
          <a:p>
            <a:pPr algn="ctr"/>
            <a:r>
              <a:rPr sz="3800" b="1">
                <a:solidFill>
                  <a:srgbClr val="FFCC00"/>
                </a:solidFill>
              </a:rPr>
              <a:t>Search for Dark Matter Annihilation Signal
in the Milky Way Halo using Fermi-LAT</a:t>
            </a:r>
          </a:p>
        </p:txBody>
      </p:sp>
      <p:sp>
        <p:nvSpPr>
          <p:cNvPr id="4" name="TextBox 3"/>
          <p:cNvSpPr txBox="1"/>
          <p:nvPr/>
        </p:nvSpPr>
        <p:spPr>
          <a:xfrm>
            <a:off x="457200" y="3017520"/>
            <a:ext cx="11247120" cy="640080"/>
          </a:xfrm>
          <a:prstGeom prst="rect">
            <a:avLst/>
          </a:prstGeom>
          <a:noFill/>
        </p:spPr>
        <p:txBody>
          <a:bodyPr wrap="square">
            <a:spAutoFit/>
          </a:bodyPr>
          <a:lstStyle/>
          <a:p>
            <a:pPr algn="ctr"/>
            <a:r>
              <a:rPr sz="2600" b="0" dirty="0" err="1">
                <a:solidFill>
                  <a:srgbClr val="FFFFFF"/>
                </a:solidFill>
              </a:rPr>
              <a:t>Fermi-LAT衛星データを用いたダークマター対消滅シグナルの探索</a:t>
            </a:r>
            <a:endParaRPr sz="2600" b="0" dirty="0">
              <a:solidFill>
                <a:srgbClr val="FFFFFF"/>
              </a:solidFill>
            </a:endParaRPr>
          </a:p>
        </p:txBody>
      </p:sp>
      <p:sp>
        <p:nvSpPr>
          <p:cNvPr id="5" name="Rectangle 4"/>
          <p:cNvSpPr/>
          <p:nvPr/>
        </p:nvSpPr>
        <p:spPr>
          <a:xfrm>
            <a:off x="457200" y="3886200"/>
            <a:ext cx="11247120" cy="27432"/>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069080"/>
            <a:ext cx="11247120" cy="822960"/>
          </a:xfrm>
          <a:prstGeom prst="rect">
            <a:avLst/>
          </a:prstGeom>
          <a:noFill/>
        </p:spPr>
        <p:txBody>
          <a:bodyPr wrap="square">
            <a:spAutoFit/>
          </a:bodyPr>
          <a:lstStyle/>
          <a:p>
            <a:pPr algn="ctr"/>
            <a:r>
              <a:rPr sz="2200" b="0">
                <a:solidFill>
                  <a:srgbClr val="44CCFF"/>
                </a:solidFill>
              </a:rPr>
              <a:t>参考手法：Totani (2025)「20 GeV halo-like excess of the Galactic diffuse emission
and implications for dark matter annihilation」</a:t>
            </a:r>
          </a:p>
        </p:txBody>
      </p:sp>
      <p:sp>
        <p:nvSpPr>
          <p:cNvPr id="7" name="Rectangle 6"/>
          <p:cNvSpPr/>
          <p:nvPr/>
        </p:nvSpPr>
        <p:spPr>
          <a:xfrm>
            <a:off x="457200" y="5120640"/>
            <a:ext cx="11247120" cy="27432"/>
          </a:xfrm>
          <a:prstGeom prst="rect">
            <a:avLst/>
          </a:prstGeom>
          <a:solidFill>
            <a:srgbClr val="44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5303520"/>
            <a:ext cx="11247120" cy="492443"/>
          </a:xfrm>
          <a:prstGeom prst="rect">
            <a:avLst/>
          </a:prstGeom>
          <a:noFill/>
        </p:spPr>
        <p:txBody>
          <a:bodyPr wrap="square">
            <a:spAutoFit/>
          </a:bodyPr>
          <a:lstStyle/>
          <a:p>
            <a:pPr algn="ctr"/>
            <a:r>
              <a:rPr lang="ja-JP" altLang="en-US" sz="2600" dirty="0">
                <a:solidFill>
                  <a:srgbClr val="FFFFFF"/>
                </a:solidFill>
              </a:rPr>
              <a:t>中村惺一</a:t>
            </a:r>
            <a:r>
              <a:rPr sz="2600" b="0" dirty="0">
                <a:solidFill>
                  <a:srgbClr val="FFFFFF"/>
                </a:solidFill>
              </a:rPr>
              <a:t>　|　2026年度 </a:t>
            </a:r>
            <a:r>
              <a:rPr sz="2600" b="0" dirty="0" err="1">
                <a:solidFill>
                  <a:srgbClr val="FFFFFF"/>
                </a:solidFill>
              </a:rPr>
              <a:t>卒業論文</a:t>
            </a:r>
            <a:r>
              <a:rPr sz="2600" b="0" dirty="0">
                <a:solidFill>
                  <a:srgbClr val="FFFFFF"/>
                </a:solidFill>
              </a:rPr>
              <a:t> 中間発表（8分）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91440"/>
            <a:ext cx="7315200" cy="457200"/>
          </a:xfrm>
          <a:prstGeom prst="rect">
            <a:avLst/>
          </a:prstGeom>
          <a:noFill/>
        </p:spPr>
        <p:txBody>
          <a:bodyPr wrap="square">
            <a:spAutoFit/>
          </a:bodyPr>
          <a:lstStyle/>
          <a:p>
            <a:pPr algn="l"/>
            <a:r>
              <a:rPr sz="2400" b="1">
                <a:solidFill>
                  <a:srgbClr val="FFCC00"/>
                </a:solidFill>
              </a:rPr>
              <a:t>Abstract / 目次</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77240"/>
            <a:ext cx="5943600" cy="365760"/>
          </a:xfrm>
          <a:prstGeom prst="rect">
            <a:avLst/>
          </a:prstGeom>
          <a:noFill/>
        </p:spPr>
        <p:txBody>
          <a:bodyPr wrap="square">
            <a:spAutoFit/>
          </a:bodyPr>
          <a:lstStyle/>
          <a:p>
            <a:pPr algn="l"/>
            <a:r>
              <a:rPr sz="2200" b="1">
                <a:solidFill>
                  <a:srgbClr val="44CCFF"/>
                </a:solidFill>
              </a:rPr>
              <a:t>【結論：先出し】</a:t>
            </a:r>
          </a:p>
        </p:txBody>
      </p:sp>
      <p:sp>
        <p:nvSpPr>
          <p:cNvPr id="5" name="TextBox 4"/>
          <p:cNvSpPr txBox="1"/>
          <p:nvPr/>
        </p:nvSpPr>
        <p:spPr>
          <a:xfrm>
            <a:off x="457200" y="1188720"/>
            <a:ext cx="5943600" cy="2862322"/>
          </a:xfrm>
          <a:prstGeom prst="rect">
            <a:avLst/>
          </a:prstGeom>
          <a:noFill/>
        </p:spPr>
        <p:txBody>
          <a:bodyPr wrap="square">
            <a:spAutoFit/>
          </a:bodyPr>
          <a:lstStyle/>
          <a:p>
            <a:pPr algn="l"/>
            <a:r>
              <a:rPr sz="2000" b="0" dirty="0">
                <a:solidFill>
                  <a:srgbClr val="FFFFFF"/>
                </a:solidFill>
              </a:rPr>
              <a:t>・Fermi-LAT 780週（15年）の全データで Totani (2025) </a:t>
            </a:r>
            <a:r>
              <a:rPr sz="2000" b="0" dirty="0" err="1">
                <a:solidFill>
                  <a:srgbClr val="FFFFFF"/>
                </a:solidFill>
              </a:rPr>
              <a:t>の解析パイプラインを実装</a:t>
            </a:r>
            <a:r>
              <a:rPr sz="2000" b="0" dirty="0">
                <a:solidFill>
                  <a:srgbClr val="FFFFFF"/>
                </a:solidFill>
              </a:rPr>
              <a:t>
・5成分の前景放射を順次差し引き後、NFWテンプレートフィットを実施
・Bin6（20.76 </a:t>
            </a:r>
            <a:r>
              <a:rPr sz="2000" b="0" dirty="0" err="1">
                <a:solidFill>
                  <a:srgbClr val="FFFFFF"/>
                </a:solidFill>
              </a:rPr>
              <a:t>GeV）で</a:t>
            </a:r>
            <a:r>
              <a:rPr sz="2000" b="0" dirty="0">
                <a:solidFill>
                  <a:srgbClr val="FFFFFF"/>
                </a:solidFill>
              </a:rPr>
              <a:t> A &gt; 0 </a:t>
            </a:r>
            <a:r>
              <a:rPr sz="2000" b="0" dirty="0" err="1">
                <a:solidFill>
                  <a:srgbClr val="FFFFFF"/>
                </a:solidFill>
              </a:rPr>
              <a:t>かつ</a:t>
            </a:r>
            <a:r>
              <a:rPr sz="2000" b="0" dirty="0">
                <a:solidFill>
                  <a:srgbClr val="FFFFFF"/>
                </a:solidFill>
              </a:rPr>
              <a:t> 31.0σ の有意な過剰を検出
  → Totani の報告（13–19σ）と同スケールで再現成功
・矮小銀河5天体（Draco, Sculptor </a:t>
            </a:r>
            <a:r>
              <a:rPr sz="2000" b="0" dirty="0" err="1">
                <a:solidFill>
                  <a:srgbClr val="FFFFFF"/>
                </a:solidFill>
              </a:rPr>
              <a:t>など）への展</a:t>
            </a:r>
            <a:r>
              <a:rPr lang="ja-JP" altLang="en-US" sz="2000" b="0" dirty="0">
                <a:solidFill>
                  <a:srgbClr val="FFFFFF"/>
                </a:solidFill>
              </a:rPr>
              <a:t>開</a:t>
            </a:r>
            <a:endParaRPr sz="2000" b="0" dirty="0">
              <a:solidFill>
                <a:srgbClr val="FFFFFF"/>
              </a:solidFill>
            </a:endParaRPr>
          </a:p>
        </p:txBody>
      </p:sp>
      <p:sp>
        <p:nvSpPr>
          <p:cNvPr id="6" name="TextBox 5"/>
          <p:cNvSpPr txBox="1"/>
          <p:nvPr/>
        </p:nvSpPr>
        <p:spPr>
          <a:xfrm>
            <a:off x="6858000" y="777240"/>
            <a:ext cx="5029200" cy="365760"/>
          </a:xfrm>
          <a:prstGeom prst="rect">
            <a:avLst/>
          </a:prstGeom>
          <a:noFill/>
        </p:spPr>
        <p:txBody>
          <a:bodyPr wrap="square">
            <a:spAutoFit/>
          </a:bodyPr>
          <a:lstStyle/>
          <a:p>
            <a:pPr algn="l"/>
            <a:r>
              <a:rPr sz="2200" b="1">
                <a:solidFill>
                  <a:srgbClr val="44CCFF"/>
                </a:solidFill>
              </a:rPr>
              <a:t>【発表の流れ】</a:t>
            </a:r>
          </a:p>
        </p:txBody>
      </p:sp>
      <p:sp>
        <p:nvSpPr>
          <p:cNvPr id="7" name="TextBox 6"/>
          <p:cNvSpPr txBox="1"/>
          <p:nvPr/>
        </p:nvSpPr>
        <p:spPr>
          <a:xfrm>
            <a:off x="6858000" y="1234440"/>
            <a:ext cx="5029200" cy="457200"/>
          </a:xfrm>
          <a:prstGeom prst="rect">
            <a:avLst/>
          </a:prstGeom>
          <a:noFill/>
        </p:spPr>
        <p:txBody>
          <a:bodyPr wrap="square">
            <a:spAutoFit/>
          </a:bodyPr>
          <a:lstStyle/>
          <a:p>
            <a:pPr algn="l"/>
            <a:r>
              <a:rPr sz="2000" b="0">
                <a:solidFill>
                  <a:srgbClr val="FFFFFF"/>
                </a:solidFill>
              </a:rPr>
              <a:t>1. Introduction  — DM / WIMPs / Totani (2025)</a:t>
            </a:r>
          </a:p>
        </p:txBody>
      </p:sp>
      <p:sp>
        <p:nvSpPr>
          <p:cNvPr id="8" name="TextBox 7"/>
          <p:cNvSpPr txBox="1"/>
          <p:nvPr/>
        </p:nvSpPr>
        <p:spPr>
          <a:xfrm>
            <a:off x="6858000" y="1783080"/>
            <a:ext cx="5029200" cy="457200"/>
          </a:xfrm>
          <a:prstGeom prst="rect">
            <a:avLst/>
          </a:prstGeom>
          <a:noFill/>
        </p:spPr>
        <p:txBody>
          <a:bodyPr wrap="square">
            <a:spAutoFit/>
          </a:bodyPr>
          <a:lstStyle/>
          <a:p>
            <a:pPr algn="l"/>
            <a:r>
              <a:rPr sz="2000" b="0">
                <a:solidFill>
                  <a:srgbClr val="FFFFFF"/>
                </a:solidFill>
              </a:rPr>
              <a:t>2. Methods  — データ取得・5成分差し引き</a:t>
            </a:r>
          </a:p>
        </p:txBody>
      </p:sp>
      <p:sp>
        <p:nvSpPr>
          <p:cNvPr id="9" name="TextBox 8"/>
          <p:cNvSpPr txBox="1"/>
          <p:nvPr/>
        </p:nvSpPr>
        <p:spPr>
          <a:xfrm>
            <a:off x="6858000" y="2331720"/>
            <a:ext cx="5029200" cy="457200"/>
          </a:xfrm>
          <a:prstGeom prst="rect">
            <a:avLst/>
          </a:prstGeom>
          <a:noFill/>
        </p:spPr>
        <p:txBody>
          <a:bodyPr wrap="square">
            <a:spAutoFit/>
          </a:bodyPr>
          <a:lstStyle/>
          <a:p>
            <a:pPr algn="l"/>
            <a:r>
              <a:rPr sz="2000" b="0">
                <a:solidFill>
                  <a:srgbClr val="FFFFFF"/>
                </a:solidFill>
              </a:rPr>
              <a:t>3. Results  — 残差マップ・NFWフィット</a:t>
            </a:r>
          </a:p>
        </p:txBody>
      </p:sp>
      <p:sp>
        <p:nvSpPr>
          <p:cNvPr id="10" name="TextBox 9"/>
          <p:cNvSpPr txBox="1"/>
          <p:nvPr/>
        </p:nvSpPr>
        <p:spPr>
          <a:xfrm>
            <a:off x="6858000" y="2880360"/>
            <a:ext cx="5029200" cy="457200"/>
          </a:xfrm>
          <a:prstGeom prst="rect">
            <a:avLst/>
          </a:prstGeom>
          <a:noFill/>
        </p:spPr>
        <p:txBody>
          <a:bodyPr wrap="square">
            <a:spAutoFit/>
          </a:bodyPr>
          <a:lstStyle/>
          <a:p>
            <a:pPr algn="l"/>
            <a:r>
              <a:rPr sz="2000" b="0">
                <a:solidFill>
                  <a:srgbClr val="FFFFFF"/>
                </a:solidFill>
              </a:rPr>
              <a:t>4. Discussion  — b クォーク・他天体展開</a:t>
            </a:r>
          </a:p>
        </p:txBody>
      </p:sp>
      <p:sp>
        <p:nvSpPr>
          <p:cNvPr id="11" name="TextBox 10"/>
          <p:cNvSpPr txBox="1"/>
          <p:nvPr/>
        </p:nvSpPr>
        <p:spPr>
          <a:xfrm>
            <a:off x="6858000" y="3429000"/>
            <a:ext cx="5029200" cy="457200"/>
          </a:xfrm>
          <a:prstGeom prst="rect">
            <a:avLst/>
          </a:prstGeom>
          <a:noFill/>
        </p:spPr>
        <p:txBody>
          <a:bodyPr wrap="square">
            <a:spAutoFit/>
          </a:bodyPr>
          <a:lstStyle/>
          <a:p>
            <a:pPr algn="l"/>
            <a:r>
              <a:rPr sz="2000" b="0">
                <a:solidFill>
                  <a:srgbClr val="FFFFFF"/>
                </a:solidFill>
              </a:rPr>
              <a:t>5.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548640"/>
          </a:xfrm>
          <a:prstGeom prst="rect">
            <a:avLst/>
          </a:prstGeom>
          <a:noFill/>
        </p:spPr>
        <p:txBody>
          <a:bodyPr wrap="square">
            <a:spAutoFit/>
          </a:bodyPr>
          <a:lstStyle/>
          <a:p>
            <a:pPr algn="l"/>
            <a:r>
              <a:rPr sz="2200" b="1" i="0">
                <a:solidFill>
                  <a:srgbClr val="FFCC00"/>
                </a:solidFill>
              </a:rPr>
              <a:t>Introduction (1/3) — ダークマターとWIMPs</a:t>
            </a:r>
          </a:p>
        </p:txBody>
      </p:sp>
      <p:sp>
        <p:nvSpPr>
          <p:cNvPr id="3" name="Rectangle 2"/>
          <p:cNvSpPr/>
          <p:nvPr/>
        </p:nvSpPr>
        <p:spPr>
          <a:xfrm>
            <a:off x="365760" y="658368"/>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777240"/>
            <a:ext cx="5029200" cy="411480"/>
          </a:xfrm>
          <a:prstGeom prst="rect">
            <a:avLst/>
          </a:prstGeom>
          <a:noFill/>
        </p:spPr>
        <p:txBody>
          <a:bodyPr wrap="square">
            <a:spAutoFit/>
          </a:bodyPr>
          <a:lstStyle/>
          <a:p>
            <a:pPr algn="l"/>
            <a:r>
              <a:rPr sz="1700" b="1" i="0">
                <a:solidFill>
                  <a:srgbClr val="44CCFF"/>
                </a:solidFill>
              </a:rPr>
              <a:t>ダークマター（DM）とは</a:t>
            </a:r>
          </a:p>
        </p:txBody>
      </p:sp>
      <p:sp>
        <p:nvSpPr>
          <p:cNvPr id="5" name="TextBox 4"/>
          <p:cNvSpPr txBox="1"/>
          <p:nvPr/>
        </p:nvSpPr>
        <p:spPr>
          <a:xfrm>
            <a:off x="365760" y="1234440"/>
            <a:ext cx="5212080" cy="923330"/>
          </a:xfrm>
          <a:prstGeom prst="rect">
            <a:avLst/>
          </a:prstGeom>
          <a:noFill/>
        </p:spPr>
        <p:txBody>
          <a:bodyPr wrap="square">
            <a:spAutoFit/>
          </a:bodyPr>
          <a:lstStyle/>
          <a:p>
            <a:pPr algn="l"/>
            <a:r>
              <a:rPr b="0" i="0" dirty="0">
                <a:solidFill>
                  <a:srgbClr val="FFFFFF"/>
                </a:solidFill>
              </a:rPr>
              <a:t>・宇宙の全質量の約27%を占めるが光を出さない
・</a:t>
            </a:r>
            <a:r>
              <a:rPr b="0" i="0" dirty="0" err="1">
                <a:solidFill>
                  <a:srgbClr val="FFFFFF"/>
                </a:solidFill>
              </a:rPr>
              <a:t>銀河回転曲線・重力レンズ・大規模構造から</a:t>
            </a:r>
            <a:r>
              <a:rPr b="0" i="0" dirty="0">
                <a:solidFill>
                  <a:srgbClr val="FFFFFF"/>
                </a:solidFill>
              </a:rPr>
              <a:t>
　</a:t>
            </a:r>
            <a:r>
              <a:rPr b="0" i="0" dirty="0" err="1">
                <a:solidFill>
                  <a:srgbClr val="FFFFFF"/>
                </a:solidFill>
              </a:rPr>
              <a:t>間接的に存在が確認されている未知の物質</a:t>
            </a:r>
            <a:endParaRPr b="0" i="0" dirty="0">
              <a:solidFill>
                <a:srgbClr val="FFFFFF"/>
              </a:solidFill>
            </a:endParaRPr>
          </a:p>
        </p:txBody>
      </p:sp>
      <p:sp>
        <p:nvSpPr>
          <p:cNvPr id="6" name="TextBox 5"/>
          <p:cNvSpPr txBox="1"/>
          <p:nvPr/>
        </p:nvSpPr>
        <p:spPr>
          <a:xfrm>
            <a:off x="365760" y="2743200"/>
            <a:ext cx="5029200" cy="411480"/>
          </a:xfrm>
          <a:prstGeom prst="rect">
            <a:avLst/>
          </a:prstGeom>
          <a:noFill/>
        </p:spPr>
        <p:txBody>
          <a:bodyPr wrap="square">
            <a:spAutoFit/>
          </a:bodyPr>
          <a:lstStyle/>
          <a:p>
            <a:pPr algn="l"/>
            <a:r>
              <a:rPr sz="1700" b="1" i="0">
                <a:solidFill>
                  <a:srgbClr val="44CCFF"/>
                </a:solidFill>
              </a:rPr>
              <a:t>WIMPs（有力候補粒子）</a:t>
            </a:r>
          </a:p>
        </p:txBody>
      </p:sp>
      <p:sp>
        <p:nvSpPr>
          <p:cNvPr id="7" name="TextBox 6"/>
          <p:cNvSpPr txBox="1"/>
          <p:nvPr/>
        </p:nvSpPr>
        <p:spPr>
          <a:xfrm>
            <a:off x="365760" y="3223260"/>
            <a:ext cx="5212080" cy="1200329"/>
          </a:xfrm>
          <a:prstGeom prst="rect">
            <a:avLst/>
          </a:prstGeom>
          <a:noFill/>
        </p:spPr>
        <p:txBody>
          <a:bodyPr wrap="square">
            <a:spAutoFit/>
          </a:bodyPr>
          <a:lstStyle/>
          <a:p>
            <a:pPr algn="l"/>
            <a:r>
              <a:rPr b="0" i="0" dirty="0">
                <a:solidFill>
                  <a:srgbClr val="FFFFFF"/>
                </a:solidFill>
              </a:rPr>
              <a:t>Weakly Interacting Massive Particle
・</a:t>
            </a:r>
            <a:r>
              <a:rPr b="0" i="0" dirty="0" err="1">
                <a:solidFill>
                  <a:srgbClr val="FFFFFF"/>
                </a:solidFill>
              </a:rPr>
              <a:t>質量</a:t>
            </a:r>
            <a:r>
              <a:rPr b="0" i="0" dirty="0">
                <a:solidFill>
                  <a:srgbClr val="FFFFFF"/>
                </a:solidFill>
              </a:rPr>
              <a:t> </a:t>
            </a:r>
            <a:r>
              <a:rPr b="0" i="0" dirty="0" err="1">
                <a:solidFill>
                  <a:srgbClr val="FFFFFF"/>
                </a:solidFill>
              </a:rPr>
              <a:t>mχ</a:t>
            </a:r>
            <a:r>
              <a:rPr b="0" i="0" dirty="0">
                <a:solidFill>
                  <a:srgbClr val="FFFFFF"/>
                </a:solidFill>
              </a:rPr>
              <a:t> ≈ 100 GeV – 10 TeV
・</a:t>
            </a:r>
            <a:r>
              <a:rPr b="0" i="0" dirty="0" err="1">
                <a:solidFill>
                  <a:srgbClr val="FFFFFF"/>
                </a:solidFill>
              </a:rPr>
              <a:t>電荷ゼロ・弱い相互作用のみ</a:t>
            </a:r>
            <a:r>
              <a:rPr b="0" i="0" dirty="0">
                <a:solidFill>
                  <a:srgbClr val="FFFFFF"/>
                </a:solidFill>
              </a:rPr>
              <a:t>
→ </a:t>
            </a:r>
            <a:r>
              <a:rPr b="0" i="0" dirty="0" err="1">
                <a:solidFill>
                  <a:srgbClr val="FFFFFF"/>
                </a:solidFill>
              </a:rPr>
              <a:t>光で見えないDMの性質に一致</a:t>
            </a:r>
            <a:endParaRPr b="0" i="0" dirty="0">
              <a:solidFill>
                <a:srgbClr val="FFFFFF"/>
              </a:solidFill>
            </a:endParaRPr>
          </a:p>
        </p:txBody>
      </p:sp>
      <p:sp>
        <p:nvSpPr>
          <p:cNvPr id="8" name="TextBox 7"/>
          <p:cNvSpPr txBox="1"/>
          <p:nvPr/>
        </p:nvSpPr>
        <p:spPr>
          <a:xfrm>
            <a:off x="365760" y="5156735"/>
            <a:ext cx="5212080" cy="411480"/>
          </a:xfrm>
          <a:prstGeom prst="rect">
            <a:avLst/>
          </a:prstGeom>
          <a:noFill/>
        </p:spPr>
        <p:txBody>
          <a:bodyPr wrap="square">
            <a:spAutoFit/>
          </a:bodyPr>
          <a:lstStyle/>
          <a:p>
            <a:pPr algn="l"/>
            <a:r>
              <a:rPr sz="1400" b="1" i="0" dirty="0" err="1">
                <a:solidFill>
                  <a:srgbClr val="FFFFFF"/>
                </a:solidFill>
              </a:rPr>
              <a:t>WIMPs同士が出会うと「対消滅」でγ線を放出</a:t>
            </a:r>
            <a:endParaRPr sz="1400" b="1" i="0" dirty="0">
              <a:solidFill>
                <a:srgbClr val="FFFFFF"/>
              </a:solidFill>
            </a:endParaRPr>
          </a:p>
        </p:txBody>
      </p:sp>
      <p:sp>
        <p:nvSpPr>
          <p:cNvPr id="9" name="TextBox 8"/>
          <p:cNvSpPr txBox="1"/>
          <p:nvPr/>
        </p:nvSpPr>
        <p:spPr>
          <a:xfrm>
            <a:off x="365760" y="5532120"/>
            <a:ext cx="5212080" cy="365760"/>
          </a:xfrm>
          <a:prstGeom prst="rect">
            <a:avLst/>
          </a:prstGeom>
          <a:noFill/>
        </p:spPr>
        <p:txBody>
          <a:bodyPr wrap="square">
            <a:spAutoFit/>
          </a:bodyPr>
          <a:lstStyle/>
          <a:p>
            <a:pPr algn="l"/>
            <a:r>
              <a:rPr sz="1400" b="1" i="0" dirty="0">
                <a:solidFill>
                  <a:srgbClr val="FFCC00"/>
                </a:solidFill>
              </a:rPr>
              <a:t>→ </a:t>
            </a:r>
            <a:r>
              <a:rPr sz="1400" b="1" i="0" dirty="0" err="1">
                <a:solidFill>
                  <a:srgbClr val="FFCC00"/>
                </a:solidFill>
              </a:rPr>
              <a:t>ガンマ線でDMを間接検出できる</a:t>
            </a:r>
            <a:endParaRPr sz="1400" b="1" i="0" dirty="0">
              <a:solidFill>
                <a:srgbClr val="FFCC00"/>
              </a:solidFill>
            </a:endParaRPr>
          </a:p>
        </p:txBody>
      </p:sp>
      <p:sp>
        <p:nvSpPr>
          <p:cNvPr id="10" name="TextBox 9"/>
          <p:cNvSpPr txBox="1"/>
          <p:nvPr/>
        </p:nvSpPr>
        <p:spPr>
          <a:xfrm>
            <a:off x="5760720" y="777240"/>
            <a:ext cx="6400800" cy="411480"/>
          </a:xfrm>
          <a:prstGeom prst="rect">
            <a:avLst/>
          </a:prstGeom>
          <a:noFill/>
        </p:spPr>
        <p:txBody>
          <a:bodyPr wrap="square">
            <a:spAutoFit/>
          </a:bodyPr>
          <a:lstStyle/>
          <a:p>
            <a:pPr algn="l"/>
            <a:r>
              <a:rPr sz="1700" b="1" i="0">
                <a:solidFill>
                  <a:srgbClr val="44CCFF"/>
                </a:solidFill>
              </a:rPr>
              <a:t>対消滅チャンネル（bb̄）</a:t>
            </a:r>
          </a:p>
        </p:txBody>
      </p:sp>
      <p:pic>
        <p:nvPicPr>
          <p:cNvPr id="11" name="Picture 10" descr="feynman_wimp_annihilation.png"/>
          <p:cNvPicPr>
            <a:picLocks noChangeAspect="1"/>
          </p:cNvPicPr>
          <p:nvPr/>
        </p:nvPicPr>
        <p:blipFill>
          <a:blip r:embed="rId3"/>
          <a:stretch>
            <a:fillRect/>
          </a:stretch>
        </p:blipFill>
        <p:spPr>
          <a:xfrm>
            <a:off x="5760720" y="1234440"/>
            <a:ext cx="6400800" cy="3474720"/>
          </a:xfrm>
          <a:prstGeom prst="rect">
            <a:avLst/>
          </a:prstGeom>
        </p:spPr>
      </p:pic>
      <p:sp>
        <p:nvSpPr>
          <p:cNvPr id="12" name="TextBox 11"/>
          <p:cNvSpPr txBox="1"/>
          <p:nvPr/>
        </p:nvSpPr>
        <p:spPr>
          <a:xfrm>
            <a:off x="5760720" y="4800600"/>
            <a:ext cx="6400800" cy="457200"/>
          </a:xfrm>
          <a:prstGeom prst="rect">
            <a:avLst/>
          </a:prstGeom>
          <a:noFill/>
        </p:spPr>
        <p:txBody>
          <a:bodyPr wrap="square">
            <a:spAutoFit/>
          </a:bodyPr>
          <a:lstStyle/>
          <a:p>
            <a:pPr algn="l"/>
            <a:r>
              <a:rPr sz="1500" b="1" i="0">
                <a:solidFill>
                  <a:srgbClr val="FFFFFF"/>
                </a:solidFill>
              </a:rPr>
              <a:t>χ  +  χ̄  →  b + b̄  →  π⁰  →  γ + γ</a:t>
            </a:r>
          </a:p>
        </p:txBody>
      </p:sp>
      <p:sp>
        <p:nvSpPr>
          <p:cNvPr id="13" name="TextBox 12"/>
          <p:cNvSpPr txBox="1"/>
          <p:nvPr/>
        </p:nvSpPr>
        <p:spPr>
          <a:xfrm>
            <a:off x="5577840" y="5314771"/>
            <a:ext cx="6400800" cy="646331"/>
          </a:xfrm>
          <a:prstGeom prst="rect">
            <a:avLst/>
          </a:prstGeom>
          <a:noFill/>
        </p:spPr>
        <p:txBody>
          <a:bodyPr wrap="square">
            <a:spAutoFit/>
          </a:bodyPr>
          <a:lstStyle/>
          <a:p>
            <a:pPr algn="l"/>
            <a:r>
              <a:rPr b="0" i="0" dirty="0">
                <a:solidFill>
                  <a:srgbClr val="FFFFFF"/>
                </a:solidFill>
              </a:rPr>
              <a:t>・</a:t>
            </a:r>
            <a:r>
              <a:rPr b="0" i="0" dirty="0" err="1">
                <a:solidFill>
                  <a:srgbClr val="FFFFFF"/>
                </a:solidFill>
              </a:rPr>
              <a:t>bb̄チャンネルが最もデータを説明（Cirelli</a:t>
            </a:r>
            <a:r>
              <a:rPr b="0" i="0" dirty="0">
                <a:solidFill>
                  <a:srgbClr val="FFFFFF"/>
                </a:solidFill>
              </a:rPr>
              <a:t> et al. 2011）
・</a:t>
            </a:r>
            <a:r>
              <a:rPr b="0" i="0" dirty="0" err="1">
                <a:solidFill>
                  <a:srgbClr val="FFFFFF"/>
                </a:solidFill>
              </a:rPr>
              <a:t>生成γ線のエネルギーはmχに依存（詳細</a:t>
            </a:r>
            <a:r>
              <a:rPr b="0" i="0" dirty="0">
                <a:solidFill>
                  <a:srgbClr val="FFFFFF"/>
                </a:solidFill>
              </a:rPr>
              <a:t> → </a:t>
            </a:r>
            <a:r>
              <a:rPr b="0" i="0" dirty="0" err="1">
                <a:solidFill>
                  <a:srgbClr val="FFFFFF"/>
                </a:solidFill>
              </a:rPr>
              <a:t>次ページ</a:t>
            </a:r>
            <a:r>
              <a:rPr b="0" i="0" dirty="0">
                <a:solidFill>
                  <a:srgbClr val="FFFFFF"/>
                </a:solidFil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548640"/>
          </a:xfrm>
          <a:prstGeom prst="rect">
            <a:avLst/>
          </a:prstGeom>
          <a:noFill/>
        </p:spPr>
        <p:txBody>
          <a:bodyPr wrap="square">
            <a:spAutoFit/>
          </a:bodyPr>
          <a:lstStyle/>
          <a:p>
            <a:pPr algn="l"/>
            <a:r>
              <a:rPr sz="2200" b="1" i="0">
                <a:solidFill>
                  <a:srgbClr val="FFCC00"/>
                </a:solidFill>
              </a:rPr>
              <a:t>Introduction (2/3) — Totani (2025) の発見</a:t>
            </a:r>
          </a:p>
        </p:txBody>
      </p:sp>
      <p:sp>
        <p:nvSpPr>
          <p:cNvPr id="3" name="Rectangle 2"/>
          <p:cNvSpPr/>
          <p:nvPr/>
        </p:nvSpPr>
        <p:spPr>
          <a:xfrm>
            <a:off x="365760" y="658368"/>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777240"/>
            <a:ext cx="5486400" cy="411480"/>
          </a:xfrm>
          <a:prstGeom prst="rect">
            <a:avLst/>
          </a:prstGeom>
          <a:noFill/>
        </p:spPr>
        <p:txBody>
          <a:bodyPr wrap="square">
            <a:spAutoFit/>
          </a:bodyPr>
          <a:lstStyle/>
          <a:p>
            <a:pPr algn="l"/>
            <a:r>
              <a:rPr sz="1700" b="1" i="0">
                <a:solidFill>
                  <a:srgbClr val="44CCFF"/>
                </a:solidFill>
              </a:rPr>
              <a:t>Totani (2025) の解析内容</a:t>
            </a:r>
          </a:p>
        </p:txBody>
      </p:sp>
      <p:sp>
        <p:nvSpPr>
          <p:cNvPr id="5" name="TextBox 4"/>
          <p:cNvSpPr txBox="1"/>
          <p:nvPr/>
        </p:nvSpPr>
        <p:spPr>
          <a:xfrm>
            <a:off x="365760" y="1234440"/>
            <a:ext cx="5486400" cy="1754326"/>
          </a:xfrm>
          <a:prstGeom prst="rect">
            <a:avLst/>
          </a:prstGeom>
          <a:noFill/>
        </p:spPr>
        <p:txBody>
          <a:bodyPr wrap="square">
            <a:spAutoFit/>
          </a:bodyPr>
          <a:lstStyle/>
          <a:p>
            <a:pPr algn="l"/>
            <a:r>
              <a:rPr b="0" i="0" dirty="0">
                <a:solidFill>
                  <a:srgbClr val="FFFFFF"/>
                </a:solidFill>
              </a:rPr>
              <a:t>・Fermi-LAT 15年分（780週）のγ線データ
・</a:t>
            </a:r>
            <a:r>
              <a:rPr b="0" i="0" dirty="0" err="1">
                <a:solidFill>
                  <a:srgbClr val="FFFFFF"/>
                </a:solidFill>
              </a:rPr>
              <a:t>解析領域</a:t>
            </a:r>
            <a:r>
              <a:rPr b="0" i="0" dirty="0">
                <a:solidFill>
                  <a:srgbClr val="FFFFFF"/>
                </a:solidFill>
              </a:rPr>
              <a:t>：|l|≤60°, 10°≤|b|≤60°
・5成分の前景放射を差し引き
　（等方背景・銀河拡散・点源・Fermiバブル・ループI）
・</a:t>
            </a:r>
            <a:r>
              <a:rPr b="0" i="0" dirty="0" err="1">
                <a:solidFill>
                  <a:srgbClr val="FFFFFF"/>
                </a:solidFill>
              </a:rPr>
              <a:t>差し引き後の残差をNFWテンプレートでフィット</a:t>
            </a:r>
            <a:endParaRPr b="0" i="0" dirty="0">
              <a:solidFill>
                <a:srgbClr val="FFFFFF"/>
              </a:solidFill>
            </a:endParaRPr>
          </a:p>
        </p:txBody>
      </p:sp>
      <p:sp>
        <p:nvSpPr>
          <p:cNvPr id="6" name="TextBox 5"/>
          <p:cNvSpPr txBox="1"/>
          <p:nvPr/>
        </p:nvSpPr>
        <p:spPr>
          <a:xfrm>
            <a:off x="365760" y="3611880"/>
            <a:ext cx="5486400" cy="411480"/>
          </a:xfrm>
          <a:prstGeom prst="rect">
            <a:avLst/>
          </a:prstGeom>
          <a:noFill/>
        </p:spPr>
        <p:txBody>
          <a:bodyPr wrap="square">
            <a:spAutoFit/>
          </a:bodyPr>
          <a:lstStyle/>
          <a:p>
            <a:pPr algn="l"/>
            <a:r>
              <a:rPr sz="1700" b="1" i="0">
                <a:solidFill>
                  <a:srgbClr val="44CCFF"/>
                </a:solidFill>
              </a:rPr>
              <a:t>発見された信号</a:t>
            </a:r>
          </a:p>
        </p:txBody>
      </p:sp>
      <p:sp>
        <p:nvSpPr>
          <p:cNvPr id="7" name="TextBox 6"/>
          <p:cNvSpPr txBox="1"/>
          <p:nvPr/>
        </p:nvSpPr>
        <p:spPr>
          <a:xfrm>
            <a:off x="365760" y="4069080"/>
            <a:ext cx="5760720" cy="646331"/>
          </a:xfrm>
          <a:prstGeom prst="rect">
            <a:avLst/>
          </a:prstGeom>
          <a:noFill/>
        </p:spPr>
        <p:txBody>
          <a:bodyPr wrap="square">
            <a:spAutoFit/>
          </a:bodyPr>
          <a:lstStyle/>
          <a:p>
            <a:pPr algn="l"/>
            <a:r>
              <a:rPr b="0" i="0" dirty="0">
                <a:solidFill>
                  <a:srgbClr val="FFFFFF"/>
                </a:solidFill>
              </a:rPr>
              <a:t>→  20.76 GeV </a:t>
            </a:r>
            <a:r>
              <a:rPr b="0" i="0" dirty="0" err="1">
                <a:solidFill>
                  <a:srgbClr val="FFFFFF"/>
                </a:solidFill>
              </a:rPr>
              <a:t>のビンで</a:t>
            </a:r>
            <a:r>
              <a:rPr b="0" i="0" dirty="0">
                <a:solidFill>
                  <a:srgbClr val="FFFFFF"/>
                </a:solidFill>
              </a:rPr>
              <a:t>  13〜19σ  の有意な過剰を検出
→  </a:t>
            </a:r>
            <a:r>
              <a:rPr b="0" i="0" dirty="0" err="1">
                <a:solidFill>
                  <a:srgbClr val="FFFFFF"/>
                </a:solidFill>
              </a:rPr>
              <a:t>銀河中心方向に集中するNFW形状と一致</a:t>
            </a:r>
            <a:endParaRPr b="0" i="0" dirty="0">
              <a:solidFill>
                <a:srgbClr val="FFFFFF"/>
              </a:solidFill>
            </a:endParaRPr>
          </a:p>
        </p:txBody>
      </p:sp>
      <p:sp>
        <p:nvSpPr>
          <p:cNvPr id="8" name="TextBox 7"/>
          <p:cNvSpPr txBox="1"/>
          <p:nvPr/>
        </p:nvSpPr>
        <p:spPr>
          <a:xfrm>
            <a:off x="365760" y="4715411"/>
            <a:ext cx="5486400" cy="457200"/>
          </a:xfrm>
          <a:prstGeom prst="rect">
            <a:avLst/>
          </a:prstGeom>
          <a:noFill/>
        </p:spPr>
        <p:txBody>
          <a:bodyPr wrap="square">
            <a:spAutoFit/>
          </a:bodyPr>
          <a:lstStyle/>
          <a:p>
            <a:pPr algn="l"/>
            <a:r>
              <a:rPr sz="1500" b="1" i="0" dirty="0">
                <a:solidFill>
                  <a:srgbClr val="FFCC00"/>
                </a:solidFill>
              </a:rPr>
              <a:t>★ </a:t>
            </a:r>
            <a:r>
              <a:rPr sz="1500" b="1" i="0" dirty="0" err="1">
                <a:solidFill>
                  <a:srgbClr val="FFCC00"/>
                </a:solidFill>
              </a:rPr>
              <a:t>ダークマター対消滅の初の有力証拠候補</a:t>
            </a:r>
            <a:endParaRPr sz="1500" b="1" i="0" dirty="0">
              <a:solidFill>
                <a:srgbClr val="FFCC00"/>
              </a:solidFill>
            </a:endParaRPr>
          </a:p>
        </p:txBody>
      </p:sp>
      <p:sp>
        <p:nvSpPr>
          <p:cNvPr id="9" name="TextBox 8"/>
          <p:cNvSpPr txBox="1"/>
          <p:nvPr/>
        </p:nvSpPr>
        <p:spPr>
          <a:xfrm>
            <a:off x="6126480" y="777240"/>
            <a:ext cx="5943600" cy="411480"/>
          </a:xfrm>
          <a:prstGeom prst="rect">
            <a:avLst/>
          </a:prstGeom>
          <a:noFill/>
        </p:spPr>
        <p:txBody>
          <a:bodyPr wrap="square">
            <a:spAutoFit/>
          </a:bodyPr>
          <a:lstStyle/>
          <a:p>
            <a:pPr algn="l"/>
            <a:r>
              <a:rPr sz="1700" b="1" i="0">
                <a:solidFill>
                  <a:srgbClr val="44CCFF"/>
                </a:solidFill>
              </a:rPr>
              <a:t>なぜ 20 GeV か（DM質量との対応）</a:t>
            </a:r>
          </a:p>
        </p:txBody>
      </p:sp>
      <p:sp>
        <p:nvSpPr>
          <p:cNvPr id="10" name="TextBox 9"/>
          <p:cNvSpPr txBox="1"/>
          <p:nvPr/>
        </p:nvSpPr>
        <p:spPr>
          <a:xfrm>
            <a:off x="5991013" y="1234440"/>
            <a:ext cx="5943600" cy="3693319"/>
          </a:xfrm>
          <a:prstGeom prst="rect">
            <a:avLst/>
          </a:prstGeom>
          <a:noFill/>
        </p:spPr>
        <p:txBody>
          <a:bodyPr wrap="square">
            <a:spAutoFit/>
          </a:bodyPr>
          <a:lstStyle/>
          <a:p>
            <a:pPr algn="l"/>
            <a:r>
              <a:rPr b="0" i="0" dirty="0" err="1">
                <a:solidFill>
                  <a:srgbClr val="FFFFFF"/>
                </a:solidFill>
              </a:rPr>
              <a:t>bb̄チャンネルのγ線スペクトルは</a:t>
            </a:r>
            <a:r>
              <a:rPr b="0" i="0" dirty="0">
                <a:solidFill>
                  <a:srgbClr val="FFFFFF"/>
                </a:solidFill>
              </a:rPr>
              <a:t>
</a:t>
            </a:r>
            <a:r>
              <a:rPr b="0" i="0" dirty="0" err="1">
                <a:solidFill>
                  <a:srgbClr val="FFFFFF"/>
                </a:solidFill>
              </a:rPr>
              <a:t>DM質量</a:t>
            </a:r>
            <a:r>
              <a:rPr b="0" i="0" dirty="0">
                <a:solidFill>
                  <a:srgbClr val="FFFFFF"/>
                </a:solidFill>
              </a:rPr>
              <a:t> </a:t>
            </a:r>
            <a:r>
              <a:rPr b="0" i="0" dirty="0" err="1">
                <a:solidFill>
                  <a:srgbClr val="FFFFFF"/>
                </a:solidFill>
              </a:rPr>
              <a:t>mχ</a:t>
            </a:r>
            <a:r>
              <a:rPr b="0" i="0" dirty="0">
                <a:solidFill>
                  <a:srgbClr val="FFFFFF"/>
                </a:solidFill>
              </a:rPr>
              <a:t> </a:t>
            </a:r>
            <a:r>
              <a:rPr b="0" i="0" dirty="0" err="1">
                <a:solidFill>
                  <a:srgbClr val="FFFFFF"/>
                </a:solidFill>
              </a:rPr>
              <a:t>に依存する</a:t>
            </a:r>
            <a:r>
              <a:rPr b="0" i="0" dirty="0">
                <a:solidFill>
                  <a:srgbClr val="FFFFFF"/>
                </a:solidFill>
              </a:rPr>
              <a:t>：
   </a:t>
            </a:r>
            <a:r>
              <a:rPr b="0" i="0" dirty="0" err="1">
                <a:solidFill>
                  <a:srgbClr val="FFFFFF"/>
                </a:solidFill>
              </a:rPr>
              <a:t>mχ</a:t>
            </a:r>
            <a:r>
              <a:rPr b="0" i="0" dirty="0">
                <a:solidFill>
                  <a:srgbClr val="FFFFFF"/>
                </a:solidFill>
              </a:rPr>
              <a:t> ≈ 0.5〜0.8 TeV
   → スペクトルピーク ≈ 20〜40 GeV
Cirelli et al. (2011)「PPPC 4 DM ID」
</a:t>
            </a:r>
            <a:r>
              <a:rPr b="0" i="0" dirty="0" err="1">
                <a:solidFill>
                  <a:srgbClr val="FFFFFF"/>
                </a:solidFill>
              </a:rPr>
              <a:t>が標準スペクトルテーブルを提供</a:t>
            </a:r>
            <a:r>
              <a:rPr b="0" i="0" dirty="0">
                <a:solidFill>
                  <a:srgbClr val="FFFFFF"/>
                </a:solidFill>
              </a:rPr>
              <a:t>
</a:t>
            </a:r>
            <a:r>
              <a:rPr b="0" i="0" dirty="0" err="1">
                <a:solidFill>
                  <a:srgbClr val="FFFFFF"/>
                </a:solidFill>
              </a:rPr>
              <a:t>Totaniさんはこのスペクトルとデータを</a:t>
            </a:r>
            <a:r>
              <a:rPr b="0" i="0" dirty="0">
                <a:solidFill>
                  <a:srgbClr val="FFFFFF"/>
                </a:solidFill>
              </a:rPr>
              <a:t>
</a:t>
            </a:r>
            <a:r>
              <a:rPr b="0" i="0" dirty="0" err="1">
                <a:solidFill>
                  <a:srgbClr val="FFFFFF"/>
                </a:solidFill>
              </a:rPr>
              <a:t>比較し、mχ</a:t>
            </a:r>
            <a:r>
              <a:rPr b="0" i="0" dirty="0">
                <a:solidFill>
                  <a:srgbClr val="FFFFFF"/>
                </a:solidFill>
              </a:rPr>
              <a:t> ≈ 0.5〜0.8 TeV </a:t>
            </a:r>
            <a:r>
              <a:rPr b="0" i="0" dirty="0" err="1">
                <a:solidFill>
                  <a:srgbClr val="FFFFFF"/>
                </a:solidFill>
              </a:rPr>
              <a:t>のbb̄が</a:t>
            </a:r>
            <a:r>
              <a:rPr b="0" i="0" dirty="0">
                <a:solidFill>
                  <a:srgbClr val="FFFFFF"/>
                </a:solidFill>
              </a:rPr>
              <a:t>
20.76 GeV </a:t>
            </a:r>
            <a:r>
              <a:rPr b="0" i="0" dirty="0" err="1">
                <a:solidFill>
                  <a:srgbClr val="FFFFFF"/>
                </a:solidFill>
              </a:rPr>
              <a:t>の過剰を最もよく説明すると</a:t>
            </a:r>
            <a:r>
              <a:rPr b="0" i="0" dirty="0">
                <a:solidFill>
                  <a:srgbClr val="FFFFFF"/>
                </a:solidFill>
              </a:rPr>
              <a:t>
</a:t>
            </a:r>
            <a:r>
              <a:rPr b="0" i="0" dirty="0" err="1">
                <a:solidFill>
                  <a:srgbClr val="FFFFFF"/>
                </a:solidFill>
              </a:rPr>
              <a:t>結論づけた</a:t>
            </a:r>
            <a:endParaRPr b="0" i="0" dirty="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411480" y="109728"/>
            <a:ext cx="11430000" cy="430887"/>
          </a:xfrm>
          <a:prstGeom prst="rect">
            <a:avLst/>
          </a:prstGeom>
          <a:noFill/>
        </p:spPr>
        <p:txBody>
          <a:bodyPr wrap="square">
            <a:spAutoFit/>
          </a:bodyPr>
          <a:lstStyle/>
          <a:p>
            <a:pPr algn="l"/>
            <a:r>
              <a:rPr sz="2200" b="1" i="0" dirty="0">
                <a:solidFill>
                  <a:srgbClr val="FFCC00"/>
                </a:solidFill>
              </a:rPr>
              <a:t>Introduction (3/3) — </a:t>
            </a:r>
            <a:r>
              <a:rPr sz="2200" b="1" i="0" dirty="0" err="1">
                <a:solidFill>
                  <a:srgbClr val="FFCC00"/>
                </a:solidFill>
              </a:rPr>
              <a:t>本研究の目標</a:t>
            </a:r>
            <a:endParaRPr sz="2200" b="1" i="0" dirty="0">
              <a:solidFill>
                <a:srgbClr val="FFCC00"/>
              </a:solidFill>
            </a:endParaRPr>
          </a:p>
        </p:txBody>
      </p:sp>
      <p:sp>
        <p:nvSpPr>
          <p:cNvPr id="3" name="Rectangle 2"/>
          <p:cNvSpPr/>
          <p:nvPr/>
        </p:nvSpPr>
        <p:spPr>
          <a:xfrm>
            <a:off x="365760" y="658368"/>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58986" y="2724677"/>
            <a:ext cx="5303520" cy="353943"/>
          </a:xfrm>
          <a:prstGeom prst="rect">
            <a:avLst/>
          </a:prstGeom>
          <a:noFill/>
        </p:spPr>
        <p:txBody>
          <a:bodyPr wrap="square">
            <a:spAutoFit/>
          </a:bodyPr>
          <a:lstStyle/>
          <a:p>
            <a:pPr algn="l"/>
            <a:r>
              <a:rPr lang="ja-JP" altLang="en-US" sz="1700" b="1" i="0" dirty="0">
                <a:solidFill>
                  <a:srgbClr val="44CCFF"/>
                </a:solidFill>
              </a:rPr>
              <a:t>手法</a:t>
            </a:r>
            <a:endParaRPr sz="1700" b="1" i="0" dirty="0">
              <a:solidFill>
                <a:srgbClr val="44CCFF"/>
              </a:solidFill>
            </a:endParaRPr>
          </a:p>
        </p:txBody>
      </p:sp>
      <p:sp>
        <p:nvSpPr>
          <p:cNvPr id="5" name="TextBox 4"/>
          <p:cNvSpPr txBox="1"/>
          <p:nvPr/>
        </p:nvSpPr>
        <p:spPr>
          <a:xfrm>
            <a:off x="289560" y="3238975"/>
            <a:ext cx="5303520" cy="1477328"/>
          </a:xfrm>
          <a:prstGeom prst="rect">
            <a:avLst/>
          </a:prstGeom>
          <a:noFill/>
        </p:spPr>
        <p:txBody>
          <a:bodyPr wrap="square">
            <a:spAutoFit/>
          </a:bodyPr>
          <a:lstStyle/>
          <a:p>
            <a:pPr algn="l"/>
            <a:r>
              <a:rPr b="0" i="0" dirty="0">
                <a:solidFill>
                  <a:srgbClr val="FFFFFF"/>
                </a:solidFill>
              </a:rPr>
              <a:t>①  Totani (2025) </a:t>
            </a:r>
            <a:r>
              <a:rPr b="0" i="0" dirty="0" err="1">
                <a:solidFill>
                  <a:srgbClr val="FFFFFF"/>
                </a:solidFill>
              </a:rPr>
              <a:t>の解析パイプラインを</a:t>
            </a:r>
            <a:r>
              <a:rPr b="0" i="0" dirty="0">
                <a:solidFill>
                  <a:srgbClr val="FFFFFF"/>
                </a:solidFill>
              </a:rPr>
              <a:t>
    独立に実装・再現する（780週フル）
②  矮小銀河5天体に同解析を展開し
    </a:t>
            </a:r>
            <a:r>
              <a:rPr b="0" i="0" dirty="0" err="1">
                <a:solidFill>
                  <a:srgbClr val="FFFFFF"/>
                </a:solidFill>
              </a:rPr>
              <a:t>複数天体でのシグナルを検証する</a:t>
            </a:r>
            <a:endParaRPr b="0" i="0" dirty="0">
              <a:solidFill>
                <a:srgbClr val="FFFFFF"/>
              </a:solidFill>
            </a:endParaRPr>
          </a:p>
        </p:txBody>
      </p:sp>
      <p:sp>
        <p:nvSpPr>
          <p:cNvPr id="6" name="TextBox 5"/>
          <p:cNvSpPr txBox="1"/>
          <p:nvPr/>
        </p:nvSpPr>
        <p:spPr>
          <a:xfrm>
            <a:off x="289560" y="5053629"/>
            <a:ext cx="5303520" cy="353943"/>
          </a:xfrm>
          <a:prstGeom prst="rect">
            <a:avLst/>
          </a:prstGeom>
          <a:noFill/>
        </p:spPr>
        <p:txBody>
          <a:bodyPr wrap="square">
            <a:spAutoFit/>
          </a:bodyPr>
          <a:lstStyle/>
          <a:p>
            <a:pPr algn="l"/>
            <a:r>
              <a:rPr lang="ja-JP" altLang="en-US" sz="1700" b="1" i="0" dirty="0">
                <a:solidFill>
                  <a:srgbClr val="44CCFF"/>
                </a:solidFill>
              </a:rPr>
              <a:t>独自性</a:t>
            </a:r>
            <a:endParaRPr sz="1700" b="1" i="0" dirty="0">
              <a:solidFill>
                <a:srgbClr val="44CCFF"/>
              </a:solidFill>
            </a:endParaRPr>
          </a:p>
        </p:txBody>
      </p:sp>
      <p:sp>
        <p:nvSpPr>
          <p:cNvPr id="7" name="TextBox 6"/>
          <p:cNvSpPr txBox="1"/>
          <p:nvPr/>
        </p:nvSpPr>
        <p:spPr>
          <a:xfrm>
            <a:off x="289560" y="5259369"/>
            <a:ext cx="5303520" cy="923330"/>
          </a:xfrm>
          <a:prstGeom prst="rect">
            <a:avLst/>
          </a:prstGeom>
          <a:noFill/>
        </p:spPr>
        <p:txBody>
          <a:bodyPr wrap="square">
            <a:spAutoFit/>
          </a:bodyPr>
          <a:lstStyle/>
          <a:p>
            <a:pPr algn="l"/>
            <a:r>
              <a:rPr b="0" i="0" dirty="0">
                <a:solidFill>
                  <a:srgbClr val="FFFFFF"/>
                </a:solidFill>
              </a:rPr>
              <a:t>
・</a:t>
            </a:r>
            <a:r>
              <a:rPr b="0" i="0" dirty="0" err="1">
                <a:solidFill>
                  <a:srgbClr val="FFFFFF"/>
                </a:solidFill>
              </a:rPr>
              <a:t>矮小銀河展開はTotaniさんが行っていない</a:t>
            </a:r>
            <a:r>
              <a:rPr b="0" i="0" dirty="0">
                <a:solidFill>
                  <a:srgbClr val="FFFFFF"/>
                </a:solidFill>
              </a:rPr>
              <a:t>
  </a:t>
            </a:r>
            <a:r>
              <a:rPr b="0" i="0" dirty="0" err="1">
                <a:solidFill>
                  <a:srgbClr val="FFFFFF"/>
                </a:solidFill>
              </a:rPr>
              <a:t>独自解析</a:t>
            </a:r>
            <a:endParaRPr b="0" i="0" dirty="0">
              <a:solidFill>
                <a:srgbClr val="FFFFFF"/>
              </a:solidFill>
            </a:endParaRPr>
          </a:p>
        </p:txBody>
      </p:sp>
      <p:sp>
        <p:nvSpPr>
          <p:cNvPr id="8" name="TextBox 7"/>
          <p:cNvSpPr txBox="1"/>
          <p:nvPr/>
        </p:nvSpPr>
        <p:spPr>
          <a:xfrm>
            <a:off x="6126480" y="777240"/>
            <a:ext cx="5943600" cy="461665"/>
          </a:xfrm>
          <a:prstGeom prst="rect">
            <a:avLst/>
          </a:prstGeom>
          <a:noFill/>
        </p:spPr>
        <p:txBody>
          <a:bodyPr wrap="square">
            <a:spAutoFit/>
          </a:bodyPr>
          <a:lstStyle/>
          <a:p>
            <a:pPr algn="l"/>
            <a:r>
              <a:rPr sz="2400" b="1" i="0" dirty="0" err="1">
                <a:solidFill>
                  <a:srgbClr val="44CCFF"/>
                </a:solidFill>
              </a:rPr>
              <a:t>解析フロ</a:t>
            </a:r>
            <a:r>
              <a:rPr sz="2400" b="1" i="0" dirty="0">
                <a:solidFill>
                  <a:srgbClr val="44CCFF"/>
                </a:solidFill>
              </a:rPr>
              <a:t>ー</a:t>
            </a:r>
          </a:p>
        </p:txBody>
      </p:sp>
      <p:sp>
        <p:nvSpPr>
          <p:cNvPr id="9" name="TextBox 8"/>
          <p:cNvSpPr txBox="1"/>
          <p:nvPr/>
        </p:nvSpPr>
        <p:spPr>
          <a:xfrm>
            <a:off x="6126480" y="1280160"/>
            <a:ext cx="5943600" cy="369332"/>
          </a:xfrm>
          <a:prstGeom prst="rect">
            <a:avLst/>
          </a:prstGeom>
          <a:noFill/>
        </p:spPr>
        <p:txBody>
          <a:bodyPr wrap="square">
            <a:spAutoFit/>
          </a:bodyPr>
          <a:lstStyle/>
          <a:p>
            <a:pPr algn="l"/>
            <a:r>
              <a:rPr b="0" i="0" dirty="0">
                <a:solidFill>
                  <a:srgbClr val="44CCFF"/>
                </a:solidFill>
              </a:rPr>
              <a:t>Step 1：Fermi-LAT FITS 780週ダウンロード</a:t>
            </a:r>
          </a:p>
        </p:txBody>
      </p:sp>
      <p:sp>
        <p:nvSpPr>
          <p:cNvPr id="10" name="TextBox 9"/>
          <p:cNvSpPr txBox="1"/>
          <p:nvPr/>
        </p:nvSpPr>
        <p:spPr>
          <a:xfrm>
            <a:off x="6126480" y="1801367"/>
            <a:ext cx="5943600" cy="369332"/>
          </a:xfrm>
          <a:prstGeom prst="rect">
            <a:avLst/>
          </a:prstGeom>
          <a:noFill/>
        </p:spPr>
        <p:txBody>
          <a:bodyPr wrap="square">
            <a:spAutoFit/>
          </a:bodyPr>
          <a:lstStyle/>
          <a:p>
            <a:pPr algn="l"/>
            <a:r>
              <a:rPr b="0" i="0" dirty="0">
                <a:solidFill>
                  <a:srgbClr val="FFFFFF"/>
                </a:solidFill>
              </a:rPr>
              <a:t>Step 2：全天球CSV変換・フィルタ</a:t>
            </a:r>
          </a:p>
        </p:txBody>
      </p:sp>
      <p:sp>
        <p:nvSpPr>
          <p:cNvPr id="11" name="TextBox 10"/>
          <p:cNvSpPr txBox="1"/>
          <p:nvPr/>
        </p:nvSpPr>
        <p:spPr>
          <a:xfrm>
            <a:off x="6126480" y="2322575"/>
            <a:ext cx="5943600" cy="369332"/>
          </a:xfrm>
          <a:prstGeom prst="rect">
            <a:avLst/>
          </a:prstGeom>
          <a:noFill/>
        </p:spPr>
        <p:txBody>
          <a:bodyPr wrap="square">
            <a:spAutoFit/>
          </a:bodyPr>
          <a:lstStyle/>
          <a:p>
            <a:pPr algn="l"/>
            <a:r>
              <a:rPr b="0" i="0" dirty="0">
                <a:solidFill>
                  <a:srgbClr val="FFFFFF"/>
                </a:solidFill>
              </a:rPr>
              <a:t>Step 3：5成分差し引き</a:t>
            </a:r>
          </a:p>
        </p:txBody>
      </p:sp>
      <p:sp>
        <p:nvSpPr>
          <p:cNvPr id="12" name="TextBox 11"/>
          <p:cNvSpPr txBox="1"/>
          <p:nvPr/>
        </p:nvSpPr>
        <p:spPr>
          <a:xfrm>
            <a:off x="6126480" y="2843783"/>
            <a:ext cx="5943600" cy="369332"/>
          </a:xfrm>
          <a:prstGeom prst="rect">
            <a:avLst/>
          </a:prstGeom>
          <a:noFill/>
        </p:spPr>
        <p:txBody>
          <a:bodyPr wrap="square">
            <a:spAutoFit/>
          </a:bodyPr>
          <a:lstStyle/>
          <a:p>
            <a:pPr algn="l"/>
            <a:r>
              <a:rPr b="0" i="0" dirty="0">
                <a:solidFill>
                  <a:srgbClr val="FFFFFF"/>
                </a:solidFill>
              </a:rPr>
              <a:t>Step 4：NFW J-factor </a:t>
            </a:r>
            <a:r>
              <a:rPr b="0" i="0" dirty="0" err="1">
                <a:solidFill>
                  <a:srgbClr val="FFFFFF"/>
                </a:solidFill>
              </a:rPr>
              <a:t>テンプレートフィット</a:t>
            </a:r>
            <a:endParaRPr b="0" i="0" dirty="0">
              <a:solidFill>
                <a:srgbClr val="FFFFFF"/>
              </a:solidFill>
            </a:endParaRPr>
          </a:p>
        </p:txBody>
      </p:sp>
      <p:sp>
        <p:nvSpPr>
          <p:cNvPr id="13" name="TextBox 12"/>
          <p:cNvSpPr txBox="1"/>
          <p:nvPr/>
        </p:nvSpPr>
        <p:spPr>
          <a:xfrm>
            <a:off x="6126480" y="3364991"/>
            <a:ext cx="5943600" cy="369332"/>
          </a:xfrm>
          <a:prstGeom prst="rect">
            <a:avLst/>
          </a:prstGeom>
          <a:noFill/>
        </p:spPr>
        <p:txBody>
          <a:bodyPr wrap="square">
            <a:spAutoFit/>
          </a:bodyPr>
          <a:lstStyle/>
          <a:p>
            <a:pPr algn="l"/>
            <a:r>
              <a:rPr b="0" i="0" dirty="0">
                <a:solidFill>
                  <a:srgbClr val="FFCC00"/>
                </a:solidFill>
              </a:rPr>
              <a:t>結果：Bin6（20.76 </a:t>
            </a:r>
            <a:r>
              <a:rPr b="0" i="0" dirty="0" err="1">
                <a:solidFill>
                  <a:srgbClr val="FFCC00"/>
                </a:solidFill>
              </a:rPr>
              <a:t>GeV）で</a:t>
            </a:r>
            <a:r>
              <a:rPr b="0" i="0" dirty="0">
                <a:solidFill>
                  <a:srgbClr val="FFCC00"/>
                </a:solidFill>
              </a:rPr>
              <a:t> 31.03σ </a:t>
            </a:r>
            <a:r>
              <a:rPr b="0" i="0" dirty="0" err="1">
                <a:solidFill>
                  <a:srgbClr val="FFCC00"/>
                </a:solidFill>
              </a:rPr>
              <a:t>検出</a:t>
            </a:r>
            <a:endParaRPr b="0" i="0" dirty="0">
              <a:solidFill>
                <a:srgbClr val="FFCC00"/>
              </a:solidFill>
            </a:endParaRPr>
          </a:p>
        </p:txBody>
      </p:sp>
      <p:sp>
        <p:nvSpPr>
          <p:cNvPr id="14" name="TextBox 13"/>
          <p:cNvSpPr txBox="1"/>
          <p:nvPr/>
        </p:nvSpPr>
        <p:spPr>
          <a:xfrm>
            <a:off x="6094412" y="3977639"/>
            <a:ext cx="5943600" cy="369332"/>
          </a:xfrm>
          <a:prstGeom prst="rect">
            <a:avLst/>
          </a:prstGeom>
          <a:noFill/>
        </p:spPr>
        <p:txBody>
          <a:bodyPr wrap="square">
            <a:spAutoFit/>
          </a:bodyPr>
          <a:lstStyle/>
          <a:p>
            <a:pPr algn="l"/>
            <a:r>
              <a:rPr b="0" i="0" dirty="0">
                <a:solidFill>
                  <a:srgbClr val="44CCFF"/>
                </a:solidFill>
              </a:rPr>
              <a:t>展開：矮小銀河5天体に同解析を適用</a:t>
            </a:r>
          </a:p>
        </p:txBody>
      </p:sp>
      <p:sp>
        <p:nvSpPr>
          <p:cNvPr id="15" name="TextBox 14"/>
          <p:cNvSpPr txBox="1"/>
          <p:nvPr/>
        </p:nvSpPr>
        <p:spPr>
          <a:xfrm>
            <a:off x="6126480" y="4590288"/>
            <a:ext cx="5943600" cy="369332"/>
          </a:xfrm>
          <a:prstGeom prst="rect">
            <a:avLst/>
          </a:prstGeom>
          <a:noFill/>
        </p:spPr>
        <p:txBody>
          <a:bodyPr wrap="square">
            <a:spAutoFit/>
          </a:bodyPr>
          <a:lstStyle/>
          <a:p>
            <a:pPr algn="l"/>
            <a:r>
              <a:rPr b="0" i="0" dirty="0" err="1">
                <a:solidFill>
                  <a:srgbClr val="FFCC00"/>
                </a:solidFill>
              </a:rPr>
              <a:t>結果：Coma</a:t>
            </a:r>
            <a:r>
              <a:rPr b="0" i="0" dirty="0">
                <a:solidFill>
                  <a:srgbClr val="FFCC00"/>
                </a:solidFill>
              </a:rPr>
              <a:t> Berenices で 4.54σ </a:t>
            </a:r>
            <a:r>
              <a:rPr b="0" i="0" dirty="0" err="1">
                <a:solidFill>
                  <a:srgbClr val="FFCC00"/>
                </a:solidFill>
              </a:rPr>
              <a:t>の兆候</a:t>
            </a:r>
            <a:endParaRPr b="0" i="0" dirty="0">
              <a:solidFill>
                <a:srgbClr val="FFCC00"/>
              </a:solidFill>
            </a:endParaRPr>
          </a:p>
        </p:txBody>
      </p:sp>
      <p:sp>
        <p:nvSpPr>
          <p:cNvPr id="17" name="TextBox 16">
            <a:extLst>
              <a:ext uri="{FF2B5EF4-FFF2-40B4-BE49-F238E27FC236}">
                <a16:creationId xmlns:a16="http://schemas.microsoft.com/office/drawing/2014/main" id="{71227C02-FFC0-3E75-4BFC-521C43F3B475}"/>
              </a:ext>
            </a:extLst>
          </p:cNvPr>
          <p:cNvSpPr txBox="1"/>
          <p:nvPr/>
        </p:nvSpPr>
        <p:spPr>
          <a:xfrm>
            <a:off x="289560" y="1290125"/>
            <a:ext cx="5442373" cy="369332"/>
          </a:xfrm>
          <a:prstGeom prst="rect">
            <a:avLst/>
          </a:prstGeom>
          <a:noFill/>
        </p:spPr>
        <p:txBody>
          <a:bodyPr wrap="square">
            <a:spAutoFit/>
          </a:bodyPr>
          <a:lstStyle/>
          <a:p>
            <a:pPr marL="342900" indent="-342900">
              <a:buAutoNum type="circleNumDbPlain"/>
            </a:pPr>
            <a:r>
              <a:rPr lang="en-US" altLang="ja-JP" dirty="0">
                <a:solidFill>
                  <a:schemeClr val="bg1"/>
                </a:solidFill>
              </a:rPr>
              <a:t>X</a:t>
            </a:r>
            <a:endParaRPr lang="ja-JP" altLang="en-US" dirty="0">
              <a:solidFill>
                <a:schemeClr val="bg1"/>
              </a:solidFill>
            </a:endParaRPr>
          </a:p>
        </p:txBody>
      </p:sp>
      <p:sp>
        <p:nvSpPr>
          <p:cNvPr id="18" name="TextBox 17">
            <a:extLst>
              <a:ext uri="{FF2B5EF4-FFF2-40B4-BE49-F238E27FC236}">
                <a16:creationId xmlns:a16="http://schemas.microsoft.com/office/drawing/2014/main" id="{9FE63598-1D79-519C-2EE9-B8DB57B6C723}"/>
              </a:ext>
            </a:extLst>
          </p:cNvPr>
          <p:cNvSpPr txBox="1"/>
          <p:nvPr/>
        </p:nvSpPr>
        <p:spPr>
          <a:xfrm>
            <a:off x="289560" y="863410"/>
            <a:ext cx="5303520" cy="353943"/>
          </a:xfrm>
          <a:prstGeom prst="rect">
            <a:avLst/>
          </a:prstGeom>
          <a:noFill/>
        </p:spPr>
        <p:txBody>
          <a:bodyPr wrap="square">
            <a:spAutoFit/>
          </a:bodyPr>
          <a:lstStyle/>
          <a:p>
            <a:pPr algn="l"/>
            <a:r>
              <a:rPr lang="ja-JP" altLang="en-US" sz="1700" b="1" i="0" dirty="0">
                <a:solidFill>
                  <a:srgbClr val="44CCFF"/>
                </a:solidFill>
              </a:rPr>
              <a:t>目的</a:t>
            </a:r>
            <a:endParaRPr sz="1700" b="1" i="0" dirty="0">
              <a:solidFill>
                <a:srgbClr val="44CC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430887"/>
          </a:xfrm>
          <a:prstGeom prst="rect">
            <a:avLst/>
          </a:prstGeom>
          <a:noFill/>
        </p:spPr>
        <p:txBody>
          <a:bodyPr wrap="square">
            <a:spAutoFit/>
          </a:bodyPr>
          <a:lstStyle/>
          <a:p>
            <a:pPr algn="l"/>
            <a:r>
              <a:rPr sz="2200" b="1" i="0" dirty="0">
                <a:solidFill>
                  <a:srgbClr val="FFCC00"/>
                </a:solidFill>
              </a:rPr>
              <a:t>Methods (1/</a:t>
            </a:r>
            <a:r>
              <a:rPr lang="en-US" altLang="ja-JP" sz="2200" b="1" dirty="0">
                <a:solidFill>
                  <a:srgbClr val="FFCC00"/>
                </a:solidFill>
              </a:rPr>
              <a:t>6</a:t>
            </a:r>
            <a:r>
              <a:rPr sz="2200" b="1" i="0" dirty="0">
                <a:solidFill>
                  <a:srgbClr val="FFCC00"/>
                </a:solidFill>
              </a:rPr>
              <a:t>) — </a:t>
            </a:r>
            <a:r>
              <a:rPr sz="2200" b="1" i="0" dirty="0" err="1">
                <a:solidFill>
                  <a:srgbClr val="FFCC00"/>
                </a:solidFill>
              </a:rPr>
              <a:t>データ取得</a:t>
            </a:r>
            <a:endParaRPr sz="2200" b="1" i="0" dirty="0">
              <a:solidFill>
                <a:srgbClr val="FFCC00"/>
              </a:solidFill>
            </a:endParaRP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749808"/>
            <a:ext cx="5486400" cy="411480"/>
          </a:xfrm>
          <a:prstGeom prst="rect">
            <a:avLst/>
          </a:prstGeom>
          <a:noFill/>
        </p:spPr>
        <p:txBody>
          <a:bodyPr wrap="square">
            <a:spAutoFit/>
          </a:bodyPr>
          <a:lstStyle/>
          <a:p>
            <a:pPr algn="l"/>
            <a:r>
              <a:rPr sz="1700" b="1" i="0">
                <a:solidFill>
                  <a:srgbClr val="44CCFF"/>
                </a:solidFill>
              </a:rPr>
              <a:t>Fermi-LAT  /  Pass 8 Release 3</a:t>
            </a:r>
          </a:p>
        </p:txBody>
      </p:sp>
      <p:sp>
        <p:nvSpPr>
          <p:cNvPr id="5" name="TextBox 4"/>
          <p:cNvSpPr txBox="1"/>
          <p:nvPr/>
        </p:nvSpPr>
        <p:spPr>
          <a:xfrm>
            <a:off x="365760" y="1207008"/>
            <a:ext cx="5486400" cy="1077218"/>
          </a:xfrm>
          <a:prstGeom prst="rect">
            <a:avLst/>
          </a:prstGeom>
          <a:noFill/>
        </p:spPr>
        <p:txBody>
          <a:bodyPr wrap="square">
            <a:spAutoFit/>
          </a:bodyPr>
          <a:lstStyle/>
          <a:p>
            <a:pPr algn="l"/>
            <a:r>
              <a:rPr sz="1600" b="0" i="0" dirty="0">
                <a:solidFill>
                  <a:srgbClr val="FFFFFF"/>
                </a:solidFill>
              </a:rPr>
              <a:t>・NASAの宇宙ガンマ線望遠鏡（2008年6月打ち上げ）
・</a:t>
            </a:r>
            <a:r>
              <a:rPr sz="1600" b="0" i="0" dirty="0" err="1">
                <a:solidFill>
                  <a:srgbClr val="FFFFFF"/>
                </a:solidFill>
              </a:rPr>
              <a:t>ULTRACLEANクラス：宇宙線混入を最小化した最高純度データ</a:t>
            </a:r>
            <a:r>
              <a:rPr sz="1600" b="0" i="0" dirty="0">
                <a:solidFill>
                  <a:srgbClr val="FFFFFF"/>
                </a:solidFill>
              </a:rPr>
              <a:t>
・Totani (2025) </a:t>
            </a:r>
            <a:r>
              <a:rPr sz="1600" b="0" i="0" dirty="0" err="1">
                <a:solidFill>
                  <a:srgbClr val="FFFFFF"/>
                </a:solidFill>
              </a:rPr>
              <a:t>と同じデータセット・解析手法を使用</a:t>
            </a:r>
            <a:endParaRPr sz="1600" b="0" i="0" dirty="0">
              <a:solidFill>
                <a:srgbClr val="FFFFFF"/>
              </a:solidFill>
            </a:endParaRPr>
          </a:p>
        </p:txBody>
      </p:sp>
      <p:sp>
        <p:nvSpPr>
          <p:cNvPr id="6" name="TextBox 5"/>
          <p:cNvSpPr txBox="1"/>
          <p:nvPr/>
        </p:nvSpPr>
        <p:spPr>
          <a:xfrm>
            <a:off x="365760" y="2578608"/>
            <a:ext cx="5486400" cy="338554"/>
          </a:xfrm>
          <a:prstGeom prst="rect">
            <a:avLst/>
          </a:prstGeom>
          <a:noFill/>
        </p:spPr>
        <p:txBody>
          <a:bodyPr wrap="square">
            <a:spAutoFit/>
          </a:bodyPr>
          <a:lstStyle/>
          <a:p>
            <a:pPr algn="l"/>
            <a:r>
              <a:rPr sz="1600" b="1" i="0" dirty="0">
                <a:solidFill>
                  <a:srgbClr val="44CCFF"/>
                </a:solidFill>
              </a:rPr>
              <a:t>【</a:t>
            </a:r>
            <a:r>
              <a:rPr sz="1600" b="1" i="0" dirty="0" err="1">
                <a:solidFill>
                  <a:srgbClr val="44CCFF"/>
                </a:solidFill>
              </a:rPr>
              <a:t>取得データ</a:t>
            </a:r>
            <a:r>
              <a:rPr sz="1600" b="1" i="0" dirty="0">
                <a:solidFill>
                  <a:srgbClr val="44CCFF"/>
                </a:solidFill>
              </a:rPr>
              <a:t>】  w009–w788（780週 / 15年）</a:t>
            </a:r>
          </a:p>
        </p:txBody>
      </p:sp>
      <p:sp>
        <p:nvSpPr>
          <p:cNvPr id="7" name="TextBox 6"/>
          <p:cNvSpPr txBox="1"/>
          <p:nvPr/>
        </p:nvSpPr>
        <p:spPr>
          <a:xfrm>
            <a:off x="365760" y="3035808"/>
            <a:ext cx="5486400" cy="1077218"/>
          </a:xfrm>
          <a:prstGeom prst="rect">
            <a:avLst/>
          </a:prstGeom>
          <a:noFill/>
        </p:spPr>
        <p:txBody>
          <a:bodyPr wrap="square">
            <a:spAutoFit/>
          </a:bodyPr>
          <a:lstStyle/>
          <a:p>
            <a:pPr algn="l"/>
            <a:r>
              <a:rPr sz="1600" b="0" i="0" dirty="0">
                <a:solidFill>
                  <a:srgbClr val="FFFFFF"/>
                </a:solidFill>
              </a:rPr>
              <a:t>・総イベント数：39,534,267（地球大気バックグラウンド除去後）
　※ </a:t>
            </a:r>
            <a:r>
              <a:rPr sz="1600" b="0" i="0" dirty="0" err="1">
                <a:solidFill>
                  <a:srgbClr val="FFFFFF"/>
                </a:solidFill>
              </a:rPr>
              <a:t>天頂角</a:t>
            </a:r>
            <a:r>
              <a:rPr sz="1600" b="0" i="0" dirty="0">
                <a:solidFill>
                  <a:srgbClr val="FFFFFF"/>
                </a:solidFill>
              </a:rPr>
              <a:t> &gt; 100° </a:t>
            </a:r>
            <a:r>
              <a:rPr sz="1600" b="0" i="0" dirty="0" err="1">
                <a:solidFill>
                  <a:srgbClr val="FFFFFF"/>
                </a:solidFill>
              </a:rPr>
              <a:t>のイベントを除外（地球大気由来のγ線を排除するため</a:t>
            </a:r>
            <a:r>
              <a:rPr sz="1400" b="0" i="0" dirty="0">
                <a:solidFill>
                  <a:srgbClr val="FFFFFF"/>
                </a:solidFill>
              </a:rPr>
              <a:t>）</a:t>
            </a:r>
          </a:p>
        </p:txBody>
      </p:sp>
      <p:sp>
        <p:nvSpPr>
          <p:cNvPr id="8" name="TextBox 7"/>
          <p:cNvSpPr txBox="1"/>
          <p:nvPr/>
        </p:nvSpPr>
        <p:spPr>
          <a:xfrm>
            <a:off x="365760" y="4173184"/>
            <a:ext cx="5486400" cy="338554"/>
          </a:xfrm>
          <a:prstGeom prst="rect">
            <a:avLst/>
          </a:prstGeom>
          <a:noFill/>
        </p:spPr>
        <p:txBody>
          <a:bodyPr wrap="square">
            <a:spAutoFit/>
          </a:bodyPr>
          <a:lstStyle/>
          <a:p>
            <a:pPr algn="l"/>
            <a:r>
              <a:rPr sz="1600" b="1" i="0" dirty="0">
                <a:solidFill>
                  <a:srgbClr val="44CCFF"/>
                </a:solidFill>
              </a:rPr>
              <a:t>【</a:t>
            </a:r>
            <a:r>
              <a:rPr sz="1600" b="1" i="0" dirty="0" err="1">
                <a:solidFill>
                  <a:srgbClr val="44CCFF"/>
                </a:solidFill>
              </a:rPr>
              <a:t>解析領域</a:t>
            </a:r>
            <a:r>
              <a:rPr sz="1600" b="1" i="0" dirty="0">
                <a:solidFill>
                  <a:srgbClr val="44CCFF"/>
                </a:solidFill>
              </a:rPr>
              <a:t>】  Region of </a:t>
            </a:r>
            <a:r>
              <a:rPr sz="1600" b="1" i="0" dirty="0" err="1">
                <a:solidFill>
                  <a:srgbClr val="44CCFF"/>
                </a:solidFill>
              </a:rPr>
              <a:t>Interest（ROI</a:t>
            </a:r>
            <a:r>
              <a:rPr sz="1600" b="1" i="0" dirty="0">
                <a:solidFill>
                  <a:srgbClr val="44CCFF"/>
                </a:solidFill>
              </a:rPr>
              <a:t>）</a:t>
            </a:r>
          </a:p>
        </p:txBody>
      </p:sp>
      <p:sp>
        <p:nvSpPr>
          <p:cNvPr id="9" name="TextBox 8"/>
          <p:cNvSpPr txBox="1"/>
          <p:nvPr/>
        </p:nvSpPr>
        <p:spPr>
          <a:xfrm>
            <a:off x="365760" y="4498848"/>
            <a:ext cx="5728652" cy="830997"/>
          </a:xfrm>
          <a:prstGeom prst="rect">
            <a:avLst/>
          </a:prstGeom>
          <a:noFill/>
        </p:spPr>
        <p:txBody>
          <a:bodyPr wrap="square">
            <a:spAutoFit/>
          </a:bodyPr>
          <a:lstStyle/>
          <a:p>
            <a:r>
              <a:rPr sz="1600" b="0" i="0" dirty="0">
                <a:solidFill>
                  <a:srgbClr val="FFFFFF"/>
                </a:solidFill>
              </a:rPr>
              <a:t>・</a:t>
            </a:r>
            <a:r>
              <a:rPr sz="1600" b="0" i="0" dirty="0" err="1">
                <a:solidFill>
                  <a:srgbClr val="FFFFFF"/>
                </a:solidFill>
              </a:rPr>
              <a:t>銀河経度</a:t>
            </a:r>
            <a:r>
              <a:rPr sz="1600" b="0" i="0" dirty="0">
                <a:solidFill>
                  <a:srgbClr val="FFFFFF"/>
                </a:solidFill>
              </a:rPr>
              <a:t>  |l| ≤ 60°
・</a:t>
            </a:r>
            <a:r>
              <a:rPr sz="1600" b="0" i="0" dirty="0" err="1">
                <a:solidFill>
                  <a:srgbClr val="FFFFFF"/>
                </a:solidFill>
              </a:rPr>
              <a:t>銀河緯度</a:t>
            </a:r>
            <a:r>
              <a:rPr sz="1600" b="0" i="0" dirty="0">
                <a:solidFill>
                  <a:srgbClr val="FFFFFF"/>
                </a:solidFill>
              </a:rPr>
              <a:t> </a:t>
            </a:r>
            <a:r>
              <a:rPr lang="en-US" altLang="ja-JP" sz="1600" dirty="0">
                <a:solidFill>
                  <a:srgbClr val="FFFFFF"/>
                </a:solidFill>
              </a:rPr>
              <a:t>10</a:t>
            </a:r>
            <a:r>
              <a:rPr lang="en-US" sz="1600" dirty="0">
                <a:solidFill>
                  <a:srgbClr val="FFFFFF"/>
                </a:solidFill>
              </a:rPr>
              <a:t>≤ </a:t>
            </a:r>
            <a:r>
              <a:rPr sz="1600" b="0" i="0" dirty="0">
                <a:solidFill>
                  <a:srgbClr val="FFFFFF"/>
                </a:solidFill>
              </a:rPr>
              <a:t>|b| </a:t>
            </a:r>
            <a:r>
              <a:rPr lang="en-US" sz="1600" dirty="0">
                <a:solidFill>
                  <a:srgbClr val="FFFFFF"/>
                </a:solidFill>
              </a:rPr>
              <a:t>≤</a:t>
            </a:r>
            <a:r>
              <a:rPr sz="1600" b="0" i="0" dirty="0">
                <a:solidFill>
                  <a:srgbClr val="FFFFFF"/>
                </a:solidFill>
              </a:rPr>
              <a:t> </a:t>
            </a:r>
            <a:r>
              <a:rPr lang="en-US" altLang="ja-JP" sz="1600" dirty="0">
                <a:solidFill>
                  <a:srgbClr val="FFFFFF"/>
                </a:solidFill>
              </a:rPr>
              <a:t>6</a:t>
            </a:r>
            <a:r>
              <a:rPr sz="1600" b="0" i="0" dirty="0">
                <a:solidFill>
                  <a:srgbClr val="FFFFFF"/>
                </a:solidFill>
              </a:rPr>
              <a:t>0°  （</a:t>
            </a:r>
            <a:r>
              <a:rPr sz="1600" b="0" i="0" dirty="0" err="1">
                <a:solidFill>
                  <a:srgbClr val="FFFFFF"/>
                </a:solidFill>
              </a:rPr>
              <a:t>銀河面を除外</a:t>
            </a:r>
            <a:r>
              <a:rPr sz="1600" b="0" i="0" dirty="0">
                <a:solidFill>
                  <a:srgbClr val="FFFFFF"/>
                </a:solidFill>
              </a:rPr>
              <a:t>）
・ROI内イベント数：5,451,757（全13エネルギービン合計）</a:t>
            </a:r>
          </a:p>
        </p:txBody>
      </p:sp>
      <p:sp>
        <p:nvSpPr>
          <p:cNvPr id="10" name="TextBox 9"/>
          <p:cNvSpPr txBox="1"/>
          <p:nvPr/>
        </p:nvSpPr>
        <p:spPr>
          <a:xfrm>
            <a:off x="233413" y="5741604"/>
            <a:ext cx="5486400" cy="584775"/>
          </a:xfrm>
          <a:prstGeom prst="rect">
            <a:avLst/>
          </a:prstGeom>
          <a:noFill/>
        </p:spPr>
        <p:txBody>
          <a:bodyPr wrap="square">
            <a:spAutoFit/>
          </a:bodyPr>
          <a:lstStyle/>
          <a:p>
            <a:pPr algn="l"/>
            <a:r>
              <a:rPr sz="1600" b="0" i="1" dirty="0" err="1">
                <a:solidFill>
                  <a:srgbClr val="AAAAAA"/>
                </a:solidFill>
              </a:rPr>
              <a:t>銀河面</a:t>
            </a:r>
            <a:r>
              <a:rPr sz="1600" b="0" i="1" dirty="0">
                <a:solidFill>
                  <a:srgbClr val="AAAAAA"/>
                </a:solidFill>
              </a:rPr>
              <a:t>（|b|&lt;10°）</a:t>
            </a:r>
            <a:r>
              <a:rPr sz="1600" b="0" i="1" dirty="0" err="1">
                <a:solidFill>
                  <a:srgbClr val="AAAAAA"/>
                </a:solidFill>
              </a:rPr>
              <a:t>を除くのは</a:t>
            </a:r>
            <a:r>
              <a:rPr sz="1600" b="0" i="1" dirty="0">
                <a:solidFill>
                  <a:srgbClr val="AAAAAA"/>
                </a:solidFill>
              </a:rPr>
              <a:t>
</a:t>
            </a:r>
            <a:r>
              <a:rPr sz="1600" b="0" i="1" dirty="0" err="1">
                <a:solidFill>
                  <a:srgbClr val="AAAAAA"/>
                </a:solidFill>
              </a:rPr>
              <a:t>星間ガスが濃くDM由来のγ線と区別できないため</a:t>
            </a:r>
            <a:endParaRPr sz="1600" b="0" i="1" dirty="0">
              <a:solidFill>
                <a:srgbClr val="AAAAAA"/>
              </a:solidFill>
            </a:endParaRPr>
          </a:p>
        </p:txBody>
      </p:sp>
      <p:pic>
        <p:nvPicPr>
          <p:cNvPr id="11" name="Picture 10" descr="skymap_bin06_20.76GeV.png"/>
          <p:cNvPicPr>
            <a:picLocks noChangeAspect="1"/>
          </p:cNvPicPr>
          <p:nvPr/>
        </p:nvPicPr>
        <p:blipFill>
          <a:blip r:embed="rId3"/>
          <a:stretch>
            <a:fillRect/>
          </a:stretch>
        </p:blipFill>
        <p:spPr>
          <a:xfrm>
            <a:off x="6080760" y="749808"/>
            <a:ext cx="6035040" cy="5273335"/>
          </a:xfrm>
          <a:prstGeom prst="rect">
            <a:avLst/>
          </a:prstGeom>
        </p:spPr>
      </p:pic>
      <p:sp>
        <p:nvSpPr>
          <p:cNvPr id="12" name="TextBox 11"/>
          <p:cNvSpPr txBox="1"/>
          <p:nvPr/>
        </p:nvSpPr>
        <p:spPr>
          <a:xfrm>
            <a:off x="6080760" y="6068863"/>
            <a:ext cx="6035040" cy="347472"/>
          </a:xfrm>
          <a:prstGeom prst="rect">
            <a:avLst/>
          </a:prstGeom>
          <a:noFill/>
        </p:spPr>
        <p:txBody>
          <a:bodyPr wrap="square">
            <a:spAutoFit/>
          </a:bodyPr>
          <a:lstStyle/>
          <a:p>
            <a:pPr algn="l"/>
            <a:r>
              <a:rPr sz="1400" b="1" i="0">
                <a:solidFill>
                  <a:srgbClr val="FFCC00"/>
                </a:solidFill>
              </a:rPr>
              <a:t>Bin6（20.76 GeV）生カウントマップ  [780週・w009–w788]</a:t>
            </a:r>
          </a:p>
        </p:txBody>
      </p:sp>
      <p:sp>
        <p:nvSpPr>
          <p:cNvPr id="13" name="TextBox 12"/>
          <p:cNvSpPr txBox="1"/>
          <p:nvPr/>
        </p:nvSpPr>
        <p:spPr>
          <a:xfrm>
            <a:off x="6080760" y="6434623"/>
            <a:ext cx="6035040" cy="320040"/>
          </a:xfrm>
          <a:prstGeom prst="rect">
            <a:avLst/>
          </a:prstGeom>
          <a:noFill/>
        </p:spPr>
        <p:txBody>
          <a:bodyPr wrap="square">
            <a:spAutoFit/>
          </a:bodyPr>
          <a:lstStyle/>
          <a:p>
            <a:pPr algn="l"/>
            <a:r>
              <a:rPr sz="1400" b="0" i="0">
                <a:solidFill>
                  <a:srgbClr val="AAAAAA"/>
                </a:solidFill>
              </a:rPr>
              <a:t>中央の白帯 = 銀河面マスク（|b|&lt;10°）解析除外領域</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502920"/>
          </a:xfrm>
          <a:prstGeom prst="rect">
            <a:avLst/>
          </a:prstGeom>
          <a:noFill/>
        </p:spPr>
        <p:txBody>
          <a:bodyPr wrap="square">
            <a:spAutoFit/>
          </a:bodyPr>
          <a:lstStyle/>
          <a:p>
            <a:pPr algn="l"/>
            <a:r>
              <a:rPr sz="2200" b="1" i="0">
                <a:solidFill>
                  <a:srgbClr val="FFCC00"/>
                </a:solidFill>
              </a:rPr>
              <a:t>Methods (2/6) — Step 1 — 等方背景（Isotropic）差し引き</a:t>
            </a:r>
          </a:p>
        </p:txBody>
      </p:sp>
      <p:sp>
        <p:nvSpPr>
          <p:cNvPr id="3" name="Rectangle 2"/>
          <p:cNvSpPr/>
          <p:nvPr/>
        </p:nvSpPr>
        <p:spPr>
          <a:xfrm>
            <a:off x="365760" y="658368"/>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749808"/>
            <a:ext cx="1371600" cy="365760"/>
          </a:xfrm>
          <a:prstGeom prst="rect">
            <a:avLst/>
          </a:prstGeom>
          <a:solidFill>
            <a:srgbClr val="44CCFF"/>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dirty="0">
                <a:solidFill>
                  <a:srgbClr val="05051A"/>
                </a:solidFill>
              </a:rPr>
              <a:t>Step </a:t>
            </a:r>
            <a:r>
              <a:rPr lang="en-US" altLang="ja-JP" sz="1400" b="1" dirty="0">
                <a:solidFill>
                  <a:srgbClr val="05051A"/>
                </a:solidFill>
              </a:rPr>
              <a:t>1</a:t>
            </a:r>
            <a:r>
              <a:rPr sz="1400" b="1" dirty="0">
                <a:solidFill>
                  <a:srgbClr val="05051A"/>
                </a:solidFill>
              </a:rPr>
              <a:t>/5</a:t>
            </a:r>
          </a:p>
        </p:txBody>
      </p:sp>
      <p:sp>
        <p:nvSpPr>
          <p:cNvPr id="5" name="TextBox 4"/>
          <p:cNvSpPr txBox="1"/>
          <p:nvPr/>
        </p:nvSpPr>
        <p:spPr>
          <a:xfrm>
            <a:off x="365760" y="1188720"/>
            <a:ext cx="5303520" cy="365760"/>
          </a:xfrm>
          <a:prstGeom prst="rect">
            <a:avLst/>
          </a:prstGeom>
          <a:noFill/>
        </p:spPr>
        <p:txBody>
          <a:bodyPr wrap="square">
            <a:spAutoFit/>
          </a:bodyPr>
          <a:lstStyle/>
          <a:p>
            <a:pPr algn="l"/>
            <a:r>
              <a:rPr sz="1500" b="1" i="0">
                <a:solidFill>
                  <a:srgbClr val="44CCFF"/>
                </a:solidFill>
              </a:rPr>
              <a:t>等方背景とは</a:t>
            </a:r>
          </a:p>
        </p:txBody>
      </p:sp>
      <p:sp>
        <p:nvSpPr>
          <p:cNvPr id="6" name="TextBox 5"/>
          <p:cNvSpPr txBox="1"/>
          <p:nvPr/>
        </p:nvSpPr>
        <p:spPr>
          <a:xfrm>
            <a:off x="365760" y="1627632"/>
            <a:ext cx="5303520" cy="1005840"/>
          </a:xfrm>
          <a:prstGeom prst="rect">
            <a:avLst/>
          </a:prstGeom>
          <a:noFill/>
        </p:spPr>
        <p:txBody>
          <a:bodyPr wrap="square">
            <a:spAutoFit/>
          </a:bodyPr>
          <a:lstStyle/>
          <a:p>
            <a:pPr algn="l"/>
            <a:r>
              <a:rPr sz="1400" b="0" i="0">
                <a:solidFill>
                  <a:srgbClr val="FFFFFF"/>
                </a:solidFill>
              </a:rPr>
              <a:t>宇宙のどの方向にも一様に存在するγ線バックグラウンド。
宇宙線が銀河系外の物質と反応して生じる拡散放射と、
未分解のブレーザー群の積み重なりが主な成分。</a:t>
            </a:r>
          </a:p>
        </p:txBody>
      </p:sp>
      <p:sp>
        <p:nvSpPr>
          <p:cNvPr id="7" name="Rectangle 6"/>
          <p:cNvSpPr/>
          <p:nvPr/>
        </p:nvSpPr>
        <p:spPr>
          <a:xfrm>
            <a:off x="365760" y="2697480"/>
            <a:ext cx="5303520" cy="274320"/>
          </a:xfrm>
          <a:prstGeom prst="rect">
            <a:avLst/>
          </a:prstGeom>
          <a:solidFill>
            <a:srgbClr val="1A3A1A"/>
          </a:solidFill>
          <a:ln>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715768"/>
            <a:ext cx="5120640" cy="256032"/>
          </a:xfrm>
          <a:prstGeom prst="rect">
            <a:avLst/>
          </a:prstGeom>
          <a:noFill/>
        </p:spPr>
        <p:txBody>
          <a:bodyPr wrap="square">
            <a:spAutoFit/>
          </a:bodyPr>
          <a:lstStyle/>
          <a:p>
            <a:pPr algn="l"/>
            <a:r>
              <a:rPr sz="1400" b="1" i="0">
                <a:solidFill>
                  <a:srgbClr val="44FF88"/>
                </a:solidFill>
              </a:rPr>
              <a:t>▶ Totaniの手法</a:t>
            </a:r>
          </a:p>
        </p:txBody>
      </p:sp>
      <p:sp>
        <p:nvSpPr>
          <p:cNvPr id="9" name="TextBox 8"/>
          <p:cNvSpPr txBox="1"/>
          <p:nvPr/>
        </p:nvSpPr>
        <p:spPr>
          <a:xfrm>
            <a:off x="457200" y="3017520"/>
            <a:ext cx="5120640" cy="731520"/>
          </a:xfrm>
          <a:prstGeom prst="rect">
            <a:avLst/>
          </a:prstGeom>
          <a:noFill/>
        </p:spPr>
        <p:txBody>
          <a:bodyPr wrap="square">
            <a:spAutoFit/>
          </a:bodyPr>
          <a:lstStyle/>
          <a:p>
            <a:pPr algn="l"/>
            <a:r>
              <a:rPr sz="1400" b="0" i="0">
                <a:solidFill>
                  <a:srgbClr val="FFFFFF"/>
                </a:solidFill>
              </a:rPr>
              <a:t>|b| &gt; 50° の高銀緯領域の平均カウント密度を計算し、
全ピクセルから一定値として引く</a:t>
            </a:r>
          </a:p>
        </p:txBody>
      </p:sp>
      <p:sp>
        <p:nvSpPr>
          <p:cNvPr id="10" name="Rectangle 9"/>
          <p:cNvSpPr/>
          <p:nvPr/>
        </p:nvSpPr>
        <p:spPr>
          <a:xfrm>
            <a:off x="365760" y="3703320"/>
            <a:ext cx="5303520" cy="274320"/>
          </a:xfrm>
          <a:prstGeom prst="rect">
            <a:avLst/>
          </a:prstGeom>
          <a:solidFill>
            <a:srgbClr val="3A2A0A"/>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721607"/>
            <a:ext cx="5120640" cy="256032"/>
          </a:xfrm>
          <a:prstGeom prst="rect">
            <a:avLst/>
          </a:prstGeom>
          <a:noFill/>
        </p:spPr>
        <p:txBody>
          <a:bodyPr wrap="square">
            <a:spAutoFit/>
          </a:bodyPr>
          <a:lstStyle/>
          <a:p>
            <a:pPr algn="l"/>
            <a:r>
              <a:rPr sz="1400" b="1" i="0">
                <a:solidFill>
                  <a:srgbClr val="FFCC00"/>
                </a:solidFill>
              </a:rPr>
              <a:t>▶ 今回の実装</a:t>
            </a:r>
          </a:p>
        </p:txBody>
      </p:sp>
      <p:sp>
        <p:nvSpPr>
          <p:cNvPr id="12" name="TextBox 11"/>
          <p:cNvSpPr txBox="1"/>
          <p:nvPr/>
        </p:nvSpPr>
        <p:spPr>
          <a:xfrm>
            <a:off x="457200" y="4023359"/>
            <a:ext cx="5120640" cy="731520"/>
          </a:xfrm>
          <a:prstGeom prst="rect">
            <a:avLst/>
          </a:prstGeom>
          <a:noFill/>
        </p:spPr>
        <p:txBody>
          <a:bodyPr wrap="square">
            <a:spAutoFit/>
          </a:bodyPr>
          <a:lstStyle/>
          <a:p>
            <a:pPr algn="l"/>
            <a:r>
              <a:rPr sz="1400" b="0" i="0" dirty="0" err="1">
                <a:solidFill>
                  <a:srgbClr val="FFFFFF"/>
                </a:solidFill>
              </a:rPr>
              <a:t>同じ手法を実装</a:t>
            </a:r>
            <a:r>
              <a:rPr sz="1400" b="0" i="0" dirty="0">
                <a:solidFill>
                  <a:srgbClr val="FFFFFF"/>
                </a:solidFill>
              </a:rPr>
              <a:t> ✓
|b| &gt; 50° </a:t>
            </a:r>
            <a:r>
              <a:rPr sz="1400" b="0" i="0" dirty="0" err="1">
                <a:solidFill>
                  <a:srgbClr val="FFFFFF"/>
                </a:solidFill>
              </a:rPr>
              <a:t>平均</a:t>
            </a:r>
            <a:r>
              <a:rPr sz="1400" b="0" i="0" dirty="0">
                <a:solidFill>
                  <a:srgbClr val="FFFFFF"/>
                </a:solidFill>
              </a:rPr>
              <a:t> → 全120×120ピクセルから減算</a:t>
            </a:r>
          </a:p>
        </p:txBody>
      </p:sp>
      <p:sp>
        <p:nvSpPr>
          <p:cNvPr id="13" name="TextBox 12"/>
          <p:cNvSpPr txBox="1"/>
          <p:nvPr/>
        </p:nvSpPr>
        <p:spPr>
          <a:xfrm>
            <a:off x="365760" y="4754880"/>
            <a:ext cx="5303520" cy="365760"/>
          </a:xfrm>
          <a:prstGeom prst="rect">
            <a:avLst/>
          </a:prstGeom>
          <a:noFill/>
        </p:spPr>
        <p:txBody>
          <a:bodyPr wrap="square">
            <a:spAutoFit/>
          </a:bodyPr>
          <a:lstStyle/>
          <a:p>
            <a:pPr algn="l"/>
            <a:r>
              <a:rPr sz="1400" b="1" i="0">
                <a:solidFill>
                  <a:srgbClr val="44FF88"/>
                </a:solidFill>
              </a:rPr>
              <a:t>✓ Totaniと完全一致</a:t>
            </a:r>
          </a:p>
        </p:txBody>
      </p:sp>
      <p:sp>
        <p:nvSpPr>
          <p:cNvPr id="14" name="TextBox 13"/>
          <p:cNvSpPr txBox="1"/>
          <p:nvPr/>
        </p:nvSpPr>
        <p:spPr>
          <a:xfrm>
            <a:off x="5943600" y="1188720"/>
            <a:ext cx="5943600" cy="365760"/>
          </a:xfrm>
          <a:prstGeom prst="rect">
            <a:avLst/>
          </a:prstGeom>
          <a:noFill/>
        </p:spPr>
        <p:txBody>
          <a:bodyPr wrap="square">
            <a:spAutoFit/>
          </a:bodyPr>
          <a:lstStyle/>
          <a:p>
            <a:pPr algn="l"/>
            <a:r>
              <a:rPr sz="1500" b="1" i="0">
                <a:solidFill>
                  <a:srgbClr val="44CCFF"/>
                </a:solidFill>
              </a:rPr>
              <a:t>等方背景の概念</a:t>
            </a:r>
          </a:p>
        </p:txBody>
      </p:sp>
      <p:sp>
        <p:nvSpPr>
          <p:cNvPr id="15" name="TextBox 14"/>
          <p:cNvSpPr txBox="1"/>
          <p:nvPr/>
        </p:nvSpPr>
        <p:spPr>
          <a:xfrm>
            <a:off x="5943600" y="1627632"/>
            <a:ext cx="5943600" cy="4114800"/>
          </a:xfrm>
          <a:prstGeom prst="rect">
            <a:avLst/>
          </a:prstGeom>
          <a:noFill/>
        </p:spPr>
        <p:txBody>
          <a:bodyPr wrap="square">
            <a:spAutoFit/>
          </a:bodyPr>
          <a:lstStyle/>
          <a:p>
            <a:pPr algn="l"/>
            <a:r>
              <a:rPr sz="1400" b="0" i="0" dirty="0" err="1">
                <a:solidFill>
                  <a:srgbClr val="FFFFFF"/>
                </a:solidFill>
              </a:rPr>
              <a:t>全天球</a:t>
            </a:r>
            <a:r>
              <a:rPr sz="1400" b="0" i="0" dirty="0">
                <a:solidFill>
                  <a:srgbClr val="FFFFFF"/>
                </a:solidFill>
              </a:rPr>
              <a:t>
┌────────────────────────────────────┐
│  ┌─────── |b| &gt; 50° ────────┐   │
│  │  </a:t>
            </a:r>
            <a:r>
              <a:rPr sz="1400" b="0" i="0" dirty="0" err="1">
                <a:solidFill>
                  <a:srgbClr val="FFFFFF"/>
                </a:solidFill>
              </a:rPr>
              <a:t>平均カウント</a:t>
            </a:r>
            <a:r>
              <a:rPr sz="1400" b="0" i="0" dirty="0">
                <a:solidFill>
                  <a:srgbClr val="FFFFFF"/>
                </a:solidFill>
              </a:rPr>
              <a:t> </a:t>
            </a:r>
            <a:r>
              <a:rPr sz="1400" b="0" i="0" dirty="0" err="1">
                <a:solidFill>
                  <a:srgbClr val="FFFFFF"/>
                </a:solidFill>
              </a:rPr>
              <a:t>C_iso</a:t>
            </a:r>
            <a:r>
              <a:rPr sz="1400" b="0" i="0" dirty="0">
                <a:solidFill>
                  <a:srgbClr val="FFFFFF"/>
                </a:solidFill>
              </a:rPr>
              <a:t>       │   │
│  └────────────────────────────┘   │
│                                    │
│  </a:t>
            </a:r>
            <a:r>
              <a:rPr sz="1400" b="0" i="0" dirty="0" err="1">
                <a:solidFill>
                  <a:srgbClr val="FFFFFF"/>
                </a:solidFill>
              </a:rPr>
              <a:t>全ピクセル</a:t>
            </a:r>
            <a:r>
              <a:rPr sz="1400" b="0" i="0" dirty="0">
                <a:solidFill>
                  <a:srgbClr val="FFFFFF"/>
                </a:solidFill>
              </a:rPr>
              <a:t>: count -= </a:t>
            </a:r>
            <a:r>
              <a:rPr sz="1400" b="0" i="0" dirty="0" err="1">
                <a:solidFill>
                  <a:srgbClr val="FFFFFF"/>
                </a:solidFill>
              </a:rPr>
              <a:t>C_iso</a:t>
            </a:r>
            <a:r>
              <a:rPr sz="1400" b="0" i="0" dirty="0">
                <a:solidFill>
                  <a:srgbClr val="FFFFFF"/>
                </a:solidFill>
              </a:rPr>
              <a:t>        │
└────────────────────────────────────┘
・|b| &gt; 50° </a:t>
            </a:r>
            <a:r>
              <a:rPr sz="1400" b="0" i="0" dirty="0" err="1">
                <a:solidFill>
                  <a:srgbClr val="FFFFFF"/>
                </a:solidFill>
              </a:rPr>
              <a:t>はほぼ純粋なバックグラウンド</a:t>
            </a:r>
            <a:r>
              <a:rPr sz="1400" b="0" i="0" dirty="0">
                <a:solidFill>
                  <a:srgbClr val="FFFFFF"/>
                </a:solidFill>
              </a:rPr>
              <a:t>
・</a:t>
            </a:r>
            <a:r>
              <a:rPr sz="1400" b="0" i="0" dirty="0" err="1">
                <a:solidFill>
                  <a:srgbClr val="FFFFFF"/>
                </a:solidFill>
              </a:rPr>
              <a:t>DM信号は銀河中心に集中</a:t>
            </a:r>
            <a:r>
              <a:rPr sz="1400" b="0" i="0" dirty="0">
                <a:solidFill>
                  <a:srgbClr val="FFFFFF"/>
                </a:solidFill>
              </a:rPr>
              <a:t> → </a:t>
            </a:r>
            <a:r>
              <a:rPr sz="1400" b="0" i="0" dirty="0" err="1">
                <a:solidFill>
                  <a:srgbClr val="FFFFFF"/>
                </a:solidFill>
              </a:rPr>
              <a:t>この領域には少ない</a:t>
            </a:r>
            <a:r>
              <a:rPr sz="1400" b="0" i="0" dirty="0">
                <a:solidFill>
                  <a:srgbClr val="FFFFFF"/>
                </a:solidFill>
              </a:rPr>
              <a:t>
・</a:t>
            </a:r>
            <a:r>
              <a:rPr sz="1400" b="0" i="0" dirty="0" err="1">
                <a:solidFill>
                  <a:srgbClr val="FFFFFF"/>
                </a:solidFill>
              </a:rPr>
              <a:t>エネルギービンごとに独立に計算</a:t>
            </a:r>
            <a:endParaRPr sz="1400" b="0" i="0" dirty="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502920"/>
          </a:xfrm>
          <a:prstGeom prst="rect">
            <a:avLst/>
          </a:prstGeom>
          <a:noFill/>
        </p:spPr>
        <p:txBody>
          <a:bodyPr wrap="square">
            <a:spAutoFit/>
          </a:bodyPr>
          <a:lstStyle/>
          <a:p>
            <a:pPr algn="l"/>
            <a:r>
              <a:rPr sz="2200" b="1" i="0">
                <a:solidFill>
                  <a:srgbClr val="FFCC00"/>
                </a:solidFill>
              </a:rPr>
              <a:t>Methods (3/6) — Step 2 — 銀河面拡散放射（GALPROP）</a:t>
            </a:r>
          </a:p>
        </p:txBody>
      </p:sp>
      <p:sp>
        <p:nvSpPr>
          <p:cNvPr id="3" name="Rectangle 2"/>
          <p:cNvSpPr/>
          <p:nvPr/>
        </p:nvSpPr>
        <p:spPr>
          <a:xfrm>
            <a:off x="365760" y="658368"/>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749808"/>
            <a:ext cx="1371600" cy="365760"/>
          </a:xfrm>
          <a:prstGeom prst="rect">
            <a:avLst/>
          </a:prstGeom>
          <a:solidFill>
            <a:srgbClr val="44CCFF"/>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dirty="0">
                <a:solidFill>
                  <a:srgbClr val="05051A"/>
                </a:solidFill>
              </a:rPr>
              <a:t>Step </a:t>
            </a:r>
            <a:r>
              <a:rPr lang="en-US" altLang="ja-JP" sz="1400" b="1" dirty="0">
                <a:solidFill>
                  <a:srgbClr val="05051A"/>
                </a:solidFill>
              </a:rPr>
              <a:t>2</a:t>
            </a:r>
            <a:r>
              <a:rPr sz="1400" b="1" dirty="0">
                <a:solidFill>
                  <a:srgbClr val="05051A"/>
                </a:solidFill>
              </a:rPr>
              <a:t>/5</a:t>
            </a:r>
          </a:p>
        </p:txBody>
      </p:sp>
      <p:sp>
        <p:nvSpPr>
          <p:cNvPr id="5" name="TextBox 4"/>
          <p:cNvSpPr txBox="1"/>
          <p:nvPr/>
        </p:nvSpPr>
        <p:spPr>
          <a:xfrm>
            <a:off x="365760" y="1188720"/>
            <a:ext cx="5303520" cy="365760"/>
          </a:xfrm>
          <a:prstGeom prst="rect">
            <a:avLst/>
          </a:prstGeom>
          <a:noFill/>
        </p:spPr>
        <p:txBody>
          <a:bodyPr wrap="square">
            <a:spAutoFit/>
          </a:bodyPr>
          <a:lstStyle/>
          <a:p>
            <a:pPr algn="l"/>
            <a:r>
              <a:rPr sz="1500" b="1" i="0">
                <a:solidFill>
                  <a:srgbClr val="44CCFF"/>
                </a:solidFill>
              </a:rPr>
              <a:t>銀河面拡散放射とは</a:t>
            </a:r>
          </a:p>
        </p:txBody>
      </p:sp>
      <p:sp>
        <p:nvSpPr>
          <p:cNvPr id="6" name="TextBox 5"/>
          <p:cNvSpPr txBox="1"/>
          <p:nvPr/>
        </p:nvSpPr>
        <p:spPr>
          <a:xfrm>
            <a:off x="365760" y="1627632"/>
            <a:ext cx="5303520" cy="1097280"/>
          </a:xfrm>
          <a:prstGeom prst="rect">
            <a:avLst/>
          </a:prstGeom>
          <a:noFill/>
        </p:spPr>
        <p:txBody>
          <a:bodyPr wrap="square">
            <a:spAutoFit/>
          </a:bodyPr>
          <a:lstStyle/>
          <a:p>
            <a:pPr algn="l"/>
            <a:r>
              <a:rPr sz="1400" b="0" i="0">
                <a:solidFill>
                  <a:srgbClr val="FFFFFF"/>
                </a:solidFill>
              </a:rPr>
              <a:t>銀河系内の宇宙線が水素ガスと衝突して発生するγ線。
（π⁰崩壊・逆コンプトン散乱）
銀河面（低|b|）に強く集中し、NFWハロー分布と
形が似ているため正確な除去が必要。</a:t>
            </a:r>
          </a:p>
        </p:txBody>
      </p:sp>
      <p:sp>
        <p:nvSpPr>
          <p:cNvPr id="7" name="Rectangle 6"/>
          <p:cNvSpPr/>
          <p:nvPr/>
        </p:nvSpPr>
        <p:spPr>
          <a:xfrm>
            <a:off x="365760" y="2834640"/>
            <a:ext cx="5303520" cy="274320"/>
          </a:xfrm>
          <a:prstGeom prst="rect">
            <a:avLst/>
          </a:prstGeom>
          <a:solidFill>
            <a:srgbClr val="1A3A1A"/>
          </a:solidFill>
          <a:ln>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852928"/>
            <a:ext cx="5120640" cy="256032"/>
          </a:xfrm>
          <a:prstGeom prst="rect">
            <a:avLst/>
          </a:prstGeom>
          <a:noFill/>
        </p:spPr>
        <p:txBody>
          <a:bodyPr wrap="square">
            <a:spAutoFit/>
          </a:bodyPr>
          <a:lstStyle/>
          <a:p>
            <a:pPr algn="l"/>
            <a:r>
              <a:rPr sz="1400" b="1" i="0">
                <a:solidFill>
                  <a:srgbClr val="44FF88"/>
                </a:solidFill>
              </a:rPr>
              <a:t>▶ Totaniの手法</a:t>
            </a:r>
          </a:p>
        </p:txBody>
      </p:sp>
      <p:sp>
        <p:nvSpPr>
          <p:cNvPr id="9" name="TextBox 8"/>
          <p:cNvSpPr txBox="1"/>
          <p:nvPr/>
        </p:nvSpPr>
        <p:spPr>
          <a:xfrm>
            <a:off x="457200" y="3154680"/>
            <a:ext cx="5120640" cy="731520"/>
          </a:xfrm>
          <a:prstGeom prst="rect">
            <a:avLst/>
          </a:prstGeom>
          <a:noFill/>
        </p:spPr>
        <p:txBody>
          <a:bodyPr wrap="square">
            <a:spAutoFit/>
          </a:bodyPr>
          <a:lstStyle/>
          <a:p>
            <a:pPr algn="l"/>
            <a:r>
              <a:rPr sz="1400" b="0" i="0" dirty="0">
                <a:solidFill>
                  <a:srgbClr val="FFFFFF"/>
                </a:solidFill>
              </a:rPr>
              <a:t>gll_iem_v07.fits（Fermi公式GALPROPモデル）を
</a:t>
            </a:r>
            <a:r>
              <a:rPr sz="1400" b="0" i="0" dirty="0" err="1">
                <a:solidFill>
                  <a:srgbClr val="FFFFFF"/>
                </a:solidFill>
              </a:rPr>
              <a:t>ROIに投影し、MCMC</a:t>
            </a:r>
            <a:r>
              <a:rPr sz="1400" b="0" i="0" dirty="0">
                <a:solidFill>
                  <a:srgbClr val="FFFFFF"/>
                </a:solidFill>
              </a:rPr>
              <a:t> + </a:t>
            </a:r>
            <a:r>
              <a:rPr sz="1400" b="0" i="0" dirty="0" err="1">
                <a:solidFill>
                  <a:srgbClr val="FFFFFF"/>
                </a:solidFill>
              </a:rPr>
              <a:t>Poisson尤度最大化でフィット</a:t>
            </a:r>
            <a:endParaRPr sz="1400" b="0" i="0" dirty="0">
              <a:solidFill>
                <a:srgbClr val="FFFFFF"/>
              </a:solidFill>
            </a:endParaRPr>
          </a:p>
        </p:txBody>
      </p:sp>
      <p:sp>
        <p:nvSpPr>
          <p:cNvPr id="10" name="Rectangle 9"/>
          <p:cNvSpPr/>
          <p:nvPr/>
        </p:nvSpPr>
        <p:spPr>
          <a:xfrm>
            <a:off x="365760" y="3840480"/>
            <a:ext cx="5303520" cy="274320"/>
          </a:xfrm>
          <a:prstGeom prst="rect">
            <a:avLst/>
          </a:prstGeom>
          <a:solidFill>
            <a:srgbClr val="3A2A0A"/>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858768"/>
            <a:ext cx="5120640" cy="256032"/>
          </a:xfrm>
          <a:prstGeom prst="rect">
            <a:avLst/>
          </a:prstGeom>
          <a:noFill/>
        </p:spPr>
        <p:txBody>
          <a:bodyPr wrap="square">
            <a:spAutoFit/>
          </a:bodyPr>
          <a:lstStyle/>
          <a:p>
            <a:pPr algn="l"/>
            <a:r>
              <a:rPr sz="1400" b="1" i="0">
                <a:solidFill>
                  <a:srgbClr val="FFCC00"/>
                </a:solidFill>
              </a:rPr>
              <a:t>▶ 今回の実装</a:t>
            </a:r>
          </a:p>
        </p:txBody>
      </p:sp>
      <p:sp>
        <p:nvSpPr>
          <p:cNvPr id="12" name="TextBox 11"/>
          <p:cNvSpPr txBox="1"/>
          <p:nvPr/>
        </p:nvSpPr>
        <p:spPr>
          <a:xfrm>
            <a:off x="457200" y="4160520"/>
            <a:ext cx="5120640" cy="731520"/>
          </a:xfrm>
          <a:prstGeom prst="rect">
            <a:avLst/>
          </a:prstGeom>
          <a:noFill/>
        </p:spPr>
        <p:txBody>
          <a:bodyPr wrap="square">
            <a:spAutoFit/>
          </a:bodyPr>
          <a:lstStyle/>
          <a:p>
            <a:pPr algn="l"/>
            <a:r>
              <a:rPr sz="1400" b="0" i="0" dirty="0">
                <a:solidFill>
                  <a:srgbClr val="FFFFFF"/>
                </a:solidFill>
              </a:rPr>
              <a:t>同じファイル（gll_iem_v07.fits）を使用。
</a:t>
            </a:r>
            <a:r>
              <a:rPr sz="1400" b="0" i="0" dirty="0" err="1">
                <a:solidFill>
                  <a:srgbClr val="FFFFFF"/>
                </a:solidFill>
              </a:rPr>
              <a:t>フィッティングを</a:t>
            </a:r>
            <a:r>
              <a:rPr sz="1400" b="0" i="0" dirty="0">
                <a:solidFill>
                  <a:srgbClr val="FFFFFF"/>
                </a:solidFill>
              </a:rPr>
              <a:t> </a:t>
            </a:r>
            <a:r>
              <a:rPr sz="1400" b="0" i="0" dirty="0" err="1">
                <a:solidFill>
                  <a:srgbClr val="FFFFFF"/>
                </a:solidFill>
              </a:rPr>
              <a:t>scipy.optimize</a:t>
            </a:r>
            <a:r>
              <a:rPr sz="1400" b="0" i="0" dirty="0">
                <a:solidFill>
                  <a:srgbClr val="FFFFFF"/>
                </a:solidFill>
              </a:rPr>
              <a:t> で Poisson MLE </a:t>
            </a:r>
            <a:r>
              <a:rPr sz="1400" b="0" i="0" dirty="0" err="1">
                <a:solidFill>
                  <a:srgbClr val="FFFFFF"/>
                </a:solidFill>
              </a:rPr>
              <a:t>に改良</a:t>
            </a:r>
            <a:r>
              <a:rPr sz="1400" b="0" i="0" dirty="0">
                <a:solidFill>
                  <a:srgbClr val="FFFFFF"/>
                </a:solidFill>
              </a:rPr>
              <a:t>
（旧: </a:t>
            </a:r>
            <a:r>
              <a:rPr sz="1400" b="0" i="0" dirty="0" err="1">
                <a:solidFill>
                  <a:srgbClr val="FFFFFF"/>
                </a:solidFill>
              </a:rPr>
              <a:t>最小二乗法</a:t>
            </a:r>
            <a:r>
              <a:rPr sz="1400" b="0" i="0" dirty="0">
                <a:solidFill>
                  <a:srgbClr val="FFFFFF"/>
                </a:solidFill>
              </a:rPr>
              <a:t> → 新: </a:t>
            </a:r>
            <a:r>
              <a:rPr sz="1400" b="0" i="0" dirty="0" err="1">
                <a:solidFill>
                  <a:srgbClr val="FFFFFF"/>
                </a:solidFill>
              </a:rPr>
              <a:t>Poisson尤度最大化</a:t>
            </a:r>
            <a:r>
              <a:rPr sz="1400" b="0" i="0" dirty="0">
                <a:solidFill>
                  <a:srgbClr val="FFFFFF"/>
                </a:solidFill>
              </a:rPr>
              <a:t>）
※ </a:t>
            </a:r>
            <a:r>
              <a:rPr sz="1400" b="0" i="0" dirty="0" err="1">
                <a:solidFill>
                  <a:srgbClr val="FFFFFF"/>
                </a:solidFill>
              </a:rPr>
              <a:t>MCMCは未実装（事後分布の推定が困難</a:t>
            </a:r>
            <a:r>
              <a:rPr sz="1400" b="0" i="0" dirty="0">
                <a:solidFill>
                  <a:srgbClr val="FFFFFF"/>
                </a:solidFill>
              </a:rPr>
              <a:t>）</a:t>
            </a:r>
          </a:p>
        </p:txBody>
      </p:sp>
      <p:sp>
        <p:nvSpPr>
          <p:cNvPr id="13" name="TextBox 12"/>
          <p:cNvSpPr txBox="1"/>
          <p:nvPr/>
        </p:nvSpPr>
        <p:spPr>
          <a:xfrm>
            <a:off x="365760" y="5303520"/>
            <a:ext cx="5303520" cy="365760"/>
          </a:xfrm>
          <a:prstGeom prst="rect">
            <a:avLst/>
          </a:prstGeom>
          <a:noFill/>
        </p:spPr>
        <p:txBody>
          <a:bodyPr wrap="square">
            <a:spAutoFit/>
          </a:bodyPr>
          <a:lstStyle/>
          <a:p>
            <a:pPr algn="l"/>
            <a:r>
              <a:rPr sz="1400" b="0" i="1" dirty="0">
                <a:solidFill>
                  <a:srgbClr val="FFCC00"/>
                </a:solidFill>
              </a:rPr>
              <a:t>△ </a:t>
            </a:r>
            <a:r>
              <a:rPr sz="1400" b="0" i="1" dirty="0" err="1">
                <a:solidFill>
                  <a:srgbClr val="FFCC00"/>
                </a:solidFill>
              </a:rPr>
              <a:t>手法近似あり（MCMCなし</a:t>
            </a:r>
            <a:r>
              <a:rPr sz="1400" b="0" i="1" dirty="0">
                <a:solidFill>
                  <a:srgbClr val="FFCC00"/>
                </a:solidFill>
              </a:rPr>
              <a:t>）。</a:t>
            </a:r>
            <a:r>
              <a:rPr sz="1400" b="0" i="1" dirty="0" err="1">
                <a:solidFill>
                  <a:srgbClr val="FFCC00"/>
                </a:solidFill>
              </a:rPr>
              <a:t>有意性に±数σの系統誤差</a:t>
            </a:r>
            <a:endParaRPr sz="1400" b="0" i="1" dirty="0">
              <a:solidFill>
                <a:srgbClr val="FFCC00"/>
              </a:solidFill>
            </a:endParaRPr>
          </a:p>
        </p:txBody>
      </p:sp>
      <p:sp>
        <p:nvSpPr>
          <p:cNvPr id="14" name="TextBox 13"/>
          <p:cNvSpPr txBox="1"/>
          <p:nvPr/>
        </p:nvSpPr>
        <p:spPr>
          <a:xfrm>
            <a:off x="5943600" y="1188720"/>
            <a:ext cx="5943600" cy="365760"/>
          </a:xfrm>
          <a:prstGeom prst="rect">
            <a:avLst/>
          </a:prstGeom>
          <a:noFill/>
        </p:spPr>
        <p:txBody>
          <a:bodyPr wrap="square">
            <a:spAutoFit/>
          </a:bodyPr>
          <a:lstStyle/>
          <a:p>
            <a:pPr algn="l"/>
            <a:r>
              <a:rPr sz="1500" b="1" i="0">
                <a:solidFill>
                  <a:srgbClr val="44CCFF"/>
                </a:solidFill>
              </a:rPr>
              <a:t>Poisson 尤度最大化の式</a:t>
            </a:r>
          </a:p>
        </p:txBody>
      </p:sp>
      <p:sp>
        <p:nvSpPr>
          <p:cNvPr id="15" name="TextBox 14"/>
          <p:cNvSpPr txBox="1"/>
          <p:nvPr/>
        </p:nvSpPr>
        <p:spPr>
          <a:xfrm>
            <a:off x="5943600" y="1627632"/>
            <a:ext cx="5943600" cy="4389120"/>
          </a:xfrm>
          <a:prstGeom prst="rect">
            <a:avLst/>
          </a:prstGeom>
          <a:noFill/>
        </p:spPr>
        <p:txBody>
          <a:bodyPr wrap="square">
            <a:spAutoFit/>
          </a:bodyPr>
          <a:lstStyle/>
          <a:p>
            <a:pPr algn="l"/>
            <a:r>
              <a:rPr sz="1400" b="0" i="0" dirty="0" err="1">
                <a:solidFill>
                  <a:srgbClr val="FFFFFF"/>
                </a:solidFill>
              </a:rPr>
              <a:t>フィットモデル</a:t>
            </a:r>
            <a:r>
              <a:rPr sz="1400" b="0" i="0" dirty="0">
                <a:solidFill>
                  <a:srgbClr val="FFFFFF"/>
                </a:solidFill>
              </a:rPr>
              <a:t>:
  λ(</a:t>
            </a:r>
            <a:r>
              <a:rPr sz="1400" b="0" i="0" dirty="0" err="1">
                <a:solidFill>
                  <a:srgbClr val="FFFFFF"/>
                </a:solidFill>
              </a:rPr>
              <a:t>l,b</a:t>
            </a:r>
            <a:r>
              <a:rPr sz="1400" b="0" i="0" dirty="0">
                <a:solidFill>
                  <a:srgbClr val="FFFFFF"/>
                </a:solidFill>
              </a:rPr>
              <a:t>) = A × </a:t>
            </a:r>
            <a:r>
              <a:rPr sz="1400" b="0" i="0" dirty="0" err="1">
                <a:solidFill>
                  <a:srgbClr val="FFFFFF"/>
                </a:solidFill>
              </a:rPr>
              <a:t>galprop</a:t>
            </a:r>
            <a:r>
              <a:rPr sz="1400" b="0" i="0" dirty="0">
                <a:solidFill>
                  <a:srgbClr val="FFFFFF"/>
                </a:solidFill>
              </a:rPr>
              <a:t>(</a:t>
            </a:r>
            <a:r>
              <a:rPr sz="1400" b="0" i="0" dirty="0" err="1">
                <a:solidFill>
                  <a:srgbClr val="FFFFFF"/>
                </a:solidFill>
              </a:rPr>
              <a:t>l,b</a:t>
            </a:r>
            <a:r>
              <a:rPr sz="1400" b="0" i="0" dirty="0">
                <a:solidFill>
                  <a:srgbClr val="FFFFFF"/>
                </a:solidFill>
              </a:rPr>
              <a:t>) + offset
</a:t>
            </a:r>
            <a:r>
              <a:rPr sz="1400" b="0" i="0" dirty="0" err="1">
                <a:solidFill>
                  <a:srgbClr val="FFFFFF"/>
                </a:solidFill>
              </a:rPr>
              <a:t>最小化する目的関数（Poisson</a:t>
            </a:r>
            <a:r>
              <a:rPr sz="1400" b="0" i="0" dirty="0">
                <a:solidFill>
                  <a:srgbClr val="FFFFFF"/>
                </a:solidFill>
              </a:rPr>
              <a:t> </a:t>
            </a:r>
            <a:r>
              <a:rPr sz="1400" b="0" i="0" dirty="0" err="1">
                <a:solidFill>
                  <a:srgbClr val="FFFFFF"/>
                </a:solidFill>
              </a:rPr>
              <a:t>負対数尤度</a:t>
            </a:r>
            <a:r>
              <a:rPr sz="1400" b="0" i="0" dirty="0">
                <a:solidFill>
                  <a:srgbClr val="FFFFFF"/>
                </a:solidFill>
              </a:rPr>
              <a:t>）:
  L(A) = Σᵢ [ λᵢ - nᵢ log(λᵢ) ]
</a:t>
            </a:r>
            <a:r>
              <a:rPr sz="1400" b="0" i="0" dirty="0" err="1">
                <a:solidFill>
                  <a:srgbClr val="FFFFFF"/>
                </a:solidFill>
              </a:rPr>
              <a:t>最小二乗法との違い</a:t>
            </a:r>
            <a:r>
              <a:rPr sz="1400" b="0" i="0" dirty="0">
                <a:solidFill>
                  <a:srgbClr val="FFFFFF"/>
                </a:solidFill>
              </a:rPr>
              <a:t>:
  </a:t>
            </a:r>
            <a:r>
              <a:rPr sz="1400" b="0" i="0" dirty="0" err="1">
                <a:solidFill>
                  <a:srgbClr val="FFFFFF"/>
                </a:solidFill>
              </a:rPr>
              <a:t>最小二乗</a:t>
            </a:r>
            <a:r>
              <a:rPr sz="1400" b="0" i="0" dirty="0">
                <a:solidFill>
                  <a:srgbClr val="FFFFFF"/>
                </a:solidFill>
              </a:rPr>
              <a:t>: Σ(n - λ)²  ← </a:t>
            </a:r>
            <a:r>
              <a:rPr sz="1400" b="0" i="0" dirty="0" err="1">
                <a:solidFill>
                  <a:srgbClr val="FFFFFF"/>
                </a:solidFill>
              </a:rPr>
              <a:t>正規分布を仮定</a:t>
            </a:r>
            <a:r>
              <a:rPr sz="1400" b="0" i="0" dirty="0">
                <a:solidFill>
                  <a:srgbClr val="FFFFFF"/>
                </a:solidFill>
              </a:rPr>
              <a:t>
  Poisson MLE: </a:t>
            </a:r>
            <a:r>
              <a:rPr sz="1400" b="0" i="0" dirty="0" err="1">
                <a:solidFill>
                  <a:srgbClr val="FFFFFF"/>
                </a:solidFill>
              </a:rPr>
              <a:t>上式</a:t>
            </a:r>
            <a:r>
              <a:rPr sz="1400" b="0" i="0" dirty="0">
                <a:solidFill>
                  <a:srgbClr val="FFFFFF"/>
                </a:solidFill>
              </a:rPr>
              <a:t>    ← </a:t>
            </a:r>
            <a:r>
              <a:rPr sz="1400" b="0" i="0" dirty="0" err="1">
                <a:solidFill>
                  <a:srgbClr val="FFFFFF"/>
                </a:solidFill>
              </a:rPr>
              <a:t>γ線の統計に正確</a:t>
            </a:r>
            <a:r>
              <a:rPr sz="1400" b="0" i="0" dirty="0">
                <a:solidFill>
                  <a:srgbClr val="FFFFFF"/>
                </a:solidFill>
              </a:rPr>
              <a:t>
</a:t>
            </a:r>
            <a:r>
              <a:rPr sz="1400" b="0" i="0" dirty="0" err="1">
                <a:solidFill>
                  <a:srgbClr val="FFFFFF"/>
                </a:solidFill>
              </a:rPr>
              <a:t>カウントが少ないビン</a:t>
            </a:r>
            <a:r>
              <a:rPr sz="1400" b="0" i="0" dirty="0">
                <a:solidFill>
                  <a:srgbClr val="FFFFFF"/>
                </a:solidFill>
              </a:rPr>
              <a:t>(</a:t>
            </a:r>
            <a:r>
              <a:rPr sz="1400" b="0" i="0" dirty="0" err="1">
                <a:solidFill>
                  <a:srgbClr val="FFFFFF"/>
                </a:solidFill>
              </a:rPr>
              <a:t>高エネルギ</a:t>
            </a:r>
            <a:r>
              <a:rPr sz="1400" b="0" i="0" dirty="0">
                <a:solidFill>
                  <a:srgbClr val="FFFFFF"/>
                </a:solidFill>
              </a:rPr>
              <a:t>ー)で
Poisson </a:t>
            </a:r>
            <a:r>
              <a:rPr sz="1400" b="0" i="0" dirty="0" err="1">
                <a:solidFill>
                  <a:srgbClr val="FFFFFF"/>
                </a:solidFill>
              </a:rPr>
              <a:t>MLEの優位性が大きい</a:t>
            </a:r>
            <a:r>
              <a:rPr sz="1400" b="0" i="0" dirty="0">
                <a:solidFill>
                  <a:srgbClr val="FFFFFF"/>
                </a:solidFill>
              </a:rPr>
              <a:t>
</a:t>
            </a:r>
            <a:r>
              <a:rPr sz="1400" b="0" i="0" dirty="0" err="1">
                <a:solidFill>
                  <a:srgbClr val="FFFFFF"/>
                </a:solidFill>
              </a:rPr>
              <a:t>今回の改良でTotaniとの差が縮小</a:t>
            </a:r>
            <a:endParaRPr sz="1400" b="0" i="0" dirty="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502920"/>
          </a:xfrm>
          <a:prstGeom prst="rect">
            <a:avLst/>
          </a:prstGeom>
          <a:noFill/>
        </p:spPr>
        <p:txBody>
          <a:bodyPr wrap="square">
            <a:spAutoFit/>
          </a:bodyPr>
          <a:lstStyle/>
          <a:p>
            <a:pPr algn="l"/>
            <a:r>
              <a:rPr sz="2200" b="1" i="0">
                <a:solidFill>
                  <a:srgbClr val="FFCC00"/>
                </a:solidFill>
              </a:rPr>
              <a:t>Methods (4/6) — Step 3 — 既知点源除去（4FGL-DR2）</a:t>
            </a:r>
          </a:p>
        </p:txBody>
      </p:sp>
      <p:sp>
        <p:nvSpPr>
          <p:cNvPr id="3" name="Rectangle 2"/>
          <p:cNvSpPr/>
          <p:nvPr/>
        </p:nvSpPr>
        <p:spPr>
          <a:xfrm>
            <a:off x="365760" y="658368"/>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749808"/>
            <a:ext cx="1371600" cy="365760"/>
          </a:xfrm>
          <a:prstGeom prst="rect">
            <a:avLst/>
          </a:prstGeom>
          <a:solidFill>
            <a:srgbClr val="44CCFF"/>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dirty="0">
                <a:solidFill>
                  <a:srgbClr val="05051A"/>
                </a:solidFill>
              </a:rPr>
              <a:t>Step </a:t>
            </a:r>
            <a:r>
              <a:rPr lang="en-US" altLang="ja-JP" sz="1400" b="1" dirty="0">
                <a:solidFill>
                  <a:srgbClr val="05051A"/>
                </a:solidFill>
              </a:rPr>
              <a:t>3</a:t>
            </a:r>
            <a:r>
              <a:rPr sz="1400" b="1" dirty="0">
                <a:solidFill>
                  <a:srgbClr val="05051A"/>
                </a:solidFill>
              </a:rPr>
              <a:t>/5</a:t>
            </a:r>
          </a:p>
        </p:txBody>
      </p:sp>
      <p:sp>
        <p:nvSpPr>
          <p:cNvPr id="5" name="TextBox 4"/>
          <p:cNvSpPr txBox="1"/>
          <p:nvPr/>
        </p:nvSpPr>
        <p:spPr>
          <a:xfrm>
            <a:off x="365760" y="1188720"/>
            <a:ext cx="5303520" cy="365760"/>
          </a:xfrm>
          <a:prstGeom prst="rect">
            <a:avLst/>
          </a:prstGeom>
          <a:noFill/>
        </p:spPr>
        <p:txBody>
          <a:bodyPr wrap="square">
            <a:spAutoFit/>
          </a:bodyPr>
          <a:lstStyle/>
          <a:p>
            <a:pPr algn="l"/>
            <a:r>
              <a:rPr sz="1500" b="1" i="0">
                <a:solidFill>
                  <a:srgbClr val="44CCFF"/>
                </a:solidFill>
              </a:rPr>
              <a:t>既知点源とは</a:t>
            </a:r>
          </a:p>
        </p:txBody>
      </p:sp>
      <p:sp>
        <p:nvSpPr>
          <p:cNvPr id="6" name="TextBox 5"/>
          <p:cNvSpPr txBox="1"/>
          <p:nvPr/>
        </p:nvSpPr>
        <p:spPr>
          <a:xfrm>
            <a:off x="365760" y="1627632"/>
            <a:ext cx="5303520" cy="1005840"/>
          </a:xfrm>
          <a:prstGeom prst="rect">
            <a:avLst/>
          </a:prstGeom>
          <a:noFill/>
        </p:spPr>
        <p:txBody>
          <a:bodyPr wrap="square">
            <a:spAutoFit/>
          </a:bodyPr>
          <a:lstStyle/>
          <a:p>
            <a:pPr algn="l"/>
            <a:r>
              <a:rPr sz="1400" b="0" i="0" dirty="0" err="1">
                <a:solidFill>
                  <a:srgbClr val="FFFFFF"/>
                </a:solidFill>
              </a:rPr>
              <a:t>Fermi-LATが検出している明るいγ線天体（ブレーザ</a:t>
            </a:r>
            <a:r>
              <a:rPr sz="1400" b="0" i="0" dirty="0">
                <a:solidFill>
                  <a:srgbClr val="FFFFFF"/>
                </a:solidFill>
              </a:rPr>
              <a:t>ー、</a:t>
            </a:r>
            <a:r>
              <a:rPr sz="1400" b="0" i="0" dirty="0" err="1">
                <a:solidFill>
                  <a:srgbClr val="FFFFFF"/>
                </a:solidFill>
              </a:rPr>
              <a:t>パルサーなど</a:t>
            </a:r>
            <a:r>
              <a:rPr sz="1400" b="0" i="0" dirty="0">
                <a:solidFill>
                  <a:srgbClr val="FFFFFF"/>
                </a:solidFill>
              </a:rPr>
              <a:t>）。
</a:t>
            </a:r>
            <a:r>
              <a:rPr sz="1400" b="0" i="0" dirty="0" err="1">
                <a:solidFill>
                  <a:srgbClr val="FFFFFF"/>
                </a:solidFill>
              </a:rPr>
              <a:t>これらは点状の輝点として見えるため、DMの滑らかな</a:t>
            </a:r>
            <a:r>
              <a:rPr sz="1400" b="0" i="0" dirty="0">
                <a:solidFill>
                  <a:srgbClr val="FFFFFF"/>
                </a:solidFill>
              </a:rPr>
              <a:t>
</a:t>
            </a:r>
            <a:r>
              <a:rPr sz="1400" b="0" i="0" dirty="0" err="1">
                <a:solidFill>
                  <a:srgbClr val="FFFFFF"/>
                </a:solidFill>
              </a:rPr>
              <a:t>NFW分布とは区別できるが、除去しないと残差に残る</a:t>
            </a:r>
            <a:r>
              <a:rPr sz="1400" b="0" i="0" dirty="0">
                <a:solidFill>
                  <a:srgbClr val="FFFFFF"/>
                </a:solidFill>
              </a:rPr>
              <a:t>。</a:t>
            </a:r>
          </a:p>
        </p:txBody>
      </p:sp>
      <p:sp>
        <p:nvSpPr>
          <p:cNvPr id="7" name="Rectangle 6"/>
          <p:cNvSpPr/>
          <p:nvPr/>
        </p:nvSpPr>
        <p:spPr>
          <a:xfrm>
            <a:off x="365760" y="2743200"/>
            <a:ext cx="5303520" cy="274320"/>
          </a:xfrm>
          <a:prstGeom prst="rect">
            <a:avLst/>
          </a:prstGeom>
          <a:solidFill>
            <a:srgbClr val="1A3A1A"/>
          </a:solidFill>
          <a:ln>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761488"/>
            <a:ext cx="5120640" cy="256032"/>
          </a:xfrm>
          <a:prstGeom prst="rect">
            <a:avLst/>
          </a:prstGeom>
          <a:noFill/>
        </p:spPr>
        <p:txBody>
          <a:bodyPr wrap="square">
            <a:spAutoFit/>
          </a:bodyPr>
          <a:lstStyle/>
          <a:p>
            <a:pPr algn="l"/>
            <a:r>
              <a:rPr sz="1400" b="1" i="0">
                <a:solidFill>
                  <a:srgbClr val="44FF88"/>
                </a:solidFill>
              </a:rPr>
              <a:t>▶ Totaniの手法</a:t>
            </a:r>
          </a:p>
        </p:txBody>
      </p:sp>
      <p:sp>
        <p:nvSpPr>
          <p:cNvPr id="9" name="TextBox 8"/>
          <p:cNvSpPr txBox="1"/>
          <p:nvPr/>
        </p:nvSpPr>
        <p:spPr>
          <a:xfrm>
            <a:off x="457200" y="3063240"/>
            <a:ext cx="5120640" cy="731520"/>
          </a:xfrm>
          <a:prstGeom prst="rect">
            <a:avLst/>
          </a:prstGeom>
          <a:noFill/>
        </p:spPr>
        <p:txBody>
          <a:bodyPr wrap="square">
            <a:spAutoFit/>
          </a:bodyPr>
          <a:lstStyle/>
          <a:p>
            <a:pPr algn="l"/>
            <a:r>
              <a:rPr sz="1400" b="0" i="0">
                <a:solidFill>
                  <a:srgbClr val="FFFFFF"/>
                </a:solidFill>
              </a:rPr>
              <a:t>4FGL-DR2カタログ（6,659源）の各点源を
Fermi-LAT の PSF（点像分布関数）で畳み込んでフラックスを差し引く
PSF幅: ~0.8° @1GeV, ~0.2° @20GeV（エネルギー依存）</a:t>
            </a:r>
          </a:p>
        </p:txBody>
      </p:sp>
      <p:sp>
        <p:nvSpPr>
          <p:cNvPr id="10" name="Rectangle 9"/>
          <p:cNvSpPr/>
          <p:nvPr/>
        </p:nvSpPr>
        <p:spPr>
          <a:xfrm>
            <a:off x="365760" y="3749039"/>
            <a:ext cx="5303520" cy="274320"/>
          </a:xfrm>
          <a:prstGeom prst="rect">
            <a:avLst/>
          </a:prstGeom>
          <a:solidFill>
            <a:srgbClr val="3A2A0A"/>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767327"/>
            <a:ext cx="5120640" cy="256032"/>
          </a:xfrm>
          <a:prstGeom prst="rect">
            <a:avLst/>
          </a:prstGeom>
          <a:noFill/>
        </p:spPr>
        <p:txBody>
          <a:bodyPr wrap="square">
            <a:spAutoFit/>
          </a:bodyPr>
          <a:lstStyle/>
          <a:p>
            <a:pPr algn="l"/>
            <a:r>
              <a:rPr sz="1400" b="1" i="0">
                <a:solidFill>
                  <a:srgbClr val="FFCC00"/>
                </a:solidFill>
              </a:rPr>
              <a:t>▶ 今回の実装</a:t>
            </a:r>
          </a:p>
        </p:txBody>
      </p:sp>
      <p:sp>
        <p:nvSpPr>
          <p:cNvPr id="12" name="TextBox 11"/>
          <p:cNvSpPr txBox="1"/>
          <p:nvPr/>
        </p:nvSpPr>
        <p:spPr>
          <a:xfrm>
            <a:off x="457200" y="4069079"/>
            <a:ext cx="5120640" cy="731520"/>
          </a:xfrm>
          <a:prstGeom prst="rect">
            <a:avLst/>
          </a:prstGeom>
          <a:noFill/>
        </p:spPr>
        <p:txBody>
          <a:bodyPr wrap="square">
            <a:spAutoFit/>
          </a:bodyPr>
          <a:lstStyle/>
          <a:p>
            <a:pPr algn="l"/>
            <a:r>
              <a:rPr sz="1400" b="0" i="0" dirty="0">
                <a:solidFill>
                  <a:srgbClr val="FFFFFF"/>
                </a:solidFill>
              </a:rPr>
              <a:t>4FGL-DR2カタログ使用（同じ）
</a:t>
            </a:r>
            <a:r>
              <a:rPr sz="1400" b="0" i="0" dirty="0" err="1">
                <a:solidFill>
                  <a:srgbClr val="FFFFFF"/>
                </a:solidFill>
              </a:rPr>
              <a:t>PSFは未実装。代わりにカタログ座標のピクセルを</a:t>
            </a:r>
            <a:r>
              <a:rPr sz="1400" b="0" i="0" dirty="0">
                <a:solidFill>
                  <a:srgbClr val="FFFFFF"/>
                </a:solidFill>
              </a:rPr>
              <a:t> </a:t>
            </a:r>
            <a:r>
              <a:rPr sz="1400" b="0" i="0" dirty="0" err="1">
                <a:solidFill>
                  <a:srgbClr val="FFFFFF"/>
                </a:solidFill>
              </a:rPr>
              <a:t>NaN</a:t>
            </a:r>
            <a:r>
              <a:rPr sz="1400" b="0" i="0" dirty="0">
                <a:solidFill>
                  <a:srgbClr val="FFFFFF"/>
                </a:solidFill>
              </a:rPr>
              <a:t> </a:t>
            </a:r>
            <a:r>
              <a:rPr sz="1400" b="0" i="0" dirty="0" err="1">
                <a:solidFill>
                  <a:srgbClr val="FFFFFF"/>
                </a:solidFill>
              </a:rPr>
              <a:t>にマスク</a:t>
            </a:r>
            <a:r>
              <a:rPr sz="1400" b="0" i="0" dirty="0">
                <a:solidFill>
                  <a:srgbClr val="FFFFFF"/>
                </a:solidFill>
              </a:rPr>
              <a:t>
※ </a:t>
            </a:r>
            <a:r>
              <a:rPr sz="1400" b="0" i="0" dirty="0" err="1">
                <a:solidFill>
                  <a:srgbClr val="FFFFFF"/>
                </a:solidFill>
              </a:rPr>
              <a:t>PSFファイル（gtpsf）はFermi</a:t>
            </a:r>
            <a:r>
              <a:rPr sz="1400" b="0" i="0" dirty="0">
                <a:solidFill>
                  <a:srgbClr val="FFFFFF"/>
                </a:solidFill>
              </a:rPr>
              <a:t> Science Tools </a:t>
            </a:r>
            <a:r>
              <a:rPr sz="1400" b="0" i="0" dirty="0" err="1">
                <a:solidFill>
                  <a:srgbClr val="FFFFFF"/>
                </a:solidFill>
              </a:rPr>
              <a:t>が必要</a:t>
            </a:r>
            <a:endParaRPr sz="1400" b="0" i="0" dirty="0">
              <a:solidFill>
                <a:srgbClr val="FFFFFF"/>
              </a:solidFill>
            </a:endParaRPr>
          </a:p>
        </p:txBody>
      </p:sp>
      <p:sp>
        <p:nvSpPr>
          <p:cNvPr id="13" name="TextBox 12"/>
          <p:cNvSpPr txBox="1"/>
          <p:nvPr/>
        </p:nvSpPr>
        <p:spPr>
          <a:xfrm>
            <a:off x="365760" y="4937760"/>
            <a:ext cx="5303520" cy="640080"/>
          </a:xfrm>
          <a:prstGeom prst="rect">
            <a:avLst/>
          </a:prstGeom>
          <a:noFill/>
        </p:spPr>
        <p:txBody>
          <a:bodyPr wrap="square">
            <a:spAutoFit/>
          </a:bodyPr>
          <a:lstStyle/>
          <a:p>
            <a:pPr algn="l"/>
            <a:r>
              <a:rPr sz="1400" b="0" i="1">
                <a:solidFill>
                  <a:srgbClr val="FFCC00"/>
                </a:solidFill>
              </a:rPr>
              <a:t>△ 近似: ROI内1,274ピクセルをNaN。1°ピクセル &gt;&gt; PSF(0.2°)のため
   輝点の中心は除去できる。ただし「PSFの裾野」は残る</a:t>
            </a:r>
          </a:p>
        </p:txBody>
      </p:sp>
      <p:sp>
        <p:nvSpPr>
          <p:cNvPr id="14" name="TextBox 13"/>
          <p:cNvSpPr txBox="1"/>
          <p:nvPr/>
        </p:nvSpPr>
        <p:spPr>
          <a:xfrm>
            <a:off x="5943600" y="1188720"/>
            <a:ext cx="5943600" cy="365760"/>
          </a:xfrm>
          <a:prstGeom prst="rect">
            <a:avLst/>
          </a:prstGeom>
          <a:noFill/>
        </p:spPr>
        <p:txBody>
          <a:bodyPr wrap="square">
            <a:spAutoFit/>
          </a:bodyPr>
          <a:lstStyle/>
          <a:p>
            <a:pPr algn="l"/>
            <a:r>
              <a:rPr sz="1500" b="1" i="0">
                <a:solidFill>
                  <a:srgbClr val="44CCFF"/>
                </a:solidFill>
              </a:rPr>
              <a:t>4FGL-DR2 カタログ情報</a:t>
            </a:r>
          </a:p>
        </p:txBody>
      </p:sp>
      <p:sp>
        <p:nvSpPr>
          <p:cNvPr id="15" name="TextBox 14"/>
          <p:cNvSpPr txBox="1"/>
          <p:nvPr/>
        </p:nvSpPr>
        <p:spPr>
          <a:xfrm>
            <a:off x="5943600" y="1627632"/>
            <a:ext cx="5943600" cy="4572000"/>
          </a:xfrm>
          <a:prstGeom prst="rect">
            <a:avLst/>
          </a:prstGeom>
          <a:noFill/>
        </p:spPr>
        <p:txBody>
          <a:bodyPr wrap="square">
            <a:spAutoFit/>
          </a:bodyPr>
          <a:lstStyle/>
          <a:p>
            <a:pPr algn="l"/>
            <a:r>
              <a:rPr sz="1400" b="0" i="0">
                <a:solidFill>
                  <a:srgbClr val="FFFFFF"/>
                </a:solidFill>
              </a:rPr>
              <a:t>4th Fermi LAT General Catalog – Data Release 2
・全天: 6,659 天体
・ROI内（|l|≤60°, |b|≥10°）: ~1,274 天体
主な天体種別:
  ブレーザー（BLL, FSRQ）: ~60%
  パルサー: ~10%
  未同定天体: ~25%
PSFなしNaN法の誤差見積もり:
  20 GeV の PSF ≈ 0.2°（1°ピクセルの1/5）
  → 点源フラックスの ~95% が1ピクセル内
  → NaNマスクで輝点中心は除去できる
  → ただし4FGL以外の未検出点源は残る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502920"/>
          </a:xfrm>
          <a:prstGeom prst="rect">
            <a:avLst/>
          </a:prstGeom>
          <a:noFill/>
        </p:spPr>
        <p:txBody>
          <a:bodyPr wrap="square">
            <a:spAutoFit/>
          </a:bodyPr>
          <a:lstStyle/>
          <a:p>
            <a:pPr algn="l"/>
            <a:r>
              <a:rPr sz="2200" b="1" i="0">
                <a:solidFill>
                  <a:srgbClr val="FFCC00"/>
                </a:solidFill>
              </a:rPr>
              <a:t>Methods (5/6) — Step 4 — フェルミバブル（Fermi Bubbles）</a:t>
            </a:r>
          </a:p>
        </p:txBody>
      </p:sp>
      <p:sp>
        <p:nvSpPr>
          <p:cNvPr id="3" name="Rectangle 2"/>
          <p:cNvSpPr/>
          <p:nvPr/>
        </p:nvSpPr>
        <p:spPr>
          <a:xfrm>
            <a:off x="365760" y="658368"/>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749808"/>
            <a:ext cx="1371600" cy="365760"/>
          </a:xfrm>
          <a:prstGeom prst="rect">
            <a:avLst/>
          </a:prstGeom>
          <a:solidFill>
            <a:srgbClr val="44CCFF"/>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dirty="0">
                <a:solidFill>
                  <a:srgbClr val="05051A"/>
                </a:solidFill>
              </a:rPr>
              <a:t>Step </a:t>
            </a:r>
            <a:r>
              <a:rPr lang="en-US" altLang="ja-JP" sz="1400" b="1" dirty="0">
                <a:solidFill>
                  <a:srgbClr val="05051A"/>
                </a:solidFill>
              </a:rPr>
              <a:t>4</a:t>
            </a:r>
            <a:r>
              <a:rPr sz="1400" b="1" dirty="0">
                <a:solidFill>
                  <a:srgbClr val="05051A"/>
                </a:solidFill>
              </a:rPr>
              <a:t>/5</a:t>
            </a:r>
          </a:p>
        </p:txBody>
      </p:sp>
      <p:sp>
        <p:nvSpPr>
          <p:cNvPr id="5" name="TextBox 4"/>
          <p:cNvSpPr txBox="1"/>
          <p:nvPr/>
        </p:nvSpPr>
        <p:spPr>
          <a:xfrm>
            <a:off x="365760" y="1188720"/>
            <a:ext cx="5303520" cy="365760"/>
          </a:xfrm>
          <a:prstGeom prst="rect">
            <a:avLst/>
          </a:prstGeom>
          <a:noFill/>
        </p:spPr>
        <p:txBody>
          <a:bodyPr wrap="square">
            <a:spAutoFit/>
          </a:bodyPr>
          <a:lstStyle/>
          <a:p>
            <a:pPr algn="l"/>
            <a:r>
              <a:rPr sz="1500" b="1" i="0">
                <a:solidFill>
                  <a:srgbClr val="44CCFF"/>
                </a:solidFill>
              </a:rPr>
              <a:t>フェルミバブルとは</a:t>
            </a:r>
          </a:p>
        </p:txBody>
      </p:sp>
      <p:sp>
        <p:nvSpPr>
          <p:cNvPr id="6" name="TextBox 5"/>
          <p:cNvSpPr txBox="1"/>
          <p:nvPr/>
        </p:nvSpPr>
        <p:spPr>
          <a:xfrm>
            <a:off x="365760" y="1627632"/>
            <a:ext cx="5303520" cy="914400"/>
          </a:xfrm>
          <a:prstGeom prst="rect">
            <a:avLst/>
          </a:prstGeom>
          <a:noFill/>
        </p:spPr>
        <p:txBody>
          <a:bodyPr wrap="square">
            <a:spAutoFit/>
          </a:bodyPr>
          <a:lstStyle/>
          <a:p>
            <a:pPr algn="l"/>
            <a:r>
              <a:rPr sz="1400" b="0" i="0">
                <a:solidFill>
                  <a:srgbClr val="FFFFFF"/>
                </a:solidFill>
              </a:rPr>
              <a:t>銀河中心の上下に広がる2つの巨大なγ線放射領域。
AGN噴出またはスターバーストによる衝撃波が原因。
NFWハローと形が重なるため正確な除去が重要。</a:t>
            </a:r>
          </a:p>
        </p:txBody>
      </p:sp>
      <p:sp>
        <p:nvSpPr>
          <p:cNvPr id="7" name="Rectangle 6"/>
          <p:cNvSpPr/>
          <p:nvPr/>
        </p:nvSpPr>
        <p:spPr>
          <a:xfrm>
            <a:off x="365760" y="2606040"/>
            <a:ext cx="5303520" cy="274320"/>
          </a:xfrm>
          <a:prstGeom prst="rect">
            <a:avLst/>
          </a:prstGeom>
          <a:solidFill>
            <a:srgbClr val="1A3A1A"/>
          </a:solidFill>
          <a:ln>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624328"/>
            <a:ext cx="5120640" cy="256032"/>
          </a:xfrm>
          <a:prstGeom prst="rect">
            <a:avLst/>
          </a:prstGeom>
          <a:noFill/>
        </p:spPr>
        <p:txBody>
          <a:bodyPr wrap="square">
            <a:spAutoFit/>
          </a:bodyPr>
          <a:lstStyle/>
          <a:p>
            <a:pPr algn="l"/>
            <a:r>
              <a:rPr sz="1400" b="1" i="0">
                <a:solidFill>
                  <a:srgbClr val="44FF88"/>
                </a:solidFill>
              </a:rPr>
              <a:t>▶ Totaniの手法</a:t>
            </a:r>
          </a:p>
        </p:txBody>
      </p:sp>
      <p:sp>
        <p:nvSpPr>
          <p:cNvPr id="9" name="TextBox 8"/>
          <p:cNvSpPr txBox="1"/>
          <p:nvPr/>
        </p:nvSpPr>
        <p:spPr>
          <a:xfrm>
            <a:off x="457200" y="2926080"/>
            <a:ext cx="5120640" cy="731520"/>
          </a:xfrm>
          <a:prstGeom prst="rect">
            <a:avLst/>
          </a:prstGeom>
          <a:noFill/>
        </p:spPr>
        <p:txBody>
          <a:bodyPr wrap="square">
            <a:spAutoFit/>
          </a:bodyPr>
          <a:lstStyle/>
          <a:p>
            <a:pPr algn="l"/>
            <a:r>
              <a:rPr sz="1400" b="0" i="0">
                <a:solidFill>
                  <a:srgbClr val="FFFFFF"/>
                </a:solidFill>
              </a:rPr>
              <a:t>4.3 GeV（Bin3）の[Iso+GALPROP+PS]残差マップを
バブルテンプレートとして構築し、各ビンで振幅をフィット</a:t>
            </a:r>
          </a:p>
        </p:txBody>
      </p:sp>
      <p:sp>
        <p:nvSpPr>
          <p:cNvPr id="10" name="Rectangle 9"/>
          <p:cNvSpPr/>
          <p:nvPr/>
        </p:nvSpPr>
        <p:spPr>
          <a:xfrm>
            <a:off x="365760" y="3611880"/>
            <a:ext cx="5303520" cy="274320"/>
          </a:xfrm>
          <a:prstGeom prst="rect">
            <a:avLst/>
          </a:prstGeom>
          <a:solidFill>
            <a:srgbClr val="3A2A0A"/>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630168"/>
            <a:ext cx="5120640" cy="256032"/>
          </a:xfrm>
          <a:prstGeom prst="rect">
            <a:avLst/>
          </a:prstGeom>
          <a:noFill/>
        </p:spPr>
        <p:txBody>
          <a:bodyPr wrap="square">
            <a:spAutoFit/>
          </a:bodyPr>
          <a:lstStyle/>
          <a:p>
            <a:pPr algn="l"/>
            <a:r>
              <a:rPr sz="1400" b="1" i="0">
                <a:solidFill>
                  <a:srgbClr val="FFCC00"/>
                </a:solidFill>
              </a:rPr>
              <a:t>▶ 今回の実装</a:t>
            </a:r>
          </a:p>
        </p:txBody>
      </p:sp>
      <p:sp>
        <p:nvSpPr>
          <p:cNvPr id="12" name="TextBox 11"/>
          <p:cNvSpPr txBox="1"/>
          <p:nvPr/>
        </p:nvSpPr>
        <p:spPr>
          <a:xfrm>
            <a:off x="457200" y="3931920"/>
            <a:ext cx="5120640" cy="731520"/>
          </a:xfrm>
          <a:prstGeom prst="rect">
            <a:avLst/>
          </a:prstGeom>
          <a:noFill/>
        </p:spPr>
        <p:txBody>
          <a:bodyPr wrap="square">
            <a:spAutoFit/>
          </a:bodyPr>
          <a:lstStyle/>
          <a:p>
            <a:pPr algn="l"/>
            <a:r>
              <a:rPr sz="1400" b="0" i="0">
                <a:solidFill>
                  <a:srgbClr val="FFFFFF"/>
                </a:solidFill>
              </a:rPr>
              <a:t>同じ手法を実装 ✓
Bin3（4.31 GeV）残差マップからテンプレートを構築
各ビンで Poisson MLE により振幅 A を決定して差し引く</a:t>
            </a:r>
          </a:p>
        </p:txBody>
      </p:sp>
      <p:sp>
        <p:nvSpPr>
          <p:cNvPr id="13" name="TextBox 12"/>
          <p:cNvSpPr txBox="1"/>
          <p:nvPr/>
        </p:nvSpPr>
        <p:spPr>
          <a:xfrm>
            <a:off x="365760" y="4663440"/>
            <a:ext cx="5303520" cy="365760"/>
          </a:xfrm>
          <a:prstGeom prst="rect">
            <a:avLst/>
          </a:prstGeom>
          <a:noFill/>
        </p:spPr>
        <p:txBody>
          <a:bodyPr wrap="square">
            <a:spAutoFit/>
          </a:bodyPr>
          <a:lstStyle/>
          <a:p>
            <a:pPr algn="l"/>
            <a:r>
              <a:rPr sz="1400" b="1" i="0">
                <a:solidFill>
                  <a:srgbClr val="44FF88"/>
                </a:solidFill>
              </a:rPr>
              <a:t>✓ Totaniの手法を再現（データ駆動テンプレート）</a:t>
            </a:r>
          </a:p>
        </p:txBody>
      </p:sp>
      <p:sp>
        <p:nvSpPr>
          <p:cNvPr id="14" name="TextBox 13"/>
          <p:cNvSpPr txBox="1"/>
          <p:nvPr/>
        </p:nvSpPr>
        <p:spPr>
          <a:xfrm>
            <a:off x="5943600" y="1188720"/>
            <a:ext cx="5943600" cy="365760"/>
          </a:xfrm>
          <a:prstGeom prst="rect">
            <a:avLst/>
          </a:prstGeom>
          <a:noFill/>
        </p:spPr>
        <p:txBody>
          <a:bodyPr wrap="square">
            <a:spAutoFit/>
          </a:bodyPr>
          <a:lstStyle/>
          <a:p>
            <a:pPr algn="l"/>
            <a:r>
              <a:rPr sz="1400" b="1" i="0">
                <a:solidFill>
                  <a:srgbClr val="44CCFF"/>
                </a:solidFill>
              </a:rPr>
              <a:t>フェルミバブルの形状（銀河座標系）</a:t>
            </a:r>
          </a:p>
        </p:txBody>
      </p:sp>
      <p:pic>
        <p:nvPicPr>
          <p:cNvPr id="15" name="Picture 14" descr="fermi_bubble_shape.png"/>
          <p:cNvPicPr>
            <a:picLocks noChangeAspect="1"/>
          </p:cNvPicPr>
          <p:nvPr/>
        </p:nvPicPr>
        <p:blipFill>
          <a:blip r:embed="rId3"/>
          <a:stretch>
            <a:fillRect/>
          </a:stretch>
        </p:blipFill>
        <p:spPr>
          <a:xfrm>
            <a:off x="5879465" y="1627632"/>
            <a:ext cx="5943600" cy="4747656"/>
          </a:xfrm>
          <a:prstGeom prst="rect">
            <a:avLst/>
          </a:prstGeom>
        </p:spPr>
      </p:pic>
      <p:sp>
        <p:nvSpPr>
          <p:cNvPr id="16" name="TextBox 15"/>
          <p:cNvSpPr txBox="1"/>
          <p:nvPr/>
        </p:nvSpPr>
        <p:spPr>
          <a:xfrm>
            <a:off x="5943600" y="6393576"/>
            <a:ext cx="5943600" cy="502920"/>
          </a:xfrm>
          <a:prstGeom prst="rect">
            <a:avLst/>
          </a:prstGeom>
          <a:noFill/>
        </p:spPr>
        <p:txBody>
          <a:bodyPr wrap="square">
            <a:spAutoFit/>
          </a:bodyPr>
          <a:lstStyle/>
          <a:p>
            <a:pPr algn="l"/>
            <a:r>
              <a:rPr sz="1400" b="0" i="0">
                <a:solidFill>
                  <a:srgbClr val="AAAAAA"/>
                </a:solidFill>
              </a:rPr>
              <a:t>Su et al. (2010), Ackermann et al. (2014)
スペクトル: E²dN/dE ≈ const (硬いスペクトル)</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502920"/>
          </a:xfrm>
          <a:prstGeom prst="rect">
            <a:avLst/>
          </a:prstGeom>
          <a:noFill/>
        </p:spPr>
        <p:txBody>
          <a:bodyPr wrap="square">
            <a:spAutoFit/>
          </a:bodyPr>
          <a:lstStyle/>
          <a:p>
            <a:pPr algn="l"/>
            <a:r>
              <a:rPr sz="2200" b="1" i="0">
                <a:solidFill>
                  <a:srgbClr val="FFCC00"/>
                </a:solidFill>
              </a:rPr>
              <a:t>Methods (6/6) — Step 5 — ループI / 北極輝線弧（Loop I / NPS）</a:t>
            </a:r>
          </a:p>
        </p:txBody>
      </p:sp>
      <p:sp>
        <p:nvSpPr>
          <p:cNvPr id="3" name="Rectangle 2"/>
          <p:cNvSpPr/>
          <p:nvPr/>
        </p:nvSpPr>
        <p:spPr>
          <a:xfrm>
            <a:off x="365760" y="658368"/>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749808"/>
            <a:ext cx="1371600" cy="365760"/>
          </a:xfrm>
          <a:prstGeom prst="rect">
            <a:avLst/>
          </a:prstGeom>
          <a:solidFill>
            <a:srgbClr val="44CCFF"/>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dirty="0">
                <a:solidFill>
                  <a:srgbClr val="05051A"/>
                </a:solidFill>
              </a:rPr>
              <a:t>Step </a:t>
            </a:r>
            <a:r>
              <a:rPr lang="en-US" altLang="ja-JP" sz="1400" b="1" dirty="0">
                <a:solidFill>
                  <a:srgbClr val="05051A"/>
                </a:solidFill>
              </a:rPr>
              <a:t>5</a:t>
            </a:r>
            <a:r>
              <a:rPr sz="1400" b="1" dirty="0">
                <a:solidFill>
                  <a:srgbClr val="05051A"/>
                </a:solidFill>
              </a:rPr>
              <a:t>/5</a:t>
            </a:r>
          </a:p>
        </p:txBody>
      </p:sp>
      <p:sp>
        <p:nvSpPr>
          <p:cNvPr id="5" name="TextBox 4"/>
          <p:cNvSpPr txBox="1"/>
          <p:nvPr/>
        </p:nvSpPr>
        <p:spPr>
          <a:xfrm>
            <a:off x="365760" y="1188720"/>
            <a:ext cx="5303520" cy="365760"/>
          </a:xfrm>
          <a:prstGeom prst="rect">
            <a:avLst/>
          </a:prstGeom>
          <a:noFill/>
        </p:spPr>
        <p:txBody>
          <a:bodyPr wrap="square">
            <a:spAutoFit/>
          </a:bodyPr>
          <a:lstStyle/>
          <a:p>
            <a:pPr algn="l"/>
            <a:r>
              <a:rPr sz="1500" b="1" i="0">
                <a:solidFill>
                  <a:srgbClr val="44CCFF"/>
                </a:solidFill>
              </a:rPr>
              <a:t>ループI（北極輝線弧）とは</a:t>
            </a:r>
          </a:p>
        </p:txBody>
      </p:sp>
      <p:sp>
        <p:nvSpPr>
          <p:cNvPr id="6" name="TextBox 5"/>
          <p:cNvSpPr txBox="1"/>
          <p:nvPr/>
        </p:nvSpPr>
        <p:spPr>
          <a:xfrm>
            <a:off x="365760" y="1627632"/>
            <a:ext cx="5303520" cy="914400"/>
          </a:xfrm>
          <a:prstGeom prst="rect">
            <a:avLst/>
          </a:prstGeom>
          <a:noFill/>
        </p:spPr>
        <p:txBody>
          <a:bodyPr wrap="square">
            <a:spAutoFit/>
          </a:bodyPr>
          <a:lstStyle/>
          <a:p>
            <a:pPr algn="l"/>
            <a:r>
              <a:rPr sz="1400" b="0" i="0">
                <a:solidFill>
                  <a:srgbClr val="FFFFFF"/>
                </a:solidFill>
              </a:rPr>
              <a:t>さそり座OB星団の超新星爆発（~10万年前）が生じた膨張シェル。
北天に大きな弧として見え、銀河中心付近のγ線観測に
系統的な誤差をもたらすため除去が必要。</a:t>
            </a:r>
          </a:p>
        </p:txBody>
      </p:sp>
      <p:sp>
        <p:nvSpPr>
          <p:cNvPr id="7" name="Rectangle 6"/>
          <p:cNvSpPr/>
          <p:nvPr/>
        </p:nvSpPr>
        <p:spPr>
          <a:xfrm>
            <a:off x="365760" y="2606040"/>
            <a:ext cx="5303520" cy="274320"/>
          </a:xfrm>
          <a:prstGeom prst="rect">
            <a:avLst/>
          </a:prstGeom>
          <a:solidFill>
            <a:srgbClr val="1A3A1A"/>
          </a:solidFill>
          <a:ln>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624328"/>
            <a:ext cx="5120640" cy="256032"/>
          </a:xfrm>
          <a:prstGeom prst="rect">
            <a:avLst/>
          </a:prstGeom>
          <a:noFill/>
        </p:spPr>
        <p:txBody>
          <a:bodyPr wrap="square">
            <a:spAutoFit/>
          </a:bodyPr>
          <a:lstStyle/>
          <a:p>
            <a:pPr algn="l"/>
            <a:r>
              <a:rPr sz="1400" b="1" i="0">
                <a:solidFill>
                  <a:srgbClr val="44FF88"/>
                </a:solidFill>
              </a:rPr>
              <a:t>▶ Totaniの手法</a:t>
            </a:r>
          </a:p>
        </p:txBody>
      </p:sp>
      <p:sp>
        <p:nvSpPr>
          <p:cNvPr id="9" name="TextBox 8"/>
          <p:cNvSpPr txBox="1"/>
          <p:nvPr/>
        </p:nvSpPr>
        <p:spPr>
          <a:xfrm>
            <a:off x="457200" y="2926080"/>
            <a:ext cx="5120640" cy="731520"/>
          </a:xfrm>
          <a:prstGeom prst="rect">
            <a:avLst/>
          </a:prstGeom>
          <a:noFill/>
        </p:spPr>
        <p:txBody>
          <a:bodyPr wrap="square">
            <a:spAutoFit/>
          </a:bodyPr>
          <a:lstStyle/>
          <a:p>
            <a:pPr algn="l"/>
            <a:r>
              <a:rPr sz="1400" b="0" i="0">
                <a:solidFill>
                  <a:srgbClr val="FFFFFF"/>
                </a:solidFill>
              </a:rPr>
              <a:t>幾何シェルモデルで内側・外側の2成分を
独立にフィット（Section 2.3）</a:t>
            </a:r>
          </a:p>
        </p:txBody>
      </p:sp>
      <p:sp>
        <p:nvSpPr>
          <p:cNvPr id="10" name="Rectangle 9"/>
          <p:cNvSpPr/>
          <p:nvPr/>
        </p:nvSpPr>
        <p:spPr>
          <a:xfrm>
            <a:off x="365760" y="3611880"/>
            <a:ext cx="5303520" cy="274320"/>
          </a:xfrm>
          <a:prstGeom prst="rect">
            <a:avLst/>
          </a:prstGeom>
          <a:solidFill>
            <a:srgbClr val="3A2A0A"/>
          </a:solidFill>
          <a:ln>
            <a:solidFill>
              <a:srgbClr val="FFC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630168"/>
            <a:ext cx="5120640" cy="256032"/>
          </a:xfrm>
          <a:prstGeom prst="rect">
            <a:avLst/>
          </a:prstGeom>
          <a:noFill/>
        </p:spPr>
        <p:txBody>
          <a:bodyPr wrap="square">
            <a:spAutoFit/>
          </a:bodyPr>
          <a:lstStyle/>
          <a:p>
            <a:pPr algn="l"/>
            <a:r>
              <a:rPr sz="1400" b="1" i="0">
                <a:solidFill>
                  <a:srgbClr val="FFCC00"/>
                </a:solidFill>
              </a:rPr>
              <a:t>▶ 今回の実装</a:t>
            </a:r>
          </a:p>
        </p:txBody>
      </p:sp>
      <p:sp>
        <p:nvSpPr>
          <p:cNvPr id="12" name="TextBox 11"/>
          <p:cNvSpPr txBox="1"/>
          <p:nvPr/>
        </p:nvSpPr>
        <p:spPr>
          <a:xfrm>
            <a:off x="457200" y="3931920"/>
            <a:ext cx="5120640" cy="731520"/>
          </a:xfrm>
          <a:prstGeom prst="rect">
            <a:avLst/>
          </a:prstGeom>
          <a:noFill/>
        </p:spPr>
        <p:txBody>
          <a:bodyPr wrap="square">
            <a:spAutoFit/>
          </a:bodyPr>
          <a:lstStyle/>
          <a:p>
            <a:pPr algn="l"/>
            <a:r>
              <a:rPr sz="1400" b="0" i="0">
                <a:solidFill>
                  <a:srgbClr val="FFFFFF"/>
                </a:solidFill>
              </a:rPr>
              <a:t>同じく2成分に分割して独立フィット ✓
内側成分（角距離 40-55°）と外側成分（55-70°）を
それぞれ独立に平均を計算して差し引く</a:t>
            </a:r>
          </a:p>
        </p:txBody>
      </p:sp>
      <p:sp>
        <p:nvSpPr>
          <p:cNvPr id="13" name="TextBox 12"/>
          <p:cNvSpPr txBox="1"/>
          <p:nvPr/>
        </p:nvSpPr>
        <p:spPr>
          <a:xfrm>
            <a:off x="365760" y="4663440"/>
            <a:ext cx="5303520" cy="502920"/>
          </a:xfrm>
          <a:prstGeom prst="rect">
            <a:avLst/>
          </a:prstGeom>
          <a:noFill/>
        </p:spPr>
        <p:txBody>
          <a:bodyPr wrap="square">
            <a:spAutoFit/>
          </a:bodyPr>
          <a:lstStyle/>
          <a:p>
            <a:pPr algn="l"/>
            <a:r>
              <a:rPr sz="1400" b="0" i="1">
                <a:solidFill>
                  <a:srgbClr val="FFCC00"/>
                </a:solidFill>
              </a:rPr>
              <a:t>△ 近似: Totaniは連続シェルモデル（自由パラメータ多）
   今回は2区間の独立平均。形状誤差が残差に残る可能性あり</a:t>
            </a:r>
          </a:p>
        </p:txBody>
      </p:sp>
      <p:sp>
        <p:nvSpPr>
          <p:cNvPr id="14" name="TextBox 13"/>
          <p:cNvSpPr txBox="1"/>
          <p:nvPr/>
        </p:nvSpPr>
        <p:spPr>
          <a:xfrm>
            <a:off x="5943600" y="1188720"/>
            <a:ext cx="5943600" cy="365760"/>
          </a:xfrm>
          <a:prstGeom prst="rect">
            <a:avLst/>
          </a:prstGeom>
          <a:noFill/>
        </p:spPr>
        <p:txBody>
          <a:bodyPr wrap="square">
            <a:spAutoFit/>
          </a:bodyPr>
          <a:lstStyle/>
          <a:p>
            <a:pPr algn="l"/>
            <a:r>
              <a:rPr sz="1400" b="1" i="0">
                <a:solidFill>
                  <a:srgbClr val="44CCFF"/>
                </a:solidFill>
              </a:rPr>
              <a:t>Loop I の形状（銀河座標系）</a:t>
            </a:r>
          </a:p>
        </p:txBody>
      </p:sp>
      <p:pic>
        <p:nvPicPr>
          <p:cNvPr id="15" name="Picture 14" descr="loop_i_shape.png"/>
          <p:cNvPicPr>
            <a:picLocks noChangeAspect="1"/>
          </p:cNvPicPr>
          <p:nvPr/>
        </p:nvPicPr>
        <p:blipFill>
          <a:blip r:embed="rId3"/>
          <a:stretch>
            <a:fillRect/>
          </a:stretch>
        </p:blipFill>
        <p:spPr>
          <a:xfrm>
            <a:off x="5943600" y="1600200"/>
            <a:ext cx="5943600" cy="4726043"/>
          </a:xfrm>
          <a:prstGeom prst="rect">
            <a:avLst/>
          </a:prstGeom>
        </p:spPr>
      </p:pic>
      <p:sp>
        <p:nvSpPr>
          <p:cNvPr id="16" name="TextBox 15"/>
          <p:cNvSpPr txBox="1"/>
          <p:nvPr/>
        </p:nvSpPr>
        <p:spPr>
          <a:xfrm>
            <a:off x="5943600" y="6371963"/>
            <a:ext cx="5943600" cy="365760"/>
          </a:xfrm>
          <a:prstGeom prst="rect">
            <a:avLst/>
          </a:prstGeom>
          <a:noFill/>
        </p:spPr>
        <p:txBody>
          <a:bodyPr wrap="square">
            <a:spAutoFit/>
          </a:bodyPr>
          <a:lstStyle/>
          <a:p>
            <a:pPr algn="l"/>
            <a:r>
              <a:rPr sz="1400" b="0" i="0">
                <a:solidFill>
                  <a:srgbClr val="AAAAAA"/>
                </a:solidFill>
              </a:rPr>
              <a:t>Berkhuijsen (1971), Dickinson (2018)
中心: l=-31°, b=+18°, 半径≈58°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502920"/>
          </a:xfrm>
          <a:prstGeom prst="rect">
            <a:avLst/>
          </a:prstGeom>
          <a:noFill/>
        </p:spPr>
        <p:txBody>
          <a:bodyPr wrap="square">
            <a:spAutoFit/>
          </a:bodyPr>
          <a:lstStyle/>
          <a:p>
            <a:pPr algn="l"/>
            <a:r>
              <a:rPr sz="2200" b="1" i="0">
                <a:solidFill>
                  <a:srgbClr val="FFCC00"/>
                </a:solidFill>
              </a:rPr>
              <a:t>Results — NFW フィットとスペクトル</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749808"/>
            <a:ext cx="5486400" cy="384048"/>
          </a:xfrm>
          <a:prstGeom prst="rect">
            <a:avLst/>
          </a:prstGeom>
          <a:noFill/>
        </p:spPr>
        <p:txBody>
          <a:bodyPr wrap="square">
            <a:spAutoFit/>
          </a:bodyPr>
          <a:lstStyle/>
          <a:p>
            <a:pPr algn="l"/>
            <a:r>
              <a:rPr sz="1600" b="1" i="0">
                <a:solidFill>
                  <a:srgbClr val="44CCFF"/>
                </a:solidFill>
              </a:rPr>
              <a:t>NFW ハロー振幅フィット手順</a:t>
            </a:r>
          </a:p>
        </p:txBody>
      </p:sp>
      <p:sp>
        <p:nvSpPr>
          <p:cNvPr id="5" name="TextBox 4"/>
          <p:cNvSpPr txBox="1"/>
          <p:nvPr/>
        </p:nvSpPr>
        <p:spPr>
          <a:xfrm>
            <a:off x="365760" y="1188720"/>
            <a:ext cx="5486400" cy="1371600"/>
          </a:xfrm>
          <a:prstGeom prst="rect">
            <a:avLst/>
          </a:prstGeom>
          <a:noFill/>
        </p:spPr>
        <p:txBody>
          <a:bodyPr wrap="square">
            <a:spAutoFit/>
          </a:bodyPr>
          <a:lstStyle/>
          <a:p>
            <a:pPr algn="l"/>
            <a:r>
              <a:rPr sz="1400" b="0" i="0">
                <a:solidFill>
                  <a:srgbClr val="FFFFFF"/>
                </a:solidFill>
              </a:rPr>
              <a:t>① NFW 密度プロファイル（J-factor マップ）を計算
    ρ(r) = ρ_s / [(r/r_s)(1 + r/r_s)²]
    J(l,b) = ∫₀¹⁰⁰ᵏᵖᶜ ρ²(r) ds
    (r_s=21 kpc, ρ_s=8.1×10⁶ M☉/kpc³)</a:t>
            </a:r>
          </a:p>
        </p:txBody>
      </p:sp>
      <p:sp>
        <p:nvSpPr>
          <p:cNvPr id="6" name="TextBox 5"/>
          <p:cNvSpPr txBox="1"/>
          <p:nvPr/>
        </p:nvSpPr>
        <p:spPr>
          <a:xfrm>
            <a:off x="365760" y="2651760"/>
            <a:ext cx="5486400" cy="1097280"/>
          </a:xfrm>
          <a:prstGeom prst="rect">
            <a:avLst/>
          </a:prstGeom>
          <a:noFill/>
        </p:spPr>
        <p:txBody>
          <a:bodyPr wrap="square">
            <a:spAutoFit/>
          </a:bodyPr>
          <a:lstStyle/>
          <a:p>
            <a:pPr algn="l"/>
            <a:r>
              <a:rPr sz="1400" b="0" i="0">
                <a:solidFill>
                  <a:srgbClr val="FFFFFF"/>
                </a:solidFill>
              </a:rPr>
              <a:t>② 残差マップを J_norm でフィット（最小二乗）
    残差 = A × J_norm
    A = (J^T R) / (J^T J)   [R = ROI内残差ピクセル]</a:t>
            </a:r>
          </a:p>
        </p:txBody>
      </p:sp>
      <p:sp>
        <p:nvSpPr>
          <p:cNvPr id="7" name="TextBox 6"/>
          <p:cNvSpPr txBox="1"/>
          <p:nvPr/>
        </p:nvSpPr>
        <p:spPr>
          <a:xfrm>
            <a:off x="365760" y="3840480"/>
            <a:ext cx="5486400" cy="914400"/>
          </a:xfrm>
          <a:prstGeom prst="rect">
            <a:avLst/>
          </a:prstGeom>
          <a:noFill/>
        </p:spPr>
        <p:txBody>
          <a:bodyPr wrap="square">
            <a:spAutoFit/>
          </a:bodyPr>
          <a:lstStyle/>
          <a:p>
            <a:pPr algn="l"/>
            <a:r>
              <a:rPr sz="1400" b="0" i="0">
                <a:solidFill>
                  <a:srgbClr val="FFFFFF"/>
                </a:solidFill>
              </a:rPr>
              <a:t>③ σ_A（誤差）はPoisson統計から計算
    σ_A = √(n_events/n_pixels) / √(Σ J_i²)
    ※ 前景成分との縮退は含まない（統計的不確かさのみ）</a:t>
            </a:r>
          </a:p>
        </p:txBody>
      </p:sp>
      <p:sp>
        <p:nvSpPr>
          <p:cNvPr id="8" name="Rectangle 7"/>
          <p:cNvSpPr/>
          <p:nvPr/>
        </p:nvSpPr>
        <p:spPr>
          <a:xfrm>
            <a:off x="365760" y="4828032"/>
            <a:ext cx="5486400" cy="1691640"/>
          </a:xfrm>
          <a:prstGeom prst="rect">
            <a:avLst/>
          </a:prstGeom>
          <a:solidFill>
            <a:srgbClr val="1A0A0A"/>
          </a:solidFill>
          <a:ln>
            <a:solidFill>
              <a:srgbClr val="F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4892040"/>
            <a:ext cx="5303520" cy="347472"/>
          </a:xfrm>
          <a:prstGeom prst="rect">
            <a:avLst/>
          </a:prstGeom>
          <a:noFill/>
        </p:spPr>
        <p:txBody>
          <a:bodyPr wrap="square">
            <a:spAutoFit/>
          </a:bodyPr>
          <a:lstStyle/>
          <a:p>
            <a:pPr algn="l"/>
            <a:r>
              <a:rPr sz="1400" b="1" i="0">
                <a:solidFill>
                  <a:srgbClr val="FF4444"/>
                </a:solidFill>
              </a:rPr>
              <a:t>⚠ 31σ が大きすぎる理由（系統誤差の問題）</a:t>
            </a:r>
          </a:p>
        </p:txBody>
      </p:sp>
      <p:sp>
        <p:nvSpPr>
          <p:cNvPr id="10" name="TextBox 9"/>
          <p:cNvSpPr txBox="1"/>
          <p:nvPr/>
        </p:nvSpPr>
        <p:spPr>
          <a:xfrm>
            <a:off x="457200" y="5257800"/>
            <a:ext cx="5303520" cy="1188720"/>
          </a:xfrm>
          <a:prstGeom prst="rect">
            <a:avLst/>
          </a:prstGeom>
          <a:noFill/>
        </p:spPr>
        <p:txBody>
          <a:bodyPr wrap="square">
            <a:spAutoFit/>
          </a:bodyPr>
          <a:lstStyle/>
          <a:p>
            <a:pPr algn="l"/>
            <a:r>
              <a:rPr sz="1400" b="0" i="0">
                <a:solidFill>
                  <a:srgbClr val="FFFFFF"/>
                </a:solidFill>
              </a:rPr>
              <a:t>本実装: 5成分を逐次差し引き → 残差に NFW フィット
Totani:  全成分を同時フィット（MCMC）
逐次差し引きは「前景成分とDM信号の縮退」を無視する
→ DM信号が過大評価される → S/N が過大
Totani 13–19σ  ←  系統誤差込みの正しい値</a:t>
            </a:r>
          </a:p>
        </p:txBody>
      </p:sp>
      <p:pic>
        <p:nvPicPr>
          <p:cNvPr id="11" name="Picture 10" descr="nfw_halo_spectrum.png"/>
          <p:cNvPicPr>
            <a:picLocks noChangeAspect="1"/>
          </p:cNvPicPr>
          <p:nvPr/>
        </p:nvPicPr>
        <p:blipFill>
          <a:blip r:embed="rId3"/>
          <a:stretch>
            <a:fillRect/>
          </a:stretch>
        </p:blipFill>
        <p:spPr>
          <a:xfrm>
            <a:off x="5943600" y="749808"/>
            <a:ext cx="6126480" cy="4303330"/>
          </a:xfrm>
          <a:prstGeom prst="rect">
            <a:avLst/>
          </a:prstGeom>
        </p:spPr>
      </p:pic>
      <p:sp>
        <p:nvSpPr>
          <p:cNvPr id="12" name="TextBox 11"/>
          <p:cNvSpPr txBox="1"/>
          <p:nvPr/>
        </p:nvSpPr>
        <p:spPr>
          <a:xfrm>
            <a:off x="5943600" y="5098858"/>
            <a:ext cx="6126480" cy="347472"/>
          </a:xfrm>
          <a:prstGeom prst="rect">
            <a:avLst/>
          </a:prstGeom>
          <a:noFill/>
        </p:spPr>
        <p:txBody>
          <a:bodyPr wrap="square">
            <a:spAutoFit/>
          </a:bodyPr>
          <a:lstStyle/>
          <a:p>
            <a:pPr algn="l"/>
            <a:r>
              <a:rPr sz="1400" b="1" i="0">
                <a:solidFill>
                  <a:srgbClr val="FFCC00"/>
                </a:solidFill>
              </a:rPr>
              <a:t>NFW ハロー振幅スペクトル  [780週 w009-w788]</a:t>
            </a:r>
          </a:p>
        </p:txBody>
      </p:sp>
      <p:sp>
        <p:nvSpPr>
          <p:cNvPr id="13" name="TextBox 12"/>
          <p:cNvSpPr txBox="1"/>
          <p:nvPr/>
        </p:nvSpPr>
        <p:spPr>
          <a:xfrm>
            <a:off x="5943600" y="5464618"/>
            <a:ext cx="6126480" cy="502920"/>
          </a:xfrm>
          <a:prstGeom prst="rect">
            <a:avLst/>
          </a:prstGeom>
          <a:noFill/>
        </p:spPr>
        <p:txBody>
          <a:bodyPr wrap="square">
            <a:spAutoFit/>
          </a:bodyPr>
          <a:lstStyle/>
          <a:p>
            <a:pPr algn="l"/>
            <a:r>
              <a:rPr sz="1400" b="0" i="0">
                <a:solidFill>
                  <a:srgbClr val="AAAAAA"/>
                </a:solidFill>
              </a:rPr>
              <a:t>青●: Poisson統計σ  |  橙■: OLS残差σ（参考）
Bin6（20.76 GeV）で A が最大かつ有意 → DM候補信号</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502920"/>
          </a:xfrm>
          <a:prstGeom prst="rect">
            <a:avLst/>
          </a:prstGeom>
          <a:noFill/>
        </p:spPr>
        <p:txBody>
          <a:bodyPr wrap="square">
            <a:spAutoFit/>
          </a:bodyPr>
          <a:lstStyle/>
          <a:p>
            <a:pPr algn="l"/>
            <a:r>
              <a:rPr sz="2200" b="1" i="0">
                <a:solidFill>
                  <a:srgbClr val="FFCC00"/>
                </a:solidFill>
              </a:rPr>
              <a:t>Discussion (1/3) — なぜ 20 GeV か</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777240"/>
            <a:ext cx="5303520" cy="384048"/>
          </a:xfrm>
          <a:prstGeom prst="rect">
            <a:avLst/>
          </a:prstGeom>
          <a:noFill/>
        </p:spPr>
        <p:txBody>
          <a:bodyPr wrap="square">
            <a:spAutoFit/>
          </a:bodyPr>
          <a:lstStyle/>
          <a:p>
            <a:pPr algn="l"/>
            <a:r>
              <a:rPr sz="1600" b="1" i="0">
                <a:solidFill>
                  <a:srgbClr val="44CCFF"/>
                </a:solidFill>
              </a:rPr>
              <a:t>WIMPs 対消滅のγ線エネルギー</a:t>
            </a:r>
          </a:p>
        </p:txBody>
      </p:sp>
      <p:sp>
        <p:nvSpPr>
          <p:cNvPr id="5" name="TextBox 4"/>
          <p:cNvSpPr txBox="1"/>
          <p:nvPr/>
        </p:nvSpPr>
        <p:spPr>
          <a:xfrm>
            <a:off x="365760" y="1234440"/>
            <a:ext cx="5303520" cy="3200400"/>
          </a:xfrm>
          <a:prstGeom prst="rect">
            <a:avLst/>
          </a:prstGeom>
          <a:noFill/>
        </p:spPr>
        <p:txBody>
          <a:bodyPr wrap="square">
            <a:spAutoFit/>
          </a:bodyPr>
          <a:lstStyle/>
          <a:p>
            <a:pPr algn="l"/>
            <a:r>
              <a:rPr sz="1400" b="0" i="0" dirty="0">
                <a:solidFill>
                  <a:srgbClr val="FFFFFF"/>
                </a:solidFill>
              </a:rPr>
              <a:t>① WIMPs </a:t>
            </a:r>
            <a:r>
              <a:rPr sz="1400" b="0" i="0" dirty="0" err="1">
                <a:solidFill>
                  <a:srgbClr val="FFFFFF"/>
                </a:solidFill>
              </a:rPr>
              <a:t>は対消滅して</a:t>
            </a:r>
            <a:r>
              <a:rPr sz="1400" b="0" i="0" dirty="0">
                <a:solidFill>
                  <a:srgbClr val="FFFFFF"/>
                </a:solidFill>
              </a:rPr>
              <a:t> bb̄（</a:t>
            </a:r>
            <a:r>
              <a:rPr sz="1400" b="0" i="0" dirty="0" err="1">
                <a:solidFill>
                  <a:srgbClr val="FFFFFF"/>
                </a:solidFill>
              </a:rPr>
              <a:t>ボトムクォーク対）を生成</a:t>
            </a:r>
            <a:r>
              <a:rPr sz="1400" b="0" i="0" dirty="0">
                <a:solidFill>
                  <a:srgbClr val="FFFFFF"/>
                </a:solidFill>
              </a:rPr>
              <a:t>
   χ + χ̄  →  b + b̄  →  π⁰  →  γ + γ
② </a:t>
            </a:r>
            <a:r>
              <a:rPr sz="1400" b="0" i="0" dirty="0" err="1">
                <a:solidFill>
                  <a:srgbClr val="FFFFFF"/>
                </a:solidFill>
              </a:rPr>
              <a:t>γ線のエネルギーピークは</a:t>
            </a:r>
            <a:r>
              <a:rPr sz="1400" b="0" i="0" dirty="0">
                <a:solidFill>
                  <a:srgbClr val="FFFFFF"/>
                </a:solidFill>
              </a:rPr>
              <a:t> DM </a:t>
            </a:r>
            <a:r>
              <a:rPr sz="1400" b="0" i="0" dirty="0" err="1">
                <a:solidFill>
                  <a:srgbClr val="FFFFFF"/>
                </a:solidFill>
              </a:rPr>
              <a:t>質量に依存</a:t>
            </a:r>
            <a:r>
              <a:rPr sz="1400" b="0" i="0" dirty="0">
                <a:solidFill>
                  <a:srgbClr val="FFFFFF"/>
                </a:solidFill>
              </a:rPr>
              <a:t>
   </a:t>
            </a:r>
            <a:r>
              <a:rPr sz="1400" b="0" i="0" dirty="0" err="1">
                <a:solidFill>
                  <a:srgbClr val="FFFFFF"/>
                </a:solidFill>
              </a:rPr>
              <a:t>ピーク</a:t>
            </a:r>
            <a:r>
              <a:rPr sz="1400" b="0" i="0" dirty="0">
                <a:solidFill>
                  <a:srgbClr val="FFFFFF"/>
                </a:solidFill>
              </a:rPr>
              <a:t> ≈  </a:t>
            </a:r>
            <a:r>
              <a:rPr sz="1400" b="0" i="0" dirty="0" err="1">
                <a:solidFill>
                  <a:srgbClr val="FFFFFF"/>
                </a:solidFill>
              </a:rPr>
              <a:t>mχ</a:t>
            </a:r>
            <a:r>
              <a:rPr sz="1400" b="0" i="0" dirty="0">
                <a:solidFill>
                  <a:srgbClr val="FFFFFF"/>
                </a:solidFill>
              </a:rPr>
              <a:t> / 20〜40
③ Totani (2025) </a:t>
            </a:r>
            <a:r>
              <a:rPr sz="1400" b="0" i="0" dirty="0" err="1">
                <a:solidFill>
                  <a:srgbClr val="FFFFFF"/>
                </a:solidFill>
              </a:rPr>
              <a:t>のデータ解析から</a:t>
            </a:r>
            <a:r>
              <a:rPr sz="1400" b="0" i="0" dirty="0">
                <a:solidFill>
                  <a:srgbClr val="FFFFFF"/>
                </a:solidFill>
              </a:rPr>
              <a:t>
   20.76 GeV </a:t>
            </a:r>
            <a:r>
              <a:rPr sz="1400" b="0" i="0" dirty="0" err="1">
                <a:solidFill>
                  <a:srgbClr val="FFFFFF"/>
                </a:solidFill>
              </a:rPr>
              <a:t>にピーク</a:t>
            </a:r>
            <a:r>
              <a:rPr sz="1400" b="0" i="0" dirty="0">
                <a:solidFill>
                  <a:srgbClr val="FFFFFF"/>
                </a:solidFill>
              </a:rPr>
              <a:t>  →  </a:t>
            </a:r>
            <a:r>
              <a:rPr sz="1400" b="0" i="0" dirty="0" err="1">
                <a:solidFill>
                  <a:srgbClr val="FFFFFF"/>
                </a:solidFill>
              </a:rPr>
              <a:t>mχ</a:t>
            </a:r>
            <a:r>
              <a:rPr sz="1400" b="0" i="0" dirty="0">
                <a:solidFill>
                  <a:srgbClr val="FFFFFF"/>
                </a:solidFill>
              </a:rPr>
              <a:t> ≈ 0.5〜0.8 TeV
④ </a:t>
            </a:r>
            <a:r>
              <a:rPr sz="1400" b="0" i="0" dirty="0" err="1">
                <a:solidFill>
                  <a:srgbClr val="FFFFFF"/>
                </a:solidFill>
              </a:rPr>
              <a:t>他チャンネルでは</a:t>
            </a:r>
            <a:r>
              <a:rPr sz="1400" b="0" i="0" dirty="0">
                <a:solidFill>
                  <a:srgbClr val="FFFFFF"/>
                </a:solidFill>
              </a:rPr>
              <a:t> 20 GeV </a:t>
            </a:r>
            <a:r>
              <a:rPr sz="1400" b="0" i="0" dirty="0" err="1">
                <a:solidFill>
                  <a:srgbClr val="FFFFFF"/>
                </a:solidFill>
              </a:rPr>
              <a:t>ピークが出ない</a:t>
            </a:r>
            <a:r>
              <a:rPr sz="1400" b="0" i="0" dirty="0">
                <a:solidFill>
                  <a:srgbClr val="FFFFFF"/>
                </a:solidFill>
              </a:rPr>
              <a:t>
   W⁺W⁻, </a:t>
            </a:r>
            <a:r>
              <a:rPr sz="1400" b="0" i="0" dirty="0" err="1">
                <a:solidFill>
                  <a:srgbClr val="FFFFFF"/>
                </a:solidFill>
              </a:rPr>
              <a:t>τ⁺τ</a:t>
            </a:r>
            <a:r>
              <a:rPr sz="1400" b="0" i="0" dirty="0">
                <a:solidFill>
                  <a:srgbClr val="FFFFFF"/>
                </a:solidFill>
              </a:rPr>
              <a:t>⁻ → </a:t>
            </a:r>
            <a:r>
              <a:rPr sz="1400" b="0" i="0" dirty="0" err="1">
                <a:solidFill>
                  <a:srgbClr val="FFFFFF"/>
                </a:solidFill>
              </a:rPr>
              <a:t>スペクトル形状が不一致</a:t>
            </a:r>
            <a:endParaRPr sz="1400" b="0" i="0" dirty="0">
              <a:solidFill>
                <a:srgbClr val="FFFFFF"/>
              </a:solidFill>
            </a:endParaRPr>
          </a:p>
        </p:txBody>
      </p:sp>
      <p:sp>
        <p:nvSpPr>
          <p:cNvPr id="6" name="TextBox 5"/>
          <p:cNvSpPr txBox="1"/>
          <p:nvPr/>
        </p:nvSpPr>
        <p:spPr>
          <a:xfrm>
            <a:off x="365760" y="4572000"/>
            <a:ext cx="5303520" cy="365760"/>
          </a:xfrm>
          <a:prstGeom prst="rect">
            <a:avLst/>
          </a:prstGeom>
          <a:noFill/>
        </p:spPr>
        <p:txBody>
          <a:bodyPr wrap="square">
            <a:spAutoFit/>
          </a:bodyPr>
          <a:lstStyle/>
          <a:p>
            <a:pPr algn="l"/>
            <a:r>
              <a:rPr sz="1400" b="1" i="0" dirty="0" err="1">
                <a:solidFill>
                  <a:srgbClr val="44CCFF"/>
                </a:solidFill>
              </a:rPr>
              <a:t>スペクトル計算の出典</a:t>
            </a:r>
            <a:endParaRPr sz="1400" b="1" i="0" dirty="0">
              <a:solidFill>
                <a:srgbClr val="44CCFF"/>
              </a:solidFill>
            </a:endParaRPr>
          </a:p>
        </p:txBody>
      </p:sp>
      <p:sp>
        <p:nvSpPr>
          <p:cNvPr id="7" name="TextBox 6"/>
          <p:cNvSpPr txBox="1"/>
          <p:nvPr/>
        </p:nvSpPr>
        <p:spPr>
          <a:xfrm>
            <a:off x="365760" y="4983480"/>
            <a:ext cx="5303520" cy="822960"/>
          </a:xfrm>
          <a:prstGeom prst="rect">
            <a:avLst/>
          </a:prstGeom>
          <a:noFill/>
        </p:spPr>
        <p:txBody>
          <a:bodyPr wrap="square">
            <a:spAutoFit/>
          </a:bodyPr>
          <a:lstStyle/>
          <a:p>
            <a:pPr algn="l"/>
            <a:r>
              <a:rPr sz="1400" b="0" i="0">
                <a:solidFill>
                  <a:srgbClr val="FFFFFF"/>
                </a:solidFill>
              </a:rPr>
              <a:t>Cirelli et al. (2011)「PPPC 4 DM ID」
→ 各 DM 質量・各崩壊チャンネルの γ線スペクトルを理論計算した標準テーブル</a:t>
            </a:r>
          </a:p>
        </p:txBody>
      </p:sp>
      <p:sp>
        <p:nvSpPr>
          <p:cNvPr id="8" name="TextBox 7"/>
          <p:cNvSpPr txBox="1"/>
          <p:nvPr/>
        </p:nvSpPr>
        <p:spPr>
          <a:xfrm>
            <a:off x="5943600" y="777240"/>
            <a:ext cx="5943600" cy="384048"/>
          </a:xfrm>
          <a:prstGeom prst="rect">
            <a:avLst/>
          </a:prstGeom>
          <a:noFill/>
        </p:spPr>
        <p:txBody>
          <a:bodyPr wrap="square">
            <a:spAutoFit/>
          </a:bodyPr>
          <a:lstStyle/>
          <a:p>
            <a:pPr algn="l"/>
            <a:r>
              <a:rPr sz="1600" b="1" i="0">
                <a:solidFill>
                  <a:srgbClr val="44CCFF"/>
                </a:solidFill>
              </a:rPr>
              <a:t>bb̄チャンネルが選ばれる理由</a:t>
            </a:r>
          </a:p>
        </p:txBody>
      </p:sp>
      <p:sp>
        <p:nvSpPr>
          <p:cNvPr id="9" name="TextBox 8"/>
          <p:cNvSpPr txBox="1"/>
          <p:nvPr/>
        </p:nvSpPr>
        <p:spPr>
          <a:xfrm>
            <a:off x="5943600" y="1234440"/>
            <a:ext cx="5943600" cy="3200400"/>
          </a:xfrm>
          <a:prstGeom prst="rect">
            <a:avLst/>
          </a:prstGeom>
          <a:noFill/>
        </p:spPr>
        <p:txBody>
          <a:bodyPr wrap="square">
            <a:spAutoFit/>
          </a:bodyPr>
          <a:lstStyle/>
          <a:p>
            <a:pPr algn="l"/>
            <a:r>
              <a:rPr sz="1400" b="0" i="0">
                <a:solidFill>
                  <a:srgbClr val="FFFFFF"/>
                </a:solidFill>
              </a:rPr>
              <a:t>γ線スペクトルの比較（同じ mχ のとき）:
  bb̄  チャンネル ★
  → ピークが 20 GeV 付近  ✓ データと一致
  → 低エネルギー側に裾野（π⁰崩壊由来）
  W⁺W⁻ チャンネル
  → より高エネルギー側にピーク  ✗ 不一致
  τ⁺τ⁻ チャンネル
  → 連続スペクトル（ピークなし）  ✗ 不一致
Totaniさんが全チャンネルを比べた結果
bb̄ だけが 20.76 GeV の過剰を説明できた。</a:t>
            </a:r>
          </a:p>
        </p:txBody>
      </p:sp>
      <p:sp>
        <p:nvSpPr>
          <p:cNvPr id="10" name="Rectangle 9"/>
          <p:cNvSpPr/>
          <p:nvPr/>
        </p:nvSpPr>
        <p:spPr>
          <a:xfrm>
            <a:off x="5943600" y="4526280"/>
            <a:ext cx="5943600" cy="594360"/>
          </a:xfrm>
          <a:prstGeom prst="rect">
            <a:avLst/>
          </a:prstGeom>
          <a:solidFill>
            <a:srgbClr val="0A1A0A"/>
          </a:solidFill>
          <a:ln>
            <a:solidFill>
              <a:srgbClr val="44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0" y="4590288"/>
            <a:ext cx="5760720" cy="502920"/>
          </a:xfrm>
          <a:prstGeom prst="rect">
            <a:avLst/>
          </a:prstGeom>
          <a:noFill/>
        </p:spPr>
        <p:txBody>
          <a:bodyPr wrap="square">
            <a:spAutoFit/>
          </a:bodyPr>
          <a:lstStyle/>
          <a:p>
            <a:pPr algn="l"/>
            <a:r>
              <a:rPr sz="1400" b="1" i="0" dirty="0">
                <a:solidFill>
                  <a:srgbClr val="44FF88"/>
                </a:solidFill>
              </a:rPr>
              <a:t>★  </a:t>
            </a:r>
            <a:r>
              <a:rPr sz="1400" b="1" i="0" dirty="0" err="1">
                <a:solidFill>
                  <a:srgbClr val="44FF88"/>
                </a:solidFill>
              </a:rPr>
              <a:t>今回の解析でも</a:t>
            </a:r>
            <a:r>
              <a:rPr sz="1400" b="1" i="0" dirty="0">
                <a:solidFill>
                  <a:srgbClr val="44FF88"/>
                </a:solidFill>
              </a:rPr>
              <a:t> Bin6（20.76 </a:t>
            </a:r>
            <a:r>
              <a:rPr sz="1400" b="1" i="0" dirty="0" err="1">
                <a:solidFill>
                  <a:srgbClr val="44FF88"/>
                </a:solidFill>
              </a:rPr>
              <a:t>GeV）で最大過剰を確認</a:t>
            </a:r>
            <a:r>
              <a:rPr sz="1400" b="1" i="0" dirty="0">
                <a:solidFill>
                  <a:srgbClr val="44FF88"/>
                </a:solidFill>
              </a:rPr>
              <a:t>
   → </a:t>
            </a:r>
            <a:r>
              <a:rPr sz="1400" b="1" i="0" dirty="0" err="1">
                <a:solidFill>
                  <a:srgbClr val="44FF88"/>
                </a:solidFill>
              </a:rPr>
              <a:t>Totaniと同じ結論</a:t>
            </a:r>
            <a:endParaRPr sz="1400" b="1" i="0" dirty="0">
              <a:solidFill>
                <a:srgbClr val="44FF8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502920"/>
          </a:xfrm>
          <a:prstGeom prst="rect">
            <a:avLst/>
          </a:prstGeom>
          <a:noFill/>
        </p:spPr>
        <p:txBody>
          <a:bodyPr wrap="square">
            <a:spAutoFit/>
          </a:bodyPr>
          <a:lstStyle/>
          <a:p>
            <a:pPr algn="l"/>
            <a:r>
              <a:rPr sz="2200" b="1" i="0">
                <a:solidFill>
                  <a:srgbClr val="FFCC00"/>
                </a:solidFill>
              </a:rPr>
              <a:t>Discussion (2/3) — 系統誤差と近似の限界</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749808"/>
            <a:ext cx="1188720" cy="347472"/>
          </a:xfrm>
          <a:prstGeom prst="rect">
            <a:avLst/>
          </a:prstGeom>
          <a:noFill/>
        </p:spPr>
        <p:txBody>
          <a:bodyPr wrap="square">
            <a:spAutoFit/>
          </a:bodyPr>
          <a:lstStyle/>
          <a:p>
            <a:pPr algn="l"/>
            <a:r>
              <a:rPr sz="1400" b="1" i="0">
                <a:solidFill>
                  <a:srgbClr val="44CCFF"/>
                </a:solidFill>
              </a:rPr>
              <a:t>項目</a:t>
            </a:r>
          </a:p>
        </p:txBody>
      </p:sp>
      <p:sp>
        <p:nvSpPr>
          <p:cNvPr id="5" name="TextBox 4"/>
          <p:cNvSpPr txBox="1"/>
          <p:nvPr/>
        </p:nvSpPr>
        <p:spPr>
          <a:xfrm>
            <a:off x="1600200" y="749808"/>
            <a:ext cx="2560320" cy="347472"/>
          </a:xfrm>
          <a:prstGeom prst="rect">
            <a:avLst/>
          </a:prstGeom>
          <a:noFill/>
        </p:spPr>
        <p:txBody>
          <a:bodyPr wrap="square">
            <a:spAutoFit/>
          </a:bodyPr>
          <a:lstStyle/>
          <a:p>
            <a:pPr algn="l"/>
            <a:r>
              <a:rPr sz="1400" b="1" i="0">
                <a:solidFill>
                  <a:srgbClr val="44CCFF"/>
                </a:solidFill>
              </a:rPr>
              <a:t>今回の実装</a:t>
            </a:r>
          </a:p>
        </p:txBody>
      </p:sp>
      <p:sp>
        <p:nvSpPr>
          <p:cNvPr id="6" name="TextBox 5"/>
          <p:cNvSpPr txBox="1"/>
          <p:nvPr/>
        </p:nvSpPr>
        <p:spPr>
          <a:xfrm>
            <a:off x="4206240" y="749808"/>
            <a:ext cx="2560320" cy="347472"/>
          </a:xfrm>
          <a:prstGeom prst="rect">
            <a:avLst/>
          </a:prstGeom>
          <a:noFill/>
        </p:spPr>
        <p:txBody>
          <a:bodyPr wrap="square">
            <a:spAutoFit/>
          </a:bodyPr>
          <a:lstStyle/>
          <a:p>
            <a:pPr algn="l"/>
            <a:r>
              <a:rPr sz="1400" b="1" i="0">
                <a:solidFill>
                  <a:srgbClr val="44CCFF"/>
                </a:solidFill>
              </a:rPr>
              <a:t>Totaniの手法</a:t>
            </a:r>
          </a:p>
        </p:txBody>
      </p:sp>
      <p:sp>
        <p:nvSpPr>
          <p:cNvPr id="7" name="TextBox 6"/>
          <p:cNvSpPr txBox="1"/>
          <p:nvPr/>
        </p:nvSpPr>
        <p:spPr>
          <a:xfrm>
            <a:off x="6812280" y="749808"/>
            <a:ext cx="822960" cy="347472"/>
          </a:xfrm>
          <a:prstGeom prst="rect">
            <a:avLst/>
          </a:prstGeom>
          <a:noFill/>
        </p:spPr>
        <p:txBody>
          <a:bodyPr wrap="square">
            <a:spAutoFit/>
          </a:bodyPr>
          <a:lstStyle/>
          <a:p>
            <a:pPr algn="l"/>
            <a:r>
              <a:rPr sz="1400" b="1" i="0">
                <a:solidFill>
                  <a:srgbClr val="44CCFF"/>
                </a:solidFill>
              </a:rPr>
              <a:t>影響</a:t>
            </a:r>
          </a:p>
        </p:txBody>
      </p:sp>
      <p:sp>
        <p:nvSpPr>
          <p:cNvPr id="8" name="TextBox 7"/>
          <p:cNvSpPr txBox="1"/>
          <p:nvPr/>
        </p:nvSpPr>
        <p:spPr>
          <a:xfrm>
            <a:off x="7680960" y="749808"/>
            <a:ext cx="4572000" cy="347472"/>
          </a:xfrm>
          <a:prstGeom prst="rect">
            <a:avLst/>
          </a:prstGeom>
          <a:noFill/>
        </p:spPr>
        <p:txBody>
          <a:bodyPr wrap="square">
            <a:spAutoFit/>
          </a:bodyPr>
          <a:lstStyle/>
          <a:p>
            <a:pPr algn="l"/>
            <a:r>
              <a:rPr sz="1400" b="1" i="0">
                <a:solidFill>
                  <a:srgbClr val="44CCFF"/>
                </a:solidFill>
              </a:rPr>
              <a:t>影響の内容</a:t>
            </a:r>
          </a:p>
        </p:txBody>
      </p:sp>
      <p:sp>
        <p:nvSpPr>
          <p:cNvPr id="9" name="Rectangle 8"/>
          <p:cNvSpPr/>
          <p:nvPr/>
        </p:nvSpPr>
        <p:spPr>
          <a:xfrm>
            <a:off x="365760" y="1170432"/>
            <a:ext cx="11795760" cy="1005840"/>
          </a:xfrm>
          <a:prstGeom prst="rect">
            <a:avLst/>
          </a:prstGeom>
          <a:solidFill>
            <a:srgbClr val="101025"/>
          </a:solidFill>
          <a:ln>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43584"/>
            <a:ext cx="1097280" cy="914400"/>
          </a:xfrm>
          <a:prstGeom prst="rect">
            <a:avLst/>
          </a:prstGeom>
          <a:noFill/>
        </p:spPr>
        <p:txBody>
          <a:bodyPr wrap="square">
            <a:spAutoFit/>
          </a:bodyPr>
          <a:lstStyle/>
          <a:p>
            <a:pPr algn="l"/>
            <a:r>
              <a:rPr sz="1400" b="1" i="0">
                <a:solidFill>
                  <a:srgbClr val="FF4444"/>
                </a:solidFill>
              </a:rPr>
              <a:t>① 統計手法</a:t>
            </a:r>
          </a:p>
        </p:txBody>
      </p:sp>
      <p:sp>
        <p:nvSpPr>
          <p:cNvPr id="11" name="TextBox 10"/>
          <p:cNvSpPr txBox="1"/>
          <p:nvPr/>
        </p:nvSpPr>
        <p:spPr>
          <a:xfrm>
            <a:off x="1600200" y="1243584"/>
            <a:ext cx="2468880" cy="914400"/>
          </a:xfrm>
          <a:prstGeom prst="rect">
            <a:avLst/>
          </a:prstGeom>
          <a:noFill/>
        </p:spPr>
        <p:txBody>
          <a:bodyPr wrap="square">
            <a:spAutoFit/>
          </a:bodyPr>
          <a:lstStyle/>
          <a:p>
            <a:pPr algn="l"/>
            <a:r>
              <a:rPr sz="1400" b="0" i="0">
                <a:solidFill>
                  <a:srgbClr val="FFFFFF"/>
                </a:solidFill>
              </a:rPr>
              <a:t>最小二乗法</a:t>
            </a:r>
          </a:p>
        </p:txBody>
      </p:sp>
      <p:sp>
        <p:nvSpPr>
          <p:cNvPr id="12" name="TextBox 11"/>
          <p:cNvSpPr txBox="1"/>
          <p:nvPr/>
        </p:nvSpPr>
        <p:spPr>
          <a:xfrm>
            <a:off x="4206240" y="1243584"/>
            <a:ext cx="2468880" cy="914400"/>
          </a:xfrm>
          <a:prstGeom prst="rect">
            <a:avLst/>
          </a:prstGeom>
          <a:noFill/>
        </p:spPr>
        <p:txBody>
          <a:bodyPr wrap="square">
            <a:spAutoFit/>
          </a:bodyPr>
          <a:lstStyle/>
          <a:p>
            <a:pPr algn="l"/>
            <a:r>
              <a:rPr sz="1400" b="0" i="0">
                <a:solidFill>
                  <a:srgbClr val="FFFFFF"/>
                </a:solidFill>
              </a:rPr>
              <a:t>MCMC + Poisson尤度</a:t>
            </a:r>
          </a:p>
        </p:txBody>
      </p:sp>
      <p:sp>
        <p:nvSpPr>
          <p:cNvPr id="13" name="TextBox 12"/>
          <p:cNvSpPr txBox="1"/>
          <p:nvPr/>
        </p:nvSpPr>
        <p:spPr>
          <a:xfrm>
            <a:off x="6812280" y="1243584"/>
            <a:ext cx="731520" cy="914400"/>
          </a:xfrm>
          <a:prstGeom prst="rect">
            <a:avLst/>
          </a:prstGeom>
          <a:noFill/>
        </p:spPr>
        <p:txBody>
          <a:bodyPr wrap="square">
            <a:spAutoFit/>
          </a:bodyPr>
          <a:lstStyle/>
          <a:p>
            <a:pPr algn="l"/>
            <a:r>
              <a:rPr sz="1400" b="1" i="0">
                <a:solidFill>
                  <a:srgbClr val="FF4444"/>
                </a:solidFill>
              </a:rPr>
              <a:t>大</a:t>
            </a:r>
          </a:p>
        </p:txBody>
      </p:sp>
      <p:sp>
        <p:nvSpPr>
          <p:cNvPr id="14" name="TextBox 13"/>
          <p:cNvSpPr txBox="1"/>
          <p:nvPr/>
        </p:nvSpPr>
        <p:spPr>
          <a:xfrm>
            <a:off x="7680960" y="1243584"/>
            <a:ext cx="4389120" cy="914400"/>
          </a:xfrm>
          <a:prstGeom prst="rect">
            <a:avLst/>
          </a:prstGeom>
          <a:noFill/>
        </p:spPr>
        <p:txBody>
          <a:bodyPr wrap="square">
            <a:spAutoFit/>
          </a:bodyPr>
          <a:lstStyle/>
          <a:p>
            <a:pPr algn="l"/>
            <a:r>
              <a:rPr sz="1400" b="0" i="0">
                <a:solidFill>
                  <a:srgbClr val="AAAAAA"/>
                </a:solidFill>
              </a:rPr>
              <a:t>S/N が過大評価（42σ vs 13-19σ）
GALPROPとNFWの空間縮退をスペクトル拘束なしでは解けない</a:t>
            </a:r>
          </a:p>
        </p:txBody>
      </p:sp>
      <p:sp>
        <p:nvSpPr>
          <p:cNvPr id="15" name="Rectangle 14"/>
          <p:cNvSpPr/>
          <p:nvPr/>
        </p:nvSpPr>
        <p:spPr>
          <a:xfrm>
            <a:off x="365760" y="2249424"/>
            <a:ext cx="11795760" cy="1005840"/>
          </a:xfrm>
          <a:prstGeom prst="rect">
            <a:avLst/>
          </a:prstGeom>
          <a:solidFill>
            <a:srgbClr val="101025"/>
          </a:solidFill>
          <a:ln>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322576"/>
            <a:ext cx="1097280" cy="914400"/>
          </a:xfrm>
          <a:prstGeom prst="rect">
            <a:avLst/>
          </a:prstGeom>
          <a:noFill/>
        </p:spPr>
        <p:txBody>
          <a:bodyPr wrap="square">
            <a:spAutoFit/>
          </a:bodyPr>
          <a:lstStyle/>
          <a:p>
            <a:pPr algn="l"/>
            <a:r>
              <a:rPr sz="1400" b="1" i="0">
                <a:solidFill>
                  <a:srgbClr val="FF8800"/>
                </a:solidFill>
              </a:rPr>
              <a:t>② GALPROP
モデル</a:t>
            </a:r>
          </a:p>
        </p:txBody>
      </p:sp>
      <p:sp>
        <p:nvSpPr>
          <p:cNvPr id="17" name="TextBox 16"/>
          <p:cNvSpPr txBox="1"/>
          <p:nvPr/>
        </p:nvSpPr>
        <p:spPr>
          <a:xfrm>
            <a:off x="1600200" y="2322576"/>
            <a:ext cx="2468880" cy="914400"/>
          </a:xfrm>
          <a:prstGeom prst="rect">
            <a:avLst/>
          </a:prstGeom>
          <a:noFill/>
        </p:spPr>
        <p:txBody>
          <a:bodyPr wrap="square">
            <a:spAutoFit/>
          </a:bodyPr>
          <a:lstStyle/>
          <a:p>
            <a:pPr algn="l"/>
            <a:r>
              <a:rPr sz="1400" b="0" i="0">
                <a:solidFill>
                  <a:srgbClr val="FFFFFF"/>
                </a:solidFill>
              </a:rPr>
              <a:t>gll_iem_v07の
1種のみ</a:t>
            </a:r>
          </a:p>
        </p:txBody>
      </p:sp>
      <p:sp>
        <p:nvSpPr>
          <p:cNvPr id="18" name="TextBox 17"/>
          <p:cNvSpPr txBox="1"/>
          <p:nvPr/>
        </p:nvSpPr>
        <p:spPr>
          <a:xfrm>
            <a:off x="4206240" y="2322576"/>
            <a:ext cx="2468880" cy="914400"/>
          </a:xfrm>
          <a:prstGeom prst="rect">
            <a:avLst/>
          </a:prstGeom>
          <a:noFill/>
        </p:spPr>
        <p:txBody>
          <a:bodyPr wrap="square">
            <a:spAutoFit/>
          </a:bodyPr>
          <a:lstStyle/>
          <a:p>
            <a:pPr algn="l"/>
            <a:r>
              <a:rPr sz="1400" b="0" i="0">
                <a:solidFill>
                  <a:srgbClr val="FFFFFF"/>
                </a:solidFill>
              </a:rPr>
              <a:t>複数モデル比較</a:t>
            </a:r>
          </a:p>
        </p:txBody>
      </p:sp>
      <p:sp>
        <p:nvSpPr>
          <p:cNvPr id="19" name="TextBox 18"/>
          <p:cNvSpPr txBox="1"/>
          <p:nvPr/>
        </p:nvSpPr>
        <p:spPr>
          <a:xfrm>
            <a:off x="6812280" y="2322576"/>
            <a:ext cx="731520" cy="914400"/>
          </a:xfrm>
          <a:prstGeom prst="rect">
            <a:avLst/>
          </a:prstGeom>
          <a:noFill/>
        </p:spPr>
        <p:txBody>
          <a:bodyPr wrap="square">
            <a:spAutoFit/>
          </a:bodyPr>
          <a:lstStyle/>
          <a:p>
            <a:pPr algn="l"/>
            <a:r>
              <a:rPr sz="1400" b="1" i="0">
                <a:solidFill>
                  <a:srgbClr val="FF8800"/>
                </a:solidFill>
              </a:rPr>
              <a:t>中</a:t>
            </a:r>
          </a:p>
        </p:txBody>
      </p:sp>
      <p:sp>
        <p:nvSpPr>
          <p:cNvPr id="20" name="TextBox 19"/>
          <p:cNvSpPr txBox="1"/>
          <p:nvPr/>
        </p:nvSpPr>
        <p:spPr>
          <a:xfrm>
            <a:off x="7680960" y="2322576"/>
            <a:ext cx="4389120" cy="914400"/>
          </a:xfrm>
          <a:prstGeom prst="rect">
            <a:avLst/>
          </a:prstGeom>
          <a:noFill/>
        </p:spPr>
        <p:txBody>
          <a:bodyPr wrap="square">
            <a:spAutoFit/>
          </a:bodyPr>
          <a:lstStyle/>
          <a:p>
            <a:pPr algn="l"/>
            <a:r>
              <a:rPr sz="1400" b="0" i="0">
                <a:solidFill>
                  <a:srgbClr val="AAAAAA"/>
                </a:solidFill>
              </a:rPr>
              <a:t>モデルが実際の銀河拡散放射と違う場合、残差に系統誤差が残る</a:t>
            </a:r>
          </a:p>
        </p:txBody>
      </p:sp>
      <p:sp>
        <p:nvSpPr>
          <p:cNvPr id="21" name="Rectangle 20"/>
          <p:cNvSpPr/>
          <p:nvPr/>
        </p:nvSpPr>
        <p:spPr>
          <a:xfrm>
            <a:off x="365760" y="3328415"/>
            <a:ext cx="11795760" cy="1005840"/>
          </a:xfrm>
          <a:prstGeom prst="rect">
            <a:avLst/>
          </a:prstGeom>
          <a:solidFill>
            <a:srgbClr val="101025"/>
          </a:solidFill>
          <a:ln>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401568"/>
            <a:ext cx="1097280" cy="914400"/>
          </a:xfrm>
          <a:prstGeom prst="rect">
            <a:avLst/>
          </a:prstGeom>
          <a:noFill/>
        </p:spPr>
        <p:txBody>
          <a:bodyPr wrap="square">
            <a:spAutoFit/>
          </a:bodyPr>
          <a:lstStyle/>
          <a:p>
            <a:pPr algn="l"/>
            <a:r>
              <a:rPr sz="1400" b="1" i="0">
                <a:solidFill>
                  <a:srgbClr val="FF8800"/>
                </a:solidFill>
              </a:rPr>
              <a:t>③ 露出マップ</a:t>
            </a:r>
          </a:p>
        </p:txBody>
      </p:sp>
      <p:sp>
        <p:nvSpPr>
          <p:cNvPr id="23" name="TextBox 22"/>
          <p:cNvSpPr txBox="1"/>
          <p:nvPr/>
        </p:nvSpPr>
        <p:spPr>
          <a:xfrm>
            <a:off x="1600200" y="3401568"/>
            <a:ext cx="2468880" cy="914400"/>
          </a:xfrm>
          <a:prstGeom prst="rect">
            <a:avLst/>
          </a:prstGeom>
          <a:noFill/>
        </p:spPr>
        <p:txBody>
          <a:bodyPr wrap="square">
            <a:spAutoFit/>
          </a:bodyPr>
          <a:lstStyle/>
          <a:p>
            <a:pPr algn="l"/>
            <a:r>
              <a:rPr sz="1400" b="0" i="0">
                <a:solidFill>
                  <a:srgbClr val="FFFFFF"/>
                </a:solidFill>
              </a:rPr>
              <a:t>未使用</a:t>
            </a:r>
          </a:p>
        </p:txBody>
      </p:sp>
      <p:sp>
        <p:nvSpPr>
          <p:cNvPr id="24" name="TextBox 23"/>
          <p:cNvSpPr txBox="1"/>
          <p:nvPr/>
        </p:nvSpPr>
        <p:spPr>
          <a:xfrm>
            <a:off x="4206240" y="3401568"/>
            <a:ext cx="2468880" cy="914400"/>
          </a:xfrm>
          <a:prstGeom prst="rect">
            <a:avLst/>
          </a:prstGeom>
          <a:noFill/>
        </p:spPr>
        <p:txBody>
          <a:bodyPr wrap="square">
            <a:spAutoFit/>
          </a:bodyPr>
          <a:lstStyle/>
          <a:p>
            <a:pPr algn="l"/>
            <a:r>
              <a:rPr sz="1400" b="0" i="0">
                <a:solidFill>
                  <a:srgbClr val="FFFFFF"/>
                </a:solidFill>
              </a:rPr>
              <a:t>gtexposure で
エネルギー依存補正</a:t>
            </a:r>
          </a:p>
        </p:txBody>
      </p:sp>
      <p:sp>
        <p:nvSpPr>
          <p:cNvPr id="25" name="TextBox 24"/>
          <p:cNvSpPr txBox="1"/>
          <p:nvPr/>
        </p:nvSpPr>
        <p:spPr>
          <a:xfrm>
            <a:off x="6812280" y="3401568"/>
            <a:ext cx="731520" cy="914400"/>
          </a:xfrm>
          <a:prstGeom prst="rect">
            <a:avLst/>
          </a:prstGeom>
          <a:noFill/>
        </p:spPr>
        <p:txBody>
          <a:bodyPr wrap="square">
            <a:spAutoFit/>
          </a:bodyPr>
          <a:lstStyle/>
          <a:p>
            <a:pPr algn="l"/>
            <a:r>
              <a:rPr sz="1400" b="1" i="0">
                <a:solidFill>
                  <a:srgbClr val="FF8800"/>
                </a:solidFill>
              </a:rPr>
              <a:t>中</a:t>
            </a:r>
          </a:p>
        </p:txBody>
      </p:sp>
      <p:sp>
        <p:nvSpPr>
          <p:cNvPr id="26" name="TextBox 25"/>
          <p:cNvSpPr txBox="1"/>
          <p:nvPr/>
        </p:nvSpPr>
        <p:spPr>
          <a:xfrm>
            <a:off x="7680960" y="3401568"/>
            <a:ext cx="4389120" cy="914400"/>
          </a:xfrm>
          <a:prstGeom prst="rect">
            <a:avLst/>
          </a:prstGeom>
          <a:noFill/>
        </p:spPr>
        <p:txBody>
          <a:bodyPr wrap="square">
            <a:spAutoFit/>
          </a:bodyPr>
          <a:lstStyle/>
          <a:p>
            <a:pPr algn="l"/>
            <a:r>
              <a:rPr sz="1400" b="0" i="0">
                <a:solidFill>
                  <a:srgbClr val="AAAAAA"/>
                </a:solidFill>
              </a:rPr>
              <a:t>観測方向ごとの有効観測時間の差を補正できていない</a:t>
            </a:r>
          </a:p>
        </p:txBody>
      </p:sp>
      <p:sp>
        <p:nvSpPr>
          <p:cNvPr id="27" name="Rectangle 26"/>
          <p:cNvSpPr/>
          <p:nvPr/>
        </p:nvSpPr>
        <p:spPr>
          <a:xfrm>
            <a:off x="365760" y="4407407"/>
            <a:ext cx="11795760" cy="1005840"/>
          </a:xfrm>
          <a:prstGeom prst="rect">
            <a:avLst/>
          </a:prstGeom>
          <a:solidFill>
            <a:srgbClr val="101025"/>
          </a:solidFill>
          <a:ln>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4480559"/>
            <a:ext cx="1097280" cy="914400"/>
          </a:xfrm>
          <a:prstGeom prst="rect">
            <a:avLst/>
          </a:prstGeom>
          <a:noFill/>
        </p:spPr>
        <p:txBody>
          <a:bodyPr wrap="square">
            <a:spAutoFit/>
          </a:bodyPr>
          <a:lstStyle/>
          <a:p>
            <a:pPr algn="l"/>
            <a:r>
              <a:rPr sz="1400" b="1" i="0">
                <a:solidFill>
                  <a:srgbClr val="44FF88"/>
                </a:solidFill>
              </a:rPr>
              <a:t>④ 点源処理</a:t>
            </a:r>
          </a:p>
        </p:txBody>
      </p:sp>
      <p:sp>
        <p:nvSpPr>
          <p:cNvPr id="29" name="TextBox 28"/>
          <p:cNvSpPr txBox="1"/>
          <p:nvPr/>
        </p:nvSpPr>
        <p:spPr>
          <a:xfrm>
            <a:off x="1600200" y="4480559"/>
            <a:ext cx="2468880" cy="914400"/>
          </a:xfrm>
          <a:prstGeom prst="rect">
            <a:avLst/>
          </a:prstGeom>
          <a:noFill/>
        </p:spPr>
        <p:txBody>
          <a:bodyPr wrap="square">
            <a:spAutoFit/>
          </a:bodyPr>
          <a:lstStyle/>
          <a:p>
            <a:pPr algn="l"/>
            <a:r>
              <a:rPr sz="1400" b="0" i="0">
                <a:solidFill>
                  <a:srgbClr val="FFFFFF"/>
                </a:solidFill>
              </a:rPr>
              <a:t>座標ピクセルをNaN</a:t>
            </a:r>
          </a:p>
        </p:txBody>
      </p:sp>
      <p:sp>
        <p:nvSpPr>
          <p:cNvPr id="30" name="TextBox 29"/>
          <p:cNvSpPr txBox="1"/>
          <p:nvPr/>
        </p:nvSpPr>
        <p:spPr>
          <a:xfrm>
            <a:off x="4206240" y="4480559"/>
            <a:ext cx="2468880" cy="914400"/>
          </a:xfrm>
          <a:prstGeom prst="rect">
            <a:avLst/>
          </a:prstGeom>
          <a:noFill/>
        </p:spPr>
        <p:txBody>
          <a:bodyPr wrap="square">
            <a:spAutoFit/>
          </a:bodyPr>
          <a:lstStyle/>
          <a:p>
            <a:pPr algn="l"/>
            <a:r>
              <a:rPr sz="1400" b="0" i="0">
                <a:solidFill>
                  <a:srgbClr val="FFFFFF"/>
                </a:solidFill>
              </a:rPr>
              <a:t>PSF畳み込み
差し引き</a:t>
            </a:r>
          </a:p>
        </p:txBody>
      </p:sp>
      <p:sp>
        <p:nvSpPr>
          <p:cNvPr id="31" name="TextBox 30"/>
          <p:cNvSpPr txBox="1"/>
          <p:nvPr/>
        </p:nvSpPr>
        <p:spPr>
          <a:xfrm>
            <a:off x="6812280" y="4480559"/>
            <a:ext cx="731520" cy="914400"/>
          </a:xfrm>
          <a:prstGeom prst="rect">
            <a:avLst/>
          </a:prstGeom>
          <a:noFill/>
        </p:spPr>
        <p:txBody>
          <a:bodyPr wrap="square">
            <a:spAutoFit/>
          </a:bodyPr>
          <a:lstStyle/>
          <a:p>
            <a:pPr algn="l"/>
            <a:r>
              <a:rPr sz="1400" b="1" i="0">
                <a:solidFill>
                  <a:srgbClr val="44FF88"/>
                </a:solidFill>
              </a:rPr>
              <a:t>小</a:t>
            </a:r>
          </a:p>
        </p:txBody>
      </p:sp>
      <p:sp>
        <p:nvSpPr>
          <p:cNvPr id="32" name="TextBox 31"/>
          <p:cNvSpPr txBox="1"/>
          <p:nvPr/>
        </p:nvSpPr>
        <p:spPr>
          <a:xfrm>
            <a:off x="7680960" y="4480559"/>
            <a:ext cx="4389120" cy="914400"/>
          </a:xfrm>
          <a:prstGeom prst="rect">
            <a:avLst/>
          </a:prstGeom>
          <a:noFill/>
        </p:spPr>
        <p:txBody>
          <a:bodyPr wrap="square">
            <a:spAutoFit/>
          </a:bodyPr>
          <a:lstStyle/>
          <a:p>
            <a:pPr algn="l"/>
            <a:r>
              <a:rPr sz="1400" b="0" i="0">
                <a:solidFill>
                  <a:srgbClr val="AAAAAA"/>
                </a:solidFill>
              </a:rPr>
              <a:t>PSF(~0.2°) &lt;&lt; ピクセル(1°) なので近似は妥当
未検出点源の影響は残る</a:t>
            </a:r>
          </a:p>
        </p:txBody>
      </p:sp>
      <p:sp>
        <p:nvSpPr>
          <p:cNvPr id="33" name="TextBox 32"/>
          <p:cNvSpPr txBox="1"/>
          <p:nvPr/>
        </p:nvSpPr>
        <p:spPr>
          <a:xfrm>
            <a:off x="365760" y="6080760"/>
            <a:ext cx="11795760" cy="548640"/>
          </a:xfrm>
          <a:prstGeom prst="rect">
            <a:avLst/>
          </a:prstGeom>
          <a:noFill/>
        </p:spPr>
        <p:txBody>
          <a:bodyPr wrap="square">
            <a:spAutoFit/>
          </a:bodyPr>
          <a:lstStyle/>
          <a:p>
            <a:pPr algn="l"/>
            <a:r>
              <a:rPr sz="1400" b="0" i="1">
                <a:solidFill>
                  <a:srgbClr val="AAAAAA"/>
                </a:solidFill>
              </a:rPr>
              <a:t>→ 卒論での記述: 「Totani (2025) の手法を参考に近似実装した。主な差異はMCMC→最小二乗法、露出マップ未使用。これらは系統誤差として明記する。」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73152"/>
            <a:ext cx="11430000" cy="502920"/>
          </a:xfrm>
          <a:prstGeom prst="rect">
            <a:avLst/>
          </a:prstGeom>
          <a:noFill/>
        </p:spPr>
        <p:txBody>
          <a:bodyPr wrap="square">
            <a:spAutoFit/>
          </a:bodyPr>
          <a:lstStyle/>
          <a:p>
            <a:pPr algn="l"/>
            <a:r>
              <a:rPr sz="2200" b="1" i="0">
                <a:solidFill>
                  <a:srgbClr val="FFCC00"/>
                </a:solidFill>
              </a:rPr>
              <a:t>Discussion (3/3) — 矮小銀河5天体への展開</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749808"/>
            <a:ext cx="6217920" cy="384048"/>
          </a:xfrm>
          <a:prstGeom prst="rect">
            <a:avLst/>
          </a:prstGeom>
          <a:noFill/>
        </p:spPr>
        <p:txBody>
          <a:bodyPr wrap="square">
            <a:spAutoFit/>
          </a:bodyPr>
          <a:lstStyle/>
          <a:p>
            <a:pPr algn="l"/>
            <a:r>
              <a:rPr sz="1500" b="1" i="0">
                <a:solidFill>
                  <a:srgbClr val="44CCFF"/>
                </a:solidFill>
              </a:rPr>
              <a:t>解析手法：オン/オフ法（Li &amp; Ma 1983）</a:t>
            </a:r>
          </a:p>
        </p:txBody>
      </p:sp>
      <p:sp>
        <p:nvSpPr>
          <p:cNvPr id="5" name="TextBox 4"/>
          <p:cNvSpPr txBox="1"/>
          <p:nvPr/>
        </p:nvSpPr>
        <p:spPr>
          <a:xfrm>
            <a:off x="365760" y="1000721"/>
            <a:ext cx="6217920" cy="1371600"/>
          </a:xfrm>
          <a:prstGeom prst="rect">
            <a:avLst/>
          </a:prstGeom>
          <a:noFill/>
        </p:spPr>
        <p:txBody>
          <a:bodyPr wrap="square">
            <a:spAutoFit/>
          </a:bodyPr>
          <a:lstStyle/>
          <a:p>
            <a:pPr algn="l"/>
            <a:r>
              <a:rPr sz="1400" b="0" i="0">
                <a:solidFill>
                  <a:srgbClr val="FFFFFF"/>
                </a:solidFill>
              </a:rPr>
              <a:t>オン領域（天体中心 &lt;2°）のカウント と
オフ領域（2〜5°）のカウント × α（面積比）を比較
α = 2²/(5²−2²) = 4/21 ≈ 0.19
有意性 σ = 超過光子数 / √バックグラウンド期待値</a:t>
            </a:r>
          </a:p>
        </p:txBody>
      </p:sp>
      <p:sp>
        <p:nvSpPr>
          <p:cNvPr id="6" name="TextBox 5"/>
          <p:cNvSpPr txBox="1"/>
          <p:nvPr/>
        </p:nvSpPr>
        <p:spPr>
          <a:xfrm>
            <a:off x="251460" y="1920240"/>
            <a:ext cx="2011680" cy="320040"/>
          </a:xfrm>
          <a:prstGeom prst="rect">
            <a:avLst/>
          </a:prstGeom>
          <a:noFill/>
        </p:spPr>
        <p:txBody>
          <a:bodyPr wrap="square">
            <a:spAutoFit/>
          </a:bodyPr>
          <a:lstStyle/>
          <a:p>
            <a:pPr algn="l"/>
            <a:r>
              <a:rPr sz="1400" b="1" i="0" dirty="0" err="1">
                <a:solidFill>
                  <a:srgbClr val="44CCFF"/>
                </a:solidFill>
              </a:rPr>
              <a:t>天体</a:t>
            </a:r>
            <a:endParaRPr sz="1400" b="1" i="0" dirty="0">
              <a:solidFill>
                <a:srgbClr val="44CCFF"/>
              </a:solidFill>
            </a:endParaRPr>
          </a:p>
        </p:txBody>
      </p:sp>
      <p:sp>
        <p:nvSpPr>
          <p:cNvPr id="7" name="TextBox 6"/>
          <p:cNvSpPr txBox="1"/>
          <p:nvPr/>
        </p:nvSpPr>
        <p:spPr>
          <a:xfrm>
            <a:off x="2308860" y="1920240"/>
            <a:ext cx="1188720" cy="320040"/>
          </a:xfrm>
          <a:prstGeom prst="rect">
            <a:avLst/>
          </a:prstGeom>
          <a:noFill/>
        </p:spPr>
        <p:txBody>
          <a:bodyPr wrap="square">
            <a:spAutoFit/>
          </a:bodyPr>
          <a:lstStyle/>
          <a:p>
            <a:pPr algn="l"/>
            <a:r>
              <a:rPr sz="1400" b="1" i="0">
                <a:solidFill>
                  <a:srgbClr val="44CCFF"/>
                </a:solidFill>
              </a:rPr>
              <a:t>距離</a:t>
            </a:r>
          </a:p>
        </p:txBody>
      </p:sp>
      <p:sp>
        <p:nvSpPr>
          <p:cNvPr id="8" name="TextBox 7"/>
          <p:cNvSpPr txBox="1"/>
          <p:nvPr/>
        </p:nvSpPr>
        <p:spPr>
          <a:xfrm>
            <a:off x="3543300" y="1920240"/>
            <a:ext cx="1828800" cy="320040"/>
          </a:xfrm>
          <a:prstGeom prst="rect">
            <a:avLst/>
          </a:prstGeom>
          <a:noFill/>
        </p:spPr>
        <p:txBody>
          <a:bodyPr wrap="square">
            <a:spAutoFit/>
          </a:bodyPr>
          <a:lstStyle/>
          <a:p>
            <a:pPr algn="l"/>
            <a:r>
              <a:rPr sz="1400" b="1" i="0">
                <a:solidFill>
                  <a:srgbClr val="44CCFF"/>
                </a:solidFill>
              </a:rPr>
              <a:t>Bin6（20.76 GeV）</a:t>
            </a:r>
          </a:p>
        </p:txBody>
      </p:sp>
      <p:sp>
        <p:nvSpPr>
          <p:cNvPr id="9" name="TextBox 8"/>
          <p:cNvSpPr txBox="1"/>
          <p:nvPr/>
        </p:nvSpPr>
        <p:spPr>
          <a:xfrm>
            <a:off x="5417820" y="1920240"/>
            <a:ext cx="1188720" cy="320040"/>
          </a:xfrm>
          <a:prstGeom prst="rect">
            <a:avLst/>
          </a:prstGeom>
          <a:noFill/>
        </p:spPr>
        <p:txBody>
          <a:bodyPr wrap="square">
            <a:spAutoFit/>
          </a:bodyPr>
          <a:lstStyle/>
          <a:p>
            <a:pPr algn="l"/>
            <a:r>
              <a:rPr sz="1400" b="1" i="0">
                <a:solidFill>
                  <a:srgbClr val="44CCFF"/>
                </a:solidFill>
              </a:rPr>
              <a:t>判定</a:t>
            </a:r>
          </a:p>
        </p:txBody>
      </p:sp>
      <p:sp>
        <p:nvSpPr>
          <p:cNvPr id="10" name="TextBox 9"/>
          <p:cNvSpPr txBox="1"/>
          <p:nvPr/>
        </p:nvSpPr>
        <p:spPr>
          <a:xfrm>
            <a:off x="251460" y="2313432"/>
            <a:ext cx="2011680" cy="475488"/>
          </a:xfrm>
          <a:prstGeom prst="rect">
            <a:avLst/>
          </a:prstGeom>
          <a:noFill/>
        </p:spPr>
        <p:txBody>
          <a:bodyPr wrap="square">
            <a:spAutoFit/>
          </a:bodyPr>
          <a:lstStyle/>
          <a:p>
            <a:pPr algn="l"/>
            <a:r>
              <a:rPr sz="1400" b="0" i="0">
                <a:solidFill>
                  <a:srgbClr val="FFFFFF"/>
                </a:solidFill>
              </a:rPr>
              <a:t>Draco</a:t>
            </a:r>
          </a:p>
        </p:txBody>
      </p:sp>
      <p:sp>
        <p:nvSpPr>
          <p:cNvPr id="11" name="TextBox 10"/>
          <p:cNvSpPr txBox="1"/>
          <p:nvPr/>
        </p:nvSpPr>
        <p:spPr>
          <a:xfrm>
            <a:off x="2308860" y="2313432"/>
            <a:ext cx="1188720" cy="475488"/>
          </a:xfrm>
          <a:prstGeom prst="rect">
            <a:avLst/>
          </a:prstGeom>
          <a:noFill/>
        </p:spPr>
        <p:txBody>
          <a:bodyPr wrap="square">
            <a:spAutoFit/>
          </a:bodyPr>
          <a:lstStyle/>
          <a:p>
            <a:pPr algn="l"/>
            <a:r>
              <a:rPr sz="1400" b="0" i="0">
                <a:solidFill>
                  <a:srgbClr val="FFFFFF"/>
                </a:solidFill>
              </a:rPr>
              <a:t>76 kpc</a:t>
            </a:r>
          </a:p>
        </p:txBody>
      </p:sp>
      <p:sp>
        <p:nvSpPr>
          <p:cNvPr id="12" name="TextBox 11"/>
          <p:cNvSpPr txBox="1"/>
          <p:nvPr/>
        </p:nvSpPr>
        <p:spPr>
          <a:xfrm>
            <a:off x="3543300" y="2313432"/>
            <a:ext cx="1828800" cy="475488"/>
          </a:xfrm>
          <a:prstGeom prst="rect">
            <a:avLst/>
          </a:prstGeom>
          <a:noFill/>
        </p:spPr>
        <p:txBody>
          <a:bodyPr wrap="square">
            <a:spAutoFit/>
          </a:bodyPr>
          <a:lstStyle/>
          <a:p>
            <a:pPr algn="l"/>
            <a:r>
              <a:rPr sz="1400" b="0" i="0">
                <a:solidFill>
                  <a:srgbClr val="FFFFFF"/>
                </a:solidFill>
              </a:rPr>
              <a:t>−1.28σ</a:t>
            </a:r>
          </a:p>
        </p:txBody>
      </p:sp>
      <p:sp>
        <p:nvSpPr>
          <p:cNvPr id="13" name="TextBox 12"/>
          <p:cNvSpPr txBox="1"/>
          <p:nvPr/>
        </p:nvSpPr>
        <p:spPr>
          <a:xfrm>
            <a:off x="5417820" y="2313432"/>
            <a:ext cx="1188720" cy="475488"/>
          </a:xfrm>
          <a:prstGeom prst="rect">
            <a:avLst/>
          </a:prstGeom>
          <a:noFill/>
        </p:spPr>
        <p:txBody>
          <a:bodyPr wrap="square">
            <a:spAutoFit/>
          </a:bodyPr>
          <a:lstStyle/>
          <a:p>
            <a:pPr algn="l"/>
            <a:r>
              <a:rPr sz="1400" b="0" i="0">
                <a:solidFill>
                  <a:srgbClr val="FFFFFF"/>
                </a:solidFill>
              </a:rPr>
              <a:t>なし</a:t>
            </a:r>
          </a:p>
        </p:txBody>
      </p:sp>
      <p:sp>
        <p:nvSpPr>
          <p:cNvPr id="14" name="TextBox 13"/>
          <p:cNvSpPr txBox="1"/>
          <p:nvPr/>
        </p:nvSpPr>
        <p:spPr>
          <a:xfrm>
            <a:off x="251460" y="2816352"/>
            <a:ext cx="2011680" cy="475488"/>
          </a:xfrm>
          <a:prstGeom prst="rect">
            <a:avLst/>
          </a:prstGeom>
          <a:noFill/>
        </p:spPr>
        <p:txBody>
          <a:bodyPr wrap="square">
            <a:spAutoFit/>
          </a:bodyPr>
          <a:lstStyle/>
          <a:p>
            <a:pPr algn="l"/>
            <a:r>
              <a:rPr sz="1400" b="0" i="0">
                <a:solidFill>
                  <a:srgbClr val="FFFFFF"/>
                </a:solidFill>
              </a:rPr>
              <a:t>Sculptor</a:t>
            </a:r>
          </a:p>
        </p:txBody>
      </p:sp>
      <p:sp>
        <p:nvSpPr>
          <p:cNvPr id="15" name="TextBox 14"/>
          <p:cNvSpPr txBox="1"/>
          <p:nvPr/>
        </p:nvSpPr>
        <p:spPr>
          <a:xfrm>
            <a:off x="2308860" y="2816352"/>
            <a:ext cx="1188720" cy="475488"/>
          </a:xfrm>
          <a:prstGeom prst="rect">
            <a:avLst/>
          </a:prstGeom>
          <a:noFill/>
        </p:spPr>
        <p:txBody>
          <a:bodyPr wrap="square">
            <a:spAutoFit/>
          </a:bodyPr>
          <a:lstStyle/>
          <a:p>
            <a:pPr algn="l"/>
            <a:r>
              <a:rPr sz="1400" b="0" i="0">
                <a:solidFill>
                  <a:srgbClr val="FFFFFF"/>
                </a:solidFill>
              </a:rPr>
              <a:t>86 kpc</a:t>
            </a:r>
          </a:p>
        </p:txBody>
      </p:sp>
      <p:sp>
        <p:nvSpPr>
          <p:cNvPr id="16" name="TextBox 15"/>
          <p:cNvSpPr txBox="1"/>
          <p:nvPr/>
        </p:nvSpPr>
        <p:spPr>
          <a:xfrm>
            <a:off x="3543300" y="2816352"/>
            <a:ext cx="1828800" cy="475488"/>
          </a:xfrm>
          <a:prstGeom prst="rect">
            <a:avLst/>
          </a:prstGeom>
          <a:noFill/>
        </p:spPr>
        <p:txBody>
          <a:bodyPr wrap="square">
            <a:spAutoFit/>
          </a:bodyPr>
          <a:lstStyle/>
          <a:p>
            <a:pPr algn="l"/>
            <a:r>
              <a:rPr sz="1400" b="0" i="0">
                <a:solidFill>
                  <a:srgbClr val="FFFFFF"/>
                </a:solidFill>
              </a:rPr>
              <a:t>+1.33σ</a:t>
            </a:r>
          </a:p>
        </p:txBody>
      </p:sp>
      <p:sp>
        <p:nvSpPr>
          <p:cNvPr id="17" name="TextBox 16"/>
          <p:cNvSpPr txBox="1"/>
          <p:nvPr/>
        </p:nvSpPr>
        <p:spPr>
          <a:xfrm>
            <a:off x="5417820" y="2816352"/>
            <a:ext cx="1188720" cy="475488"/>
          </a:xfrm>
          <a:prstGeom prst="rect">
            <a:avLst/>
          </a:prstGeom>
          <a:noFill/>
        </p:spPr>
        <p:txBody>
          <a:bodyPr wrap="square">
            <a:spAutoFit/>
          </a:bodyPr>
          <a:lstStyle/>
          <a:p>
            <a:pPr algn="l"/>
            <a:r>
              <a:rPr sz="1400" b="0" i="0">
                <a:solidFill>
                  <a:srgbClr val="FFFFFF"/>
                </a:solidFill>
              </a:rPr>
              <a:t>なし</a:t>
            </a:r>
          </a:p>
        </p:txBody>
      </p:sp>
      <p:sp>
        <p:nvSpPr>
          <p:cNvPr id="18" name="TextBox 17"/>
          <p:cNvSpPr txBox="1"/>
          <p:nvPr/>
        </p:nvSpPr>
        <p:spPr>
          <a:xfrm>
            <a:off x="251460" y="3319272"/>
            <a:ext cx="2011680" cy="475488"/>
          </a:xfrm>
          <a:prstGeom prst="rect">
            <a:avLst/>
          </a:prstGeom>
          <a:noFill/>
        </p:spPr>
        <p:txBody>
          <a:bodyPr wrap="square">
            <a:spAutoFit/>
          </a:bodyPr>
          <a:lstStyle/>
          <a:p>
            <a:pPr algn="l"/>
            <a:r>
              <a:rPr sz="1400" b="0" i="0">
                <a:solidFill>
                  <a:srgbClr val="FFFFFF"/>
                </a:solidFill>
              </a:rPr>
              <a:t>Ursa Minor</a:t>
            </a:r>
          </a:p>
        </p:txBody>
      </p:sp>
      <p:sp>
        <p:nvSpPr>
          <p:cNvPr id="19" name="TextBox 18"/>
          <p:cNvSpPr txBox="1"/>
          <p:nvPr/>
        </p:nvSpPr>
        <p:spPr>
          <a:xfrm>
            <a:off x="2308860" y="3319272"/>
            <a:ext cx="1188720" cy="475488"/>
          </a:xfrm>
          <a:prstGeom prst="rect">
            <a:avLst/>
          </a:prstGeom>
          <a:noFill/>
        </p:spPr>
        <p:txBody>
          <a:bodyPr wrap="square">
            <a:spAutoFit/>
          </a:bodyPr>
          <a:lstStyle/>
          <a:p>
            <a:pPr algn="l"/>
            <a:r>
              <a:rPr sz="1400" b="0" i="0">
                <a:solidFill>
                  <a:srgbClr val="FFFFFF"/>
                </a:solidFill>
              </a:rPr>
              <a:t>76 kpc</a:t>
            </a:r>
          </a:p>
        </p:txBody>
      </p:sp>
      <p:sp>
        <p:nvSpPr>
          <p:cNvPr id="20" name="TextBox 19"/>
          <p:cNvSpPr txBox="1"/>
          <p:nvPr/>
        </p:nvSpPr>
        <p:spPr>
          <a:xfrm>
            <a:off x="3543300" y="3319272"/>
            <a:ext cx="1828800" cy="475488"/>
          </a:xfrm>
          <a:prstGeom prst="rect">
            <a:avLst/>
          </a:prstGeom>
          <a:noFill/>
        </p:spPr>
        <p:txBody>
          <a:bodyPr wrap="square">
            <a:spAutoFit/>
          </a:bodyPr>
          <a:lstStyle/>
          <a:p>
            <a:pPr algn="l"/>
            <a:r>
              <a:rPr sz="1400" b="0" i="0">
                <a:solidFill>
                  <a:srgbClr val="FFFFFF"/>
                </a:solidFill>
              </a:rPr>
              <a:t>+1.68σ</a:t>
            </a:r>
          </a:p>
        </p:txBody>
      </p:sp>
      <p:sp>
        <p:nvSpPr>
          <p:cNvPr id="21" name="TextBox 20"/>
          <p:cNvSpPr txBox="1"/>
          <p:nvPr/>
        </p:nvSpPr>
        <p:spPr>
          <a:xfrm>
            <a:off x="5417820" y="3319272"/>
            <a:ext cx="1188720" cy="475488"/>
          </a:xfrm>
          <a:prstGeom prst="rect">
            <a:avLst/>
          </a:prstGeom>
          <a:noFill/>
        </p:spPr>
        <p:txBody>
          <a:bodyPr wrap="square">
            <a:spAutoFit/>
          </a:bodyPr>
          <a:lstStyle/>
          <a:p>
            <a:pPr algn="l"/>
            <a:r>
              <a:rPr sz="1400" b="0" i="0">
                <a:solidFill>
                  <a:srgbClr val="FFFFFF"/>
                </a:solidFill>
              </a:rPr>
              <a:t>なし</a:t>
            </a:r>
          </a:p>
        </p:txBody>
      </p:sp>
      <p:sp>
        <p:nvSpPr>
          <p:cNvPr id="22" name="TextBox 21"/>
          <p:cNvSpPr txBox="1"/>
          <p:nvPr/>
        </p:nvSpPr>
        <p:spPr>
          <a:xfrm>
            <a:off x="251460" y="3822192"/>
            <a:ext cx="2011680" cy="475488"/>
          </a:xfrm>
          <a:prstGeom prst="rect">
            <a:avLst/>
          </a:prstGeom>
          <a:noFill/>
        </p:spPr>
        <p:txBody>
          <a:bodyPr wrap="square">
            <a:spAutoFit/>
          </a:bodyPr>
          <a:lstStyle/>
          <a:p>
            <a:pPr algn="l"/>
            <a:r>
              <a:rPr sz="1400" b="0" i="0">
                <a:solidFill>
                  <a:srgbClr val="FFFFFF"/>
                </a:solidFill>
              </a:rPr>
              <a:t>Segue 1</a:t>
            </a:r>
          </a:p>
        </p:txBody>
      </p:sp>
      <p:sp>
        <p:nvSpPr>
          <p:cNvPr id="23" name="TextBox 22"/>
          <p:cNvSpPr txBox="1"/>
          <p:nvPr/>
        </p:nvSpPr>
        <p:spPr>
          <a:xfrm>
            <a:off x="2308860" y="3822192"/>
            <a:ext cx="1188720" cy="475488"/>
          </a:xfrm>
          <a:prstGeom prst="rect">
            <a:avLst/>
          </a:prstGeom>
          <a:noFill/>
        </p:spPr>
        <p:txBody>
          <a:bodyPr wrap="square">
            <a:spAutoFit/>
          </a:bodyPr>
          <a:lstStyle/>
          <a:p>
            <a:pPr algn="l"/>
            <a:r>
              <a:rPr sz="1400" b="0" i="0">
                <a:solidFill>
                  <a:srgbClr val="FFFFFF"/>
                </a:solidFill>
              </a:rPr>
              <a:t>23 kpc</a:t>
            </a:r>
          </a:p>
        </p:txBody>
      </p:sp>
      <p:sp>
        <p:nvSpPr>
          <p:cNvPr id="24" name="TextBox 23"/>
          <p:cNvSpPr txBox="1"/>
          <p:nvPr/>
        </p:nvSpPr>
        <p:spPr>
          <a:xfrm>
            <a:off x="3543300" y="3822192"/>
            <a:ext cx="1828800" cy="475488"/>
          </a:xfrm>
          <a:prstGeom prst="rect">
            <a:avLst/>
          </a:prstGeom>
          <a:noFill/>
        </p:spPr>
        <p:txBody>
          <a:bodyPr wrap="square">
            <a:spAutoFit/>
          </a:bodyPr>
          <a:lstStyle/>
          <a:p>
            <a:pPr algn="l"/>
            <a:r>
              <a:rPr sz="1400" b="0" i="0">
                <a:solidFill>
                  <a:srgbClr val="FFFFFF"/>
                </a:solidFill>
              </a:rPr>
              <a:t>−0.38σ</a:t>
            </a:r>
          </a:p>
        </p:txBody>
      </p:sp>
      <p:sp>
        <p:nvSpPr>
          <p:cNvPr id="25" name="TextBox 24"/>
          <p:cNvSpPr txBox="1"/>
          <p:nvPr/>
        </p:nvSpPr>
        <p:spPr>
          <a:xfrm>
            <a:off x="5417820" y="3822192"/>
            <a:ext cx="1188720" cy="475488"/>
          </a:xfrm>
          <a:prstGeom prst="rect">
            <a:avLst/>
          </a:prstGeom>
          <a:noFill/>
        </p:spPr>
        <p:txBody>
          <a:bodyPr wrap="square">
            <a:spAutoFit/>
          </a:bodyPr>
          <a:lstStyle/>
          <a:p>
            <a:pPr algn="l"/>
            <a:r>
              <a:rPr sz="1400" b="0" i="0">
                <a:solidFill>
                  <a:srgbClr val="FFFFFF"/>
                </a:solidFill>
              </a:rPr>
              <a:t>なし</a:t>
            </a:r>
          </a:p>
        </p:txBody>
      </p:sp>
      <p:sp>
        <p:nvSpPr>
          <p:cNvPr id="26" name="TextBox 25"/>
          <p:cNvSpPr txBox="1"/>
          <p:nvPr/>
        </p:nvSpPr>
        <p:spPr>
          <a:xfrm>
            <a:off x="251460" y="4325112"/>
            <a:ext cx="2011680" cy="475488"/>
          </a:xfrm>
          <a:prstGeom prst="rect">
            <a:avLst/>
          </a:prstGeom>
          <a:noFill/>
        </p:spPr>
        <p:txBody>
          <a:bodyPr wrap="square">
            <a:spAutoFit/>
          </a:bodyPr>
          <a:lstStyle/>
          <a:p>
            <a:pPr algn="l"/>
            <a:r>
              <a:rPr sz="1400" b="0" i="0">
                <a:solidFill>
                  <a:srgbClr val="FF4444"/>
                </a:solidFill>
              </a:rPr>
              <a:t>Coma Berenices</a:t>
            </a:r>
          </a:p>
        </p:txBody>
      </p:sp>
      <p:sp>
        <p:nvSpPr>
          <p:cNvPr id="27" name="TextBox 26"/>
          <p:cNvSpPr txBox="1"/>
          <p:nvPr/>
        </p:nvSpPr>
        <p:spPr>
          <a:xfrm>
            <a:off x="2308860" y="4325112"/>
            <a:ext cx="1188720" cy="475488"/>
          </a:xfrm>
          <a:prstGeom prst="rect">
            <a:avLst/>
          </a:prstGeom>
          <a:noFill/>
        </p:spPr>
        <p:txBody>
          <a:bodyPr wrap="square">
            <a:spAutoFit/>
          </a:bodyPr>
          <a:lstStyle/>
          <a:p>
            <a:pPr algn="l"/>
            <a:r>
              <a:rPr sz="1400" b="0" i="0">
                <a:solidFill>
                  <a:srgbClr val="FF4444"/>
                </a:solidFill>
              </a:rPr>
              <a:t>44 kpc</a:t>
            </a:r>
          </a:p>
        </p:txBody>
      </p:sp>
      <p:sp>
        <p:nvSpPr>
          <p:cNvPr id="28" name="TextBox 27"/>
          <p:cNvSpPr txBox="1"/>
          <p:nvPr/>
        </p:nvSpPr>
        <p:spPr>
          <a:xfrm>
            <a:off x="3543300" y="4325112"/>
            <a:ext cx="1828800" cy="475488"/>
          </a:xfrm>
          <a:prstGeom prst="rect">
            <a:avLst/>
          </a:prstGeom>
          <a:noFill/>
        </p:spPr>
        <p:txBody>
          <a:bodyPr wrap="square">
            <a:spAutoFit/>
          </a:bodyPr>
          <a:lstStyle/>
          <a:p>
            <a:pPr algn="l"/>
            <a:r>
              <a:rPr sz="1400" b="1" i="0">
                <a:solidFill>
                  <a:srgbClr val="FF4444"/>
                </a:solidFill>
              </a:rPr>
              <a:t>★+4.54σ</a:t>
            </a:r>
          </a:p>
        </p:txBody>
      </p:sp>
      <p:sp>
        <p:nvSpPr>
          <p:cNvPr id="29" name="TextBox 28"/>
          <p:cNvSpPr txBox="1"/>
          <p:nvPr/>
        </p:nvSpPr>
        <p:spPr>
          <a:xfrm>
            <a:off x="5417820" y="4325112"/>
            <a:ext cx="1188720" cy="475488"/>
          </a:xfrm>
          <a:prstGeom prst="rect">
            <a:avLst/>
          </a:prstGeom>
          <a:noFill/>
        </p:spPr>
        <p:txBody>
          <a:bodyPr wrap="square">
            <a:spAutoFit/>
          </a:bodyPr>
          <a:lstStyle/>
          <a:p>
            <a:pPr algn="l"/>
            <a:r>
              <a:rPr sz="1400" b="0" i="0">
                <a:solidFill>
                  <a:srgbClr val="FF4444"/>
                </a:solidFill>
              </a:rPr>
              <a:t>過剰の兆候</a:t>
            </a:r>
          </a:p>
        </p:txBody>
      </p:sp>
      <p:sp>
        <p:nvSpPr>
          <p:cNvPr id="30" name="Rectangle 29"/>
          <p:cNvSpPr/>
          <p:nvPr/>
        </p:nvSpPr>
        <p:spPr>
          <a:xfrm>
            <a:off x="388620" y="4963160"/>
            <a:ext cx="6217920" cy="987552"/>
          </a:xfrm>
          <a:prstGeom prst="rect">
            <a:avLst/>
          </a:prstGeom>
          <a:solidFill>
            <a:srgbClr val="150808"/>
          </a:solidFill>
          <a:ln>
            <a:solidFill>
              <a:srgbClr val="FF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2900" y="4697984"/>
            <a:ext cx="6035040" cy="347472"/>
          </a:xfrm>
          <a:prstGeom prst="rect">
            <a:avLst/>
          </a:prstGeom>
          <a:noFill/>
        </p:spPr>
        <p:txBody>
          <a:bodyPr wrap="square">
            <a:spAutoFit/>
          </a:bodyPr>
          <a:lstStyle/>
          <a:p>
            <a:pPr algn="l"/>
            <a:r>
              <a:rPr sz="1400" b="1" i="0">
                <a:solidFill>
                  <a:srgbClr val="FF8800"/>
                </a:solidFill>
              </a:rPr>
              <a:t>近似・限界（正直な評価）</a:t>
            </a:r>
          </a:p>
        </p:txBody>
      </p:sp>
      <p:sp>
        <p:nvSpPr>
          <p:cNvPr id="32" name="TextBox 31"/>
          <p:cNvSpPr txBox="1"/>
          <p:nvPr/>
        </p:nvSpPr>
        <p:spPr>
          <a:xfrm>
            <a:off x="422910" y="4995489"/>
            <a:ext cx="6035040" cy="566928"/>
          </a:xfrm>
          <a:prstGeom prst="rect">
            <a:avLst/>
          </a:prstGeom>
          <a:noFill/>
        </p:spPr>
        <p:txBody>
          <a:bodyPr wrap="square">
            <a:spAutoFit/>
          </a:bodyPr>
          <a:lstStyle/>
          <a:p>
            <a:pPr algn="l"/>
            <a:r>
              <a:rPr sz="1400" b="0" i="0" dirty="0">
                <a:solidFill>
                  <a:srgbClr val="FFFFFF"/>
                </a:solidFill>
              </a:rPr>
              <a:t>・Bin6のみを確認 → </a:t>
            </a:r>
            <a:r>
              <a:rPr sz="1400" b="0" i="0" dirty="0" err="1">
                <a:solidFill>
                  <a:srgbClr val="FFFFFF"/>
                </a:solidFill>
              </a:rPr>
              <a:t>全スペクトル解析ではない（エネルギー依存の確認が必要</a:t>
            </a:r>
            <a:r>
              <a:rPr sz="1400" b="0" i="0" dirty="0">
                <a:solidFill>
                  <a:srgbClr val="FFFFFF"/>
                </a:solidFill>
              </a:rPr>
              <a:t>）
・</a:t>
            </a:r>
            <a:r>
              <a:rPr sz="1400" b="0" i="0" dirty="0" err="1">
                <a:solidFill>
                  <a:srgbClr val="FFFFFF"/>
                </a:solidFill>
              </a:rPr>
              <a:t>露出マップなし</a:t>
            </a:r>
            <a:r>
              <a:rPr sz="1400" b="0" i="0" dirty="0">
                <a:solidFill>
                  <a:srgbClr val="FFFFFF"/>
                </a:solidFill>
              </a:rPr>
              <a:t> → </a:t>
            </a:r>
            <a:r>
              <a:rPr sz="1400" b="0" i="0" dirty="0" err="1">
                <a:solidFill>
                  <a:srgbClr val="FFFFFF"/>
                </a:solidFill>
              </a:rPr>
              <a:t>天体ごとの有効観測時間の差を未補正</a:t>
            </a:r>
            <a:r>
              <a:rPr sz="1400" b="0" i="0" dirty="0">
                <a:solidFill>
                  <a:srgbClr val="FFFFFF"/>
                </a:solidFill>
              </a:rPr>
              <a:t>
・J-</a:t>
            </a:r>
            <a:r>
              <a:rPr sz="1400" b="0" i="0" dirty="0" err="1">
                <a:solidFill>
                  <a:srgbClr val="FFFFFF"/>
                </a:solidFill>
              </a:rPr>
              <a:t>factor非考慮</a:t>
            </a:r>
            <a:r>
              <a:rPr sz="1400" b="0" i="0" dirty="0">
                <a:solidFill>
                  <a:srgbClr val="FFFFFF"/>
                </a:solidFill>
              </a:rPr>
              <a:t> → </a:t>
            </a:r>
            <a:r>
              <a:rPr sz="1400" b="0" i="0" dirty="0" err="1">
                <a:solidFill>
                  <a:srgbClr val="FFFFFF"/>
                </a:solidFill>
              </a:rPr>
              <a:t>各天体のDM量を重みとして使っていない</a:t>
            </a:r>
            <a:endParaRPr sz="1100" b="0" i="0" dirty="0">
              <a:solidFill>
                <a:srgbClr val="FFFFFF"/>
              </a:solidFill>
            </a:endParaRPr>
          </a:p>
        </p:txBody>
      </p:sp>
      <p:sp>
        <p:nvSpPr>
          <p:cNvPr id="33" name="TextBox 32"/>
          <p:cNvSpPr txBox="1"/>
          <p:nvPr/>
        </p:nvSpPr>
        <p:spPr>
          <a:xfrm>
            <a:off x="6766560" y="749808"/>
            <a:ext cx="5303520" cy="384048"/>
          </a:xfrm>
          <a:prstGeom prst="rect">
            <a:avLst/>
          </a:prstGeom>
          <a:noFill/>
        </p:spPr>
        <p:txBody>
          <a:bodyPr wrap="square">
            <a:spAutoFit/>
          </a:bodyPr>
          <a:lstStyle/>
          <a:p>
            <a:pPr algn="l"/>
            <a:r>
              <a:rPr sz="1400" b="1" i="0">
                <a:solidFill>
                  <a:srgbClr val="44CCFF"/>
                </a:solidFill>
              </a:rPr>
              <a:t>矮小銀河 Bin6 有意性まとめ</a:t>
            </a:r>
          </a:p>
        </p:txBody>
      </p:sp>
      <p:pic>
        <p:nvPicPr>
          <p:cNvPr id="34" name="Picture 33" descr="image.png"/>
          <p:cNvPicPr>
            <a:picLocks noChangeAspect="1"/>
          </p:cNvPicPr>
          <p:nvPr/>
        </p:nvPicPr>
        <p:blipFill>
          <a:blip r:embed="rId3"/>
          <a:stretch>
            <a:fillRect/>
          </a:stretch>
        </p:blipFill>
        <p:spPr>
          <a:xfrm>
            <a:off x="6766560" y="1188720"/>
            <a:ext cx="5303520" cy="2629024"/>
          </a:xfrm>
          <a:prstGeom prst="rect">
            <a:avLst/>
          </a:prstGeom>
        </p:spPr>
      </p:pic>
      <p:sp>
        <p:nvSpPr>
          <p:cNvPr id="35" name="TextBox 34"/>
          <p:cNvSpPr txBox="1"/>
          <p:nvPr/>
        </p:nvSpPr>
        <p:spPr>
          <a:xfrm>
            <a:off x="6766560" y="3927472"/>
            <a:ext cx="5303520" cy="347472"/>
          </a:xfrm>
          <a:prstGeom prst="rect">
            <a:avLst/>
          </a:prstGeom>
          <a:noFill/>
        </p:spPr>
        <p:txBody>
          <a:bodyPr wrap="square">
            <a:spAutoFit/>
          </a:bodyPr>
          <a:lstStyle/>
          <a:p>
            <a:pPr algn="l"/>
            <a:r>
              <a:rPr sz="1400" b="1" i="0">
                <a:solidFill>
                  <a:srgbClr val="44CCFF"/>
                </a:solidFill>
              </a:rPr>
              <a:t>Coma Berenices スペクトル（全13ビン）</a:t>
            </a:r>
          </a:p>
        </p:txBody>
      </p:sp>
      <p:pic>
        <p:nvPicPr>
          <p:cNvPr id="36" name="Picture 35" descr="dwarf_coma_ber_spectrum.png"/>
          <p:cNvPicPr>
            <a:picLocks noChangeAspect="1"/>
          </p:cNvPicPr>
          <p:nvPr/>
        </p:nvPicPr>
        <p:blipFill>
          <a:blip r:embed="rId4"/>
          <a:stretch>
            <a:fillRect/>
          </a:stretch>
        </p:blipFill>
        <p:spPr>
          <a:xfrm>
            <a:off x="6816726" y="4274944"/>
            <a:ext cx="5303520" cy="1891177"/>
          </a:xfrm>
          <a:prstGeom prst="rect">
            <a:avLst/>
          </a:prstGeom>
        </p:spPr>
      </p:pic>
      <p:sp>
        <p:nvSpPr>
          <p:cNvPr id="37" name="TextBox 36"/>
          <p:cNvSpPr txBox="1"/>
          <p:nvPr/>
        </p:nvSpPr>
        <p:spPr>
          <a:xfrm>
            <a:off x="504678" y="5983041"/>
            <a:ext cx="6217920" cy="566928"/>
          </a:xfrm>
          <a:prstGeom prst="rect">
            <a:avLst/>
          </a:prstGeom>
          <a:noFill/>
        </p:spPr>
        <p:txBody>
          <a:bodyPr wrap="square">
            <a:spAutoFit/>
          </a:bodyPr>
          <a:lstStyle/>
          <a:p>
            <a:pPr algn="l"/>
            <a:r>
              <a:rPr sz="1400" b="0" i="1">
                <a:solidFill>
                  <a:srgbClr val="FFCC00"/>
                </a:solidFill>
              </a:rPr>
              <a:t>4.54σ は発見基準（5σ）に届かないが「兆候」（3σ以上）。
天の川銀河ハロー（42σ）と合わせて「独立天体での20 GeV過剰」として議論できる。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91440"/>
            <a:ext cx="7315200" cy="457200"/>
          </a:xfrm>
          <a:prstGeom prst="rect">
            <a:avLst/>
          </a:prstGeom>
          <a:noFill/>
        </p:spPr>
        <p:txBody>
          <a:bodyPr wrap="square">
            <a:spAutoFit/>
          </a:bodyPr>
          <a:lstStyle/>
          <a:p>
            <a:pPr algn="l"/>
            <a:r>
              <a:rPr sz="2600" b="1">
                <a:solidFill>
                  <a:srgbClr val="FFCC00"/>
                </a:solidFill>
              </a:rPr>
              <a:t>Conclusion</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0972800" cy="411480"/>
          </a:xfrm>
          <a:prstGeom prst="rect">
            <a:avLst/>
          </a:prstGeom>
          <a:noFill/>
        </p:spPr>
        <p:txBody>
          <a:bodyPr wrap="square">
            <a:spAutoFit/>
          </a:bodyPr>
          <a:lstStyle/>
          <a:p>
            <a:pPr algn="l"/>
            <a:r>
              <a:rPr sz="2200" b="1">
                <a:solidFill>
                  <a:srgbClr val="FFCC00"/>
                </a:solidFill>
              </a:rPr>
              <a:t>✓ パイプライン実装完了</a:t>
            </a:r>
          </a:p>
        </p:txBody>
      </p:sp>
      <p:sp>
        <p:nvSpPr>
          <p:cNvPr id="5" name="TextBox 4"/>
          <p:cNvSpPr txBox="1"/>
          <p:nvPr/>
        </p:nvSpPr>
        <p:spPr>
          <a:xfrm>
            <a:off x="548640" y="1280160"/>
            <a:ext cx="10972800" cy="685800"/>
          </a:xfrm>
          <a:prstGeom prst="rect">
            <a:avLst/>
          </a:prstGeom>
          <a:noFill/>
        </p:spPr>
        <p:txBody>
          <a:bodyPr wrap="square">
            <a:spAutoFit/>
          </a:bodyPr>
          <a:lstStyle/>
          <a:p>
            <a:pPr algn="l"/>
            <a:r>
              <a:rPr sz="2000" b="0">
                <a:solidFill>
                  <a:srgbClr val="FFFFFF"/>
                </a:solidFill>
              </a:rPr>
              <a:t>Fermi-LAT 780週・5成分差し引き・NFWフィットを実装</a:t>
            </a:r>
          </a:p>
        </p:txBody>
      </p:sp>
      <p:sp>
        <p:nvSpPr>
          <p:cNvPr id="6" name="TextBox 5"/>
          <p:cNvSpPr txBox="1"/>
          <p:nvPr/>
        </p:nvSpPr>
        <p:spPr>
          <a:xfrm>
            <a:off x="548640" y="2103120"/>
            <a:ext cx="10972800" cy="411480"/>
          </a:xfrm>
          <a:prstGeom prst="rect">
            <a:avLst/>
          </a:prstGeom>
          <a:noFill/>
        </p:spPr>
        <p:txBody>
          <a:bodyPr wrap="square">
            <a:spAutoFit/>
          </a:bodyPr>
          <a:lstStyle/>
          <a:p>
            <a:pPr algn="l"/>
            <a:r>
              <a:rPr sz="2200" b="1">
                <a:solidFill>
                  <a:srgbClr val="FF4444"/>
                </a:solidFill>
              </a:rPr>
              <a:t>✓ Bin6（20.76 GeV）で 31.03σ を検出</a:t>
            </a:r>
          </a:p>
        </p:txBody>
      </p:sp>
      <p:sp>
        <p:nvSpPr>
          <p:cNvPr id="7" name="TextBox 6"/>
          <p:cNvSpPr txBox="1"/>
          <p:nvPr/>
        </p:nvSpPr>
        <p:spPr>
          <a:xfrm>
            <a:off x="548640" y="2560320"/>
            <a:ext cx="10972800" cy="685800"/>
          </a:xfrm>
          <a:prstGeom prst="rect">
            <a:avLst/>
          </a:prstGeom>
          <a:noFill/>
        </p:spPr>
        <p:txBody>
          <a:bodyPr wrap="square">
            <a:spAutoFit/>
          </a:bodyPr>
          <a:lstStyle/>
          <a:p>
            <a:pPr algn="l"/>
            <a:r>
              <a:rPr sz="2000" b="0" dirty="0">
                <a:solidFill>
                  <a:srgbClr val="FFFFFF"/>
                </a:solidFill>
              </a:rPr>
              <a:t>Totani (2025) の 13–19σ </a:t>
            </a:r>
            <a:r>
              <a:rPr sz="2000" b="0" dirty="0" err="1">
                <a:solidFill>
                  <a:srgbClr val="FFFFFF"/>
                </a:solidFill>
              </a:rPr>
              <a:t>と同スケール。DM候補シグナルを再現</a:t>
            </a:r>
            <a:endParaRPr sz="2000" b="0" dirty="0">
              <a:solidFill>
                <a:srgbClr val="FFFFFF"/>
              </a:solidFill>
            </a:endParaRPr>
          </a:p>
        </p:txBody>
      </p:sp>
      <p:sp>
        <p:nvSpPr>
          <p:cNvPr id="8" name="TextBox 7"/>
          <p:cNvSpPr txBox="1"/>
          <p:nvPr/>
        </p:nvSpPr>
        <p:spPr>
          <a:xfrm>
            <a:off x="548640" y="3383279"/>
            <a:ext cx="10972800" cy="461665"/>
          </a:xfrm>
          <a:prstGeom prst="rect">
            <a:avLst/>
          </a:prstGeom>
          <a:noFill/>
        </p:spPr>
        <p:txBody>
          <a:bodyPr wrap="square">
            <a:spAutoFit/>
          </a:bodyPr>
          <a:lstStyle/>
          <a:p>
            <a:r>
              <a:rPr lang="ja-JP" altLang="en-US" sz="2400" dirty="0">
                <a:solidFill>
                  <a:srgbClr val="00B0F0"/>
                </a:solidFill>
              </a:rPr>
              <a:t>✓ 矮小銀河</a:t>
            </a:r>
            <a:r>
              <a:rPr lang="en-US" altLang="ja-JP" sz="2400" dirty="0">
                <a:solidFill>
                  <a:srgbClr val="00B0F0"/>
                </a:solidFill>
              </a:rPr>
              <a:t>5</a:t>
            </a:r>
            <a:r>
              <a:rPr lang="ja-JP" altLang="en-US" sz="2400" dirty="0">
                <a:solidFill>
                  <a:srgbClr val="00B0F0"/>
                </a:solidFill>
              </a:rPr>
              <a:t>天体展開済み</a:t>
            </a:r>
            <a:endParaRPr sz="2200" b="1" dirty="0">
              <a:solidFill>
                <a:srgbClr val="00B0F0"/>
              </a:solidFill>
            </a:endParaRPr>
          </a:p>
        </p:txBody>
      </p:sp>
      <p:sp>
        <p:nvSpPr>
          <p:cNvPr id="9" name="TextBox 8"/>
          <p:cNvSpPr txBox="1"/>
          <p:nvPr/>
        </p:nvSpPr>
        <p:spPr>
          <a:xfrm>
            <a:off x="548640" y="3840479"/>
            <a:ext cx="10972800" cy="400110"/>
          </a:xfrm>
          <a:prstGeom prst="rect">
            <a:avLst/>
          </a:prstGeom>
          <a:noFill/>
        </p:spPr>
        <p:txBody>
          <a:bodyPr wrap="square">
            <a:spAutoFit/>
          </a:bodyPr>
          <a:lstStyle/>
          <a:p>
            <a:r>
              <a:rPr lang="ja-JP" altLang="en-US" sz="2000" dirty="0">
                <a:solidFill>
                  <a:schemeClr val="bg1"/>
                </a:solidFill>
              </a:rPr>
              <a:t>→ </a:t>
            </a:r>
            <a:r>
              <a:rPr lang="en-US" sz="2000" dirty="0">
                <a:solidFill>
                  <a:schemeClr val="bg1"/>
                </a:solidFill>
              </a:rPr>
              <a:t>Coma Berenices 4.54</a:t>
            </a:r>
            <a:r>
              <a:rPr lang="el-GR" sz="2000" dirty="0">
                <a:solidFill>
                  <a:schemeClr val="bg1"/>
                </a:solidFill>
              </a:rPr>
              <a:t>σ</a:t>
            </a:r>
            <a:endParaRPr sz="2000" b="0" dirty="0">
              <a:solidFill>
                <a:schemeClr val="bg1"/>
              </a:solidFill>
            </a:endParaRPr>
          </a:p>
        </p:txBody>
      </p:sp>
      <p:sp>
        <p:nvSpPr>
          <p:cNvPr id="10" name="TextBox 9"/>
          <p:cNvSpPr txBox="1"/>
          <p:nvPr/>
        </p:nvSpPr>
        <p:spPr>
          <a:xfrm>
            <a:off x="548640" y="4663440"/>
            <a:ext cx="10972800" cy="411480"/>
          </a:xfrm>
          <a:prstGeom prst="rect">
            <a:avLst/>
          </a:prstGeom>
          <a:noFill/>
        </p:spPr>
        <p:txBody>
          <a:bodyPr wrap="square">
            <a:spAutoFit/>
          </a:bodyPr>
          <a:lstStyle/>
          <a:p>
            <a:pPr algn="l"/>
            <a:r>
              <a:rPr sz="2200" b="1" dirty="0">
                <a:solidFill>
                  <a:srgbClr val="AAAAAA"/>
                </a:solidFill>
              </a:rPr>
              <a:t>→ </a:t>
            </a:r>
            <a:r>
              <a:rPr sz="2200" b="1" dirty="0" err="1">
                <a:solidFill>
                  <a:srgbClr val="AAAAAA"/>
                </a:solidFill>
              </a:rPr>
              <a:t>将来展望</a:t>
            </a:r>
            <a:endParaRPr sz="2200" b="1" dirty="0">
              <a:solidFill>
                <a:srgbClr val="AAAAAA"/>
              </a:solidFill>
            </a:endParaRPr>
          </a:p>
        </p:txBody>
      </p:sp>
      <p:sp>
        <p:nvSpPr>
          <p:cNvPr id="11" name="TextBox 10"/>
          <p:cNvSpPr txBox="1"/>
          <p:nvPr/>
        </p:nvSpPr>
        <p:spPr>
          <a:xfrm>
            <a:off x="548640" y="5120640"/>
            <a:ext cx="10972800" cy="685800"/>
          </a:xfrm>
          <a:prstGeom prst="rect">
            <a:avLst/>
          </a:prstGeom>
          <a:noFill/>
        </p:spPr>
        <p:txBody>
          <a:bodyPr wrap="square">
            <a:spAutoFit/>
          </a:bodyPr>
          <a:lstStyle/>
          <a:p>
            <a:pPr algn="l"/>
            <a:r>
              <a:rPr sz="2000" b="0" dirty="0" err="1">
                <a:solidFill>
                  <a:srgbClr val="FFFFFF"/>
                </a:solidFill>
              </a:rPr>
              <a:t>GALPROP複数モデル比較・露出マップ導入による精度向上</a:t>
            </a:r>
            <a:endParaRPr sz="2000" b="0" dirty="0">
              <a:solidFill>
                <a:srgbClr val="FFFFFF"/>
              </a:solidFill>
            </a:endParaRPr>
          </a:p>
        </p:txBody>
      </p:sp>
      <p:sp>
        <p:nvSpPr>
          <p:cNvPr id="12" name="Rectangle 11"/>
          <p:cNvSpPr/>
          <p:nvPr/>
        </p:nvSpPr>
        <p:spPr>
          <a:xfrm>
            <a:off x="365760" y="6309360"/>
            <a:ext cx="11430000" cy="18288"/>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6446520"/>
            <a:ext cx="11430000" cy="320040"/>
          </a:xfrm>
          <a:prstGeom prst="rect">
            <a:avLst/>
          </a:prstGeom>
          <a:noFill/>
        </p:spPr>
        <p:txBody>
          <a:bodyPr wrap="square">
            <a:spAutoFit/>
          </a:bodyPr>
          <a:lstStyle/>
          <a:p>
            <a:pPr algn="ctr"/>
            <a:r>
              <a:rPr sz="1800" b="0">
                <a:solidFill>
                  <a:srgbClr val="AAAAAA"/>
                </a:solidFill>
              </a:rPr>
              <a:t>Fermi-LAT データ：HEASARC (NASA)  |  Totani (2025) JCAP  |  Cirelli et al. (2011) PPPC 4 DM ID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2743200"/>
            <a:ext cx="11430000" cy="731520"/>
          </a:xfrm>
          <a:prstGeom prst="rect">
            <a:avLst/>
          </a:prstGeom>
          <a:noFill/>
        </p:spPr>
        <p:txBody>
          <a:bodyPr wrap="square">
            <a:spAutoFit/>
          </a:bodyPr>
          <a:lstStyle/>
          <a:p>
            <a:pPr algn="ctr"/>
            <a:r>
              <a:rPr sz="2800" b="1">
                <a:solidFill>
                  <a:srgbClr val="AAAAAA"/>
                </a:solidFill>
              </a:rPr>
              <a:t>── BACKUP SLIDES ──</a:t>
            </a:r>
          </a:p>
        </p:txBody>
      </p:sp>
      <p:sp>
        <p:nvSpPr>
          <p:cNvPr id="3" name="TextBox 2"/>
          <p:cNvSpPr txBox="1"/>
          <p:nvPr/>
        </p:nvSpPr>
        <p:spPr>
          <a:xfrm>
            <a:off x="365760" y="3566160"/>
            <a:ext cx="11430000" cy="457200"/>
          </a:xfrm>
          <a:prstGeom prst="rect">
            <a:avLst/>
          </a:prstGeom>
          <a:noFill/>
        </p:spPr>
        <p:txBody>
          <a:bodyPr wrap="square">
            <a:spAutoFit/>
          </a:bodyPr>
          <a:lstStyle/>
          <a:p>
            <a:pPr algn="ctr"/>
            <a:r>
              <a:rPr sz="1800" b="0">
                <a:solidFill>
                  <a:srgbClr val="AAAAAA"/>
                </a:solidFill>
              </a:rPr>
              <a:t>質問想定・カンニング用（発表本体の後）</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91440"/>
            <a:ext cx="10972800" cy="457200"/>
          </a:xfrm>
          <a:prstGeom prst="rect">
            <a:avLst/>
          </a:prstGeom>
          <a:noFill/>
        </p:spPr>
        <p:txBody>
          <a:bodyPr wrap="square">
            <a:spAutoFit/>
          </a:bodyPr>
          <a:lstStyle/>
          <a:p>
            <a:pPr algn="l"/>
            <a:r>
              <a:rPr sz="2200" b="1">
                <a:solidFill>
                  <a:srgbClr val="FFCC00"/>
                </a:solidFill>
              </a:rPr>
              <a:t>【BACKUP】 Fermi-LAT 構造詳細</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77240"/>
            <a:ext cx="10972800" cy="5029200"/>
          </a:xfrm>
          <a:prstGeom prst="rect">
            <a:avLst/>
          </a:prstGeom>
          <a:noFill/>
        </p:spPr>
        <p:txBody>
          <a:bodyPr wrap="square">
            <a:spAutoFit/>
          </a:bodyPr>
          <a:lstStyle/>
          <a:p>
            <a:pPr algn="l"/>
            <a:r>
              <a:rPr sz="1400" b="0">
                <a:solidFill>
                  <a:srgbClr val="FFFFFF"/>
                </a:solidFill>
              </a:rPr>
              <a:t>トラッカー（シリコンストリップ検出器 / 18層）
  → γ線が電子・陽電子対に変換される場所
  → 変換点の前後トラックから到来方向を再構成
  → 角度分解能：1 GeV で ～0.8°, 10 GeV で ～0.2°
カロリメータ（CsI結晶）
  → 電子・陽電子の電磁シャワーでエネルギー測定
  → エネルギー分解能 ～10%（1〜100 GeV）
ACD（反同時計数シールド）
  → プラスチックシンチレータ
  → 荷電粒子（宇宙線）が来たらイベントを棄却
Pass 8 Release 3 UltraClean
  → 宇宙線の誤検出を最小化した最高純度クラス
  → 今回の解析で使用したデータセット</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91440"/>
            <a:ext cx="10972800" cy="457200"/>
          </a:xfrm>
          <a:prstGeom prst="rect">
            <a:avLst/>
          </a:prstGeom>
          <a:noFill/>
        </p:spPr>
        <p:txBody>
          <a:bodyPr wrap="square">
            <a:spAutoFit/>
          </a:bodyPr>
          <a:lstStyle/>
          <a:p>
            <a:pPr algn="l"/>
            <a:r>
              <a:rPr sz="2200" b="1">
                <a:solidFill>
                  <a:srgbClr val="FFCC00"/>
                </a:solidFill>
              </a:rPr>
              <a:t>【BACKUP】 各成分のγ線発生メカニズム</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822960"/>
            <a:ext cx="5486400" cy="365760"/>
          </a:xfrm>
          <a:prstGeom prst="rect">
            <a:avLst/>
          </a:prstGeom>
          <a:noFill/>
        </p:spPr>
        <p:txBody>
          <a:bodyPr wrap="square">
            <a:spAutoFit/>
          </a:bodyPr>
          <a:lstStyle/>
          <a:p>
            <a:pPr algn="l"/>
            <a:r>
              <a:rPr sz="1400" b="1">
                <a:solidFill>
                  <a:srgbClr val="44CCFF"/>
                </a:solidFill>
              </a:rPr>
              <a:t>π⁰崩壊（銀河拡散の主成分）</a:t>
            </a:r>
          </a:p>
        </p:txBody>
      </p:sp>
      <p:sp>
        <p:nvSpPr>
          <p:cNvPr id="5" name="TextBox 4"/>
          <p:cNvSpPr txBox="1"/>
          <p:nvPr/>
        </p:nvSpPr>
        <p:spPr>
          <a:xfrm>
            <a:off x="457200" y="1207008"/>
            <a:ext cx="5486400" cy="1371600"/>
          </a:xfrm>
          <a:prstGeom prst="rect">
            <a:avLst/>
          </a:prstGeom>
          <a:noFill/>
        </p:spPr>
        <p:txBody>
          <a:bodyPr wrap="square">
            <a:spAutoFit/>
          </a:bodyPr>
          <a:lstStyle/>
          <a:p>
            <a:pPr algn="l"/>
            <a:r>
              <a:rPr sz="1600" b="0">
                <a:solidFill>
                  <a:srgbClr val="FFFFFF"/>
                </a:solidFill>
              </a:rPr>
              <a:t>p + H → π⁰ + X → 2γ
67.5 MeVにバンプ。銀河面のガスが多い場所に集中</a:t>
            </a:r>
          </a:p>
        </p:txBody>
      </p:sp>
      <p:sp>
        <p:nvSpPr>
          <p:cNvPr id="6" name="TextBox 5"/>
          <p:cNvSpPr txBox="1"/>
          <p:nvPr/>
        </p:nvSpPr>
        <p:spPr>
          <a:xfrm>
            <a:off x="6400800" y="822960"/>
            <a:ext cx="5486400" cy="365760"/>
          </a:xfrm>
          <a:prstGeom prst="rect">
            <a:avLst/>
          </a:prstGeom>
          <a:noFill/>
        </p:spPr>
        <p:txBody>
          <a:bodyPr wrap="square">
            <a:spAutoFit/>
          </a:bodyPr>
          <a:lstStyle/>
          <a:p>
            <a:pPr algn="l"/>
            <a:r>
              <a:rPr sz="1400" b="1">
                <a:solidFill>
                  <a:srgbClr val="44CCFF"/>
                </a:solidFill>
              </a:rPr>
              <a:t>逆コンプトン散乱（ICS）</a:t>
            </a:r>
          </a:p>
        </p:txBody>
      </p:sp>
      <p:sp>
        <p:nvSpPr>
          <p:cNvPr id="7" name="TextBox 6"/>
          <p:cNvSpPr txBox="1"/>
          <p:nvPr/>
        </p:nvSpPr>
        <p:spPr>
          <a:xfrm>
            <a:off x="6400800" y="1207008"/>
            <a:ext cx="5486400" cy="1371600"/>
          </a:xfrm>
          <a:prstGeom prst="rect">
            <a:avLst/>
          </a:prstGeom>
          <a:noFill/>
        </p:spPr>
        <p:txBody>
          <a:bodyPr wrap="square">
            <a:spAutoFit/>
          </a:bodyPr>
          <a:lstStyle/>
          <a:p>
            <a:pPr algn="l"/>
            <a:r>
              <a:rPr sz="1600" b="0">
                <a:solidFill>
                  <a:srgbClr val="FFFFFF"/>
                </a:solidFill>
              </a:rPr>
              <a:t>高エネルギー電子 + CMB光子 → GeVγ線
E_γ ≈ (4/3)γ²E_ph。より広く分布</a:t>
            </a:r>
          </a:p>
        </p:txBody>
      </p:sp>
      <p:sp>
        <p:nvSpPr>
          <p:cNvPr id="8" name="TextBox 7"/>
          <p:cNvSpPr txBox="1"/>
          <p:nvPr/>
        </p:nvSpPr>
        <p:spPr>
          <a:xfrm>
            <a:off x="457200" y="2743200"/>
            <a:ext cx="5486400" cy="365760"/>
          </a:xfrm>
          <a:prstGeom prst="rect">
            <a:avLst/>
          </a:prstGeom>
          <a:noFill/>
        </p:spPr>
        <p:txBody>
          <a:bodyPr wrap="square">
            <a:spAutoFit/>
          </a:bodyPr>
          <a:lstStyle/>
          <a:p>
            <a:pPr algn="l"/>
            <a:r>
              <a:rPr sz="1400" b="1">
                <a:solidFill>
                  <a:srgbClr val="44CCFF"/>
                </a:solidFill>
              </a:rPr>
              <a:t>ブレーザー（点源）</a:t>
            </a:r>
          </a:p>
        </p:txBody>
      </p:sp>
      <p:sp>
        <p:nvSpPr>
          <p:cNvPr id="9" name="TextBox 8"/>
          <p:cNvSpPr txBox="1"/>
          <p:nvPr/>
        </p:nvSpPr>
        <p:spPr>
          <a:xfrm>
            <a:off x="457200" y="3127248"/>
            <a:ext cx="5486400" cy="1371600"/>
          </a:xfrm>
          <a:prstGeom prst="rect">
            <a:avLst/>
          </a:prstGeom>
          <a:noFill/>
        </p:spPr>
        <p:txBody>
          <a:bodyPr wrap="square">
            <a:spAutoFit/>
          </a:bodyPr>
          <a:lstStyle/>
          <a:p>
            <a:pPr algn="l"/>
            <a:r>
              <a:rPr sz="1600" b="0">
                <a:solidFill>
                  <a:srgbClr val="FFFFFF"/>
                </a:solidFill>
              </a:rPr>
              <a:t>超大質量BHジェット → 相対論的電子
→ シンクロトロン自己コンプトン</a:t>
            </a:r>
          </a:p>
        </p:txBody>
      </p:sp>
      <p:sp>
        <p:nvSpPr>
          <p:cNvPr id="10" name="TextBox 9"/>
          <p:cNvSpPr txBox="1"/>
          <p:nvPr/>
        </p:nvSpPr>
        <p:spPr>
          <a:xfrm>
            <a:off x="6400800" y="2743200"/>
            <a:ext cx="5486400" cy="365760"/>
          </a:xfrm>
          <a:prstGeom prst="rect">
            <a:avLst/>
          </a:prstGeom>
          <a:noFill/>
        </p:spPr>
        <p:txBody>
          <a:bodyPr wrap="square">
            <a:spAutoFit/>
          </a:bodyPr>
          <a:lstStyle/>
          <a:p>
            <a:pPr algn="l"/>
            <a:r>
              <a:rPr sz="1400" b="1">
                <a:solidFill>
                  <a:srgbClr val="44CCFF"/>
                </a:solidFill>
              </a:rPr>
              <a:t>フェルミバブル</a:t>
            </a:r>
          </a:p>
        </p:txBody>
      </p:sp>
      <p:sp>
        <p:nvSpPr>
          <p:cNvPr id="11" name="TextBox 10"/>
          <p:cNvSpPr txBox="1"/>
          <p:nvPr/>
        </p:nvSpPr>
        <p:spPr>
          <a:xfrm>
            <a:off x="6400800" y="3127248"/>
            <a:ext cx="5486400" cy="1371600"/>
          </a:xfrm>
          <a:prstGeom prst="rect">
            <a:avLst/>
          </a:prstGeom>
          <a:noFill/>
        </p:spPr>
        <p:txBody>
          <a:bodyPr wrap="square">
            <a:spAutoFit/>
          </a:bodyPr>
          <a:lstStyle/>
          <a:p>
            <a:pPr algn="l"/>
            <a:r>
              <a:rPr sz="1600" b="0">
                <a:solidFill>
                  <a:srgbClr val="FFFFFF"/>
                </a:solidFill>
              </a:rPr>
              <a:t>AGN噴出 or スターバースト → 衝撃波 → ICS
スペクトルが硬い（E²dN/dE ≈ const）</a:t>
            </a:r>
          </a:p>
        </p:txBody>
      </p:sp>
      <p:sp>
        <p:nvSpPr>
          <p:cNvPr id="12" name="TextBox 11"/>
          <p:cNvSpPr txBox="1"/>
          <p:nvPr/>
        </p:nvSpPr>
        <p:spPr>
          <a:xfrm>
            <a:off x="457200" y="4663440"/>
            <a:ext cx="5486400" cy="365760"/>
          </a:xfrm>
          <a:prstGeom prst="rect">
            <a:avLst/>
          </a:prstGeom>
          <a:noFill/>
        </p:spPr>
        <p:txBody>
          <a:bodyPr wrap="square">
            <a:spAutoFit/>
          </a:bodyPr>
          <a:lstStyle/>
          <a:p>
            <a:pPr algn="l"/>
            <a:r>
              <a:rPr sz="1400" b="1">
                <a:solidFill>
                  <a:srgbClr val="44CCFF"/>
                </a:solidFill>
              </a:rPr>
              <a:t>ループI（NPS）</a:t>
            </a:r>
          </a:p>
        </p:txBody>
      </p:sp>
      <p:sp>
        <p:nvSpPr>
          <p:cNvPr id="13" name="TextBox 12"/>
          <p:cNvSpPr txBox="1"/>
          <p:nvPr/>
        </p:nvSpPr>
        <p:spPr>
          <a:xfrm>
            <a:off x="457200" y="5047488"/>
            <a:ext cx="5486400" cy="1371600"/>
          </a:xfrm>
          <a:prstGeom prst="rect">
            <a:avLst/>
          </a:prstGeom>
          <a:noFill/>
        </p:spPr>
        <p:txBody>
          <a:bodyPr wrap="square">
            <a:spAutoFit/>
          </a:bodyPr>
          <a:lstStyle/>
          <a:p>
            <a:pPr algn="l"/>
            <a:r>
              <a:rPr sz="1600" b="0">
                <a:solidFill>
                  <a:srgbClr val="FFFFFF"/>
                </a:solidFill>
              </a:rPr>
              <a:t>さそり座OB星団の超新星（～10万年前）
膨張シェル → 電子加速 → ICS</a:t>
            </a:r>
          </a:p>
        </p:txBody>
      </p:sp>
      <p:sp>
        <p:nvSpPr>
          <p:cNvPr id="14" name="TextBox 13"/>
          <p:cNvSpPr txBox="1"/>
          <p:nvPr/>
        </p:nvSpPr>
        <p:spPr>
          <a:xfrm>
            <a:off x="6400800" y="4663440"/>
            <a:ext cx="5486400" cy="365760"/>
          </a:xfrm>
          <a:prstGeom prst="rect">
            <a:avLst/>
          </a:prstGeom>
          <a:noFill/>
        </p:spPr>
        <p:txBody>
          <a:bodyPr wrap="square">
            <a:spAutoFit/>
          </a:bodyPr>
          <a:lstStyle/>
          <a:p>
            <a:pPr algn="l"/>
            <a:r>
              <a:rPr sz="1400" b="1">
                <a:solidFill>
                  <a:srgbClr val="44CCFF"/>
                </a:solidFill>
              </a:rPr>
              <a:t>DMハロー（探している信号）</a:t>
            </a:r>
          </a:p>
        </p:txBody>
      </p:sp>
      <p:sp>
        <p:nvSpPr>
          <p:cNvPr id="15" name="TextBox 14"/>
          <p:cNvSpPr txBox="1"/>
          <p:nvPr/>
        </p:nvSpPr>
        <p:spPr>
          <a:xfrm>
            <a:off x="6400800" y="5047488"/>
            <a:ext cx="5486400" cy="1371600"/>
          </a:xfrm>
          <a:prstGeom prst="rect">
            <a:avLst/>
          </a:prstGeom>
          <a:noFill/>
        </p:spPr>
        <p:txBody>
          <a:bodyPr wrap="square">
            <a:spAutoFit/>
          </a:bodyPr>
          <a:lstStyle/>
          <a:p>
            <a:pPr algn="l"/>
            <a:r>
              <a:rPr sz="1600" b="0">
                <a:solidFill>
                  <a:srgbClr val="FFFFFF"/>
                </a:solidFill>
              </a:rPr>
              <a:t>χχ → bb̄ → π⁰ → γ
NFW形状，20 GeV付近にピーク
mχ ≈ 0.5〜0.8 TeV</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91440"/>
            <a:ext cx="10972800" cy="457200"/>
          </a:xfrm>
          <a:prstGeom prst="rect">
            <a:avLst/>
          </a:prstGeom>
          <a:noFill/>
        </p:spPr>
        <p:txBody>
          <a:bodyPr wrap="square">
            <a:spAutoFit/>
          </a:bodyPr>
          <a:lstStyle/>
          <a:p>
            <a:pPr algn="l"/>
            <a:r>
              <a:rPr sz="2200" b="1">
                <a:solidFill>
                  <a:srgbClr val="FFCC00"/>
                </a:solidFill>
              </a:rPr>
              <a:t>【BACKUP】 WIMPs フィッティングパラメータ</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77240"/>
            <a:ext cx="10972800" cy="457200"/>
          </a:xfrm>
          <a:prstGeom prst="rect">
            <a:avLst/>
          </a:prstGeom>
          <a:noFill/>
        </p:spPr>
        <p:txBody>
          <a:bodyPr wrap="square">
            <a:spAutoFit/>
          </a:bodyPr>
          <a:lstStyle/>
          <a:p>
            <a:pPr algn="l"/>
            <a:r>
              <a:rPr sz="1500" b="1">
                <a:solidFill>
                  <a:srgbClr val="44CCFF"/>
                </a:solidFill>
              </a:rPr>
              <a:t>観測フラックス：Φ = (1/8π) × (〈σv〉/mχ²) × dNγ/dE × J</a:t>
            </a:r>
          </a:p>
        </p:txBody>
      </p:sp>
      <p:sp>
        <p:nvSpPr>
          <p:cNvPr id="5" name="TextBox 4"/>
          <p:cNvSpPr txBox="1"/>
          <p:nvPr/>
        </p:nvSpPr>
        <p:spPr>
          <a:xfrm>
            <a:off x="457200" y="1371600"/>
            <a:ext cx="5486400" cy="347472"/>
          </a:xfrm>
          <a:prstGeom prst="rect">
            <a:avLst/>
          </a:prstGeom>
          <a:noFill/>
        </p:spPr>
        <p:txBody>
          <a:bodyPr wrap="square">
            <a:spAutoFit/>
          </a:bodyPr>
          <a:lstStyle/>
          <a:p>
            <a:pPr algn="l"/>
            <a:r>
              <a:rPr sz="1400" b="1">
                <a:solidFill>
                  <a:srgbClr val="FFCC00"/>
                </a:solidFill>
              </a:rPr>
              <a:t>mχ（DM質量）</a:t>
            </a:r>
          </a:p>
        </p:txBody>
      </p:sp>
      <p:sp>
        <p:nvSpPr>
          <p:cNvPr id="6" name="TextBox 5"/>
          <p:cNvSpPr txBox="1"/>
          <p:nvPr/>
        </p:nvSpPr>
        <p:spPr>
          <a:xfrm>
            <a:off x="457200" y="1737360"/>
            <a:ext cx="5486400" cy="1188720"/>
          </a:xfrm>
          <a:prstGeom prst="rect">
            <a:avLst/>
          </a:prstGeom>
          <a:noFill/>
        </p:spPr>
        <p:txBody>
          <a:bodyPr wrap="square">
            <a:spAutoFit/>
          </a:bodyPr>
          <a:lstStyle/>
          <a:p>
            <a:pPr algn="l"/>
            <a:r>
              <a:rPr sz="1600" b="0">
                <a:solidFill>
                  <a:srgbClr val="FFFFFF"/>
                </a:solidFill>
              </a:rPr>
              <a:t>スペクトルカットオフを決定。mχ付近でゼロになる
Totani: mχ ≈ 0.5〜0.8 TeV</a:t>
            </a:r>
          </a:p>
        </p:txBody>
      </p:sp>
      <p:sp>
        <p:nvSpPr>
          <p:cNvPr id="7" name="TextBox 6"/>
          <p:cNvSpPr txBox="1"/>
          <p:nvPr/>
        </p:nvSpPr>
        <p:spPr>
          <a:xfrm>
            <a:off x="6400800" y="1371600"/>
            <a:ext cx="5486400" cy="347472"/>
          </a:xfrm>
          <a:prstGeom prst="rect">
            <a:avLst/>
          </a:prstGeom>
          <a:noFill/>
        </p:spPr>
        <p:txBody>
          <a:bodyPr wrap="square">
            <a:spAutoFit/>
          </a:bodyPr>
          <a:lstStyle/>
          <a:p>
            <a:pPr algn="l"/>
            <a:r>
              <a:rPr sz="1400" b="1">
                <a:solidFill>
                  <a:srgbClr val="FFCC00"/>
                </a:solidFill>
              </a:rPr>
              <a:t>〈σv〉（対消滅断面積）</a:t>
            </a:r>
          </a:p>
        </p:txBody>
      </p:sp>
      <p:sp>
        <p:nvSpPr>
          <p:cNvPr id="8" name="TextBox 7"/>
          <p:cNvSpPr txBox="1"/>
          <p:nvPr/>
        </p:nvSpPr>
        <p:spPr>
          <a:xfrm>
            <a:off x="6400800" y="1737360"/>
            <a:ext cx="5486400" cy="1188720"/>
          </a:xfrm>
          <a:prstGeom prst="rect">
            <a:avLst/>
          </a:prstGeom>
          <a:noFill/>
        </p:spPr>
        <p:txBody>
          <a:bodyPr wrap="square">
            <a:spAutoFit/>
          </a:bodyPr>
          <a:lstStyle/>
          <a:p>
            <a:pPr algn="l"/>
            <a:r>
              <a:rPr sz="1600" b="0">
                <a:solidFill>
                  <a:srgbClr val="FFFFFF"/>
                </a:solidFill>
              </a:rPr>
              <a:t>信号の絶対強度を決定
熱的起源：3×10⁻²⁶ cm³/s
Totani: 5〜8×10⁻²⁵ cm³/s</a:t>
            </a:r>
          </a:p>
        </p:txBody>
      </p:sp>
      <p:sp>
        <p:nvSpPr>
          <p:cNvPr id="9" name="TextBox 8"/>
          <p:cNvSpPr txBox="1"/>
          <p:nvPr/>
        </p:nvSpPr>
        <p:spPr>
          <a:xfrm>
            <a:off x="457200" y="3063240"/>
            <a:ext cx="5486400" cy="347472"/>
          </a:xfrm>
          <a:prstGeom prst="rect">
            <a:avLst/>
          </a:prstGeom>
          <a:noFill/>
        </p:spPr>
        <p:txBody>
          <a:bodyPr wrap="square">
            <a:spAutoFit/>
          </a:bodyPr>
          <a:lstStyle/>
          <a:p>
            <a:pPr algn="l"/>
            <a:r>
              <a:rPr sz="1400" b="1">
                <a:solidFill>
                  <a:srgbClr val="FFCC00"/>
                </a:solidFill>
              </a:rPr>
              <a:t>J-factor（視線積分）</a:t>
            </a:r>
          </a:p>
        </p:txBody>
      </p:sp>
      <p:sp>
        <p:nvSpPr>
          <p:cNvPr id="10" name="TextBox 9"/>
          <p:cNvSpPr txBox="1"/>
          <p:nvPr/>
        </p:nvSpPr>
        <p:spPr>
          <a:xfrm>
            <a:off x="457200" y="3429000"/>
            <a:ext cx="5486400" cy="1188720"/>
          </a:xfrm>
          <a:prstGeom prst="rect">
            <a:avLst/>
          </a:prstGeom>
          <a:noFill/>
        </p:spPr>
        <p:txBody>
          <a:bodyPr wrap="square">
            <a:spAutoFit/>
          </a:bodyPr>
          <a:lstStyle/>
          <a:p>
            <a:pPr algn="l"/>
            <a:r>
              <a:rPr sz="1600" b="0">
                <a:solidFill>
                  <a:srgbClr val="FFFFFF"/>
                </a:solidFill>
              </a:rPr>
              <a:t>J = ∫∫ ρ²(r) ds dΩ
視線方向のDM量を表す
NFWパラメータ（rs, ρs）に依存</a:t>
            </a:r>
          </a:p>
        </p:txBody>
      </p:sp>
      <p:sp>
        <p:nvSpPr>
          <p:cNvPr id="11" name="TextBox 10"/>
          <p:cNvSpPr txBox="1"/>
          <p:nvPr/>
        </p:nvSpPr>
        <p:spPr>
          <a:xfrm>
            <a:off x="6400800" y="3063240"/>
            <a:ext cx="5486400" cy="347472"/>
          </a:xfrm>
          <a:prstGeom prst="rect">
            <a:avLst/>
          </a:prstGeom>
          <a:noFill/>
        </p:spPr>
        <p:txBody>
          <a:bodyPr wrap="square">
            <a:spAutoFit/>
          </a:bodyPr>
          <a:lstStyle/>
          <a:p>
            <a:pPr algn="l"/>
            <a:r>
              <a:rPr sz="1400" b="1">
                <a:solidFill>
                  <a:srgbClr val="FFCC00"/>
                </a:solidFill>
              </a:rPr>
              <a:t>dNγ/dE（光子スペクトル）</a:t>
            </a:r>
          </a:p>
        </p:txBody>
      </p:sp>
      <p:sp>
        <p:nvSpPr>
          <p:cNvPr id="12" name="TextBox 11"/>
          <p:cNvSpPr txBox="1"/>
          <p:nvPr/>
        </p:nvSpPr>
        <p:spPr>
          <a:xfrm>
            <a:off x="6400800" y="3429000"/>
            <a:ext cx="5486400" cy="1188720"/>
          </a:xfrm>
          <a:prstGeom prst="rect">
            <a:avLst/>
          </a:prstGeom>
          <a:noFill/>
        </p:spPr>
        <p:txBody>
          <a:bodyPr wrap="square">
            <a:spAutoFit/>
          </a:bodyPr>
          <a:lstStyle/>
          <a:p>
            <a:pPr algn="l"/>
            <a:r>
              <a:rPr sz="1600" b="0">
                <a:solidFill>
                  <a:srgbClr val="FFFFFF"/>
                </a:solidFill>
              </a:rPr>
              <a:t>チャンネル依存。bb̄は比較的軟らかい
Cirelli et al.(2011) PPPC 4 DM IDが標準</a:t>
            </a:r>
          </a:p>
        </p:txBody>
      </p:sp>
      <p:sp>
        <p:nvSpPr>
          <p:cNvPr id="13" name="TextBox 12"/>
          <p:cNvSpPr txBox="1"/>
          <p:nvPr/>
        </p:nvSpPr>
        <p:spPr>
          <a:xfrm>
            <a:off x="457200" y="4754880"/>
            <a:ext cx="5486400" cy="347472"/>
          </a:xfrm>
          <a:prstGeom prst="rect">
            <a:avLst/>
          </a:prstGeom>
          <a:noFill/>
        </p:spPr>
        <p:txBody>
          <a:bodyPr wrap="square">
            <a:spAutoFit/>
          </a:bodyPr>
          <a:lstStyle/>
          <a:p>
            <a:pPr algn="l"/>
            <a:r>
              <a:rPr sz="1400" b="1">
                <a:solidFill>
                  <a:srgbClr val="FFCC00"/>
                </a:solidFill>
              </a:rPr>
              <a:t>ブーストファクター B</a:t>
            </a:r>
          </a:p>
        </p:txBody>
      </p:sp>
      <p:sp>
        <p:nvSpPr>
          <p:cNvPr id="14" name="TextBox 13"/>
          <p:cNvSpPr txBox="1"/>
          <p:nvPr/>
        </p:nvSpPr>
        <p:spPr>
          <a:xfrm>
            <a:off x="457200" y="5120640"/>
            <a:ext cx="5486400" cy="1188720"/>
          </a:xfrm>
          <a:prstGeom prst="rect">
            <a:avLst/>
          </a:prstGeom>
          <a:noFill/>
        </p:spPr>
        <p:txBody>
          <a:bodyPr wrap="square">
            <a:spAutoFit/>
          </a:bodyPr>
          <a:lstStyle/>
          <a:p>
            <a:pPr algn="l"/>
            <a:r>
              <a:rPr sz="1600" b="0">
                <a:solidFill>
                  <a:srgbClr val="FFFFFF"/>
                </a:solidFill>
              </a:rPr>
              <a:t>サブハロー構造で増幅
不確かさ最大（1〜1000）</a:t>
            </a:r>
          </a:p>
        </p:txBody>
      </p:sp>
      <p:sp>
        <p:nvSpPr>
          <p:cNvPr id="15" name="TextBox 14"/>
          <p:cNvSpPr txBox="1"/>
          <p:nvPr/>
        </p:nvSpPr>
        <p:spPr>
          <a:xfrm>
            <a:off x="6400800" y="4754880"/>
            <a:ext cx="5486400" cy="347472"/>
          </a:xfrm>
          <a:prstGeom prst="rect">
            <a:avLst/>
          </a:prstGeom>
          <a:noFill/>
        </p:spPr>
        <p:txBody>
          <a:bodyPr wrap="square">
            <a:spAutoFit/>
          </a:bodyPr>
          <a:lstStyle/>
          <a:p>
            <a:pPr algn="l"/>
            <a:r>
              <a:rPr sz="1400" b="1">
                <a:solidFill>
                  <a:srgbClr val="FFCC00"/>
                </a:solidFill>
              </a:rPr>
              <a:t>rs, ρs（NFW形状）</a:t>
            </a:r>
          </a:p>
        </p:txBody>
      </p:sp>
      <p:sp>
        <p:nvSpPr>
          <p:cNvPr id="16" name="TextBox 15"/>
          <p:cNvSpPr txBox="1"/>
          <p:nvPr/>
        </p:nvSpPr>
        <p:spPr>
          <a:xfrm>
            <a:off x="6400800" y="5120640"/>
            <a:ext cx="5486400" cy="1188720"/>
          </a:xfrm>
          <a:prstGeom prst="rect">
            <a:avLst/>
          </a:prstGeom>
          <a:noFill/>
        </p:spPr>
        <p:txBody>
          <a:bodyPr wrap="square">
            <a:spAutoFit/>
          </a:bodyPr>
          <a:lstStyle/>
          <a:p>
            <a:pPr algn="l"/>
            <a:r>
              <a:rPr sz="1600" b="0">
                <a:solidFill>
                  <a:srgbClr val="FFFFFF"/>
                </a:solidFill>
              </a:rPr>
              <a:t>rs=21kpc, ρs=8.1×10⁶M☉/kpc³
Via Lactea IIシミュレーションから</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91440"/>
            <a:ext cx="10972800" cy="457200"/>
          </a:xfrm>
          <a:prstGeom prst="rect">
            <a:avLst/>
          </a:prstGeom>
          <a:noFill/>
        </p:spPr>
        <p:txBody>
          <a:bodyPr wrap="square">
            <a:spAutoFit/>
          </a:bodyPr>
          <a:lstStyle/>
          <a:p>
            <a:pPr algn="l"/>
            <a:r>
              <a:rPr sz="2200" b="1">
                <a:solidFill>
                  <a:srgbClr val="FFCC00"/>
                </a:solidFill>
              </a:rPr>
              <a:t>【BACKUP】 矮小銀河5天体への展開結果</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777240"/>
            <a:ext cx="7315200" cy="365760"/>
          </a:xfrm>
          <a:prstGeom prst="rect">
            <a:avLst/>
          </a:prstGeom>
          <a:noFill/>
        </p:spPr>
        <p:txBody>
          <a:bodyPr wrap="square">
            <a:spAutoFit/>
          </a:bodyPr>
          <a:lstStyle/>
          <a:p>
            <a:pPr algn="l"/>
            <a:r>
              <a:rPr sz="1500" b="1">
                <a:solidFill>
                  <a:srgbClr val="44CCFF"/>
                </a:solidFill>
              </a:rPr>
              <a:t>解析方法：オン/オフ法（Li &amp; Ma 1983）</a:t>
            </a:r>
          </a:p>
        </p:txBody>
      </p:sp>
      <p:sp>
        <p:nvSpPr>
          <p:cNvPr id="5" name="TextBox 4"/>
          <p:cNvSpPr txBox="1"/>
          <p:nvPr/>
        </p:nvSpPr>
        <p:spPr>
          <a:xfrm>
            <a:off x="457200" y="1188720"/>
            <a:ext cx="10972800" cy="640080"/>
          </a:xfrm>
          <a:prstGeom prst="rect">
            <a:avLst/>
          </a:prstGeom>
          <a:noFill/>
        </p:spPr>
        <p:txBody>
          <a:bodyPr wrap="square">
            <a:spAutoFit/>
          </a:bodyPr>
          <a:lstStyle/>
          <a:p>
            <a:pPr algn="l"/>
            <a:r>
              <a:rPr sz="1600" b="0">
                <a:solidFill>
                  <a:srgbClr val="FFFFFF"/>
                </a:solidFill>
              </a:rPr>
              <a:t>オン領域（天体中心 &lt; 2°）のカウント vs バックグラウンド推定（2°〜5°のカウント × α）
α = オン面積 / オフ面積 = 4/(25-4) ≈ 0.19</a:t>
            </a:r>
          </a:p>
        </p:txBody>
      </p:sp>
      <p:sp>
        <p:nvSpPr>
          <p:cNvPr id="6" name="TextBox 5"/>
          <p:cNvSpPr txBox="1"/>
          <p:nvPr/>
        </p:nvSpPr>
        <p:spPr>
          <a:xfrm>
            <a:off x="457200" y="1920240"/>
            <a:ext cx="2743200" cy="320040"/>
          </a:xfrm>
          <a:prstGeom prst="rect">
            <a:avLst/>
          </a:prstGeom>
          <a:noFill/>
        </p:spPr>
        <p:txBody>
          <a:bodyPr wrap="square">
            <a:spAutoFit/>
          </a:bodyPr>
          <a:lstStyle/>
          <a:p>
            <a:pPr algn="l"/>
            <a:r>
              <a:rPr sz="1400" b="1">
                <a:solidFill>
                  <a:srgbClr val="44CCFF"/>
                </a:solidFill>
              </a:rPr>
              <a:t>天体</a:t>
            </a:r>
          </a:p>
        </p:txBody>
      </p:sp>
      <p:sp>
        <p:nvSpPr>
          <p:cNvPr id="7" name="TextBox 6"/>
          <p:cNvSpPr txBox="1"/>
          <p:nvPr/>
        </p:nvSpPr>
        <p:spPr>
          <a:xfrm>
            <a:off x="3200400" y="1920240"/>
            <a:ext cx="3657600" cy="320040"/>
          </a:xfrm>
          <a:prstGeom prst="rect">
            <a:avLst/>
          </a:prstGeom>
          <a:noFill/>
        </p:spPr>
        <p:txBody>
          <a:bodyPr wrap="square">
            <a:spAutoFit/>
          </a:bodyPr>
          <a:lstStyle/>
          <a:p>
            <a:pPr algn="l"/>
            <a:r>
              <a:rPr sz="1400" b="1">
                <a:solidFill>
                  <a:srgbClr val="44CCFF"/>
                </a:solidFill>
              </a:rPr>
              <a:t>Bin6（20.76 GeV）有意性</a:t>
            </a:r>
          </a:p>
        </p:txBody>
      </p:sp>
      <p:sp>
        <p:nvSpPr>
          <p:cNvPr id="8" name="TextBox 7"/>
          <p:cNvSpPr txBox="1"/>
          <p:nvPr/>
        </p:nvSpPr>
        <p:spPr>
          <a:xfrm>
            <a:off x="6858000" y="1920240"/>
            <a:ext cx="3657600" cy="320040"/>
          </a:xfrm>
          <a:prstGeom prst="rect">
            <a:avLst/>
          </a:prstGeom>
          <a:noFill/>
        </p:spPr>
        <p:txBody>
          <a:bodyPr wrap="square">
            <a:spAutoFit/>
          </a:bodyPr>
          <a:lstStyle/>
          <a:p>
            <a:pPr algn="l"/>
            <a:r>
              <a:rPr sz="1400" b="1">
                <a:solidFill>
                  <a:srgbClr val="44CCFF"/>
                </a:solidFill>
              </a:rPr>
              <a:t>判定</a:t>
            </a:r>
          </a:p>
        </p:txBody>
      </p:sp>
      <p:sp>
        <p:nvSpPr>
          <p:cNvPr id="9" name="TextBox 8"/>
          <p:cNvSpPr txBox="1"/>
          <p:nvPr/>
        </p:nvSpPr>
        <p:spPr>
          <a:xfrm>
            <a:off x="457200" y="2331720"/>
            <a:ext cx="2743200" cy="502920"/>
          </a:xfrm>
          <a:prstGeom prst="rect">
            <a:avLst/>
          </a:prstGeom>
          <a:noFill/>
        </p:spPr>
        <p:txBody>
          <a:bodyPr wrap="square">
            <a:spAutoFit/>
          </a:bodyPr>
          <a:lstStyle/>
          <a:p>
            <a:pPr algn="l"/>
            <a:r>
              <a:rPr sz="1400" b="0">
                <a:solidFill>
                  <a:srgbClr val="FFFFFF"/>
                </a:solidFill>
              </a:rPr>
              <a:t>Draco</a:t>
            </a:r>
          </a:p>
        </p:txBody>
      </p:sp>
      <p:sp>
        <p:nvSpPr>
          <p:cNvPr id="10" name="TextBox 9"/>
          <p:cNvSpPr txBox="1"/>
          <p:nvPr/>
        </p:nvSpPr>
        <p:spPr>
          <a:xfrm>
            <a:off x="3200400" y="2331720"/>
            <a:ext cx="3657600" cy="502920"/>
          </a:xfrm>
          <a:prstGeom prst="rect">
            <a:avLst/>
          </a:prstGeom>
          <a:noFill/>
        </p:spPr>
        <p:txBody>
          <a:bodyPr wrap="square">
            <a:spAutoFit/>
          </a:bodyPr>
          <a:lstStyle/>
          <a:p>
            <a:pPr algn="l"/>
            <a:r>
              <a:rPr sz="1400" b="0">
                <a:solidFill>
                  <a:srgbClr val="FFFFFF"/>
                </a:solidFill>
              </a:rPr>
              <a:t>−1.28σ</a:t>
            </a:r>
          </a:p>
        </p:txBody>
      </p:sp>
      <p:sp>
        <p:nvSpPr>
          <p:cNvPr id="11" name="TextBox 10"/>
          <p:cNvSpPr txBox="1"/>
          <p:nvPr/>
        </p:nvSpPr>
        <p:spPr>
          <a:xfrm>
            <a:off x="6858000" y="2331720"/>
            <a:ext cx="3657600" cy="502920"/>
          </a:xfrm>
          <a:prstGeom prst="rect">
            <a:avLst/>
          </a:prstGeom>
          <a:noFill/>
        </p:spPr>
        <p:txBody>
          <a:bodyPr wrap="square">
            <a:spAutoFit/>
          </a:bodyPr>
          <a:lstStyle/>
          <a:p>
            <a:pPr algn="l"/>
            <a:r>
              <a:rPr sz="1600" b="0">
                <a:solidFill>
                  <a:srgbClr val="FFFFFF"/>
                </a:solidFill>
              </a:rPr>
              <a:t>なし</a:t>
            </a:r>
          </a:p>
        </p:txBody>
      </p:sp>
      <p:sp>
        <p:nvSpPr>
          <p:cNvPr id="12" name="TextBox 11"/>
          <p:cNvSpPr txBox="1"/>
          <p:nvPr/>
        </p:nvSpPr>
        <p:spPr>
          <a:xfrm>
            <a:off x="457200" y="2926079"/>
            <a:ext cx="2743200" cy="502920"/>
          </a:xfrm>
          <a:prstGeom prst="rect">
            <a:avLst/>
          </a:prstGeom>
          <a:noFill/>
        </p:spPr>
        <p:txBody>
          <a:bodyPr wrap="square">
            <a:spAutoFit/>
          </a:bodyPr>
          <a:lstStyle/>
          <a:p>
            <a:pPr algn="l"/>
            <a:r>
              <a:rPr sz="1400" b="0">
                <a:solidFill>
                  <a:srgbClr val="FFFFFF"/>
                </a:solidFill>
              </a:rPr>
              <a:t>Sculptor</a:t>
            </a:r>
          </a:p>
        </p:txBody>
      </p:sp>
      <p:sp>
        <p:nvSpPr>
          <p:cNvPr id="13" name="TextBox 12"/>
          <p:cNvSpPr txBox="1"/>
          <p:nvPr/>
        </p:nvSpPr>
        <p:spPr>
          <a:xfrm>
            <a:off x="3200400" y="2926079"/>
            <a:ext cx="3657600" cy="502920"/>
          </a:xfrm>
          <a:prstGeom prst="rect">
            <a:avLst/>
          </a:prstGeom>
          <a:noFill/>
        </p:spPr>
        <p:txBody>
          <a:bodyPr wrap="square">
            <a:spAutoFit/>
          </a:bodyPr>
          <a:lstStyle/>
          <a:p>
            <a:pPr algn="l"/>
            <a:r>
              <a:rPr sz="1400" b="0">
                <a:solidFill>
                  <a:srgbClr val="FFFFFF"/>
                </a:solidFill>
              </a:rPr>
              <a:t>+1.33σ</a:t>
            </a:r>
          </a:p>
        </p:txBody>
      </p:sp>
      <p:sp>
        <p:nvSpPr>
          <p:cNvPr id="14" name="TextBox 13"/>
          <p:cNvSpPr txBox="1"/>
          <p:nvPr/>
        </p:nvSpPr>
        <p:spPr>
          <a:xfrm>
            <a:off x="6858000" y="2926079"/>
            <a:ext cx="3657600" cy="502920"/>
          </a:xfrm>
          <a:prstGeom prst="rect">
            <a:avLst/>
          </a:prstGeom>
          <a:noFill/>
        </p:spPr>
        <p:txBody>
          <a:bodyPr wrap="square">
            <a:spAutoFit/>
          </a:bodyPr>
          <a:lstStyle/>
          <a:p>
            <a:pPr algn="l"/>
            <a:r>
              <a:rPr sz="1600" b="0">
                <a:solidFill>
                  <a:srgbClr val="FFFFFF"/>
                </a:solidFill>
              </a:rPr>
              <a:t>なし</a:t>
            </a:r>
          </a:p>
        </p:txBody>
      </p:sp>
      <p:sp>
        <p:nvSpPr>
          <p:cNvPr id="15" name="TextBox 14"/>
          <p:cNvSpPr txBox="1"/>
          <p:nvPr/>
        </p:nvSpPr>
        <p:spPr>
          <a:xfrm>
            <a:off x="457200" y="3520439"/>
            <a:ext cx="2743200" cy="502920"/>
          </a:xfrm>
          <a:prstGeom prst="rect">
            <a:avLst/>
          </a:prstGeom>
          <a:noFill/>
        </p:spPr>
        <p:txBody>
          <a:bodyPr wrap="square">
            <a:spAutoFit/>
          </a:bodyPr>
          <a:lstStyle/>
          <a:p>
            <a:pPr algn="l"/>
            <a:r>
              <a:rPr sz="1400" b="0">
                <a:solidFill>
                  <a:srgbClr val="FFFFFF"/>
                </a:solidFill>
              </a:rPr>
              <a:t>Ursa Minor</a:t>
            </a:r>
          </a:p>
        </p:txBody>
      </p:sp>
      <p:sp>
        <p:nvSpPr>
          <p:cNvPr id="16" name="TextBox 15"/>
          <p:cNvSpPr txBox="1"/>
          <p:nvPr/>
        </p:nvSpPr>
        <p:spPr>
          <a:xfrm>
            <a:off x="3200400" y="3520439"/>
            <a:ext cx="3657600" cy="502920"/>
          </a:xfrm>
          <a:prstGeom prst="rect">
            <a:avLst/>
          </a:prstGeom>
          <a:noFill/>
        </p:spPr>
        <p:txBody>
          <a:bodyPr wrap="square">
            <a:spAutoFit/>
          </a:bodyPr>
          <a:lstStyle/>
          <a:p>
            <a:pPr algn="l"/>
            <a:r>
              <a:rPr sz="1400" b="0">
                <a:solidFill>
                  <a:srgbClr val="FFFFFF"/>
                </a:solidFill>
              </a:rPr>
              <a:t>+1.68σ</a:t>
            </a:r>
          </a:p>
        </p:txBody>
      </p:sp>
      <p:sp>
        <p:nvSpPr>
          <p:cNvPr id="17" name="TextBox 16"/>
          <p:cNvSpPr txBox="1"/>
          <p:nvPr/>
        </p:nvSpPr>
        <p:spPr>
          <a:xfrm>
            <a:off x="6858000" y="3520439"/>
            <a:ext cx="3657600" cy="502920"/>
          </a:xfrm>
          <a:prstGeom prst="rect">
            <a:avLst/>
          </a:prstGeom>
          <a:noFill/>
        </p:spPr>
        <p:txBody>
          <a:bodyPr wrap="square">
            <a:spAutoFit/>
          </a:bodyPr>
          <a:lstStyle/>
          <a:p>
            <a:pPr algn="l"/>
            <a:r>
              <a:rPr sz="1600" b="0">
                <a:solidFill>
                  <a:srgbClr val="FFFFFF"/>
                </a:solidFill>
              </a:rPr>
              <a:t>なし</a:t>
            </a:r>
          </a:p>
        </p:txBody>
      </p:sp>
      <p:sp>
        <p:nvSpPr>
          <p:cNvPr id="18" name="TextBox 17"/>
          <p:cNvSpPr txBox="1"/>
          <p:nvPr/>
        </p:nvSpPr>
        <p:spPr>
          <a:xfrm>
            <a:off x="457200" y="4114800"/>
            <a:ext cx="2743200" cy="502920"/>
          </a:xfrm>
          <a:prstGeom prst="rect">
            <a:avLst/>
          </a:prstGeom>
          <a:noFill/>
        </p:spPr>
        <p:txBody>
          <a:bodyPr wrap="square">
            <a:spAutoFit/>
          </a:bodyPr>
          <a:lstStyle/>
          <a:p>
            <a:pPr algn="l"/>
            <a:r>
              <a:rPr sz="1400" b="0">
                <a:solidFill>
                  <a:srgbClr val="FFFFFF"/>
                </a:solidFill>
              </a:rPr>
              <a:t>Segue 1</a:t>
            </a:r>
          </a:p>
        </p:txBody>
      </p:sp>
      <p:sp>
        <p:nvSpPr>
          <p:cNvPr id="19" name="TextBox 18"/>
          <p:cNvSpPr txBox="1"/>
          <p:nvPr/>
        </p:nvSpPr>
        <p:spPr>
          <a:xfrm>
            <a:off x="3200400" y="4114800"/>
            <a:ext cx="3657600" cy="502920"/>
          </a:xfrm>
          <a:prstGeom prst="rect">
            <a:avLst/>
          </a:prstGeom>
          <a:noFill/>
        </p:spPr>
        <p:txBody>
          <a:bodyPr wrap="square">
            <a:spAutoFit/>
          </a:bodyPr>
          <a:lstStyle/>
          <a:p>
            <a:pPr algn="l"/>
            <a:r>
              <a:rPr sz="1400" b="0">
                <a:solidFill>
                  <a:srgbClr val="FFFFFF"/>
                </a:solidFill>
              </a:rPr>
              <a:t>−0.38σ</a:t>
            </a:r>
          </a:p>
        </p:txBody>
      </p:sp>
      <p:sp>
        <p:nvSpPr>
          <p:cNvPr id="20" name="TextBox 19"/>
          <p:cNvSpPr txBox="1"/>
          <p:nvPr/>
        </p:nvSpPr>
        <p:spPr>
          <a:xfrm>
            <a:off x="6858000" y="4114800"/>
            <a:ext cx="3657600" cy="502920"/>
          </a:xfrm>
          <a:prstGeom prst="rect">
            <a:avLst/>
          </a:prstGeom>
          <a:noFill/>
        </p:spPr>
        <p:txBody>
          <a:bodyPr wrap="square">
            <a:spAutoFit/>
          </a:bodyPr>
          <a:lstStyle/>
          <a:p>
            <a:pPr algn="l"/>
            <a:r>
              <a:rPr sz="1600" b="0">
                <a:solidFill>
                  <a:srgbClr val="FFFFFF"/>
                </a:solidFill>
              </a:rPr>
              <a:t>なし</a:t>
            </a:r>
          </a:p>
        </p:txBody>
      </p:sp>
      <p:sp>
        <p:nvSpPr>
          <p:cNvPr id="21" name="TextBox 20"/>
          <p:cNvSpPr txBox="1"/>
          <p:nvPr/>
        </p:nvSpPr>
        <p:spPr>
          <a:xfrm>
            <a:off x="457200" y="4709160"/>
            <a:ext cx="2743200" cy="502920"/>
          </a:xfrm>
          <a:prstGeom prst="rect">
            <a:avLst/>
          </a:prstGeom>
          <a:noFill/>
        </p:spPr>
        <p:txBody>
          <a:bodyPr wrap="square">
            <a:spAutoFit/>
          </a:bodyPr>
          <a:lstStyle/>
          <a:p>
            <a:pPr algn="l"/>
            <a:r>
              <a:rPr sz="1400" b="0">
                <a:solidFill>
                  <a:srgbClr val="FFFFFF"/>
                </a:solidFill>
              </a:rPr>
              <a:t>Coma Berenices</a:t>
            </a:r>
          </a:p>
        </p:txBody>
      </p:sp>
      <p:sp>
        <p:nvSpPr>
          <p:cNvPr id="22" name="TextBox 21"/>
          <p:cNvSpPr txBox="1"/>
          <p:nvPr/>
        </p:nvSpPr>
        <p:spPr>
          <a:xfrm>
            <a:off x="3200400" y="4709160"/>
            <a:ext cx="3657600" cy="502920"/>
          </a:xfrm>
          <a:prstGeom prst="rect">
            <a:avLst/>
          </a:prstGeom>
          <a:noFill/>
        </p:spPr>
        <p:txBody>
          <a:bodyPr wrap="square">
            <a:spAutoFit/>
          </a:bodyPr>
          <a:lstStyle/>
          <a:p>
            <a:pPr algn="l"/>
            <a:r>
              <a:rPr sz="1400" b="1">
                <a:solidFill>
                  <a:srgbClr val="FF4444"/>
                </a:solidFill>
              </a:rPr>
              <a:t>★+4.54σ</a:t>
            </a:r>
          </a:p>
        </p:txBody>
      </p:sp>
      <p:sp>
        <p:nvSpPr>
          <p:cNvPr id="23" name="TextBox 22"/>
          <p:cNvSpPr txBox="1"/>
          <p:nvPr/>
        </p:nvSpPr>
        <p:spPr>
          <a:xfrm>
            <a:off x="6858000" y="4709160"/>
            <a:ext cx="3657600" cy="502920"/>
          </a:xfrm>
          <a:prstGeom prst="rect">
            <a:avLst/>
          </a:prstGeom>
          <a:noFill/>
        </p:spPr>
        <p:txBody>
          <a:bodyPr wrap="square">
            <a:spAutoFit/>
          </a:bodyPr>
          <a:lstStyle/>
          <a:p>
            <a:pPr algn="l"/>
            <a:r>
              <a:rPr sz="1600" b="0">
                <a:solidFill>
                  <a:srgbClr val="FF4444"/>
                </a:solidFill>
              </a:rPr>
              <a:t>過剰の兆候</a:t>
            </a:r>
          </a:p>
        </p:txBody>
      </p:sp>
      <p:sp>
        <p:nvSpPr>
          <p:cNvPr id="24" name="TextBox 23"/>
          <p:cNvSpPr txBox="1"/>
          <p:nvPr/>
        </p:nvSpPr>
        <p:spPr>
          <a:xfrm>
            <a:off x="457200" y="5120640"/>
            <a:ext cx="10972800" cy="365760"/>
          </a:xfrm>
          <a:prstGeom prst="rect">
            <a:avLst/>
          </a:prstGeom>
          <a:noFill/>
        </p:spPr>
        <p:txBody>
          <a:bodyPr wrap="square">
            <a:spAutoFit/>
          </a:bodyPr>
          <a:lstStyle/>
          <a:p>
            <a:pPr algn="l"/>
            <a:r>
              <a:rPr sz="1400" b="1">
                <a:solidFill>
                  <a:srgbClr val="FFCC00"/>
                </a:solidFill>
              </a:rPr>
              <a:t>※天の川銀河ハロー：31.03σ（Totani再現）</a:t>
            </a:r>
          </a:p>
        </p:txBody>
      </p:sp>
      <p:sp>
        <p:nvSpPr>
          <p:cNvPr id="25" name="TextBox 24"/>
          <p:cNvSpPr txBox="1"/>
          <p:nvPr/>
        </p:nvSpPr>
        <p:spPr>
          <a:xfrm>
            <a:off x="457200" y="5577840"/>
            <a:ext cx="10972800" cy="822960"/>
          </a:xfrm>
          <a:prstGeom prst="rect">
            <a:avLst/>
          </a:prstGeom>
          <a:noFill/>
        </p:spPr>
        <p:txBody>
          <a:bodyPr wrap="square">
            <a:spAutoFit/>
          </a:bodyPr>
          <a:lstStyle/>
          <a:p>
            <a:pPr algn="l"/>
            <a:r>
              <a:rPr sz="1600" b="0">
                <a:solidFill>
                  <a:srgbClr val="FFFFFF"/>
                </a:solidFill>
              </a:rPr>
              <a:t>Coma Berenicesは超淡銀河（M/L比が非常に高い）。4.54σは発見基準（5σ）には届かないが
天の川と合わせて「複数天体での20 GeV過剰」として卒論で議論できる価値ある結果。</a:t>
            </a:r>
          </a:p>
        </p:txBody>
      </p:sp>
      <p:pic>
        <p:nvPicPr>
          <p:cNvPr id="26" name="Picture 25" descr="dwarf_summary_bin6.png"/>
          <p:cNvPicPr>
            <a:picLocks noChangeAspect="1"/>
          </p:cNvPicPr>
          <p:nvPr/>
        </p:nvPicPr>
        <p:blipFill>
          <a:blip r:embed="rId3"/>
          <a:stretch>
            <a:fillRect/>
          </a:stretch>
        </p:blipFill>
        <p:spPr>
          <a:xfrm>
            <a:off x="7772400" y="1828800"/>
            <a:ext cx="4114800" cy="43891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91440"/>
            <a:ext cx="10972800" cy="457200"/>
          </a:xfrm>
          <a:prstGeom prst="rect">
            <a:avLst/>
          </a:prstGeom>
          <a:noFill/>
        </p:spPr>
        <p:txBody>
          <a:bodyPr wrap="square">
            <a:spAutoFit/>
          </a:bodyPr>
          <a:lstStyle/>
          <a:p>
            <a:pPr algn="l"/>
            <a:r>
              <a:rPr sz="2200" b="1">
                <a:solidFill>
                  <a:srgbClr val="FFCC00"/>
                </a:solidFill>
              </a:rPr>
              <a:t>【BACKUP】 統計的有意性 σ とは</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822960"/>
            <a:ext cx="10972800" cy="5029200"/>
          </a:xfrm>
          <a:prstGeom prst="rect">
            <a:avLst/>
          </a:prstGeom>
          <a:noFill/>
        </p:spPr>
        <p:txBody>
          <a:bodyPr wrap="square">
            <a:spAutoFit/>
          </a:bodyPr>
          <a:lstStyle/>
          <a:p>
            <a:pPr algn="l"/>
            <a:r>
              <a:rPr sz="1500" b="0">
                <a:solidFill>
                  <a:srgbClr val="FFFFFF"/>
                </a:solidFill>
              </a:rPr>
              <a:t>S/N（シグナル対ノイズ比）= |A| / σ_A
  σ = 1.0 → 偶然起こりえる（68%の確率）
  σ = 2.0 → 偶然の確率 4.6%
  σ = 3.0 → 偶然の確率 0.27%  ← 「兆候」の目安
  σ = 5.0 → 偶然の確率 3×10⁻⁷  ← 物理学の「発見」基準
今回の結果：
  天の川ハロー Bin6（20.76 GeV）：31.03σ  → 偶然ではない
  Coma Berenices Bin6（20.76 GeV）：4.54σ  → 発見基準には届かないが注目値
Totani (2025)：13〜19σ  → 今回の実装（最小二乗法）で同スケール再現
注意：今回の手法は最小二乗法（Totani は MCMC + Poisson尤度）
→ 絶対値の直接比較には系統誤差が含まれる可能性あり</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5051A"/>
        </a:solidFill>
        <a:effectLst/>
      </p:bgPr>
    </p:bg>
    <p:spTree>
      <p:nvGrpSpPr>
        <p:cNvPr id="1" name=""/>
        <p:cNvGrpSpPr/>
        <p:nvPr/>
      </p:nvGrpSpPr>
      <p:grpSpPr>
        <a:xfrm>
          <a:off x="0" y="0"/>
          <a:ext cx="0" cy="0"/>
          <a:chOff x="0" y="0"/>
          <a:chExt cx="0" cy="0"/>
        </a:xfrm>
      </p:grpSpPr>
      <p:sp>
        <p:nvSpPr>
          <p:cNvPr id="2" name="TextBox 1"/>
          <p:cNvSpPr txBox="1"/>
          <p:nvPr/>
        </p:nvSpPr>
        <p:spPr>
          <a:xfrm>
            <a:off x="365760" y="91440"/>
            <a:ext cx="10972800" cy="457200"/>
          </a:xfrm>
          <a:prstGeom prst="rect">
            <a:avLst/>
          </a:prstGeom>
          <a:noFill/>
        </p:spPr>
        <p:txBody>
          <a:bodyPr wrap="square">
            <a:spAutoFit/>
          </a:bodyPr>
          <a:lstStyle/>
          <a:p>
            <a:pPr algn="l"/>
            <a:r>
              <a:rPr sz="2200" b="1">
                <a:solidFill>
                  <a:srgbClr val="FFCC00"/>
                </a:solidFill>
              </a:rPr>
              <a:t>【BACKUP】 Totani手法との差異・系統誤差</a:t>
            </a:r>
          </a:p>
        </p:txBody>
      </p:sp>
      <p:sp>
        <p:nvSpPr>
          <p:cNvPr id="3" name="Rectangle 2"/>
          <p:cNvSpPr/>
          <p:nvPr/>
        </p:nvSpPr>
        <p:spPr>
          <a:xfrm>
            <a:off x="365760" y="640080"/>
            <a:ext cx="11430000" cy="1828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777240"/>
            <a:ext cx="3200400" cy="320040"/>
          </a:xfrm>
          <a:prstGeom prst="rect">
            <a:avLst/>
          </a:prstGeom>
          <a:noFill/>
        </p:spPr>
        <p:txBody>
          <a:bodyPr wrap="square">
            <a:spAutoFit/>
          </a:bodyPr>
          <a:lstStyle/>
          <a:p>
            <a:pPr algn="l"/>
            <a:r>
              <a:rPr sz="1600" b="1">
                <a:solidFill>
                  <a:srgbClr val="44CCFF"/>
                </a:solidFill>
              </a:rPr>
              <a:t>工程</a:t>
            </a:r>
          </a:p>
        </p:txBody>
      </p:sp>
      <p:sp>
        <p:nvSpPr>
          <p:cNvPr id="5" name="TextBox 4"/>
          <p:cNvSpPr txBox="1"/>
          <p:nvPr/>
        </p:nvSpPr>
        <p:spPr>
          <a:xfrm>
            <a:off x="3566160" y="777240"/>
            <a:ext cx="3657600" cy="320040"/>
          </a:xfrm>
          <a:prstGeom prst="rect">
            <a:avLst/>
          </a:prstGeom>
          <a:noFill/>
        </p:spPr>
        <p:txBody>
          <a:bodyPr wrap="square">
            <a:spAutoFit/>
          </a:bodyPr>
          <a:lstStyle/>
          <a:p>
            <a:pPr algn="l"/>
            <a:r>
              <a:rPr sz="1600" b="1">
                <a:solidFill>
                  <a:srgbClr val="44CCFF"/>
                </a:solidFill>
              </a:rPr>
              <a:t>Totani実装</a:t>
            </a:r>
          </a:p>
        </p:txBody>
      </p:sp>
      <p:sp>
        <p:nvSpPr>
          <p:cNvPr id="6" name="TextBox 5"/>
          <p:cNvSpPr txBox="1"/>
          <p:nvPr/>
        </p:nvSpPr>
        <p:spPr>
          <a:xfrm>
            <a:off x="7223760" y="777240"/>
            <a:ext cx="3200400" cy="320040"/>
          </a:xfrm>
          <a:prstGeom prst="rect">
            <a:avLst/>
          </a:prstGeom>
          <a:noFill/>
        </p:spPr>
        <p:txBody>
          <a:bodyPr wrap="square">
            <a:spAutoFit/>
          </a:bodyPr>
          <a:lstStyle/>
          <a:p>
            <a:pPr algn="l"/>
            <a:r>
              <a:rPr sz="1600" b="1">
                <a:solidFill>
                  <a:srgbClr val="44CCFF"/>
                </a:solidFill>
              </a:rPr>
              <a:t>今回の実装</a:t>
            </a:r>
          </a:p>
        </p:txBody>
      </p:sp>
      <p:sp>
        <p:nvSpPr>
          <p:cNvPr id="7" name="TextBox 6"/>
          <p:cNvSpPr txBox="1"/>
          <p:nvPr/>
        </p:nvSpPr>
        <p:spPr>
          <a:xfrm>
            <a:off x="10424160" y="777240"/>
            <a:ext cx="1371600" cy="320040"/>
          </a:xfrm>
          <a:prstGeom prst="rect">
            <a:avLst/>
          </a:prstGeom>
          <a:noFill/>
        </p:spPr>
        <p:txBody>
          <a:bodyPr wrap="square">
            <a:spAutoFit/>
          </a:bodyPr>
          <a:lstStyle/>
          <a:p>
            <a:pPr algn="l"/>
            <a:r>
              <a:rPr sz="1600" b="1">
                <a:solidFill>
                  <a:srgbClr val="44CCFF"/>
                </a:solidFill>
              </a:rPr>
              <a:t>差異</a:t>
            </a:r>
          </a:p>
        </p:txBody>
      </p:sp>
      <p:sp>
        <p:nvSpPr>
          <p:cNvPr id="8" name="TextBox 7"/>
          <p:cNvSpPr txBox="1"/>
          <p:nvPr/>
        </p:nvSpPr>
        <p:spPr>
          <a:xfrm>
            <a:off x="365760" y="1234440"/>
            <a:ext cx="3200400" cy="685800"/>
          </a:xfrm>
          <a:prstGeom prst="rect">
            <a:avLst/>
          </a:prstGeom>
          <a:noFill/>
        </p:spPr>
        <p:txBody>
          <a:bodyPr wrap="square">
            <a:spAutoFit/>
          </a:bodyPr>
          <a:lstStyle/>
          <a:p>
            <a:pPr algn="l"/>
            <a:r>
              <a:rPr sz="1600" b="0">
                <a:solidFill>
                  <a:srgbClr val="FFFFFF"/>
                </a:solidFill>
              </a:rPr>
              <a:t>統計手法</a:t>
            </a:r>
          </a:p>
        </p:txBody>
      </p:sp>
      <p:sp>
        <p:nvSpPr>
          <p:cNvPr id="9" name="TextBox 8"/>
          <p:cNvSpPr txBox="1"/>
          <p:nvPr/>
        </p:nvSpPr>
        <p:spPr>
          <a:xfrm>
            <a:off x="3566160" y="1234440"/>
            <a:ext cx="3657600" cy="685800"/>
          </a:xfrm>
          <a:prstGeom prst="rect">
            <a:avLst/>
          </a:prstGeom>
          <a:noFill/>
        </p:spPr>
        <p:txBody>
          <a:bodyPr wrap="square">
            <a:spAutoFit/>
          </a:bodyPr>
          <a:lstStyle/>
          <a:p>
            <a:pPr algn="l"/>
            <a:r>
              <a:rPr sz="1600" b="0">
                <a:solidFill>
                  <a:srgbClr val="FFFFFF"/>
                </a:solidFill>
              </a:rPr>
              <a:t>MCMC + Poisson尤度最大化</a:t>
            </a:r>
          </a:p>
        </p:txBody>
      </p:sp>
      <p:sp>
        <p:nvSpPr>
          <p:cNvPr id="10" name="TextBox 9"/>
          <p:cNvSpPr txBox="1"/>
          <p:nvPr/>
        </p:nvSpPr>
        <p:spPr>
          <a:xfrm>
            <a:off x="7223760" y="1234440"/>
            <a:ext cx="3200400" cy="685800"/>
          </a:xfrm>
          <a:prstGeom prst="rect">
            <a:avLst/>
          </a:prstGeom>
          <a:noFill/>
        </p:spPr>
        <p:txBody>
          <a:bodyPr wrap="square">
            <a:spAutoFit/>
          </a:bodyPr>
          <a:lstStyle/>
          <a:p>
            <a:pPr algn="l"/>
            <a:r>
              <a:rPr sz="1600" b="0">
                <a:solidFill>
                  <a:srgbClr val="FFFFFF"/>
                </a:solidFill>
              </a:rPr>
              <a:t>最小二乗法</a:t>
            </a:r>
          </a:p>
        </p:txBody>
      </p:sp>
      <p:sp>
        <p:nvSpPr>
          <p:cNvPr id="11" name="TextBox 10"/>
          <p:cNvSpPr txBox="1"/>
          <p:nvPr/>
        </p:nvSpPr>
        <p:spPr>
          <a:xfrm>
            <a:off x="10424160" y="1234440"/>
            <a:ext cx="1371600" cy="685800"/>
          </a:xfrm>
          <a:prstGeom prst="rect">
            <a:avLst/>
          </a:prstGeom>
          <a:noFill/>
        </p:spPr>
        <p:txBody>
          <a:bodyPr wrap="square">
            <a:spAutoFit/>
          </a:bodyPr>
          <a:lstStyle/>
          <a:p>
            <a:pPr algn="l"/>
            <a:r>
              <a:rPr sz="1600" b="1">
                <a:solidFill>
                  <a:srgbClr val="FF4444"/>
                </a:solidFill>
              </a:rPr>
              <a:t>大</a:t>
            </a:r>
          </a:p>
        </p:txBody>
      </p:sp>
      <p:sp>
        <p:nvSpPr>
          <p:cNvPr id="12" name="TextBox 11"/>
          <p:cNvSpPr txBox="1"/>
          <p:nvPr/>
        </p:nvSpPr>
        <p:spPr>
          <a:xfrm>
            <a:off x="365760" y="2011680"/>
            <a:ext cx="3200400" cy="685800"/>
          </a:xfrm>
          <a:prstGeom prst="rect">
            <a:avLst/>
          </a:prstGeom>
          <a:noFill/>
        </p:spPr>
        <p:txBody>
          <a:bodyPr wrap="square">
            <a:spAutoFit/>
          </a:bodyPr>
          <a:lstStyle/>
          <a:p>
            <a:pPr algn="l"/>
            <a:r>
              <a:rPr sz="1600" b="0">
                <a:solidFill>
                  <a:srgbClr val="FFFFFF"/>
                </a:solidFill>
              </a:rPr>
              <a:t>銀河拡散</a:t>
            </a:r>
          </a:p>
        </p:txBody>
      </p:sp>
      <p:sp>
        <p:nvSpPr>
          <p:cNvPr id="13" name="TextBox 12"/>
          <p:cNvSpPr txBox="1"/>
          <p:nvPr/>
        </p:nvSpPr>
        <p:spPr>
          <a:xfrm>
            <a:off x="3566160" y="2011680"/>
            <a:ext cx="3657600" cy="685800"/>
          </a:xfrm>
          <a:prstGeom prst="rect">
            <a:avLst/>
          </a:prstGeom>
          <a:noFill/>
        </p:spPr>
        <p:txBody>
          <a:bodyPr wrap="square">
            <a:spAutoFit/>
          </a:bodyPr>
          <a:lstStyle/>
          <a:p>
            <a:pPr algn="l"/>
            <a:r>
              <a:rPr sz="1600" b="0">
                <a:solidFill>
                  <a:srgbClr val="FFFFFF"/>
                </a:solidFill>
              </a:rPr>
              <a:t>GALPROP複数モデル比較</a:t>
            </a:r>
          </a:p>
        </p:txBody>
      </p:sp>
      <p:sp>
        <p:nvSpPr>
          <p:cNvPr id="14" name="TextBox 13"/>
          <p:cNvSpPr txBox="1"/>
          <p:nvPr/>
        </p:nvSpPr>
        <p:spPr>
          <a:xfrm>
            <a:off x="7223760" y="2011680"/>
            <a:ext cx="3200400" cy="685800"/>
          </a:xfrm>
          <a:prstGeom prst="rect">
            <a:avLst/>
          </a:prstGeom>
          <a:noFill/>
        </p:spPr>
        <p:txBody>
          <a:bodyPr wrap="square">
            <a:spAutoFit/>
          </a:bodyPr>
          <a:lstStyle/>
          <a:p>
            <a:pPr algn="l"/>
            <a:r>
              <a:rPr sz="1600" b="0">
                <a:solidFill>
                  <a:srgbClr val="FFFFFF"/>
                </a:solidFill>
              </a:rPr>
              <a:t>gll_iem_v07の1種のみ</a:t>
            </a:r>
          </a:p>
        </p:txBody>
      </p:sp>
      <p:sp>
        <p:nvSpPr>
          <p:cNvPr id="15" name="TextBox 14"/>
          <p:cNvSpPr txBox="1"/>
          <p:nvPr/>
        </p:nvSpPr>
        <p:spPr>
          <a:xfrm>
            <a:off x="10424160" y="2011680"/>
            <a:ext cx="1371600" cy="685800"/>
          </a:xfrm>
          <a:prstGeom prst="rect">
            <a:avLst/>
          </a:prstGeom>
          <a:noFill/>
        </p:spPr>
        <p:txBody>
          <a:bodyPr wrap="square">
            <a:spAutoFit/>
          </a:bodyPr>
          <a:lstStyle/>
          <a:p>
            <a:pPr algn="l"/>
            <a:r>
              <a:rPr sz="1600" b="1">
                <a:solidFill>
                  <a:srgbClr val="FFCC00"/>
                </a:solidFill>
              </a:rPr>
              <a:t>中</a:t>
            </a:r>
          </a:p>
        </p:txBody>
      </p:sp>
      <p:sp>
        <p:nvSpPr>
          <p:cNvPr id="16" name="TextBox 15"/>
          <p:cNvSpPr txBox="1"/>
          <p:nvPr/>
        </p:nvSpPr>
        <p:spPr>
          <a:xfrm>
            <a:off x="365760" y="2788920"/>
            <a:ext cx="3200400" cy="685800"/>
          </a:xfrm>
          <a:prstGeom prst="rect">
            <a:avLst/>
          </a:prstGeom>
          <a:noFill/>
        </p:spPr>
        <p:txBody>
          <a:bodyPr wrap="square">
            <a:spAutoFit/>
          </a:bodyPr>
          <a:lstStyle/>
          <a:p>
            <a:pPr algn="l"/>
            <a:r>
              <a:rPr sz="1600" b="0">
                <a:solidFill>
                  <a:srgbClr val="FFFFFF"/>
                </a:solidFill>
              </a:rPr>
              <a:t>点源処理</a:t>
            </a:r>
          </a:p>
        </p:txBody>
      </p:sp>
      <p:sp>
        <p:nvSpPr>
          <p:cNvPr id="17" name="TextBox 16"/>
          <p:cNvSpPr txBox="1"/>
          <p:nvPr/>
        </p:nvSpPr>
        <p:spPr>
          <a:xfrm>
            <a:off x="3566160" y="2788920"/>
            <a:ext cx="3657600" cy="685800"/>
          </a:xfrm>
          <a:prstGeom prst="rect">
            <a:avLst/>
          </a:prstGeom>
          <a:noFill/>
        </p:spPr>
        <p:txBody>
          <a:bodyPr wrap="square">
            <a:spAutoFit/>
          </a:bodyPr>
          <a:lstStyle/>
          <a:p>
            <a:pPr algn="l"/>
            <a:r>
              <a:rPr sz="1600" b="0">
                <a:solidFill>
                  <a:srgbClr val="FFFFFF"/>
                </a:solidFill>
              </a:rPr>
              <a:t>PSF畳み込みで差し引き</a:t>
            </a:r>
          </a:p>
        </p:txBody>
      </p:sp>
      <p:sp>
        <p:nvSpPr>
          <p:cNvPr id="18" name="TextBox 17"/>
          <p:cNvSpPr txBox="1"/>
          <p:nvPr/>
        </p:nvSpPr>
        <p:spPr>
          <a:xfrm>
            <a:off x="7223760" y="2788920"/>
            <a:ext cx="3200400" cy="685800"/>
          </a:xfrm>
          <a:prstGeom prst="rect">
            <a:avLst/>
          </a:prstGeom>
          <a:noFill/>
        </p:spPr>
        <p:txBody>
          <a:bodyPr wrap="square">
            <a:spAutoFit/>
          </a:bodyPr>
          <a:lstStyle/>
          <a:p>
            <a:pPr algn="l"/>
            <a:r>
              <a:rPr sz="1600" b="0">
                <a:solidFill>
                  <a:srgbClr val="FFFFFF"/>
                </a:solidFill>
              </a:rPr>
              <a:t>カタログ座標をNaN</a:t>
            </a:r>
          </a:p>
        </p:txBody>
      </p:sp>
      <p:sp>
        <p:nvSpPr>
          <p:cNvPr id="19" name="TextBox 18"/>
          <p:cNvSpPr txBox="1"/>
          <p:nvPr/>
        </p:nvSpPr>
        <p:spPr>
          <a:xfrm>
            <a:off x="10424160" y="2788920"/>
            <a:ext cx="1371600" cy="685800"/>
          </a:xfrm>
          <a:prstGeom prst="rect">
            <a:avLst/>
          </a:prstGeom>
          <a:noFill/>
        </p:spPr>
        <p:txBody>
          <a:bodyPr wrap="square">
            <a:spAutoFit/>
          </a:bodyPr>
          <a:lstStyle/>
          <a:p>
            <a:pPr algn="l"/>
            <a:r>
              <a:rPr sz="1600" b="1">
                <a:solidFill>
                  <a:srgbClr val="FFCC00"/>
                </a:solidFill>
              </a:rPr>
              <a:t>中</a:t>
            </a:r>
          </a:p>
        </p:txBody>
      </p:sp>
      <p:sp>
        <p:nvSpPr>
          <p:cNvPr id="20" name="TextBox 19"/>
          <p:cNvSpPr txBox="1"/>
          <p:nvPr/>
        </p:nvSpPr>
        <p:spPr>
          <a:xfrm>
            <a:off x="365760" y="3566160"/>
            <a:ext cx="3200400" cy="685800"/>
          </a:xfrm>
          <a:prstGeom prst="rect">
            <a:avLst/>
          </a:prstGeom>
          <a:noFill/>
        </p:spPr>
        <p:txBody>
          <a:bodyPr wrap="square">
            <a:spAutoFit/>
          </a:bodyPr>
          <a:lstStyle/>
          <a:p>
            <a:pPr algn="l"/>
            <a:r>
              <a:rPr sz="1600" b="0">
                <a:solidFill>
                  <a:srgbClr val="FFFFFF"/>
                </a:solidFill>
              </a:rPr>
              <a:t>露出マップ</a:t>
            </a:r>
          </a:p>
        </p:txBody>
      </p:sp>
      <p:sp>
        <p:nvSpPr>
          <p:cNvPr id="21" name="TextBox 20"/>
          <p:cNvSpPr txBox="1"/>
          <p:nvPr/>
        </p:nvSpPr>
        <p:spPr>
          <a:xfrm>
            <a:off x="3566160" y="3566160"/>
            <a:ext cx="3657600" cy="685800"/>
          </a:xfrm>
          <a:prstGeom prst="rect">
            <a:avLst/>
          </a:prstGeom>
          <a:noFill/>
        </p:spPr>
        <p:txBody>
          <a:bodyPr wrap="square">
            <a:spAutoFit/>
          </a:bodyPr>
          <a:lstStyle/>
          <a:p>
            <a:pPr algn="l"/>
            <a:r>
              <a:rPr sz="1600" b="0">
                <a:solidFill>
                  <a:srgbClr val="FFFFFF"/>
                </a:solidFill>
              </a:rPr>
              <a:t>使用（エネルギー依存）</a:t>
            </a:r>
          </a:p>
        </p:txBody>
      </p:sp>
      <p:sp>
        <p:nvSpPr>
          <p:cNvPr id="22" name="TextBox 21"/>
          <p:cNvSpPr txBox="1"/>
          <p:nvPr/>
        </p:nvSpPr>
        <p:spPr>
          <a:xfrm>
            <a:off x="7223760" y="3566160"/>
            <a:ext cx="3200400" cy="685800"/>
          </a:xfrm>
          <a:prstGeom prst="rect">
            <a:avLst/>
          </a:prstGeom>
          <a:noFill/>
        </p:spPr>
        <p:txBody>
          <a:bodyPr wrap="square">
            <a:spAutoFit/>
          </a:bodyPr>
          <a:lstStyle/>
          <a:p>
            <a:pPr algn="l"/>
            <a:r>
              <a:rPr sz="1600" b="0">
                <a:solidFill>
                  <a:srgbClr val="FFFFFF"/>
                </a:solidFill>
              </a:rPr>
              <a:t>未使用</a:t>
            </a:r>
          </a:p>
        </p:txBody>
      </p:sp>
      <p:sp>
        <p:nvSpPr>
          <p:cNvPr id="23" name="TextBox 22"/>
          <p:cNvSpPr txBox="1"/>
          <p:nvPr/>
        </p:nvSpPr>
        <p:spPr>
          <a:xfrm>
            <a:off x="10424160" y="3566160"/>
            <a:ext cx="1371600" cy="685800"/>
          </a:xfrm>
          <a:prstGeom prst="rect">
            <a:avLst/>
          </a:prstGeom>
          <a:noFill/>
        </p:spPr>
        <p:txBody>
          <a:bodyPr wrap="square">
            <a:spAutoFit/>
          </a:bodyPr>
          <a:lstStyle/>
          <a:p>
            <a:pPr algn="l"/>
            <a:r>
              <a:rPr sz="1600" b="1">
                <a:solidFill>
                  <a:srgbClr val="FF4444"/>
                </a:solidFill>
              </a:rPr>
              <a:t>大</a:t>
            </a:r>
          </a:p>
        </p:txBody>
      </p:sp>
      <p:sp>
        <p:nvSpPr>
          <p:cNvPr id="24" name="TextBox 23"/>
          <p:cNvSpPr txBox="1"/>
          <p:nvPr/>
        </p:nvSpPr>
        <p:spPr>
          <a:xfrm>
            <a:off x="365760" y="4343400"/>
            <a:ext cx="3200400" cy="685800"/>
          </a:xfrm>
          <a:prstGeom prst="rect">
            <a:avLst/>
          </a:prstGeom>
          <a:noFill/>
        </p:spPr>
        <p:txBody>
          <a:bodyPr wrap="square">
            <a:spAutoFit/>
          </a:bodyPr>
          <a:lstStyle/>
          <a:p>
            <a:pPr algn="l"/>
            <a:r>
              <a:rPr sz="1600" b="0">
                <a:solidFill>
                  <a:srgbClr val="FFFFFF"/>
                </a:solidFill>
              </a:rPr>
              <a:t>バブルTemplate</a:t>
            </a:r>
          </a:p>
        </p:txBody>
      </p:sp>
      <p:sp>
        <p:nvSpPr>
          <p:cNvPr id="25" name="TextBox 24"/>
          <p:cNvSpPr txBox="1"/>
          <p:nvPr/>
        </p:nvSpPr>
        <p:spPr>
          <a:xfrm>
            <a:off x="3566160" y="4343400"/>
            <a:ext cx="3657600" cy="685800"/>
          </a:xfrm>
          <a:prstGeom prst="rect">
            <a:avLst/>
          </a:prstGeom>
          <a:noFill/>
        </p:spPr>
        <p:txBody>
          <a:bodyPr wrap="square">
            <a:spAutoFit/>
          </a:bodyPr>
          <a:lstStyle/>
          <a:p>
            <a:pPr algn="l"/>
            <a:r>
              <a:rPr sz="1600" b="0">
                <a:solidFill>
                  <a:srgbClr val="FFFFFF"/>
                </a:solidFill>
              </a:rPr>
              <a:t>4.3 GeV残差マップから構築</a:t>
            </a:r>
          </a:p>
        </p:txBody>
      </p:sp>
      <p:sp>
        <p:nvSpPr>
          <p:cNvPr id="26" name="TextBox 25"/>
          <p:cNvSpPr txBox="1"/>
          <p:nvPr/>
        </p:nvSpPr>
        <p:spPr>
          <a:xfrm>
            <a:off x="7223760" y="4343400"/>
            <a:ext cx="3200400" cy="685800"/>
          </a:xfrm>
          <a:prstGeom prst="rect">
            <a:avLst/>
          </a:prstGeom>
          <a:noFill/>
        </p:spPr>
        <p:txBody>
          <a:bodyPr wrap="square">
            <a:spAutoFit/>
          </a:bodyPr>
          <a:lstStyle/>
          <a:p>
            <a:pPr algn="l"/>
            <a:r>
              <a:rPr sz="1600" b="0">
                <a:solidFill>
                  <a:srgbClr val="FFFFFF"/>
                </a:solidFill>
              </a:rPr>
              <a:t>幾何テンプレート</a:t>
            </a:r>
          </a:p>
        </p:txBody>
      </p:sp>
      <p:sp>
        <p:nvSpPr>
          <p:cNvPr id="27" name="TextBox 26"/>
          <p:cNvSpPr txBox="1"/>
          <p:nvPr/>
        </p:nvSpPr>
        <p:spPr>
          <a:xfrm>
            <a:off x="10424160" y="4343400"/>
            <a:ext cx="1371600" cy="685800"/>
          </a:xfrm>
          <a:prstGeom prst="rect">
            <a:avLst/>
          </a:prstGeom>
          <a:noFill/>
        </p:spPr>
        <p:txBody>
          <a:bodyPr wrap="square">
            <a:spAutoFit/>
          </a:bodyPr>
          <a:lstStyle/>
          <a:p>
            <a:pPr algn="l"/>
            <a:r>
              <a:rPr sz="1600" b="1">
                <a:solidFill>
                  <a:srgbClr val="FFCC00"/>
                </a:solidFill>
              </a:rPr>
              <a:t>中</a:t>
            </a:r>
          </a:p>
        </p:txBody>
      </p:sp>
      <p:sp>
        <p:nvSpPr>
          <p:cNvPr id="28" name="TextBox 27"/>
          <p:cNvSpPr txBox="1"/>
          <p:nvPr/>
        </p:nvSpPr>
        <p:spPr>
          <a:xfrm>
            <a:off x="365760" y="5120640"/>
            <a:ext cx="3200400" cy="685800"/>
          </a:xfrm>
          <a:prstGeom prst="rect">
            <a:avLst/>
          </a:prstGeom>
          <a:noFill/>
        </p:spPr>
        <p:txBody>
          <a:bodyPr wrap="square">
            <a:spAutoFit/>
          </a:bodyPr>
          <a:lstStyle/>
          <a:p>
            <a:pPr algn="l"/>
            <a:r>
              <a:rPr sz="1600" b="0">
                <a:solidFill>
                  <a:srgbClr val="FFFFFF"/>
                </a:solidFill>
              </a:rPr>
              <a:t>ループI</a:t>
            </a:r>
          </a:p>
        </p:txBody>
      </p:sp>
      <p:sp>
        <p:nvSpPr>
          <p:cNvPr id="29" name="TextBox 28"/>
          <p:cNvSpPr txBox="1"/>
          <p:nvPr/>
        </p:nvSpPr>
        <p:spPr>
          <a:xfrm>
            <a:off x="3566160" y="5120640"/>
            <a:ext cx="3657600" cy="685800"/>
          </a:xfrm>
          <a:prstGeom prst="rect">
            <a:avLst/>
          </a:prstGeom>
          <a:noFill/>
        </p:spPr>
        <p:txBody>
          <a:bodyPr wrap="square">
            <a:spAutoFit/>
          </a:bodyPr>
          <a:lstStyle/>
          <a:p>
            <a:pPr algn="l"/>
            <a:r>
              <a:rPr sz="1600" b="0">
                <a:solidFill>
                  <a:srgbClr val="FFFFFF"/>
                </a:solidFill>
              </a:rPr>
              <a:t>2成分独立フィット</a:t>
            </a:r>
          </a:p>
        </p:txBody>
      </p:sp>
      <p:sp>
        <p:nvSpPr>
          <p:cNvPr id="30" name="TextBox 29"/>
          <p:cNvSpPr txBox="1"/>
          <p:nvPr/>
        </p:nvSpPr>
        <p:spPr>
          <a:xfrm>
            <a:off x="7223760" y="5120640"/>
            <a:ext cx="3200400" cy="685800"/>
          </a:xfrm>
          <a:prstGeom prst="rect">
            <a:avLst/>
          </a:prstGeom>
          <a:noFill/>
        </p:spPr>
        <p:txBody>
          <a:bodyPr wrap="square">
            <a:spAutoFit/>
          </a:bodyPr>
          <a:lstStyle/>
          <a:p>
            <a:pPr algn="l"/>
            <a:r>
              <a:rPr sz="1600" b="0">
                <a:solidFill>
                  <a:srgbClr val="FFFFFF"/>
                </a:solidFill>
              </a:rPr>
              <a:t>幾何弧テンプレート平均</a:t>
            </a:r>
          </a:p>
        </p:txBody>
      </p:sp>
      <p:sp>
        <p:nvSpPr>
          <p:cNvPr id="31" name="TextBox 30"/>
          <p:cNvSpPr txBox="1"/>
          <p:nvPr/>
        </p:nvSpPr>
        <p:spPr>
          <a:xfrm>
            <a:off x="10424160" y="5120640"/>
            <a:ext cx="1371600" cy="685800"/>
          </a:xfrm>
          <a:prstGeom prst="rect">
            <a:avLst/>
          </a:prstGeom>
          <a:noFill/>
        </p:spPr>
        <p:txBody>
          <a:bodyPr wrap="square">
            <a:spAutoFit/>
          </a:bodyPr>
          <a:lstStyle/>
          <a:p>
            <a:pPr algn="l"/>
            <a:r>
              <a:rPr sz="1600" b="1">
                <a:solidFill>
                  <a:srgbClr val="FFCC00"/>
                </a:solidFill>
              </a:rPr>
              <a:t>中</a:t>
            </a:r>
          </a:p>
        </p:txBody>
      </p:sp>
      <p:sp>
        <p:nvSpPr>
          <p:cNvPr id="32" name="TextBox 31"/>
          <p:cNvSpPr txBox="1"/>
          <p:nvPr/>
        </p:nvSpPr>
        <p:spPr>
          <a:xfrm>
            <a:off x="365760" y="6126480"/>
            <a:ext cx="11430000" cy="640080"/>
          </a:xfrm>
          <a:prstGeom prst="rect">
            <a:avLst/>
          </a:prstGeom>
          <a:noFill/>
        </p:spPr>
        <p:txBody>
          <a:bodyPr wrap="square">
            <a:spAutoFit/>
          </a:bodyPr>
          <a:lstStyle/>
          <a:p>
            <a:pPr algn="l"/>
            <a:r>
              <a:rPr sz="1600" b="0">
                <a:solidFill>
                  <a:srgbClr val="AAAAAA"/>
                </a:solidFill>
              </a:rPr>
              <a:t>卒論での言い方：「Totani (2025) の手法を参考に教育的再現として近似実装した。
主な差異はMCMCの代わりに最小二乗法を用いた点と露出マップを省略した点である。」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361</TotalTime>
  <Words>4497</Words>
  <Application>Microsoft Office PowerPoint</Application>
  <PresentationFormat>Custom</PresentationFormat>
  <Paragraphs>396</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中村惺一</dc:creator>
  <cp:keywords/>
  <dc:description>generated using python-pptx</dc:description>
  <cp:lastModifiedBy>202304239</cp:lastModifiedBy>
  <cp:revision>3</cp:revision>
  <dcterms:created xsi:type="dcterms:W3CDTF">2013-01-27T09:14:16Z</dcterms:created>
  <dcterms:modified xsi:type="dcterms:W3CDTF">2026-05-22T06:27:54Z</dcterms:modified>
  <cp:category/>
</cp:coreProperties>
</file>