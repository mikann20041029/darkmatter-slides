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5"/>
    <p:sldId id="258" r:id="rId3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5" autoAdjust="0"/>
    <p:restoredTop sz="94660"/>
  </p:normalViewPr>
  <p:slideViewPr>
    <p:cSldViewPr snapToGrid="0" showGuides="1">
      <p:cViewPr varScale="1">
        <p:scale>
          <a:sx n="47" d="100"/>
          <a:sy n="47" d="100"/>
        </p:scale>
        <p:origin x="62" y="110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σ_L：解析が仮定する幅（狭い）</c:v>
                </c:pt>
              </c:strCache>
            </c:strRef>
          </c:tx>
          <c:spPr>
            <a:ln w="38100">
              <a:solidFill>
                <a:srgbClr val="C2410C"/>
              </a:solidFill>
            </a:ln>
          </c:spPr>
          <c:marker>
            <c:symbol val="none"/>
          </c:marker>
          <c:xVal>
            <c:numRef>
              <c:f>Sheet1!$A$2:$A$122</c:f>
              <c:numCache>
                <c:formatCode>General</c:formatCode>
                <c:ptCount val="121"/>
                <c:pt idx="0">
                  <c:v>-3.0</c:v>
                </c:pt>
                <c:pt idx="1">
                  <c:v>-2.95</c:v>
                </c:pt>
                <c:pt idx="2">
                  <c:v>-2.9</c:v>
                </c:pt>
                <c:pt idx="3">
                  <c:v>-2.85</c:v>
                </c:pt>
                <c:pt idx="4">
                  <c:v>-2.8</c:v>
                </c:pt>
                <c:pt idx="5">
                  <c:v>-2.75</c:v>
                </c:pt>
                <c:pt idx="6">
                  <c:v>-2.7</c:v>
                </c:pt>
                <c:pt idx="7">
                  <c:v>-2.65</c:v>
                </c:pt>
                <c:pt idx="8">
                  <c:v>-2.6</c:v>
                </c:pt>
                <c:pt idx="9">
                  <c:v>-2.55</c:v>
                </c:pt>
                <c:pt idx="10">
                  <c:v>-2.5</c:v>
                </c:pt>
                <c:pt idx="11">
                  <c:v>-2.45</c:v>
                </c:pt>
                <c:pt idx="12">
                  <c:v>-2.4</c:v>
                </c:pt>
                <c:pt idx="13">
                  <c:v>-2.35</c:v>
                </c:pt>
                <c:pt idx="14">
                  <c:v>-2.3</c:v>
                </c:pt>
                <c:pt idx="15">
                  <c:v>-2.25</c:v>
                </c:pt>
                <c:pt idx="16">
                  <c:v>-2.2</c:v>
                </c:pt>
                <c:pt idx="17">
                  <c:v>-2.15</c:v>
                </c:pt>
                <c:pt idx="18">
                  <c:v>-2.1</c:v>
                </c:pt>
                <c:pt idx="19">
                  <c:v>-2.05</c:v>
                </c:pt>
                <c:pt idx="20">
                  <c:v>-2.0</c:v>
                </c:pt>
                <c:pt idx="21">
                  <c:v>-1.95</c:v>
                </c:pt>
                <c:pt idx="22">
                  <c:v>-1.9</c:v>
                </c:pt>
                <c:pt idx="23">
                  <c:v>-1.85</c:v>
                </c:pt>
                <c:pt idx="24">
                  <c:v>-1.8</c:v>
                </c:pt>
                <c:pt idx="25">
                  <c:v>-1.75</c:v>
                </c:pt>
                <c:pt idx="26">
                  <c:v>-1.7</c:v>
                </c:pt>
                <c:pt idx="27">
                  <c:v>-1.65</c:v>
                </c:pt>
                <c:pt idx="28">
                  <c:v>-1.6</c:v>
                </c:pt>
                <c:pt idx="29">
                  <c:v>-1.55</c:v>
                </c:pt>
                <c:pt idx="30">
                  <c:v>-1.5</c:v>
                </c:pt>
                <c:pt idx="31">
                  <c:v>-1.45</c:v>
                </c:pt>
                <c:pt idx="32">
                  <c:v>-1.4</c:v>
                </c:pt>
                <c:pt idx="33">
                  <c:v>-1.35</c:v>
                </c:pt>
                <c:pt idx="34">
                  <c:v>-1.3</c:v>
                </c:pt>
                <c:pt idx="35">
                  <c:v>-1.25</c:v>
                </c:pt>
                <c:pt idx="36">
                  <c:v>-1.2</c:v>
                </c:pt>
                <c:pt idx="37">
                  <c:v>-1.15</c:v>
                </c:pt>
                <c:pt idx="38">
                  <c:v>-1.1</c:v>
                </c:pt>
                <c:pt idx="39">
                  <c:v>-1.05</c:v>
                </c:pt>
                <c:pt idx="40">
                  <c:v>-1.0</c:v>
                </c:pt>
                <c:pt idx="41">
                  <c:v>-0.95</c:v>
                </c:pt>
                <c:pt idx="42">
                  <c:v>-0.9</c:v>
                </c:pt>
                <c:pt idx="43">
                  <c:v>-0.85</c:v>
                </c:pt>
                <c:pt idx="44">
                  <c:v>-0.8</c:v>
                </c:pt>
                <c:pt idx="45">
                  <c:v>-0.75</c:v>
                </c:pt>
                <c:pt idx="46">
                  <c:v>-0.7</c:v>
                </c:pt>
                <c:pt idx="47">
                  <c:v>-0.65</c:v>
                </c:pt>
                <c:pt idx="48">
                  <c:v>-0.6</c:v>
                </c:pt>
                <c:pt idx="49">
                  <c:v>-0.55</c:v>
                </c:pt>
                <c:pt idx="50">
                  <c:v>-0.5</c:v>
                </c:pt>
                <c:pt idx="51">
                  <c:v>-0.45</c:v>
                </c:pt>
                <c:pt idx="52">
                  <c:v>-0.4</c:v>
                </c:pt>
                <c:pt idx="53">
                  <c:v>-0.35</c:v>
                </c:pt>
                <c:pt idx="54">
                  <c:v>-0.3</c:v>
                </c:pt>
                <c:pt idx="55">
                  <c:v>-0.25</c:v>
                </c:pt>
                <c:pt idx="56">
                  <c:v>-0.2</c:v>
                </c:pt>
                <c:pt idx="57">
                  <c:v>-0.15</c:v>
                </c:pt>
                <c:pt idx="58">
                  <c:v>-0.1</c:v>
                </c:pt>
                <c:pt idx="59">
                  <c:v>-0.05</c:v>
                </c:pt>
                <c:pt idx="60">
                  <c:v>0.0</c:v>
                </c:pt>
                <c:pt idx="61">
                  <c:v>0.05</c:v>
                </c:pt>
                <c:pt idx="62">
                  <c:v>0.1</c:v>
                </c:pt>
                <c:pt idx="63">
                  <c:v>0.15</c:v>
                </c:pt>
                <c:pt idx="64">
                  <c:v>0.2</c:v>
                </c:pt>
                <c:pt idx="65">
                  <c:v>0.25</c:v>
                </c:pt>
                <c:pt idx="66">
                  <c:v>0.3</c:v>
                </c:pt>
                <c:pt idx="67">
                  <c:v>0.35</c:v>
                </c:pt>
                <c:pt idx="68">
                  <c:v>0.4</c:v>
                </c:pt>
                <c:pt idx="69">
                  <c:v>0.45</c:v>
                </c:pt>
                <c:pt idx="70">
                  <c:v>0.5</c:v>
                </c:pt>
                <c:pt idx="71">
                  <c:v>0.55</c:v>
                </c:pt>
                <c:pt idx="72">
                  <c:v>0.6</c:v>
                </c:pt>
                <c:pt idx="73">
                  <c:v>0.65</c:v>
                </c:pt>
                <c:pt idx="74">
                  <c:v>0.7</c:v>
                </c:pt>
                <c:pt idx="75">
                  <c:v>0.75</c:v>
                </c:pt>
                <c:pt idx="76">
                  <c:v>0.8</c:v>
                </c:pt>
                <c:pt idx="77">
                  <c:v>0.85</c:v>
                </c:pt>
                <c:pt idx="78">
                  <c:v>0.9</c:v>
                </c:pt>
                <c:pt idx="79">
                  <c:v>0.95</c:v>
                </c:pt>
                <c:pt idx="80">
                  <c:v>1.0</c:v>
                </c:pt>
                <c:pt idx="81">
                  <c:v>1.05</c:v>
                </c:pt>
                <c:pt idx="82">
                  <c:v>1.1</c:v>
                </c:pt>
                <c:pt idx="83">
                  <c:v>1.15</c:v>
                </c:pt>
                <c:pt idx="84">
                  <c:v>1.2</c:v>
                </c:pt>
                <c:pt idx="85">
                  <c:v>1.25</c:v>
                </c:pt>
                <c:pt idx="86">
                  <c:v>1.3</c:v>
                </c:pt>
                <c:pt idx="87">
                  <c:v>1.35</c:v>
                </c:pt>
                <c:pt idx="88">
                  <c:v>1.4</c:v>
                </c:pt>
                <c:pt idx="89">
                  <c:v>1.45</c:v>
                </c:pt>
                <c:pt idx="90">
                  <c:v>1.5</c:v>
                </c:pt>
                <c:pt idx="91">
                  <c:v>1.55</c:v>
                </c:pt>
                <c:pt idx="92">
                  <c:v>1.6</c:v>
                </c:pt>
                <c:pt idx="93">
                  <c:v>1.65</c:v>
                </c:pt>
                <c:pt idx="94">
                  <c:v>1.7</c:v>
                </c:pt>
                <c:pt idx="95">
                  <c:v>1.75</c:v>
                </c:pt>
                <c:pt idx="96">
                  <c:v>1.8</c:v>
                </c:pt>
                <c:pt idx="97">
                  <c:v>1.85</c:v>
                </c:pt>
                <c:pt idx="98">
                  <c:v>1.9</c:v>
                </c:pt>
                <c:pt idx="99">
                  <c:v>1.95</c:v>
                </c:pt>
                <c:pt idx="100">
                  <c:v>2.0</c:v>
                </c:pt>
                <c:pt idx="101">
                  <c:v>2.05</c:v>
                </c:pt>
                <c:pt idx="102">
                  <c:v>2.1</c:v>
                </c:pt>
                <c:pt idx="103">
                  <c:v>2.15</c:v>
                </c:pt>
                <c:pt idx="104">
                  <c:v>2.2</c:v>
                </c:pt>
                <c:pt idx="105">
                  <c:v>2.25</c:v>
                </c:pt>
                <c:pt idx="106">
                  <c:v>2.3</c:v>
                </c:pt>
                <c:pt idx="107">
                  <c:v>2.35</c:v>
                </c:pt>
                <c:pt idx="108">
                  <c:v>2.4</c:v>
                </c:pt>
                <c:pt idx="109">
                  <c:v>2.45</c:v>
                </c:pt>
                <c:pt idx="110">
                  <c:v>2.5</c:v>
                </c:pt>
                <c:pt idx="111">
                  <c:v>2.55</c:v>
                </c:pt>
                <c:pt idx="112">
                  <c:v>2.6</c:v>
                </c:pt>
                <c:pt idx="113">
                  <c:v>2.65</c:v>
                </c:pt>
                <c:pt idx="114">
                  <c:v>2.7</c:v>
                </c:pt>
                <c:pt idx="115">
                  <c:v>2.75</c:v>
                </c:pt>
                <c:pt idx="116">
                  <c:v>2.8</c:v>
                </c:pt>
                <c:pt idx="117">
                  <c:v>2.85</c:v>
                </c:pt>
                <c:pt idx="118">
                  <c:v>2.9</c:v>
                </c:pt>
                <c:pt idx="119">
                  <c:v>2.95</c:v>
                </c:pt>
                <c:pt idx="120">
                  <c:v>3.0</c:v>
                </c:pt>
              </c:numCache>
            </c:numRef>
          </c:xVal>
          <c:yVal>
            <c:numRef>
              <c:f>Sheet1!$B$2:$B$122</c:f>
              <c:numCache>
                <c:formatCode>General</c:formatCode>
                <c:ptCount val="121"/>
                <c:pt idx="0">
                  <c:v>2.4778658578904965e-06</c:v>
                </c:pt>
                <c:pt idx="1">
                  <c:v>3.7456384870450043e-06</c:v>
                </c:pt>
                <c:pt idx="2">
                  <c:v>5.622869343578017e-06</c:v>
                </c:pt>
                <c:pt idx="3">
                  <c:v>8.382512147654063e-06</c:v>
                </c:pt>
                <c:pt idx="4">
                  <c:v>1.2410076451050028e-05</c:v>
                </c:pt>
                <c:pt idx="5">
                  <c:v>1.8245626843558894e-05</c:v>
                </c:pt>
                <c:pt idx="6">
                  <c:v>2.663956851150908e-05</c:v>
                </c:pt>
                <c:pt idx="7">
                  <c:v>3.862599233092285e-05</c:v>
                </c:pt>
                <c:pt idx="8">
                  <c:v>5.561810399273051e-05</c:v>
                </c:pt>
                <c:pt idx="9">
                  <c:v>7.953106090200826e-05</c:v>
                </c:pt>
                <c:pt idx="10">
                  <c:v>0.00011293834981469628</c:v>
                </c:pt>
                <c:pt idx="11">
                  <c:v>0.0001592686012502317</c:v>
                </c:pt>
                <c:pt idx="12">
                  <c:v>0.00022305037627480895</c:v>
                </c:pt>
                <c:pt idx="13">
                  <c:v>0.00031021287632623974</c:v>
                </c:pt>
                <c:pt idx="14">
                  <c:v>0.00042845059177051137</c:v>
                </c:pt>
                <c:pt idx="15">
                  <c:v>0.0005876594706124091</c:v>
                </c:pt>
                <c:pt idx="16">
                  <c:v>0.0008004510860346997</c:v>
                </c:pt>
                <c:pt idx="17">
                  <c:v>0.001082749328199274</c:v>
                </c:pt>
                <c:pt idx="18">
                  <c:v>0.0014544711584096003</c:v>
                </c:pt>
                <c:pt idx="19">
                  <c:v>0.001940288772860641</c:v>
                </c:pt>
                <c:pt idx="20">
                  <c:v>0.002570464993818511</c:v>
                </c:pt>
                <c:pt idx="21">
                  <c:v>0.0033817467621662803</c:v>
                </c:pt>
                <c:pt idx="22">
                  <c:v>0.004418293257383505</c:v>
                </c:pt>
                <c:pt idx="23">
                  <c:v>0.005732605545304156</c:v>
                </c:pt>
                <c:pt idx="24">
                  <c:v>0.007386414019896674</c:v>
                </c:pt>
                <c:pt idx="25">
                  <c:v>0.009451468699076477</c:v>
                </c:pt>
                <c:pt idx="26">
                  <c:v>0.012010166274348715</c:v>
                </c:pt>
                <c:pt idx="27">
                  <c:v>0.015155937502651762</c:v>
                </c:pt>
                <c:pt idx="28">
                  <c:v>0.018993310039662387</c:v>
                </c:pt>
                <c:pt idx="29">
                  <c:v>0.023637556257395494</c:v>
                </c:pt>
                <c:pt idx="30">
                  <c:v>0.02921383415594757</c:v>
                </c:pt>
                <c:pt idx="31">
                  <c:v>0.03585573336128942</c:v>
                </c:pt>
                <c:pt idx="32">
                  <c:v>0.04370314848951584</c:v>
                </c:pt>
                <c:pt idx="33">
                  <c:v>0.05289941972611234</c:v>
                </c:pt>
                <c:pt idx="34">
                  <c:v>0.06358770584402991</c:v>
                </c:pt>
                <c:pt idx="35">
                  <c:v>0.07590658812150933</c:v>
                </c:pt>
                <c:pt idx="36">
                  <c:v>0.08998494418864678</c:v>
                </c:pt>
                <c:pt idx="37">
                  <c:v>0.10593617752827061</c:v>
                </c:pt>
                <c:pt idx="38">
                  <c:v>0.12385193926498846</c:v>
                </c:pt>
                <c:pt idx="39">
                  <c:v>0.14379553137751921</c:v>
                </c:pt>
                <c:pt idx="40">
                  <c:v>0.16579523132124785</c:v>
                </c:pt>
                <c:pt idx="41">
                  <c:v>0.18983782353365308</c:v>
                </c:pt>
                <c:pt idx="42">
                  <c:v>0.2158626594431529</c:v>
                </c:pt>
                <c:pt idx="43">
                  <c:v>0.2437565904658929</c:v>
                </c:pt>
                <c:pt idx="44">
                  <c:v>0.27335012445998935</c:v>
                </c:pt>
                <c:pt idx="45">
                  <c:v>0.3044151423150366</c:v>
                </c:pt>
                <c:pt idx="46">
                  <c:v>0.33666447592343157</c:v>
                </c:pt>
                <c:pt idx="47">
                  <c:v>0.3697535911762266</c:v>
                </c:pt>
                <c:pt idx="48">
                  <c:v>0.40328454086523896</c:v>
                </c:pt>
                <c:pt idx="49">
                  <c:v>0.4368122551305023</c:v>
                </c:pt>
                <c:pt idx="50">
                  <c:v>0.46985312568383764</c:v>
                </c:pt>
                <c:pt idx="51">
                  <c:v>0.5018957202580074</c:v>
                </c:pt>
                <c:pt idx="52">
                  <c:v>0.5324133425372538</c:v>
                </c:pt>
                <c:pt idx="53">
                  <c:v>0.5608780379082554</c:v>
                </c:pt>
                <c:pt idx="54">
                  <c:v>0.5867755446071659</c:v>
                </c:pt>
                <c:pt idx="55">
                  <c:v>0.6096206106900041</c:v>
                </c:pt>
                <c:pt idx="56">
                  <c:v>0.6289720461549887</c:v>
                </c:pt>
                <c:pt idx="57">
                  <c:v>0.6444468613380822</c:v>
                </c:pt>
                <c:pt idx="58">
                  <c:v>0.6557328601699</c:v>
                </c:pt>
                <c:pt idx="59">
                  <c:v>0.66259911043057</c:v>
                </c:pt>
                <c:pt idx="60">
                  <c:v>0.6649038006690545</c:v>
                </c:pt>
                <c:pt idx="61">
                  <c:v>0.66259911043057</c:v>
                </c:pt>
                <c:pt idx="62">
                  <c:v>0.6557328601699</c:v>
                </c:pt>
                <c:pt idx="63">
                  <c:v>0.6444468613380822</c:v>
                </c:pt>
                <c:pt idx="64">
                  <c:v>0.6289720461549887</c:v>
                </c:pt>
                <c:pt idx="65">
                  <c:v>0.6096206106900041</c:v>
                </c:pt>
                <c:pt idx="66">
                  <c:v>0.5867755446071659</c:v>
                </c:pt>
                <c:pt idx="67">
                  <c:v>0.5608780379082554</c:v>
                </c:pt>
                <c:pt idx="68">
                  <c:v>0.5324133425372538</c:v>
                </c:pt>
                <c:pt idx="69">
                  <c:v>0.5018957202580074</c:v>
                </c:pt>
                <c:pt idx="70">
                  <c:v>0.46985312568383764</c:v>
                </c:pt>
                <c:pt idx="71">
                  <c:v>0.4368122551305023</c:v>
                </c:pt>
                <c:pt idx="72">
                  <c:v>0.40328454086523896</c:v>
                </c:pt>
                <c:pt idx="73">
                  <c:v>0.3697535911762266</c:v>
                </c:pt>
                <c:pt idx="74">
                  <c:v>0.33666447592343157</c:v>
                </c:pt>
                <c:pt idx="75">
                  <c:v>0.3044151423150366</c:v>
                </c:pt>
                <c:pt idx="76">
                  <c:v>0.27335012445998935</c:v>
                </c:pt>
                <c:pt idx="77">
                  <c:v>0.2437565904658929</c:v>
                </c:pt>
                <c:pt idx="78">
                  <c:v>0.2158626594431529</c:v>
                </c:pt>
                <c:pt idx="79">
                  <c:v>0.18983782353365308</c:v>
                </c:pt>
                <c:pt idx="80">
                  <c:v>0.16579523132124785</c:v>
                </c:pt>
                <c:pt idx="81">
                  <c:v>0.14379553137751921</c:v>
                </c:pt>
                <c:pt idx="82">
                  <c:v>0.12385193926498846</c:v>
                </c:pt>
                <c:pt idx="83">
                  <c:v>0.10593617752827061</c:v>
                </c:pt>
                <c:pt idx="84">
                  <c:v>0.08998494418864678</c:v>
                </c:pt>
                <c:pt idx="85">
                  <c:v>0.07590658812150933</c:v>
                </c:pt>
                <c:pt idx="86">
                  <c:v>0.06358770584402991</c:v>
                </c:pt>
                <c:pt idx="87">
                  <c:v>0.05289941972611234</c:v>
                </c:pt>
                <c:pt idx="88">
                  <c:v>0.04370314848951584</c:v>
                </c:pt>
                <c:pt idx="89">
                  <c:v>0.03585573336128942</c:v>
                </c:pt>
                <c:pt idx="90">
                  <c:v>0.02921383415594757</c:v>
                </c:pt>
                <c:pt idx="91">
                  <c:v>0.023637556257395494</c:v>
                </c:pt>
                <c:pt idx="92">
                  <c:v>0.018993310039662387</c:v>
                </c:pt>
                <c:pt idx="93">
                  <c:v>0.015155937502651762</c:v>
                </c:pt>
                <c:pt idx="94">
                  <c:v>0.012010166274348715</c:v>
                </c:pt>
                <c:pt idx="95">
                  <c:v>0.009451468699076477</c:v>
                </c:pt>
                <c:pt idx="96">
                  <c:v>0.007386414019896674</c:v>
                </c:pt>
                <c:pt idx="97">
                  <c:v>0.005732605545304156</c:v>
                </c:pt>
                <c:pt idx="98">
                  <c:v>0.004418293257383505</c:v>
                </c:pt>
                <c:pt idx="99">
                  <c:v>0.0033817467621662803</c:v>
                </c:pt>
                <c:pt idx="100">
                  <c:v>0.002570464993818511</c:v>
                </c:pt>
                <c:pt idx="101">
                  <c:v>0.001940288772860641</c:v>
                </c:pt>
                <c:pt idx="102">
                  <c:v>0.0014544711584096003</c:v>
                </c:pt>
                <c:pt idx="103">
                  <c:v>0.001082749328199274</c:v>
                </c:pt>
                <c:pt idx="104">
                  <c:v>0.0008004510860346997</c:v>
                </c:pt>
                <c:pt idx="105">
                  <c:v>0.0005876594706124091</c:v>
                </c:pt>
                <c:pt idx="106">
                  <c:v>0.00042845059177051137</c:v>
                </c:pt>
                <c:pt idx="107">
                  <c:v>0.00031021287632623974</c:v>
                </c:pt>
                <c:pt idx="108">
                  <c:v>0.00022305037627480895</c:v>
                </c:pt>
                <c:pt idx="109">
                  <c:v>0.0001592686012502317</c:v>
                </c:pt>
                <c:pt idx="110">
                  <c:v>0.00011293834981469628</c:v>
                </c:pt>
                <c:pt idx="111">
                  <c:v>7.953106090200826e-05</c:v>
                </c:pt>
                <c:pt idx="112">
                  <c:v>5.561810399273051e-05</c:v>
                </c:pt>
                <c:pt idx="113">
                  <c:v>3.862599233092285e-05</c:v>
                </c:pt>
                <c:pt idx="114">
                  <c:v>2.663956851150908e-05</c:v>
                </c:pt>
                <c:pt idx="115">
                  <c:v>1.8245626843558894e-05</c:v>
                </c:pt>
                <c:pt idx="116">
                  <c:v>1.2410076451050028e-05</c:v>
                </c:pt>
                <c:pt idx="117">
                  <c:v>8.382512147654063e-06</c:v>
                </c:pt>
                <c:pt idx="118">
                  <c:v>5.622869343578017e-06</c:v>
                </c:pt>
                <c:pt idx="119">
                  <c:v>3.7456384870450043e-06</c:v>
                </c:pt>
                <c:pt idx="120">
                  <c:v>2.4778658578904965e-06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Sheet1!$B$124</c:f>
              <c:strCache>
                <c:ptCount val="1"/>
                <c:pt idx="0">
                  <c:v>σ：本当のばらつき（広い）</c:v>
                </c:pt>
              </c:strCache>
            </c:strRef>
          </c:tx>
          <c:spPr>
            <a:ln w="38100">
              <a:solidFill>
                <a:srgbClr val="0B7285"/>
              </a:solidFill>
            </a:ln>
          </c:spPr>
          <c:marker>
            <c:symbol val="none"/>
          </c:marker>
          <c:xVal>
            <c:numRef>
              <c:f>Sheet1!$A$125:$A$245</c:f>
              <c:numCache>
                <c:formatCode>General</c:formatCode>
                <c:ptCount val="121"/>
                <c:pt idx="0">
                  <c:v>-3.0</c:v>
                </c:pt>
                <c:pt idx="1">
                  <c:v>-2.95</c:v>
                </c:pt>
                <c:pt idx="2">
                  <c:v>-2.9</c:v>
                </c:pt>
                <c:pt idx="3">
                  <c:v>-2.85</c:v>
                </c:pt>
                <c:pt idx="4">
                  <c:v>-2.8</c:v>
                </c:pt>
                <c:pt idx="5">
                  <c:v>-2.75</c:v>
                </c:pt>
                <c:pt idx="6">
                  <c:v>-2.7</c:v>
                </c:pt>
                <c:pt idx="7">
                  <c:v>-2.65</c:v>
                </c:pt>
                <c:pt idx="8">
                  <c:v>-2.6</c:v>
                </c:pt>
                <c:pt idx="9">
                  <c:v>-2.55</c:v>
                </c:pt>
                <c:pt idx="10">
                  <c:v>-2.5</c:v>
                </c:pt>
                <c:pt idx="11">
                  <c:v>-2.45</c:v>
                </c:pt>
                <c:pt idx="12">
                  <c:v>-2.4</c:v>
                </c:pt>
                <c:pt idx="13">
                  <c:v>-2.35</c:v>
                </c:pt>
                <c:pt idx="14">
                  <c:v>-2.3</c:v>
                </c:pt>
                <c:pt idx="15">
                  <c:v>-2.25</c:v>
                </c:pt>
                <c:pt idx="16">
                  <c:v>-2.2</c:v>
                </c:pt>
                <c:pt idx="17">
                  <c:v>-2.15</c:v>
                </c:pt>
                <c:pt idx="18">
                  <c:v>-2.1</c:v>
                </c:pt>
                <c:pt idx="19">
                  <c:v>-2.05</c:v>
                </c:pt>
                <c:pt idx="20">
                  <c:v>-2.0</c:v>
                </c:pt>
                <c:pt idx="21">
                  <c:v>-1.95</c:v>
                </c:pt>
                <c:pt idx="22">
                  <c:v>-1.9</c:v>
                </c:pt>
                <c:pt idx="23">
                  <c:v>-1.85</c:v>
                </c:pt>
                <c:pt idx="24">
                  <c:v>-1.8</c:v>
                </c:pt>
                <c:pt idx="25">
                  <c:v>-1.75</c:v>
                </c:pt>
                <c:pt idx="26">
                  <c:v>-1.7</c:v>
                </c:pt>
                <c:pt idx="27">
                  <c:v>-1.65</c:v>
                </c:pt>
                <c:pt idx="28">
                  <c:v>-1.6</c:v>
                </c:pt>
                <c:pt idx="29">
                  <c:v>-1.55</c:v>
                </c:pt>
                <c:pt idx="30">
                  <c:v>-1.5</c:v>
                </c:pt>
                <c:pt idx="31">
                  <c:v>-1.45</c:v>
                </c:pt>
                <c:pt idx="32">
                  <c:v>-1.4</c:v>
                </c:pt>
                <c:pt idx="33">
                  <c:v>-1.35</c:v>
                </c:pt>
                <c:pt idx="34">
                  <c:v>-1.3</c:v>
                </c:pt>
                <c:pt idx="35">
                  <c:v>-1.25</c:v>
                </c:pt>
                <c:pt idx="36">
                  <c:v>-1.2</c:v>
                </c:pt>
                <c:pt idx="37">
                  <c:v>-1.15</c:v>
                </c:pt>
                <c:pt idx="38">
                  <c:v>-1.1</c:v>
                </c:pt>
                <c:pt idx="39">
                  <c:v>-1.05</c:v>
                </c:pt>
                <c:pt idx="40">
                  <c:v>-1.0</c:v>
                </c:pt>
                <c:pt idx="41">
                  <c:v>-0.95</c:v>
                </c:pt>
                <c:pt idx="42">
                  <c:v>-0.9</c:v>
                </c:pt>
                <c:pt idx="43">
                  <c:v>-0.85</c:v>
                </c:pt>
                <c:pt idx="44">
                  <c:v>-0.8</c:v>
                </c:pt>
                <c:pt idx="45">
                  <c:v>-0.75</c:v>
                </c:pt>
                <c:pt idx="46">
                  <c:v>-0.7</c:v>
                </c:pt>
                <c:pt idx="47">
                  <c:v>-0.65</c:v>
                </c:pt>
                <c:pt idx="48">
                  <c:v>-0.6</c:v>
                </c:pt>
                <c:pt idx="49">
                  <c:v>-0.55</c:v>
                </c:pt>
                <c:pt idx="50">
                  <c:v>-0.5</c:v>
                </c:pt>
                <c:pt idx="51">
                  <c:v>-0.45</c:v>
                </c:pt>
                <c:pt idx="52">
                  <c:v>-0.4</c:v>
                </c:pt>
                <c:pt idx="53">
                  <c:v>-0.35</c:v>
                </c:pt>
                <c:pt idx="54">
                  <c:v>-0.3</c:v>
                </c:pt>
                <c:pt idx="55">
                  <c:v>-0.25</c:v>
                </c:pt>
                <c:pt idx="56">
                  <c:v>-0.2</c:v>
                </c:pt>
                <c:pt idx="57">
                  <c:v>-0.15</c:v>
                </c:pt>
                <c:pt idx="58">
                  <c:v>-0.1</c:v>
                </c:pt>
                <c:pt idx="59">
                  <c:v>-0.05</c:v>
                </c:pt>
                <c:pt idx="60">
                  <c:v>0.0</c:v>
                </c:pt>
                <c:pt idx="61">
                  <c:v>0.05</c:v>
                </c:pt>
                <c:pt idx="62">
                  <c:v>0.1</c:v>
                </c:pt>
                <c:pt idx="63">
                  <c:v>0.15</c:v>
                </c:pt>
                <c:pt idx="64">
                  <c:v>0.2</c:v>
                </c:pt>
                <c:pt idx="65">
                  <c:v>0.25</c:v>
                </c:pt>
                <c:pt idx="66">
                  <c:v>0.3</c:v>
                </c:pt>
                <c:pt idx="67">
                  <c:v>0.35</c:v>
                </c:pt>
                <c:pt idx="68">
                  <c:v>0.4</c:v>
                </c:pt>
                <c:pt idx="69">
                  <c:v>0.45</c:v>
                </c:pt>
                <c:pt idx="70">
                  <c:v>0.5</c:v>
                </c:pt>
                <c:pt idx="71">
                  <c:v>0.55</c:v>
                </c:pt>
                <c:pt idx="72">
                  <c:v>0.6</c:v>
                </c:pt>
                <c:pt idx="73">
                  <c:v>0.65</c:v>
                </c:pt>
                <c:pt idx="74">
                  <c:v>0.7</c:v>
                </c:pt>
                <c:pt idx="75">
                  <c:v>0.75</c:v>
                </c:pt>
                <c:pt idx="76">
                  <c:v>0.8</c:v>
                </c:pt>
                <c:pt idx="77">
                  <c:v>0.85</c:v>
                </c:pt>
                <c:pt idx="78">
                  <c:v>0.9</c:v>
                </c:pt>
                <c:pt idx="79">
                  <c:v>0.95</c:v>
                </c:pt>
                <c:pt idx="80">
                  <c:v>1.0</c:v>
                </c:pt>
                <c:pt idx="81">
                  <c:v>1.05</c:v>
                </c:pt>
                <c:pt idx="82">
                  <c:v>1.1</c:v>
                </c:pt>
                <c:pt idx="83">
                  <c:v>1.15</c:v>
                </c:pt>
                <c:pt idx="84">
                  <c:v>1.2</c:v>
                </c:pt>
                <c:pt idx="85">
                  <c:v>1.25</c:v>
                </c:pt>
                <c:pt idx="86">
                  <c:v>1.3</c:v>
                </c:pt>
                <c:pt idx="87">
                  <c:v>1.35</c:v>
                </c:pt>
                <c:pt idx="88">
                  <c:v>1.4</c:v>
                </c:pt>
                <c:pt idx="89">
                  <c:v>1.45</c:v>
                </c:pt>
                <c:pt idx="90">
                  <c:v>1.5</c:v>
                </c:pt>
                <c:pt idx="91">
                  <c:v>1.55</c:v>
                </c:pt>
                <c:pt idx="92">
                  <c:v>1.6</c:v>
                </c:pt>
                <c:pt idx="93">
                  <c:v>1.65</c:v>
                </c:pt>
                <c:pt idx="94">
                  <c:v>1.7</c:v>
                </c:pt>
                <c:pt idx="95">
                  <c:v>1.75</c:v>
                </c:pt>
                <c:pt idx="96">
                  <c:v>1.8</c:v>
                </c:pt>
                <c:pt idx="97">
                  <c:v>1.85</c:v>
                </c:pt>
                <c:pt idx="98">
                  <c:v>1.9</c:v>
                </c:pt>
                <c:pt idx="99">
                  <c:v>1.95</c:v>
                </c:pt>
                <c:pt idx="100">
                  <c:v>2.0</c:v>
                </c:pt>
                <c:pt idx="101">
                  <c:v>2.05</c:v>
                </c:pt>
                <c:pt idx="102">
                  <c:v>2.1</c:v>
                </c:pt>
                <c:pt idx="103">
                  <c:v>2.15</c:v>
                </c:pt>
                <c:pt idx="104">
                  <c:v>2.2</c:v>
                </c:pt>
                <c:pt idx="105">
                  <c:v>2.25</c:v>
                </c:pt>
                <c:pt idx="106">
                  <c:v>2.3</c:v>
                </c:pt>
                <c:pt idx="107">
                  <c:v>2.35</c:v>
                </c:pt>
                <c:pt idx="108">
                  <c:v>2.4</c:v>
                </c:pt>
                <c:pt idx="109">
                  <c:v>2.45</c:v>
                </c:pt>
                <c:pt idx="110">
                  <c:v>2.5</c:v>
                </c:pt>
                <c:pt idx="111">
                  <c:v>2.55</c:v>
                </c:pt>
                <c:pt idx="112">
                  <c:v>2.6</c:v>
                </c:pt>
                <c:pt idx="113">
                  <c:v>2.65</c:v>
                </c:pt>
                <c:pt idx="114">
                  <c:v>2.7</c:v>
                </c:pt>
                <c:pt idx="115">
                  <c:v>2.75</c:v>
                </c:pt>
                <c:pt idx="116">
                  <c:v>2.8</c:v>
                </c:pt>
                <c:pt idx="117">
                  <c:v>2.85</c:v>
                </c:pt>
                <c:pt idx="118">
                  <c:v>2.9</c:v>
                </c:pt>
                <c:pt idx="119">
                  <c:v>2.95</c:v>
                </c:pt>
                <c:pt idx="120">
                  <c:v>3.0</c:v>
                </c:pt>
              </c:numCache>
            </c:numRef>
          </c:xVal>
          <c:yVal>
            <c:numRef>
              <c:f>Sheet1!$B$125:$B$245</c:f>
              <c:numCache>
                <c:formatCode>General</c:formatCode>
                <c:ptCount val="121"/>
                <c:pt idx="0">
                  <c:v>0.008797770186781824</c:v>
                </c:pt>
                <c:pt idx="1">
                  <c:v>0.009948603462656653</c:v>
                </c:pt>
                <c:pt idx="2">
                  <c:v>0.01122675708320102</c:v>
                </c:pt>
                <c:pt idx="3">
                  <c:v>0.012642973512509004</c:v>
                </c:pt>
                <c:pt idx="4">
                  <c:v>0.014208454069868747</c:v>
                </c:pt>
                <c:pt idx="5">
                  <c:v>0.015934818630516857</c:v>
                </c:pt>
                <c:pt idx="6">
                  <c:v>0.017834055714315823</c:v>
                </c:pt>
                <c:pt idx="7">
                  <c:v>0.019918462428257955</c:v>
                </c:pt>
                <c:pt idx="8">
                  <c:v>0.022200573818426845</c:v>
                </c:pt>
                <c:pt idx="9">
                  <c:v>0.024693081295419677</c:v>
                </c:pt>
                <c:pt idx="10">
                  <c:v>0.027408739924364236</c:v>
                </c:pt>
                <c:pt idx="11">
                  <c:v>0.030360264516273168</c:v>
                </c:pt>
                <c:pt idx="12">
                  <c:v>0.03356021462084419</c:v>
                </c:pt>
                <c:pt idx="13">
                  <c:v>0.03702086870075722</c:v>
                </c:pt>
                <c:pt idx="14">
                  <c:v>0.04075408796235705</c:v>
                </c:pt>
                <c:pt idx="15">
                  <c:v>0.04477117052515789</c:v>
                </c:pt>
                <c:pt idx="16">
                  <c:v>0.049082696830170955</c:v>
                </c:pt>
                <c:pt idx="17">
                  <c:v>0.05369836741143594</c:v>
                </c:pt>
                <c:pt idx="18">
                  <c:v>0.058626834382666186</c:v>
                </c:pt>
                <c:pt idx="19">
                  <c:v>0.0638755282174794</c:v>
                </c:pt>
                <c:pt idx="20">
                  <c:v>0.06945048162278795</c:v>
                </c:pt>
                <c:pt idx="21">
                  <c:v>0.07535615251576061</c:v>
                </c:pt>
                <c:pt idx="22">
                  <c:v>0.08159524831029481</c:v>
                </c:pt>
                <c:pt idx="23">
                  <c:v>0.08816855389399325</c:v>
                </c:pt>
                <c:pt idx="24">
                  <c:v>0.09507476582601923</c:v>
                </c:pt>
                <c:pt idx="25">
                  <c:v>0.10231033540482402</c:v>
                </c:pt>
                <c:pt idx="26">
                  <c:v>0.10986932333772631</c:v>
                </c:pt>
                <c:pt idx="27">
                  <c:v>0.11774326878717431</c:v>
                </c:pt>
                <c:pt idx="28">
                  <c:v>0.1259210755672255</c:v>
                </c:pt>
                <c:pt idx="29">
                  <c:v>0.13438891821496052</c:v>
                </c:pt>
                <c:pt idx="30">
                  <c:v>0.14313017056258517</c:v>
                </c:pt>
                <c:pt idx="31">
                  <c:v>0.1521253592851246</c:v>
                </c:pt>
                <c:pt idx="32">
                  <c:v>0.16135214469511602</c:v>
                </c:pt>
                <c:pt idx="33">
                  <c:v>0.17078533079986363</c:v>
                </c:pt>
                <c:pt idx="34">
                  <c:v>0.18039690633007746</c:v>
                </c:pt>
                <c:pt idx="35">
                  <c:v>0.1901561180936838</c:v>
                </c:pt>
                <c:pt idx="36">
                  <c:v>0.20002957760908247</c:v>
                </c:pt>
                <c:pt idx="37">
                  <c:v>0.20998140153310316</c:v>
                </c:pt>
                <c:pt idx="38">
                  <c:v>0.21997338592649396</c:v>
                </c:pt>
                <c:pt idx="39">
                  <c:v>0.22996521390110553</c:v>
                </c:pt>
                <c:pt idx="40">
                  <c:v>0.23991469567611817</c:v>
                </c:pt>
                <c:pt idx="41">
                  <c:v>0.24977803954459055</c:v>
                </c:pt>
                <c:pt idx="42">
                  <c:v>0.2595101517258227</c:v>
                </c:pt>
                <c:pt idx="43">
                  <c:v>0.2690649625635105</c:v>
                </c:pt>
                <c:pt idx="44">
                  <c:v>0.27839577603463656</c:v>
                </c:pt>
                <c:pt idx="45">
                  <c:v>0.2874556390697307</c:v>
                </c:pt>
                <c:pt idx="46">
                  <c:v>0.29619772676153644</c:v>
                </c:pt>
                <c:pt idx="47">
                  <c:v>0.3045757391657909</c:v>
                </c:pt>
                <c:pt idx="48">
                  <c:v>0.31254430508358627</c:v>
                </c:pt>
                <c:pt idx="49">
                  <c:v>0.32005938796754496</c:v>
                </c:pt>
                <c:pt idx="50">
                  <c:v>0.32707868892056663</c:v>
                </c:pt>
                <c:pt idx="51">
                  <c:v>0.333562041661611</c:v>
                </c:pt>
                <c:pt idx="52">
                  <c:v>0.3394717943217989</c:v>
                </c:pt>
                <c:pt idx="53">
                  <c:v>0.3447731730083258</c:v>
                </c:pt>
                <c:pt idx="54">
                  <c:v>0.34943462223387173</c:v>
                </c:pt>
                <c:pt idx="55">
                  <c:v>0.3534281175541341</c:v>
                </c:pt>
                <c:pt idx="56">
                  <c:v>0.356729446082824</c:v>
                </c:pt>
                <c:pt idx="57">
                  <c:v>0.3593184509572039</c:v>
                </c:pt>
                <c:pt idx="58">
                  <c:v>0.3611792363015834</c:v>
                </c:pt>
                <c:pt idx="59">
                  <c:v>0.3623003297731706</c:v>
                </c:pt>
                <c:pt idx="60">
                  <c:v>0.36267480036493877</c:v>
                </c:pt>
                <c:pt idx="61">
                  <c:v>0.3623003297731706</c:v>
                </c:pt>
                <c:pt idx="62">
                  <c:v>0.3611792363015834</c:v>
                </c:pt>
                <c:pt idx="63">
                  <c:v>0.3593184509572039</c:v>
                </c:pt>
                <c:pt idx="64">
                  <c:v>0.356729446082824</c:v>
                </c:pt>
                <c:pt idx="65">
                  <c:v>0.3534281175541341</c:v>
                </c:pt>
                <c:pt idx="66">
                  <c:v>0.34943462223387173</c:v>
                </c:pt>
                <c:pt idx="67">
                  <c:v>0.3447731730083258</c:v>
                </c:pt>
                <c:pt idx="68">
                  <c:v>0.3394717943217989</c:v>
                </c:pt>
                <c:pt idx="69">
                  <c:v>0.333562041661611</c:v>
                </c:pt>
                <c:pt idx="70">
                  <c:v>0.32707868892056663</c:v>
                </c:pt>
                <c:pt idx="71">
                  <c:v>0.32005938796754496</c:v>
                </c:pt>
                <c:pt idx="72">
                  <c:v>0.31254430508358627</c:v>
                </c:pt>
                <c:pt idx="73">
                  <c:v>0.3045757391657909</c:v>
                </c:pt>
                <c:pt idx="74">
                  <c:v>0.29619772676153644</c:v>
                </c:pt>
                <c:pt idx="75">
                  <c:v>0.2874556390697307</c:v>
                </c:pt>
                <c:pt idx="76">
                  <c:v>0.27839577603463656</c:v>
                </c:pt>
                <c:pt idx="77">
                  <c:v>0.2690649625635105</c:v>
                </c:pt>
                <c:pt idx="78">
                  <c:v>0.2595101517258227</c:v>
                </c:pt>
                <c:pt idx="79">
                  <c:v>0.24977803954459055</c:v>
                </c:pt>
                <c:pt idx="80">
                  <c:v>0.23991469567611817</c:v>
                </c:pt>
                <c:pt idx="81">
                  <c:v>0.22996521390110553</c:v>
                </c:pt>
                <c:pt idx="82">
                  <c:v>0.21997338592649396</c:v>
                </c:pt>
                <c:pt idx="83">
                  <c:v>0.20998140153310316</c:v>
                </c:pt>
                <c:pt idx="84">
                  <c:v>0.20002957760908247</c:v>
                </c:pt>
                <c:pt idx="85">
                  <c:v>0.1901561180936838</c:v>
                </c:pt>
                <c:pt idx="86">
                  <c:v>0.18039690633007746</c:v>
                </c:pt>
                <c:pt idx="87">
                  <c:v>0.17078533079986363</c:v>
                </c:pt>
                <c:pt idx="88">
                  <c:v>0.16135214469511602</c:v>
                </c:pt>
                <c:pt idx="89">
                  <c:v>0.1521253592851246</c:v>
                </c:pt>
                <c:pt idx="90">
                  <c:v>0.14313017056258517</c:v>
                </c:pt>
                <c:pt idx="91">
                  <c:v>0.13438891821496052</c:v>
                </c:pt>
                <c:pt idx="92">
                  <c:v>0.1259210755672255</c:v>
                </c:pt>
                <c:pt idx="93">
                  <c:v>0.11774326878717431</c:v>
                </c:pt>
                <c:pt idx="94">
                  <c:v>0.10986932333772631</c:v>
                </c:pt>
                <c:pt idx="95">
                  <c:v>0.10231033540482402</c:v>
                </c:pt>
                <c:pt idx="96">
                  <c:v>0.09507476582601923</c:v>
                </c:pt>
                <c:pt idx="97">
                  <c:v>0.08816855389399325</c:v>
                </c:pt>
                <c:pt idx="98">
                  <c:v>0.08159524831029481</c:v>
                </c:pt>
                <c:pt idx="99">
                  <c:v>0.07535615251576061</c:v>
                </c:pt>
                <c:pt idx="100">
                  <c:v>0.06945048162278795</c:v>
                </c:pt>
                <c:pt idx="101">
                  <c:v>0.0638755282174794</c:v>
                </c:pt>
                <c:pt idx="102">
                  <c:v>0.058626834382666186</c:v>
                </c:pt>
                <c:pt idx="103">
                  <c:v>0.05369836741143594</c:v>
                </c:pt>
                <c:pt idx="104">
                  <c:v>0.049082696830170955</c:v>
                </c:pt>
                <c:pt idx="105">
                  <c:v>0.04477117052515789</c:v>
                </c:pt>
                <c:pt idx="106">
                  <c:v>0.04075408796235705</c:v>
                </c:pt>
                <c:pt idx="107">
                  <c:v>0.03702086870075722</c:v>
                </c:pt>
                <c:pt idx="108">
                  <c:v>0.03356021462084419</c:v>
                </c:pt>
                <c:pt idx="109">
                  <c:v>0.030360264516273168</c:v>
                </c:pt>
                <c:pt idx="110">
                  <c:v>0.027408739924364236</c:v>
                </c:pt>
                <c:pt idx="111">
                  <c:v>0.024693081295419677</c:v>
                </c:pt>
                <c:pt idx="112">
                  <c:v>0.022200573818426845</c:v>
                </c:pt>
                <c:pt idx="113">
                  <c:v>0.019918462428257955</c:v>
                </c:pt>
                <c:pt idx="114">
                  <c:v>0.017834055714315823</c:v>
                </c:pt>
                <c:pt idx="115">
                  <c:v>0.015934818630516857</c:v>
                </c:pt>
                <c:pt idx="116">
                  <c:v>0.014208454069868747</c:v>
                </c:pt>
                <c:pt idx="117">
                  <c:v>0.012642973512509004</c:v>
                </c:pt>
                <c:pt idx="118">
                  <c:v>0.01122675708320102</c:v>
                </c:pt>
                <c:pt idx="119">
                  <c:v>0.009948603462656653</c:v>
                </c:pt>
                <c:pt idx="120">
                  <c:v>0.008797770186781824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.0"/>
          <c:min val="-3.0"/>
        </c:scaling>
        <c:delete val="0"/>
        <c:axPos val="b"/>
        <c:title>
          <c:tx>
            <c:rich>
              <a:bodyPr/>
              <a:lstStyle/>
              <a:p>
                <a:r>
                  <a:rPr sz="1200" b="0" i="0">
                    <a:solidFill>
                      <a:srgbClr val="5B6472"/>
                    </a:solidFill>
                    <a:latin typeface="Calibri"/>
                    <a:ea typeface="Meiryo"/>
                    <a:cs typeface="Meiryo"/>
                  </a:rPr>
                  <a:t>推定した log₁₀J と本当の値のずれ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9AA5B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</c:scaling>
        <c:delete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1F2937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矮小銀河 1 個（Ursa Minor）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上限が弱くなる倍率</c:v>
                </c:pt>
              </c:strCache>
            </c:strRef>
          </c:tx>
          <c:spPr>
            <a:solidFill>
              <a:srgbClr val="14213D"/>
            </a:solidFill>
          </c:spPr>
          <c:cat>
            <c:strRef>
              <c:f>Sheet1!$A$2:$A$4</c:f>
              <c:strCache>
                <c:ptCount val="3"/>
                <c:pt idx="0">
                  <c:v>+0.3</c:v>
                </c:pt>
                <c:pt idx="1">
                  <c:v>+0.5</c:v>
                </c:pt>
                <c:pt idx="2">
                  <c:v>+1.0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2.5</c:v>
                </c:pt>
                <c:pt idx="2">
                  <c:v>11</c:v>
                </c:pt>
              </c:numCache>
            </c:numRef>
          </c:val>
        </c:ser>
        <c:dLbls>
          <c:numFmt formatCode="0.0&quot;倍&quot;" sourceLinked="0"/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5B1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F2937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27 個をまとめた解析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上限が弱くなる倍率</c:v>
                </c:pt>
              </c:strCache>
            </c:strRef>
          </c:tx>
          <c:spPr>
            <a:solidFill>
              <a:srgbClr val="0B7285"/>
            </a:solidFill>
          </c:spPr>
          <c:cat>
            <c:strRef>
              <c:f>Sheet1!$A$2:$A$3</c:f>
              <c:strCache>
                <c:ptCount val="2"/>
                <c:pt idx="0">
                  <c:v>+0.5</c:v>
                </c:pt>
                <c:pt idx="1">
                  <c:v>+1.0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1.4</c:v>
                </c:pt>
                <c:pt idx="1">
                  <c:v>3.2</c:v>
                </c:pt>
              </c:numCache>
            </c:numRef>
          </c:val>
        </c:ser>
        <c:dLbls>
          <c:numFmt formatCode="0.0&quot;倍&quot;" sourceLinked="0"/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5B1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F2937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何も無い領域で測った σ の標準偏差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標準偏差</c:v>
                </c:pt>
              </c:strCache>
            </c:strRef>
          </c:tx>
          <c:dPt>
            <c:idx val="0"/>
            <c:spPr>
              <a:solidFill>
                <a:srgbClr val="B8C4D3"/>
              </a:solidFill>
            </c:spPr>
          </c:dPt>
          <c:dPt>
            <c:idx val="1"/>
            <c:spPr>
              <a:solidFill>
                <a:srgbClr val="C2410C"/>
              </a:solidFill>
            </c:spPr>
          </c:dPt>
          <c:cat>
            <c:strRef>
              <c:f>Sheet1!$A$2:$A$3</c:f>
              <c:strCache>
                <c:ptCount val="2"/>
                <c:pt idx="0">
                  <c:v>理論どおりなら</c:v>
                </c:pt>
                <c:pt idx="1">
                  <c:v>実測（833 か所）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</c:v>
                </c:pt>
                <c:pt idx="1">
                  <c:v>1.362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6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F2937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 introduction の内容。</a:t>
            </a:r>
          </a:p>
          <a:p>
            <a:r>
              <a:t>銀河中心の超過 (GCE) は、暗黒物質が対消滅してガンマ線を出している、という解釈が有力。</a:t>
            </a:r>
          </a:p>
          <a:p>
            <a:r>
              <a:t>対抗説のミリ秒パルサーは、introduction で3つの理由から否定的に扱われている。</a:t>
            </a:r>
          </a:p>
          <a:p>
            <a:r>
              <a:t>注意: これは GCE (35–65 GeV の WIMP) の話。僕の卒論の Totani の 20 GeV ハロー (0.5–0.8 TeV) とは別の信号。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の内容: 矮小銀河の信号は銀河中心より 10^3〜10^4 倍以上弱いが、ガスや星形成が無く雑音が少ないので、確認には一番説得力がある。</a:t>
            </a:r>
          </a:p>
          <a:p>
            <a:r>
              <a:t>J ファクターは「暗黒物質の密度の2乗を視線方向に積分した量」。「詰まっている量の合計」と言うと不正確なので、必ず「2乗」と言う。</a:t>
            </a:r>
          </a:p>
          <a:p>
            <a:r>
              <a:t>観測で決まるのは「⟨σv⟩×J」の組み合わせなので、J の見積もりがずれると ⟨σv⟩ の上限もずれる。これが論文全体の出発点。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abstract の内容。系統誤差の要因 4 つは abstract に列挙されているもの (個別の解説は本文 Section II なので使わない)。</a:t>
            </a:r>
          </a:p>
          <a:p>
            <a:r>
              <a:t>「誤差を見積もりすぎ」ではなく「小さく見積もりすぎ」が問題。文献ごとの J の値は、書かれている誤差よりも大きくばらついている。</a:t>
            </a:r>
          </a:p>
          <a:p>
            <a:r>
              <a:t>Δlog10J = 0.5 は、J が 10^0.5 ≒ 3.2 倍くらいずれうる、という意味。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ここが今回の「統計の問題」の核心。</a:t>
            </a:r>
          </a:p>
          <a:p>
            <a:r>
              <a:t>95% 上限とは、「同じ観測を何度もやり直したら、本物の値をうっかり除外してしまうのは 5% 以下」という約束。</a:t>
            </a:r>
          </a:p>
          <a:p>
            <a:r>
              <a:t>この約束が守られているかを「カバレッジ」という。守られていなければ「アンダーカバレッジ」で、上限が実際より強すぎる (過大評価になっている) ことを意味する。</a:t>
            </a:r>
          </a:p>
          <a:p>
            <a:r>
              <a:t>現実の宇宙は 1 つしかないので、論文では「本物の暗黒物質の信号が入った宇宙」をシミュレーションで何度も作り、何回誤って除外したかを数えている。</a:t>
            </a:r>
          </a:p>
          <a:p>
            <a:r>
              <a:t>図の点の数は説明用の例。論文本文の具体的な割合 (Section V) は今回の縛りで使わない。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conclusions の内容。σ_L は「解析ソフトに渡す誤差の想定値」、σ は「J の推定値が本当の値の周りで実際にどれだけばらつくか」。</a:t>
            </a:r>
          </a:p>
          <a:p>
            <a:r>
              <a:t>前のスライドで作ったたとえ: ソフトに「誤差は小さいから厳しく判定してね」と指示する (σ_L &lt; σ) と、仕込んでおいた本物の暗黒物質を「偽物だ」と誤判定して見落とす。</a:t>
            </a:r>
          </a:p>
          <a:p>
            <a:r>
              <a:t>「誤差は大きいはずだから余裕を持って」と指示する (σ_L を大きく) と、誤判定は減るが上限は弱くなる。</a:t>
            </a:r>
          </a:p>
          <a:p>
            <a:r>
              <a:t>この2つを分けて動かしたことで、「誤差を大きくした効果」と「誤差を小さく見積もった場合の結末」の両方を調べられた。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abstract と conclusions の数字。</a:t>
            </a:r>
          </a:p>
          <a:p>
            <a:r>
              <a:t>Ursa Minor 1 個: σ_L に 0.3 / 0.5 / 1.0 を2乗和で足すと、上限の中央値が 1.5 / 2.5 / 11 倍弱くなる。</a:t>
            </a:r>
          </a:p>
          <a:p>
            <a:r>
              <a:t>27 個スタック: Δlog10J を 0.5 / 1.0 足すと 1.4 / 3.2 倍弱くなる。数を増やすと 1 個あたりの影響は薄まるが、それでも無視できない。</a:t>
            </a:r>
          </a:p>
          <a:p>
            <a:r>
              <a:t>「2乗和で足す (quadrature)」は、独立な誤差を合わせるときの普通のやり方: 合計 = √(元の誤差² + 足す誤差²)。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conclusions の内容。</a:t>
            </a:r>
          </a:p>
          <a:p>
            <a:r>
              <a:t>1 個 (Ursa Minor) なら、σ_L を σ に合わせれば保守的な判定 (カバレッジ) に戻る。</a:t>
            </a:r>
          </a:p>
          <a:p>
            <a:r>
              <a:t>27 個スタックでは、基準の σ_L = σ_cat でも、95% 上限が本物の信号を「5% をはるかに超える」頻度で除外する。つまり、普段使う漸近的な尤度の公式 (Wilks の定理などの「データが十分多ければ成り立つ」近似) が、この解析では約束を守れていない。</a:t>
            </a:r>
          </a:p>
          <a:p>
            <a:r>
              <a:t>理由: J は対数正規分布でばらつくので、上振れ側に長い尾がある。上振れした天体が全体の制約を不釣り合いに強くする。</a:t>
            </a:r>
          </a:p>
          <a:p>
            <a:r>
              <a:t>処方箋: シミュレーションや blank field で較正する。→ これは僕の卒論で 2026-07-31 にやったことと同じ発想 (後のスライド)。</a:t>
            </a:r>
          </a:p>
          <a:p>
            <a:r>
              <a:t>本文 (Section V, Fig. 7) にある具体的な除外率の数字は、縛りに従い使わない。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conclusions の内容。Ursa Minor に cNFW 型の信号を入れ、それを球対称 NFW で当てはめると上限の中央値が 2.4 倍、点源として扱うと 1.4 倍、強く出すぎる。</a:t>
            </a:r>
          </a:p>
          <a:p>
            <a:r>
              <a:t>「強く出すぎる」= 上限が過大評価になっている、ということ。</a:t>
            </a:r>
          </a:p>
          <a:p>
            <a:r>
              <a:t>スタック解析で全部を点源扱いにすると、本物の信号の棄却率がかなり増える (具体的な % は本文にしか無いので使わない)。</a:t>
            </a:r>
          </a:p>
          <a:p>
            <a:r>
              <a:t>局外パラメータ (nuisance parameter): 知りたい量ではないが、結果に影響するので一緒に動かして不確かさを取り込むパラメータ。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conclusions の最後の 3 段落の要約。</a:t>
            </a:r>
          </a:p>
          <a:p>
            <a:r>
              <a:t>1 が一番大事: 矛盾が「過剰に誇張 (overstated)」されうる。</a:t>
            </a:r>
          </a:p>
          <a:p>
            <a:r>
              <a:t>2: 矮小銀河の価値が下がるのではなく、誤差の扱いが信頼できることが前提、という主張。</a:t>
            </a:r>
          </a:p>
          <a:p>
            <a:r>
              <a:t>3: 新しい矮小銀河で J がとても大きいものは多くないと予想されるので、今ある天体の J の誤差を減らすことが重要になる。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ここから卒論とのつながり。数字は docs/verification/verdict.md と docs/HANDOFF.md から。</a:t>
            </a:r>
          </a:p>
          <a:p>
            <a:r>
              <a:t>論文の「アンダーカバレッジ」と同じ問題が、僕の解析にもあった: 理論の公式 (漸近近似) で出した σ が、実際のばらつきと合っていない。</a:t>
            </a:r>
          </a:p>
          <a:p>
            <a:r>
              <a:t>何も無いはずの空の領域 833 か所で測ると、σ の分布は標準偏差 1.362 (理論なら 1)、最大 4.50σ、|σ|&gt;3 が 2.4% (理論なら 0.27%)。</a:t>
            </a:r>
          </a:p>
          <a:p>
            <a:r>
              <a:t>論文の処方箋「blank field で較正」は、僕がすでに 2026-07-31 にやっていたこと。ここは研究の強みとして出せる。</a:t>
            </a:r>
          </a:p>
          <a:p>
            <a:r>
              <a:t>ただし主結果 19.1σ はあくまで名目値。「19σ だから確実」とは書かない。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数字は verdict.md の C3 と HANDOFF.md から。</a:t>
            </a:r>
          </a:p>
          <a:p>
            <a:r>
              <a:t>弱点: 矮小銀河の J の誤差をゼロとして扱っていた。この論文の主張から見ると、ここは正直に出すべき。</a:t>
            </a:r>
          </a:p>
          <a:p>
            <a:r>
              <a:t>矮小銀河の期待信号は 1.35–5.4σ の幅を持ち (天の川の NFW の密度 ρ_s の仮定が2乗で効く)、実測は -0.18σ。強く矛盾するとは言えず、判定不能。</a:t>
            </a:r>
          </a:p>
          <a:p>
            <a:r>
              <a:t>注意: この論文の GCE (35–65 GeV の WIMP) と、Totani の 20 GeV ハロー (0.5–0.8 TeV の WIMP) は別の信号。共通するのは「天の川の信号 vs 矮小銀河の上限」という構図。</a:t>
            </a:r>
          </a:p>
          <a:p>
            <a:r>
              <a:t>今後の計算は本体リポジトリで行う (この作業場では計算できない)。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76288-565A-D277-27A2-31243F13E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3E5DD-02A7-53C2-5F65-A24E78E50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7448F-53E1-82D6-3186-80CB26BE1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58DBF-37D4-0C0A-D875-CDA3514B4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F6FE9-2529-E8D0-EFC0-D1A342E8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96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8816-D339-2660-A9A0-5774693A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48F07-F7C1-5531-8C5A-F5CF2C857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B3059-FFBB-C324-B03E-02573AB5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9ECE3-87D5-740C-32C6-62893CC5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3D2D-B749-AF92-45C7-05E5EC690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06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6B5EB-37AD-0723-7BE7-20F99181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D4187-8E02-B2B5-E4C9-6D7011624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6CE90-C1E2-6986-0B63-63E8B1E5B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5E9B0-CE6D-032D-6845-E8133D32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3E5FE-C493-094D-EFE2-A6727E9E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47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37549-3F9D-6C11-B2F1-1D7523B6D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3F2B-3014-BE4C-4C81-08CAECAA3D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67272-2ACA-EC6E-9436-B1B5CF583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26295-694B-7554-218D-7BD3CACD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2543D-8122-939F-3C1F-39B89D25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8A527-B1D7-E4BC-7D31-148F1F7CC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31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21425-E27D-BE8E-B111-4022A019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573FB-B9E2-F6D6-9264-A030FE48B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A2C888-7C66-C35B-7532-1721C239A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DC823-C9B1-4252-E72C-9616EE7B0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B94EF5-DB06-D6C3-1030-67C290A7D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CE5A5D-7C36-7BF9-D849-823422836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DF2F8A-993F-C373-6FCB-BE41E6036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D2FAC1-0DFD-063F-B482-E85A1DDE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0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4FC34-CCA0-BC3B-4EE5-57FA07F2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37C0BD-2F65-4F9D-8138-332F359F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242395-5A90-0018-6EDB-4E9405E9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C42D8-3674-418A-D5C4-DB6641D3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67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A4C85A-D13F-5178-0024-E3C109D0D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FF372-1628-52FA-CEEB-FEDFC7F13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EAACC-8A0F-7C8B-BC4E-F4873FF5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8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A975-6899-E74A-1A75-5C1F8EEA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C3A41-11A8-9BFA-BB1B-A5FDFF07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7DF43-769A-FA6C-37EB-0F1F3A67F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E693B-A8B0-1E4E-585D-02C764FDE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9ECA5-8194-6265-66E3-032A3A2C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FED2F-DDD4-2913-9DD7-B71DA2C4D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9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1062-6446-483E-D756-3F422181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8481AC-877A-3679-3922-7E24EFC988F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68AE3-82A7-5109-FFDB-09A55C5D8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19742-BD7E-99B8-97A5-BDFDBAEB8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09F9E-01BC-1D8D-DBFA-C67D85CE3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F2E15-E95B-215D-2D7A-97ABF834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6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9D0B6-F229-D16D-C4E9-E8E0B3EF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B9E41-E224-A442-50B4-B6CBC0B7C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24D2B-D699-D09D-1C65-68289F3A3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B7D08-9F28-621F-D5D3-104D9A90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E9F74-A8C1-1C42-8ADD-52848708E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0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1748E-72C1-68E8-90C0-875C231A6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620C0-FBC2-5C34-97CC-6EAE9A8A5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38CD2-8B3B-E7F4-603C-4B3A5B00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84EF-48D8-FE9D-60E9-F5F71DB0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4EC4F-E359-4520-590D-9FC0ADC1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945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C2FA98-376E-B2DA-BDD0-3CEC43EB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8C2AA-C505-9533-8DBC-806557F9D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61E66-6EFC-D134-2D97-6609ED0BA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FFF5C-2D96-4D39-AE5C-E4AC30C80AB5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892EF-E1D3-FFF9-F20D-00FF9F9B3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BC47A-0E1A-78CA-FF77-948AC15C4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16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85CD606-E3CE-F314-B3EE-F3D7028115CB}"/>
              </a:ext>
            </a:extLst>
          </p:cNvPr>
          <p:cNvSpPr txBox="1"/>
          <p:nvPr/>
        </p:nvSpPr>
        <p:spPr>
          <a:xfrm>
            <a:off x="5837182" y="5663239"/>
            <a:ext cx="60933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Reference:</a:t>
            </a:r>
            <a:r>
              <a:rPr lang="en-US"/>
              <a:t> Toni Bertólez-Martínez, et al. (2026). "Systematic uncertainties in the J-factor determination of dwarf spheroidal galaxies", </a:t>
            </a:r>
            <a:r>
              <a:rPr lang="en-US" i="1"/>
              <a:t>arXiv:2609.20944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E0FE36-509A-D2B0-488B-C638301D6998}"/>
              </a:ext>
            </a:extLst>
          </p:cNvPr>
          <p:cNvSpPr txBox="1"/>
          <p:nvPr/>
        </p:nvSpPr>
        <p:spPr>
          <a:xfrm>
            <a:off x="1564727" y="1242113"/>
            <a:ext cx="94553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/>
              <a:t>Toni Bertólez-Martínez, et al. (2026)</a:t>
            </a:r>
            <a:r>
              <a:rPr lang="ja-JP" altLang="en-US" sz="4800"/>
              <a:t>の内容解説と、それを踏まえた</a:t>
            </a:r>
            <a:endParaRPr lang="en-US" altLang="ja-JP" sz="4800"/>
          </a:p>
          <a:p>
            <a:r>
              <a:rPr lang="ja-JP" altLang="en-US" sz="4800"/>
              <a:t>卒論拡張について</a:t>
            </a:r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23854819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論文の内容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背景：銀河中心からの「ガンマ線超過」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Fermi-LAT が見つけた銀河中心の余分なガンマ線は、暗黒物質（WIMP）の対消滅で説明できる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WIMP で説明すると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493776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lnSpc>
                <a:spcPct val="110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スペクトル・広がり方・明るさの3つがそろって WIMP の予想と合う</a:t>
            </a:r>
          </a:p>
          <a:p>
            <a:pPr algn="l" marL="256032" indent="-256032">
              <a:lnSpc>
                <a:spcPct val="110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質量 </a:t>
            </a:r>
            <a:r>
              <a:rPr sz="16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35–65 GeV</a:t>
            </a:r>
            <a:r>
              <a:rPr sz="14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（b b̄ に消滅する場合）</a:t>
            </a:r>
          </a:p>
          <a:p>
            <a:pPr algn="l" marL="256032" indent="-256032">
              <a:lnSpc>
                <a:spcPct val="110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消滅断面積 </a:t>
            </a:r>
            <a:r>
              <a:rPr sz="16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⟨σv⟩ ≈ (1–3)×10⁻²⁶ cm³/s</a:t>
            </a:r>
          </a:p>
          <a:p>
            <a:pPr algn="l" marL="256032" indent="-256032">
              <a:lnSpc>
                <a:spcPct val="110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宇宙初期に自然にできる WIMP の値（≈ 2.2×10⁻²⁶）とちょうど合う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74519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D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5740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対抗説：ミリ秒パルサー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60604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ありうるが、否定的な材料が3つある</a:t>
            </a:r>
          </a:p>
        </p:txBody>
      </p:sp>
      <p:sp>
        <p:nvSpPr>
          <p:cNvPr id="11" name="Oval 10"/>
          <p:cNvSpPr/>
          <p:nvPr/>
        </p:nvSpPr>
        <p:spPr>
          <a:xfrm>
            <a:off x="6537960" y="3108960"/>
            <a:ext cx="411480" cy="41148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Meiryo"/>
                <a:cs typeface="Meiry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063240"/>
            <a:ext cx="43891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銀河の内側ではほとんど見つかっていない（暗い天体が 10⁵ 個以上必要）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4096512"/>
            <a:ext cx="411480" cy="41148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Meiryo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050792"/>
            <a:ext cx="43891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パルサーの“親”にあたる X 線連星が少なく、超過の 4–11% しか説明できない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5084064"/>
            <a:ext cx="411480" cy="41148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Meiryo"/>
                <a:cs typeface="Meiry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5038344"/>
            <a:ext cx="43891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生まれたときの“キック”で広がるはずなのに、超過は中心に集中しすぎ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論文の内容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確認役としての矮小銀河と「J ファクター」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本当に暗黒物質なら、天の川の周りの矮小銀河からも同じ形のガンマ線が来るはず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3108960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信号は弱い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銀河中心より </a:t>
            </a:r>
            <a:r>
              <a:rPr sz="16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10³〜10⁴ 倍</a:t>
            </a: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 以上暗い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605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297680"/>
            <a:ext cx="3108960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でも雑音が少ない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ガスが少なく、最近の星形成もほぼ無い → ほかのガンマ線源がほとんど無い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51960" y="3840480"/>
            <a:ext cx="548640" cy="411480"/>
          </a:xfrm>
          <a:prstGeom prst="rightArrow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874519"/>
            <a:ext cx="6675120" cy="4389120"/>
          </a:xfrm>
          <a:prstGeom prst="roundRect">
            <a:avLst>
              <a:gd name="adj" fmla="val 6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2011680"/>
            <a:ext cx="6217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J ファクター ＝ 信号の明るさを決める量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606040"/>
            <a:ext cx="6217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暗黒物質の密度を</a:t>
            </a:r>
            <a:r>
              <a:rPr sz="19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2乗</a:t>
            </a:r>
            <a:r>
              <a:rPr sz="19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して、視線方向に足し合わせた量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3429000"/>
            <a:ext cx="6217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信号の強さ ∝ （粒子の性質 ⟨σv⟩）×（J ファクター）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4069080"/>
            <a:ext cx="621792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2乗なのは、対消滅に粒子が2つ必要だから。密度が2倍なら信号は4倍</a:t>
            </a:r>
          </a:p>
          <a:p>
            <a:pPr algn="l" marL="256032" indent="-256032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矮小銀河の J は、星の動き（速さ）から推定するしかない</a:t>
            </a:r>
          </a:p>
          <a:p>
            <a:pPr algn="l" marL="256032" indent="-256032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500" b="1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→ J を間違えると、⟨σv⟩ の上限もそのままずれる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論文の内容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この論文の問題提起：J の誤差は小さく見積もられている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J の推定には、多くの研究が誤差に入れていない「系統誤差」の要因がある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5852160" cy="7772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eiryo"/>
                <a:cs typeface="Meiry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039112"/>
            <a:ext cx="48463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星の所属判定（どの星が矮小銀河のメンバーか）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5852160" cy="7772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eiryo"/>
                <a:cs typeface="Meiry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999232"/>
            <a:ext cx="48463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見分けられていない連星（速さが余分にばらつく）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86200"/>
            <a:ext cx="5852160" cy="7772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eiryo"/>
                <a:cs typeface="Meiry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59352"/>
            <a:ext cx="48463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力学的な釣り合い・球対称からのズレ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46320"/>
            <a:ext cx="5852160" cy="7772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498348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eiryo"/>
                <a:cs typeface="Meiry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919472"/>
            <a:ext cx="48463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星と暗黒物質の密度分布の形の仮定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1965960"/>
            <a:ext cx="4892040" cy="3657600"/>
          </a:xfrm>
          <a:prstGeom prst="roundRect">
            <a:avLst>
              <a:gd name="adj" fmla="val 6000"/>
            </a:avLst>
          </a:prstGeom>
          <a:solidFill>
            <a:srgbClr val="FD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10312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文献ごとの J の値のばらつき ＞ 書かれている誤差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926080"/>
            <a:ext cx="43891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Δlog₁₀J ≈ 0.5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931920"/>
            <a:ext cx="438912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以上の誤差を見込むべき天体が多い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（log で 0.5 ＝ 約 3 倍のずれ）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→ では、この誤差を入れないと解析の結果はどうなるのか？ を調べたのがこの論文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統計の準備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統計の準備①：「95% 上限」と「カバレッジ」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今回の問題の中心は統計。まず「95% 上限」が本来どういう約束なのかを押さえる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11109960" cy="13258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95% 上限の約束：</a:t>
            </a:r>
            <a:r>
              <a:rPr sz="17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同じ観測を何度もやり直したとき、本物の ⟨σv⟩ を「ありえない」と</a:t>
            </a:r>
            <a:r>
              <a:rPr sz="17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誤って除外するのは 5% 以下</a:t>
            </a:r>
            <a:r>
              <a:rPr sz="17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に収まる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この約束が守られている割合を </a:t>
            </a:r>
            <a:r>
              <a:rPr sz="17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カバレッジ</a:t>
            </a:r>
            <a:r>
              <a:rPr sz="17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、守られていない状態を </a:t>
            </a:r>
            <a:r>
              <a:rPr sz="17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アンダーカバレッジ</a:t>
            </a:r>
            <a:r>
              <a:rPr sz="17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 と呼ぶ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約束どおり</a:t>
            </a:r>
          </a:p>
        </p:txBody>
      </p:sp>
      <p:sp>
        <p:nvSpPr>
          <p:cNvPr id="8" name="Oval 7"/>
          <p:cNvSpPr/>
          <p:nvPr/>
        </p:nvSpPr>
        <p:spPr>
          <a:xfrm>
            <a:off x="3566160" y="3611880"/>
            <a:ext cx="292608" cy="29260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50208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34256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18304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02352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0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70448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54496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38544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22592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06640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90688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58784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42832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0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10928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94976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79024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63072" y="361188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977639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20 回やり直して、本物を誤って除外するのは 1 回程度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8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アンダーカバレッジ</a:t>
            </a:r>
          </a:p>
        </p:txBody>
      </p:sp>
      <p:sp>
        <p:nvSpPr>
          <p:cNvPr id="30" name="Oval 29"/>
          <p:cNvSpPr/>
          <p:nvPr/>
        </p:nvSpPr>
        <p:spPr>
          <a:xfrm>
            <a:off x="3566160" y="4572000"/>
            <a:ext cx="292608" cy="29260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950208" y="4572000"/>
            <a:ext cx="292608" cy="29260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34256" y="4572000"/>
            <a:ext cx="292608" cy="29260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18304" y="4572000"/>
            <a:ext cx="292608" cy="29260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02352" y="4572000"/>
            <a:ext cx="292608" cy="29260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86400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870448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4496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38544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022592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406640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90688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74736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58784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42832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326880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710928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94976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479024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863072" y="4572000"/>
            <a:ext cx="292608" cy="292608"/>
          </a:xfrm>
          <a:prstGeom prst="ellipse">
            <a:avLst/>
          </a:prstGeom>
          <a:solidFill>
            <a:srgbClr val="B8C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60" y="493776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「95% 上限」と名乗っているのに、本物を除外する回数がもっと多い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● = 本物の信号を誤って除外した回　（点の数は説明のための例で、論文の値ではない）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確かめ方：本物の信号を入れた疑似データを何度も作り、誤って除外した割合を数える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統計の準備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統計の準備②：本当のばらつき σ と、解析が仮定する幅 σ_L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この論文の工夫は、2つの「誤差」を分けて動かしたこと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3212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イメージ図（論文のデータではない）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FD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155448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σ_L ＜ 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920240"/>
            <a:ext cx="338328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誤差を小さく仮定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判定が厳しすぎる → 本物を誤って除外しやすい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108960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155448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σ_L ＝ 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200400"/>
            <a:ext cx="338328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正直に仮定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本来の約束（5%）に近づくはず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59"/>
            <a:ext cx="155448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σ_L ＞ 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480559"/>
            <a:ext cx="338328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誤差を大きく仮定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慎重になる → 上限は弱くなる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669280"/>
            <a:ext cx="5257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試した対象：矮小銀河 1 個（Ursa Minor）と、27 個をまとめた解析（スタック）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論文の結果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結果①：J の誤差を正直に広げると、上限はこれだけ弱くなる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σ_L に誤差を足す（2乗和で足す）と、⟨σv⟩ の上限（中央値）が何倍ゆるくなるか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828800"/>
          <a:ext cx="60350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766560" y="1828800"/>
          <a:ext cx="489204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横軸：足した誤差 Δlog₁₀J　　</a:t>
            </a:r>
            <a:r>
              <a:rPr sz="16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→ 上限の強さは、J の誤差をどう扱うか次第で何倍も変わる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論文の結果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結果②：誤差を小さく見積もると、本物を誤って除外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ここが「統計の問題」の本体。数が増えるスタック解析ほど深刻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120640" cy="30175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矮小銀河 1 個（Ursa Minor）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66344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lnSpc>
                <a:spcPct val="110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σ ＞ σ_L だと、名目（5%）より</a:t>
            </a:r>
            <a:r>
              <a:rPr sz="16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かなり多く</a:t>
            </a: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本物を除外</a:t>
            </a:r>
          </a:p>
          <a:p>
            <a:pPr algn="l" marL="256032" indent="-256032">
              <a:lnSpc>
                <a:spcPct val="110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σ_L を σ に合わせれば、</a:t>
            </a:r>
            <a:r>
              <a:rPr sz="16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慎重な判定に戻る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874519"/>
            <a:ext cx="5669280" cy="3017520"/>
          </a:xfrm>
          <a:prstGeom prst="roundRect">
            <a:avLst>
              <a:gd name="adj" fmla="val 6000"/>
            </a:avLst>
          </a:prstGeom>
          <a:solidFill>
            <a:srgbClr val="FD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27 個をまとめた解析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560320"/>
            <a:ext cx="521208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lnSpc>
                <a:spcPct val="110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基準の設定のままでも、本物を</a:t>
            </a:r>
            <a:r>
              <a:rPr sz="16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5% をはるかに超える頻度</a:t>
            </a: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で除外</a:t>
            </a:r>
          </a:p>
          <a:p>
            <a:pPr algn="l" marL="256032" indent="-256032">
              <a:lnSpc>
                <a:spcPct val="110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誤差を小さく見積もると、さらに悪化</a:t>
            </a:r>
          </a:p>
          <a:p>
            <a:pPr algn="l" marL="256032" indent="-256032">
              <a:lnSpc>
                <a:spcPct val="110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σ_L ＝ σ にしても</a:t>
            </a:r>
            <a:r>
              <a:rPr sz="16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完全には戻らない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557784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なぜ？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J のばらつきは「上に長い尾」を持つ。27 個もあれば、たまたま J が大きく出た天体が混ざり、全体の上限を強く引っ張ってしまう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5074920"/>
            <a:ext cx="5303520" cy="1234440"/>
          </a:xfrm>
          <a:prstGeom prst="roundRect">
            <a:avLst>
              <a:gd name="adj" fmla="val 6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5138928"/>
            <a:ext cx="493776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論文の処方箋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理論の公式に頼らず、シミュレーションや blank field（何も無い空の領域）で実際の誤判定率を測って較正する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論文の結果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結果③：ハローの形を間違えると、上限が強く出すぎる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Ursa Minor で、本当は cNFW 型のハローを別の形として解析すると…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FD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3200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2.4 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320040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球対称 NFW として解析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形の仮定の誤り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上限が過大評価になる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74519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FD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57400"/>
            <a:ext cx="3200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1.4 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200400"/>
            <a:ext cx="320040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点源（広がりなし）として解析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広がりを無視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上限が過大評価になる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74519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057400"/>
            <a:ext cx="30175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27 個の解析でも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全部を点源として扱うと、本物の信号を除外する率が大きく増える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20640"/>
            <a:ext cx="11109960" cy="1143000"/>
          </a:xfrm>
          <a:prstGeom prst="roundRect">
            <a:avLst>
              <a:gd name="adj" fmla="val 6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6070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論文の提案：</a:t>
            </a: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ハローの広がりや形を「決め打ち」せず、解析の中で動かせる余分なパラメータ（局外パラメータ）として扱う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論文の内容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論文の結論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FD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Meiryo"/>
                <a:cs typeface="Meiry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00200"/>
            <a:ext cx="97840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銀河中心の信号と矮小銀河の上限の「矛盾」は、誇張されている可能性がある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J の誤差・空間的な広がり・ハローの形を正しく扱わない場合や、上限が名目どおりのカバレッジを持たない場合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3520440"/>
            <a:ext cx="594360" cy="59436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Meiryo"/>
                <a:cs typeface="Meiry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246120"/>
            <a:ext cx="97840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それでも矮小銀河は重要な確認役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暗黒物質の解釈を確かめるにも否定するにも、天文学的・統計的な誤差の確かな扱いが前提になる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5488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5166360"/>
            <a:ext cx="594360" cy="59436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Meiryo"/>
                <a:cs typeface="Meiry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892040"/>
            <a:ext cx="97840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将来、観測が深くなっても鍵は J の誤差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Fermi の観測延長・次世代望遠鏡・新しい矮小銀河の発見があっても、J の誤差をずっと良く抑えることが必要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卒論拡張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卒論拡張①：僕の研究にも同じ「統計の問題」があった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主結果は Bin6（20.76 GeV）で 19.1σ。ただしこの σ は理論の公式による名目値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828800"/>
          <a:ext cx="42062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120640" y="1828800"/>
            <a:ext cx="6537960" cy="1234440"/>
          </a:xfrm>
          <a:prstGeom prst="roundRect">
            <a:avLst>
              <a:gd name="adj" fmla="val 6000"/>
            </a:avLst>
          </a:prstGeom>
          <a:solidFill>
            <a:srgbClr val="FD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938528"/>
            <a:ext cx="301752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最大 4.50σ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938528"/>
            <a:ext cx="315468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何も無いはずの場所でも、ここまで大きな σ が出た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246120"/>
            <a:ext cx="6537960" cy="1234440"/>
          </a:xfrm>
          <a:prstGeom prst="roundRect">
            <a:avLst>
              <a:gd name="adj" fmla="val 6000"/>
            </a:avLst>
          </a:prstGeom>
          <a:solidFill>
            <a:srgbClr val="FD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3355848"/>
            <a:ext cx="301752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|σ| &gt; 3 が 2.4%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355848"/>
            <a:ext cx="315468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理論どおりなら 0.27%。約 9 倍多い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4663440"/>
            <a:ext cx="6537960" cy="1600200"/>
          </a:xfrm>
          <a:prstGeom prst="roundRect">
            <a:avLst>
              <a:gd name="adj" fmla="val 6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4754880"/>
            <a:ext cx="61264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論文が勧める blank field 較正を、2026-07-31 に実施済み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→ 「19σ だから確実」とは言えない。名目の σ は実際より大きく出る方向にずれている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卒論拡張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卒論拡張②：正直に出すべき弱点と、混ぜてはいけない点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FD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弱点：矮小銀河の J の誤差をゼロとして扱っていた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50292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矮小銀河で期待される信号は </a:t>
            </a:r>
            <a:r>
              <a:rPr sz="1500" b="1" i="0">
                <a:solidFill>
                  <a:srgbClr val="C2410C"/>
                </a:solidFill>
                <a:latin typeface="Calibri"/>
                <a:ea typeface="Meiryo"/>
                <a:cs typeface="Meiryo"/>
              </a:rPr>
              <a:t>1.35–5.4σ</a:t>
            </a: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（1つの値ではなく幅）</a:t>
            </a:r>
          </a:p>
          <a:p>
            <a:pPr algn="l" marL="256032" indent="-256032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幅の主因は天の川側の密度の仮定（2乗で効く）</a:t>
            </a:r>
          </a:p>
          <a:p>
            <a:pPr algn="l" marL="256032" indent="-256032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論文の Δlog₁₀J ≈ 0.5 を入れると、幅はさらに広がる</a:t>
            </a:r>
          </a:p>
          <a:p>
            <a:pPr algn="l" marL="256032" indent="-256032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500" b="1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→ 今のデータでは判定できない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63040"/>
            <a:ext cx="5303520" cy="32918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60020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4213D"/>
                </a:solidFill>
                <a:latin typeface="Calibri"/>
                <a:ea typeface="Meiryo"/>
                <a:cs typeface="Meiryo"/>
              </a:rPr>
              <a:t>注意：別の信号を混ぜない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240280"/>
            <a:ext cx="13716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この論文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240280"/>
            <a:ext cx="3566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銀河中心 GeV 超過（GCE）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WIMP 35–65 GeV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154680"/>
            <a:ext cx="13716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僕の卒論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154680"/>
            <a:ext cx="35661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Totani の 20 GeV ハロー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B6472"/>
                </a:solidFill>
                <a:latin typeface="Calibri"/>
                <a:ea typeface="Meiryo"/>
                <a:cs typeface="Meiryo"/>
              </a:rPr>
              <a:t>WIMP 0.5–0.8 TeV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069080"/>
            <a:ext cx="48463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共通するのは「天の川の信号 vs 矮小銀河の上限」という構図だけ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83480"/>
            <a:ext cx="11109960" cy="1325880"/>
          </a:xfrm>
          <a:prstGeom prst="roundRect">
            <a:avLst>
              <a:gd name="adj" fmla="val 6000"/>
            </a:avLst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0B7285"/>
                </a:solidFill>
                <a:latin typeface="Calibri"/>
                <a:ea typeface="Meiryo"/>
                <a:cs typeface="Meiryo"/>
              </a:rPr>
              <a:t>今後（卒論での扱い）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  <a:ea typeface="Meiryo"/>
                <a:cs typeface="Meiryo"/>
              </a:rPr>
              <a:t>矮小銀河の予測に J の誤差（Δlog₁₀J ≈ 0.5）を入れて幅を出し直し、blank field 較正と合わせて考察に書く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詳細なmethodについて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202304239</dc:creator>
  <cp:lastModifiedBy>202304239</cp:lastModifiedBy>
  <cp:revision>1</cp:revision>
  <dcterms:created xsi:type="dcterms:W3CDTF">2026-10-01T06:55:31Z</dcterms:created>
  <dcterms:modified xsi:type="dcterms:W3CDTF">2026-10-01T06:57:06Z</dcterms:modified>
</cp:coreProperties>
</file>