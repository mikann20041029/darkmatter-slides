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5"/>
    <p:sldId id="258" r:id="rId3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445" autoAdjust="0"/>
    <p:restoredTop sz="94660"/>
  </p:normalViewPr>
  <p:slideViewPr>
    <p:cSldViewPr snapToGrid="0" showGuides="1">
      <p:cViewPr varScale="1">
        <p:scale>
          <a:sx n="47" d="100"/>
          <a:sy n="47" d="100"/>
        </p:scale>
        <p:origin x="62" y="1109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3.xml"/><Relationship Id="rId4" Type="http://schemas.openxmlformats.org/officeDocument/2006/relationships/notesMaster" Target="notesMasters/notesMaster1.xml"/><Relationship Id="rId5" Type="http://schemas.openxmlformats.org/officeDocument/2006/relationships/slide" Target="slides/slide2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矮小銀河 1 個（Ursa Minor）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上限が弱くなる倍率</c:v>
                </c:pt>
              </c:strCache>
            </c:strRef>
          </c:tx>
          <c:spPr>
            <a:solidFill>
              <a:srgbClr val="000000"/>
            </a:solidFill>
          </c:spPr>
          <c:cat>
            <c:strRef>
              <c:f>Sheet1!$A$2:$A$4</c:f>
              <c:strCache>
                <c:ptCount val="3"/>
                <c:pt idx="0">
                  <c:v>+0.3</c:v>
                </c:pt>
                <c:pt idx="1">
                  <c:v>+0.5</c:v>
                </c:pt>
                <c:pt idx="2">
                  <c:v>+1.0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2.5</c:v>
                </c:pt>
                <c:pt idx="2">
                  <c:v>11</c:v>
                </c:pt>
              </c:numCache>
            </c:numRef>
          </c:val>
        </c:ser>
        <c:dLbls>
          <c:numFmt formatCode="0.0&quot;倍&quot;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000000"/>
          </a:solidFill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27 個をまとめた解析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上限が弱くなる倍率</c:v>
                </c:pt>
              </c:strCache>
            </c:strRef>
          </c:tx>
          <c:spPr>
            <a:solidFill>
              <a:srgbClr val="000000"/>
            </a:solidFill>
          </c:spPr>
          <c:cat>
            <c:strRef>
              <c:f>Sheet1!$A$2:$A$3</c:f>
              <c:strCache>
                <c:ptCount val="2"/>
                <c:pt idx="0">
                  <c:v>+0.5</c:v>
                </c:pt>
                <c:pt idx="1">
                  <c:v>+1.0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1.4</c:v>
                </c:pt>
                <c:pt idx="1">
                  <c:v>3.2</c:v>
                </c:pt>
              </c:numCache>
            </c:numRef>
          </c:val>
        </c:ser>
        <c:dLbls>
          <c:numFmt formatCode="0.0&quot;倍&quot;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9AA5B1"/>
            </a:solidFill>
          </a:ln>
        </c:spPr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3.0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300">
          <a:solidFill>
            <a:srgbClr val="000000"/>
          </a:solidFill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4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何も無い領域で測った σ の標準偏差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標準偏差</c:v>
                </c:pt>
              </c:strCache>
            </c:strRef>
          </c:tx>
          <c:dPt>
            <c:idx val="0"/>
            <c:spPr>
              <a:solidFill>
                <a:srgbClr val="BFBFBF"/>
              </a:solidFill>
            </c:spPr>
          </c:dPt>
          <c:dPt>
            <c:idx val="1"/>
            <c:spPr>
              <a:solidFill>
                <a:srgbClr val="000000"/>
              </a:solidFill>
            </c:spPr>
          </c:dPt>
          <c:cat>
            <c:strRef>
              <c:f>Sheet1!$A$2:$A$3</c:f>
              <c:strCache>
                <c:ptCount val="2"/>
                <c:pt idx="0">
                  <c:v>理論どおりなら</c:v>
                </c:pt>
                <c:pt idx="1">
                  <c:v>実測（833 か所）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1.0</c:v>
                </c:pt>
                <c:pt idx="1">
                  <c:v>1.362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sz="1600" b="1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.6"/>
          <c:min val="0.0"/>
        </c:scaling>
        <c:delete/>
        <c:axPos val="l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200">
          <a:solidFill>
            <a:srgbClr val="000000"/>
          </a:solidFill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ここは introduction の内容。</a:t>
            </a:r>
          </a:p>
          <a:p>
            <a:r>
              <a:t>銀河中心の超過 (GCE) は、暗黒物質が対消滅してガンマ線を出している、という解釈が有力。</a:t>
            </a:r>
          </a:p>
          <a:p>
            <a:r>
              <a:t>対抗説のミリ秒パルサーは、introduction で3つの理由から否定的に扱われている。</a:t>
            </a:r>
          </a:p>
          <a:p>
            <a:r>
              <a:t>注意: これは GCE (35–65 GeV の WIMP) の話。僕の卒論の Totani の 20 GeV ハロー (0.5–0.8 TeV) とは別の信号。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introduction の内容: 矮小銀河の信号は銀河中心より 10^3〜10^4 倍以上弱いが、ガスや星形成が無く雑音が少ないので、確認には一番説得力がある。</a:t>
            </a:r>
          </a:p>
          <a:p>
            <a:r>
              <a:t>J ファクターは「暗黒物質の密度の2乗を視線方向に積分した量」。「詰まっている量の合計」と言うと不正確なので、必ず「2乗」と言う。</a:t>
            </a:r>
          </a:p>
          <a:p>
            <a:r>
              <a:t>観測で決まるのは「⟨σv⟩×J」の組み合わせなので、J の見積もりがずれると ⟨σv⟩ の上限もずれる。これが論文全体の出発点。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の内容。系統誤差の要因 4 つは abstract に列挙されているもの (個別の解説は本文 Section II なので使わない)。</a:t>
            </a:r>
          </a:p>
          <a:p>
            <a:r>
              <a:t>「誤差を見積もりすぎ」ではなく「小さく見積もりすぎ」が問題。文献ごとの J の値は、書かれている誤差よりも大きくばらついている。</a:t>
            </a:r>
          </a:p>
          <a:p>
            <a:r>
              <a:t>Δlog10J = 0.5 は、J が 10^0.5 ≒ 3.2 倍くらいずれうる、という意味。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ここが今回の「統計の問題」の核心。</a:t>
            </a:r>
          </a:p>
          <a:p>
            <a:r>
              <a:t>95% 上限とは、「同じ観測を何度もやり直したら、本物の値をうっかり除外してしまうのは 5% 以下」という約束。</a:t>
            </a:r>
          </a:p>
          <a:p>
            <a:r>
              <a:t>この約束が守られているかを「カバレッジ」という。守られていなければ「アンダーカバレッジ」で、上限が実際より強すぎる (過大評価になっている) ことを意味する。</a:t>
            </a:r>
          </a:p>
          <a:p>
            <a:r>
              <a:t>現実の宇宙は 1 つしかないので、論文では「本物の暗黒物質の信号が入った宇宙」をシミュレーションで何度も作り、何回誤って除外したかを数えている。</a:t>
            </a:r>
          </a:p>
          <a:p>
            <a:r>
              <a:t>図の点の数は説明用の例。論文本文の具体的な割合 (Section V) は今回の縛りで使わない。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の内容。σ_L は「解析ソフトに渡す誤差の想定値」、σ は「J の推定値が本当の値の周りで実際にどれだけばらつくか」。</a:t>
            </a:r>
          </a:p>
          <a:p>
            <a:r>
              <a:t>前のスライドで作ったたとえ: ソフトに「誤差は小さいから厳しく判定してね」と指示する (σ_L &lt; σ) と、仕込んでおいた本物の暗黒物質を「偽物だ」と誤判定して見落とす。</a:t>
            </a:r>
          </a:p>
          <a:p>
            <a:r>
              <a:t>「誤差は大きいはずだから余裕を持って」と指示する (σ_L を大きく) と、誤判定は減るが上限は弱くなる。</a:t>
            </a:r>
          </a:p>
          <a:p>
            <a:r>
              <a:t>この2つを分けて動かしたことで、「誤差を大きくした効果」と「誤差を小さく見積もった場合の結末」の両方を調べられた。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abstract と conclusions の数字。</a:t>
            </a:r>
          </a:p>
          <a:p>
            <a:r>
              <a:t>Ursa Minor 1 個: σ_L に 0.3 / 0.5 / 1.0 を2乗和で足すと、上限の中央値が 1.5 / 2.5 / 11 倍弱くなる。</a:t>
            </a:r>
          </a:p>
          <a:p>
            <a:r>
              <a:t>27 個スタック: Δlog10J を 0.5 / 1.0 足すと 1.4 / 3.2 倍弱くなる。数を増やすと 1 個あたりの影響は薄まるが、それでも無視できない。</a:t>
            </a:r>
          </a:p>
          <a:p>
            <a:r>
              <a:t>「2乗和で足す (quadrature)」は、独立な誤差を合わせるときの普通のやり方: 合計 = √(元の誤差² + 足す誤差²)。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</a:t>
            </a:r>
          </a:p>
          <a:p>
            <a:r>
              <a:t>1 個 (Ursa Minor) なら、σ_L を σ に合わせれば保守的な判定 (カバレッジ) に戻る。</a:t>
            </a:r>
          </a:p>
          <a:p>
            <a:r>
              <a:t>27 個スタックでは、基準の σ_L = σ_cat でも、95% 上限が本物の信号を「5% をはるかに超える」頻度で除外する。つまり、普段使う漸近的な尤度の公式 (Wilks の定理などの「データが十分多ければ成り立つ」近似) が、この解析では約束を守れていない。</a:t>
            </a:r>
          </a:p>
          <a:p>
            <a:r>
              <a:t>理由: J は対数正規分布でばらつくので、上振れ側に長い尾がある。上振れした天体が全体の制約を不釣り合いに強くする。</a:t>
            </a:r>
          </a:p>
          <a:p>
            <a:r>
              <a:t>処方箋: シミュレーションや blank field で較正する。→ これは僕の卒論で 2026-07-31 にやったことと同じ発想 (後のスライド)。</a:t>
            </a:r>
          </a:p>
          <a:p>
            <a:r>
              <a:t>本文 (Section V, Fig. 7) にある具体的な除外率の数字は、縛りに従い使わない。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の内容。Ursa Minor に cNFW 型の信号を入れ、それを球対称 NFW で当てはめると上限の中央値が 2.4 倍、点源として扱うと 1.4 倍、強く出すぎる。</a:t>
            </a:r>
          </a:p>
          <a:p>
            <a:r>
              <a:t>「強く出すぎる」= 上限が過大評価になっている、ということ。</a:t>
            </a:r>
          </a:p>
          <a:p>
            <a:r>
              <a:t>スタック解析で全部を点源扱いにすると、本物の信号の棄却率がかなり増える (具体的な % は本文にしか無いので使わない)。</a:t>
            </a:r>
          </a:p>
          <a:p>
            <a:r>
              <a:t>局外パラメータ (nuisance parameter): 知りたい量ではないが、結果に影響するので一緒に動かして不確かさを取り込むパラメータ。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conclusions の最後の 3 段落の要約。</a:t>
            </a:r>
          </a:p>
          <a:p>
            <a:r>
              <a:t>1 が一番大事: 矛盾が「過剰に誇張 (overstated)」されうる。</a:t>
            </a:r>
          </a:p>
          <a:p>
            <a:r>
              <a:t>2: 矮小銀河の価値が下がるのではなく、誤差の扱いが信頼できることが前提、という主張。</a:t>
            </a:r>
          </a:p>
          <a:p>
            <a:r>
              <a:t>3: 新しい矮小銀河で J がとても大きいものは多くないと予想されるので、今ある天体の J の誤差を減らすことが重要になる。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ここから卒論とのつながり。数字は docs/verification/verdict.md と docs/HANDOFF.md から。</a:t>
            </a:r>
          </a:p>
          <a:p>
            <a:r>
              <a:t>論文の「アンダーカバレッジ」と同じ問題が、僕の解析にもあった: 理論の公式 (漸近近似) で出した σ が、実際のばらつきと合っていない。</a:t>
            </a:r>
          </a:p>
          <a:p>
            <a:r>
              <a:t>何も無いはずの空の領域 833 か所で測ると、σ の分布は標準偏差 1.362 (理論なら 1)、最大 4.50σ、|σ|&gt;3 が 2.4% (理論なら 0.27%)。</a:t>
            </a:r>
          </a:p>
          <a:p>
            <a:r>
              <a:t>論文の処方箋「blank field で較正」は、僕がすでに 2026-07-31 にやっていたこと。ここは研究の強みとして出せる。</a:t>
            </a:r>
          </a:p>
          <a:p>
            <a:r>
              <a:t>ただし主結果 19.1σ はあくまで名目値。「19σ だから確実」とは書かない。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数字は verdict.md の C3 と HANDOFF.md から。</a:t>
            </a:r>
          </a:p>
          <a:p>
            <a:r>
              <a:t>弱点: 矮小銀河の J の誤差をゼロとして扱っていた。この論文の主張から見ると、ここは正直に出すべき。</a:t>
            </a:r>
          </a:p>
          <a:p>
            <a:r>
              <a:t>矮小銀河の期待信号は 1.35–5.4σ の幅を持ち (天の川の NFW の密度 ρ_s の仮定が2乗で効く)、実測は -0.18σ。強く矛盾するとは言えず、判定不能。</a:t>
            </a:r>
          </a:p>
          <a:p>
            <a:r>
              <a:t>注意: この論文の GCE (35–65 GeV の WIMP) と、Totani の 20 GeV ハロー (0.5–0.8 TeV の WIMP) は別の信号。共通するのは「天の川の信号 vs 矮小銀河の上限」という構図。</a:t>
            </a:r>
          </a:p>
          <a:p>
            <a:r>
              <a:t>今後の計算は本体リポジトリで行う (この作業場では計算できない)。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876288-565A-D277-27A2-31243F13EE6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3E5DD-02A7-53C2-5F65-A24E78E50A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17448F-53E1-82D6-3186-80CB26BE12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A458DBF-37D4-0C0A-D875-CDA3514B43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F6FE9-2529-E8D0-EFC0-D1A342E812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19658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7D8816-D339-2660-A9A0-5774693A7C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848F07-F7C1-5531-8C5A-F5CF2C857F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F1B3059-FFBB-C324-B03E-02573AB5C3B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B9ECE3-87D5-740C-32C6-62893CC59CA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B83D2D-B749-AF92-45C7-05E5EC690E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990607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E6B5EB-37AD-0723-7BE7-20F99181B8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56D4187-8E02-B2B5-E4C9-6D70116247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6CE90-C1E2-6986-0B63-63E8B1E5B5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D5E9B0-CE6D-032D-6845-E8133D32A0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3E5FE-C493-094D-EFE2-A6727E9EF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564713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37549-3F9D-6C11-B2F1-1D7523B6D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2D3F2B-3014-BE4C-4C81-08CAECAA3D2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7267272-2ACA-EC6E-9436-B1B5CF5839D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526295-694B-7554-218D-7BD3CACD19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B52543D-8122-939F-3C1F-39B89D25E5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7F8A527-B1D7-E4BC-7D31-148F1F7CC8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48312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F21425-E27D-BE8E-B111-4022A019A3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6573FB-B9E2-F6D6-9264-A030FE48BA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EA2C888-7C66-C35B-7532-1721C239AED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00DC823-C9B1-4252-E72C-9616EE7B0E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AB94EF5-DB06-D6C3-1030-67C290A7DA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FCE5A5D-7C36-7BF9-D849-823422836F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6DF2F8A-993F-C373-6FCB-BE41E6036A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D2FAC1-0DFD-063F-B482-E85A1DDE5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9044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A4FC34-CCA0-BC3B-4EE5-57FA07F2E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C37C0BD-2F65-4F9D-8138-332F359FEA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242395-5A90-0018-6EDB-4E9405E9B4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8C42D8-3674-418A-D5C4-DB6641D398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5675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2A4C85A-D13F-5178-0024-E3C109D0DD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FF372-1628-52FA-CEEB-FEDFC7F13C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30EAACC-8A0F-7C8B-BC4E-F4873FF56F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858735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85A975-6899-E74A-1A75-5C1F8EEA51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C3A41-11A8-9BFA-BB1B-A5FDFF070D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6D7DF43-769A-FA6C-37EB-0F1F3A67FD1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29E693B-A8B0-1E4E-585D-02C764FDEB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549ECA5-8194-6265-66E3-032A3A2CAC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2BFED2F-DDD4-2913-9DD7-B71DA2C4DD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158915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241062-6446-483E-D756-3F4221812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38481AC-877A-3679-3922-7E24EFC988F8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D68AE3-82A7-5109-FFDB-09A55C5D89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D19742-BD7E-99B8-97A5-BDFDBAEB8B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C09F9E-01BC-1D8D-DBFA-C67D85CE33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F2E15-E95B-215D-2D7A-97ABF8343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1260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D9D0B6-F229-D16D-C4E9-E8E0B3EF66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0B9E41-E224-A442-50B4-B6CBC0B7C2A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524D2B-D699-D09D-1C65-68289F3A35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8B7D08-9F28-621F-D5D3-104D9A90E4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9E9F74-A8C1-1C42-8ADD-52848708EF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790289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01748E-72C1-68E8-90C0-875C231A63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DC620C0-FBC2-5C34-97CC-6EAE9A8A5AC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CD38CD2-8B3B-E7F4-603C-4B3A5B00A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0F84EF-48D8-FE9D-60E9-F5F71DB00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634EC4F-E359-4520-590D-9FC0ADC11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8669456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BC2FA98-376E-B2DA-BDD0-3CEC43EB5F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08C2AA-C505-9533-8DBC-806557F9DC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B61E66-6EFC-D134-2D97-6609ED0BA92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0FFF5C-2D96-4D39-AE5C-E4AC30C80AB5}" type="datetimeFigureOut">
              <a:rPr lang="en-US" smtClean="0"/>
              <a:t>10/1/2026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3892EF-E1D3-FFF9-F20D-00FF9F9B365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BC47A-0E1A-78CA-FF77-948AC15C49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021828-075A-45DF-8059-95C63D32176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5316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Relationship Id="rId3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F85CD606-E3CE-F314-B3EE-F3D7028115CB}"/>
              </a:ext>
            </a:extLst>
          </p:cNvPr>
          <p:cNvSpPr txBox="1"/>
          <p:nvPr/>
        </p:nvSpPr>
        <p:spPr>
          <a:xfrm>
            <a:off x="5837182" y="5663239"/>
            <a:ext cx="6093372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/>
              <a:t>Reference:</a:t>
            </a:r>
            <a:r>
              <a:rPr lang="en-US"/>
              <a:t> Toni Bertólez-Martínez, et al. (2026). "Systematic uncertainties in the J-factor determination of dwarf spheroidal galaxies", </a:t>
            </a:r>
            <a:r>
              <a:rPr lang="en-US" i="1"/>
              <a:t>arXiv:2609.20944</a:t>
            </a:r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0FE36-509A-D2B0-488B-C638301D6998}"/>
              </a:ext>
            </a:extLst>
          </p:cNvPr>
          <p:cNvSpPr txBox="1"/>
          <p:nvPr/>
        </p:nvSpPr>
        <p:spPr>
          <a:xfrm>
            <a:off x="1564727" y="1242113"/>
            <a:ext cx="945536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4800"/>
              <a:t>Toni Bertólez-Martínez, et al. (2026)</a:t>
            </a:r>
            <a:r>
              <a:rPr lang="ja-JP" altLang="en-US" sz="4800"/>
              <a:t>の内容解説と、それを踏まえた</a:t>
            </a:r>
            <a:endParaRPr lang="en-US" altLang="ja-JP" sz="4800"/>
          </a:p>
          <a:p>
            <a:r>
              <a:rPr lang="ja-JP" altLang="en-US" sz="4800"/>
              <a:t>卒論拡張について</a:t>
            </a:r>
            <a:endParaRPr lang="en-US" sz="4800"/>
          </a:p>
        </p:txBody>
      </p:sp>
    </p:spTree>
    <p:extLst>
      <p:ext uri="{BB962C8B-B14F-4D97-AF65-F5344CB8AC3E}">
        <p14:creationId xmlns:p14="http://schemas.microsoft.com/office/powerpoint/2010/main" val="2385481918"/>
      </p:ext>
    </p:extLst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背景：銀河中心からの「ガンマ線超過」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Fermi-LAT が見つけた銀河中心の余分なガンマ線は、暗黒物質（WIMP）の対消滅で説明できる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5394960" cy="43434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5740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WIMP で説明すると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606040"/>
            <a:ext cx="4937760" cy="3474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スペクトル・広がり方・明るさの3つがそろって WIMP の予想と合う</a:t>
            </a:r>
          </a:p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質量 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35–65 GeV</a:t>
            </a:r>
            <a:r>
              <a:rPr sz="14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（b b̄ に消滅する場合）</a:t>
            </a:r>
          </a:p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消滅断面積 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⟨σv⟩ ≈ (1–3)×10⁻²⁶ cm³/s</a:t>
            </a:r>
          </a:p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宇宙初期に自然にできる WIMP の値（≈ 2.2×10⁻²⁶）とちょうど合う</a:t>
            </a:r>
          </a:p>
        </p:txBody>
      </p:sp>
      <p:sp>
        <p:nvSpPr>
          <p:cNvPr id="7" name="Rectangle 6"/>
          <p:cNvSpPr/>
          <p:nvPr/>
        </p:nvSpPr>
        <p:spPr>
          <a:xfrm>
            <a:off x="6263640" y="1874519"/>
            <a:ext cx="5394960" cy="434340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05740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対抗説：ミリ秒パルサー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606040"/>
            <a:ext cx="49377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ありうるが、否定的な材料が3つある</a:t>
            </a:r>
          </a:p>
        </p:txBody>
      </p:sp>
      <p:sp>
        <p:nvSpPr>
          <p:cNvPr id="10" name="Oval 9"/>
          <p:cNvSpPr/>
          <p:nvPr/>
        </p:nvSpPr>
        <p:spPr>
          <a:xfrm>
            <a:off x="6537960" y="3108960"/>
            <a:ext cx="411480" cy="411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86600" y="3063240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銀河の内側ではほとんど見つかっていない（暗い天体が 10⁵ 個以上必要）</a:t>
            </a:r>
          </a:p>
        </p:txBody>
      </p:sp>
      <p:sp>
        <p:nvSpPr>
          <p:cNvPr id="12" name="Oval 11"/>
          <p:cNvSpPr/>
          <p:nvPr/>
        </p:nvSpPr>
        <p:spPr>
          <a:xfrm>
            <a:off x="6537960" y="4096512"/>
            <a:ext cx="411480" cy="411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86600" y="4050792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パルサーの“親”にあたる X 線連星が少なく、超過の 4–11% しか説明できない</a:t>
            </a:r>
          </a:p>
        </p:txBody>
      </p:sp>
      <p:sp>
        <p:nvSpPr>
          <p:cNvPr id="14" name="Oval 13"/>
          <p:cNvSpPr/>
          <p:nvPr/>
        </p:nvSpPr>
        <p:spPr>
          <a:xfrm>
            <a:off x="6537960" y="5084064"/>
            <a:ext cx="411480" cy="41148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5038344"/>
            <a:ext cx="4389120" cy="9144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生まれたときの“キック”で広がるはずなのに、超過は中心に集中しすぎ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確認役としての矮小銀河と「J ファクター」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本当に暗黒物質なら、天の川の周りの矮小銀河からも同じ形のガンマ線が来るはず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5204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1168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信号は弱い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銀河中心より 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10³〜10⁴ 倍</a:t>
            </a: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 以上暗い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4160520"/>
            <a:ext cx="3520440" cy="21031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4297680"/>
            <a:ext cx="3108960" cy="19202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でも雑音が少ない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ガスが少なく、最近の星形成もほぼ無い → ほかのガンマ線源がほとんど無い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251960" y="3840480"/>
            <a:ext cx="548640" cy="411480"/>
          </a:xfrm>
          <a:prstGeom prst="rightArrow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983480" y="1874519"/>
            <a:ext cx="6675120" cy="43891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57800" y="2011680"/>
            <a:ext cx="62179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J ファクター ＝ 信号の明るさを決める量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57800" y="2606040"/>
            <a:ext cx="621792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暗黒物質の密度を</a:t>
            </a: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2乗</a:t>
            </a:r>
            <a:r>
              <a:rPr sz="19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して、視線方向に足し合わせた量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57800" y="3429000"/>
            <a:ext cx="621792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信号の強さ ∝ （粒子の性質 ⟨σv⟩）×（J ファクター）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4069080"/>
            <a:ext cx="6217920" cy="21031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2乗なのは、対消滅に粒子が2つ必要だから。密度が2倍なら信号は4倍</a:t>
            </a:r>
          </a:p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矮小銀河の J は、星の動き（速さ）から推定するしかない</a:t>
            </a:r>
          </a:p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→ J を間違えると、⟨σv⟩ の上限もそのままずれる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この論文の問題提起：J の誤差は小さく見積もられている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J の推定には、多くの研究が誤差に入れていない「系統誤差」の要因がある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965960"/>
            <a:ext cx="58521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31520" y="2103120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039112"/>
            <a:ext cx="48463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星の所属判定（どの星が矮小銀河のメンバーか）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926080"/>
            <a:ext cx="58521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3063240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999232"/>
            <a:ext cx="48463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見分けられていない連星（速さが余分にばらつく）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3886200"/>
            <a:ext cx="58521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4023360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959352"/>
            <a:ext cx="48463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力学的な釣り合い・球対称からのズレ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846320"/>
            <a:ext cx="585216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31520" y="4983480"/>
            <a:ext cx="502920" cy="50292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919472"/>
            <a:ext cx="4846320" cy="64008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星と暗黒物質の密度分布の形の仮定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766560" y="1965960"/>
            <a:ext cx="4892040" cy="365760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40880" y="2103120"/>
            <a:ext cx="438912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文献ごとの J の値のばらつき ＞ 書かれている誤差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926080"/>
            <a:ext cx="4389120" cy="10058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Δlog₁₀J ≈ 0.5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40880" y="3931920"/>
            <a:ext cx="438912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以上の誤差を見込むべき天体が多い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（log で 0.5 ＝ 約 3 倍のずれ）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5216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→ では、この誤差を入れないと解析の結果はどうなるのか？ を調べたのがこの論文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統計の準備①：「95% 上限」と「カバレッジ」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今回の問題の中心は統計。まず「95% 上限」が本来どういう約束なのかを押さえる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111099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607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95% 上限の約束：</a:t>
            </a: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同じ観測を何度もやり直したとき、本物の ⟨σv⟩ を「ありえない」と</a:t>
            </a:r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誤って除外するのは 5% 以下</a:t>
            </a: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に収まる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この約束が守られている割合を </a:t>
            </a:r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カバレッジ</a:t>
            </a: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、守られていない状態を </a:t>
            </a:r>
            <a:r>
              <a:rPr sz="17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アンダーカバレッジ</a:t>
            </a:r>
            <a:r>
              <a:rPr sz="17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 と呼ぶ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56616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約束どおり</a:t>
            </a:r>
          </a:p>
        </p:txBody>
      </p:sp>
      <p:sp>
        <p:nvSpPr>
          <p:cNvPr id="7" name="Oval 6"/>
          <p:cNvSpPr/>
          <p:nvPr/>
        </p:nvSpPr>
        <p:spPr>
          <a:xfrm>
            <a:off x="3566160" y="3611880"/>
            <a:ext cx="292608" cy="29260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50208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334256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4718304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102352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5486400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5870448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254496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638544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022592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406640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790688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174736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58784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942832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326880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710928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0094976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479024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0863072" y="361188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66160" y="3977639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20 回やり直して、本物を誤って除外するのは 1 回程度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4526280"/>
            <a:ext cx="292608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アンダーカバレッジ</a:t>
            </a:r>
          </a:p>
        </p:txBody>
      </p:sp>
      <p:sp>
        <p:nvSpPr>
          <p:cNvPr id="29" name="Oval 28"/>
          <p:cNvSpPr/>
          <p:nvPr/>
        </p:nvSpPr>
        <p:spPr>
          <a:xfrm>
            <a:off x="3566160" y="4572000"/>
            <a:ext cx="292608" cy="29260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950208" y="4572000"/>
            <a:ext cx="292608" cy="29260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334256" y="4572000"/>
            <a:ext cx="292608" cy="29260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4718304" y="4572000"/>
            <a:ext cx="292608" cy="29260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102352" y="4572000"/>
            <a:ext cx="292608" cy="292608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486400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870448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254496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638544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022592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06640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790688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8174736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558784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8942832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326880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710928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10094976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10479024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10863072" y="4572000"/>
            <a:ext cx="292608" cy="292608"/>
          </a:xfrm>
          <a:prstGeom prst="ellipse">
            <a:avLst/>
          </a:prstGeom>
          <a:solidFill>
            <a:srgbClr val="D0D0D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566160" y="4937760"/>
            <a:ext cx="7772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「95% 上限」と名乗っているのに、本物を除外する回数がもっと多い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48640" y="557784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● = 本物の信号を誤って除外した回　（点の数は説明のための例で、論文の値ではない）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確かめ方：本物の信号を入れた疑似データを何度も作り、誤って除外した割合を数える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統計の準備②：本当のばらつき σ と、解析が仮定する幅 σ_L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この論文の工夫は、2つの「誤差」を分けて動かしたこと</a:t>
            </a:r>
          </a:p>
        </p:txBody>
      </p:sp>
      <p:pic>
        <p:nvPicPr>
          <p:cNvPr id="4" name="Picture 3" descr="fig_sigma_vs_sigm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486400" cy="36576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32120"/>
            <a:ext cx="54864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2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イメージ図（論文のデータではない）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0" y="1828800"/>
            <a:ext cx="5257800" cy="109728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920240"/>
            <a:ext cx="15544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σ_L ＜ 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83879" y="1920240"/>
            <a:ext cx="33832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誤差を小さく仮定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判定が厳しすぎる → 本物を誤って除外しやすい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0" y="3108960"/>
            <a:ext cx="52578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3200400"/>
            <a:ext cx="15544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σ_L ＝ 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83879" y="3200400"/>
            <a:ext cx="33832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正直に仮定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本来の約束（5%）に近づくはず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0" y="4389120"/>
            <a:ext cx="52578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4480559"/>
            <a:ext cx="15544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σ_L ＞ 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83879" y="4480559"/>
            <a:ext cx="3383280" cy="9144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誤差を大きく仮定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4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慎重になる → 上限は弱くなる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5669280"/>
            <a:ext cx="525780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試した対象：矮小銀河 1 個（Ursa Minor）と、27 個をまとめた解析（スタック）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結果①：J の誤差を正直に広げると、上限はこれだけ弱くなる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σ_L に誤差を足す（2乗和で足す）と、⟨σv⟩ の上限（中央値）が何倍ゆるくなるか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828800"/>
          <a:ext cx="6035040" cy="39319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766560" y="1828800"/>
          <a:ext cx="4892040" cy="39319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580644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3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横軸：足した誤差 Δlog₁₀J　　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→ 上限の強さは、J の誤差をどう扱うか次第で何倍も変わる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結果②：誤差を小さく見積もると、本物を誤って除外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ここが「統計の問題」の本体。数が増えるスタック解析ほど深刻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512064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2011680"/>
            <a:ext cx="46634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矮小銀河 1 個（Ursa Minor）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60320"/>
            <a:ext cx="466344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σ ＞ σ_L だと、名目（5%）より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かなり多く</a:t>
            </a: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本物を除外</a:t>
            </a:r>
          </a:p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σ_L を σ に合わせれば、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慎重な判定に戻る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5989320" y="1874519"/>
            <a:ext cx="5669280" cy="301752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63640" y="2011680"/>
            <a:ext cx="521208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27 個をまとめた解析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63640" y="2560320"/>
            <a:ext cx="5212080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基準の設定のままでも、本物を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5% をはるかに超える頻度</a:t>
            </a: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で除外</a:t>
            </a:r>
          </a:p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誤差を小さく見積もると、さらに悪化</a:t>
            </a:r>
          </a:p>
          <a:p>
            <a:pPr algn="l" marL="256032" indent="-256032">
              <a:lnSpc>
                <a:spcPct val="110000"/>
              </a:lnSpc>
              <a:spcAft>
                <a:spcPts val="1000"/>
              </a:spcAft>
              <a:buChar char="•"/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σ_L ＝ σ にしても</a:t>
            </a: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完全には戻らない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074920"/>
            <a:ext cx="557784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なぜ？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J のばらつきは「上に長い尾」を持つ。27 個もあれば、たまたま J が大きく出た天体が混ざり、全体の上限を強く引っ張ってしまう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5074920"/>
            <a:ext cx="5303520" cy="12344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0" y="5138928"/>
            <a:ext cx="4937760" cy="1143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論文の処方箋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理論の公式に頼らず、シミュレーションや blank field（何も無い空の領域）で実際の誤判定率を測って較正する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結果③：ハローの形を間違えると、上限が強く出すぎる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Ursa Minor で、本当は cNFW 型のハローを別の形として解析すると…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874519"/>
            <a:ext cx="3611880" cy="301752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205740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2.4 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320040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球対称 NFW として解析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形の仮定の誤り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上限が過大評価になる</a:t>
            </a:r>
          </a:p>
        </p:txBody>
      </p:sp>
      <p:sp>
        <p:nvSpPr>
          <p:cNvPr id="7" name="Rectangle 6"/>
          <p:cNvSpPr/>
          <p:nvPr/>
        </p:nvSpPr>
        <p:spPr>
          <a:xfrm>
            <a:off x="4389120" y="1874519"/>
            <a:ext cx="3611880" cy="301752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17720" y="2057400"/>
            <a:ext cx="32004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48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1.4 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17720" y="3200400"/>
            <a:ext cx="3200400" cy="15544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点源（広がりなし）として解析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広がりを無視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上限が過大評価になる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0" y="1874519"/>
            <a:ext cx="3429000" cy="30175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58200" y="2057400"/>
            <a:ext cx="3017520" cy="2743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27 個の解析でも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全部を点源として扱うと、本物の信号を除外する率が大きく増える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5120640"/>
            <a:ext cx="11109960" cy="11430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5212080"/>
            <a:ext cx="1060704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論文の提案：</a:t>
            </a: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ハローの広がりや形を「決め打ち」せず、解析の中で動かせる余分なパラメータ（局外パラメータ）として扱う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論文の結論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11109960" cy="141732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187452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91640" y="1600200"/>
            <a:ext cx="97840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銀河中心の信号と矮小銀河の上限の「矛盾」は、誇張されている可能性がある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J の誤差・空間的な広がり・ハローの形を正しく扱わない場合や、上限が名目どおりのカバレッジを持たない場合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3108960"/>
            <a:ext cx="111099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822960" y="352044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3246120"/>
            <a:ext cx="97840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それでも矮小銀河は重要な確認役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暗黒物質の解釈を確かめるにも否定するにも、天文学的・統計的な誤差の確かな扱いが前提になる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4754880"/>
            <a:ext cx="1110996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22960" y="5166360"/>
            <a:ext cx="594360" cy="594360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4892040"/>
            <a:ext cx="978408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9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将来、観測が深くなっても鍵は J の誤差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Fermi の観測延長・次世代望遠鏡・新しい矮小銀河の発見があっても、J の誤差をずっと良く抑えることが必要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卒論拡張①：僕の研究にも同じ「統計の問題」があった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1106424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7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主結果は Bin6（20.76 GeV）で 19.1σ。ただしこの σ は理論の公式による名目値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828800"/>
          <a:ext cx="420624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ectangle 4"/>
          <p:cNvSpPr/>
          <p:nvPr/>
        </p:nvSpPr>
        <p:spPr>
          <a:xfrm>
            <a:off x="5120640" y="1828800"/>
            <a:ext cx="6537960" cy="123444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0" y="1938528"/>
            <a:ext cx="301752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最大 4.50σ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66760" y="1938528"/>
            <a:ext cx="315468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何も無いはずの場所でも、ここまで大きな σ が出た</a:t>
            </a:r>
          </a:p>
        </p:txBody>
      </p:sp>
      <p:sp>
        <p:nvSpPr>
          <p:cNvPr id="8" name="Rectangle 7"/>
          <p:cNvSpPr/>
          <p:nvPr/>
        </p:nvSpPr>
        <p:spPr>
          <a:xfrm>
            <a:off x="5120640" y="3246120"/>
            <a:ext cx="6537960" cy="123444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0" y="3355848"/>
            <a:ext cx="301752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22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|σ| &gt; 3 が 2.4%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66760" y="3355848"/>
            <a:ext cx="3154680" cy="10058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理論どおりなら 0.27%。約 9 倍多い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4663440"/>
            <a:ext cx="6537960" cy="160020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9240" y="4754880"/>
            <a:ext cx="612648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論文が勧める blank field 較正を、2026-07-31 に実施済み</a:t>
            </a:r>
          </a:p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→ 「19σ だから確実」とは言えない。名目の σ は実際より大きく出る方向にずれている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02920"/>
            <a:ext cx="11064240" cy="6858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0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卒論拡張②：正直に出すべき弱点と、混ぜてはいけない点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463040"/>
            <a:ext cx="5486400" cy="3291840"/>
          </a:xfrm>
          <a:prstGeom prst="rect">
            <a:avLst/>
          </a:prstGeom>
          <a:solidFill>
            <a:srgbClr val="F0F0F0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600200"/>
            <a:ext cx="50292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弱点：矮小銀河の J の誤差をゼロとして扱っていた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331720"/>
            <a:ext cx="5029200" cy="23774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矮小銀河で期待される信号は </a:t>
            </a: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1.35–5.4σ</a:t>
            </a: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（1つの値ではなく幅）</a:t>
            </a:r>
          </a:p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幅の主因は天の川側の密度の仮定（2乗で効く）</a:t>
            </a:r>
          </a:p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論文の Δlog₁₀J ≈ 0.5 を入れると、幅はさらに広がる</a:t>
            </a:r>
          </a:p>
          <a:p>
            <a:pPr algn="l" marL="256032" indent="-256032">
              <a:lnSpc>
                <a:spcPct val="110000"/>
              </a:lnSpc>
              <a:spcAft>
                <a:spcPts val="800"/>
              </a:spcAft>
              <a:buChar char="•"/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→ 今のデータでは判定できない</a:t>
            </a:r>
          </a:p>
        </p:txBody>
      </p:sp>
      <p:sp>
        <p:nvSpPr>
          <p:cNvPr id="6" name="Rectangle 5"/>
          <p:cNvSpPr/>
          <p:nvPr/>
        </p:nvSpPr>
        <p:spPr>
          <a:xfrm>
            <a:off x="6355080" y="1463040"/>
            <a:ext cx="530352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29400" y="1600200"/>
            <a:ext cx="484632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8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注意：別の信号を混ぜない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29400" y="2240280"/>
            <a:ext cx="137160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この論文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01000" y="2240280"/>
            <a:ext cx="35661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銀河中心 GeV 超過（GCE）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WIMP 35–65 GeV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29400" y="3154680"/>
            <a:ext cx="137160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5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僕の卒論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01000" y="3154680"/>
            <a:ext cx="3566160" cy="73152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5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Totani の 20 GeV ハロー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0" i="0">
                <a:solidFill>
                  <a:srgbClr val="595959"/>
                </a:solidFill>
                <a:latin typeface="Calibri"/>
                <a:ea typeface="Meiryo"/>
                <a:cs typeface="Meiryo"/>
              </a:rPr>
              <a:t>WIMP 0.5–0.8 TeV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4069080"/>
            <a:ext cx="484632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4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共通するのは「天の川の信号 vs 矮小銀河の上限」という構図だけ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4983480"/>
            <a:ext cx="11109960" cy="1325880"/>
          </a:xfrm>
          <a:prstGeom prst="rect">
            <a:avLst/>
          </a:prstGeom>
          <a:solidFill>
            <a:srgbClr val="FFFFFF"/>
          </a:solidFill>
          <a:ln w="952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5074920"/>
            <a:ext cx="10607040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1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今後（卒論での扱い）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1600" b="0" i="0">
                <a:solidFill>
                  <a:srgbClr val="000000"/>
                </a:solidFill>
                <a:latin typeface="Calibri"/>
                <a:ea typeface="Meiryo"/>
                <a:cs typeface="Meiryo"/>
              </a:rPr>
              <a:t>矮小銀河の予測に J の誤差（Δlog₁₀J ≈ 0.5）を入れて幅を出し直し、blank field 較正と合わせて考察に書く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65</Words>
  <Application>Microsoft Office PowerPoint</Application>
  <PresentationFormat>Widescreen</PresentationFormat>
  <Paragraphs>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詳細なmethodについて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202304239</dc:creator>
  <cp:lastModifiedBy>202304239</cp:lastModifiedBy>
  <cp:revision>1</cp:revision>
  <dcterms:created xsi:type="dcterms:W3CDTF">2026-10-01T06:55:31Z</dcterms:created>
  <dcterms:modified xsi:type="dcterms:W3CDTF">2026-10-01T06:57:06Z</dcterms:modified>
</cp:coreProperties>
</file>