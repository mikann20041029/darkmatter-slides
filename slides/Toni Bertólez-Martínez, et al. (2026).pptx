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5"/>
    <p:sldId id="258" r:id="rId3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45" autoAdjust="0"/>
    <p:restoredTop sz="94660"/>
  </p:normalViewPr>
  <p:slideViewPr>
    <p:cSldViewPr snapToGrid="0" showGuides="1">
      <p:cViewPr varScale="1">
        <p:scale>
          <a:sx n="47" d="100"/>
          <a:sy n="47" d="100"/>
        </p:scale>
        <p:origin x="62" y="1109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数字は .dev/HANDOFF.md、判定記録 (.dev/teams/regionac-dwarf-verification/verdict.md)、cloud_reports/2026-10-01_*.md から。</a:t>
            </a:r>
          </a:p>
          <a:p>
            <a:r>
              <a:t>ICS (逆コンプトン散乱) = 宇宙線の電子が星の光をはね上げて出すガンマ線。銀河全体に広がっていて、ハローと形がよく似ている。</a:t>
            </a:r>
          </a:p>
          <a:p>
            <a:r>
              <a:t>縮退 = 2つの成分の形が似ていて、フィットでどちらに割り振っても同じくらい合ってしまう状態。たとえ: 部屋の電球 (ICS) ともう1つの光 (ハロー) が写真でほぼ同じ形に見える。</a:t>
            </a:r>
          </a:p>
          <a:p>
            <a:r>
              <a:t>19.0σ は 2026-10-01 の再計算 (v20r、コードと設定の記録付き)。Totani の報告は 13–19σ。名目値なので「19σ だから確実」とは言わない。</a:t>
            </a:r>
          </a:p>
          <a:p>
            <a:r>
              <a:t>バブル除外の低下は、ハローを見分ける手がかりの偏り (フィッシャー情報) だけで予測 6.4σ、実測 5.0σ。同じ面積を経度方向にずらした対照でも予測と実測は合う。バブルの内と外でハローの明るさの差は 1.5σ で、意味のある差は無い。</a:t>
            </a:r>
          </a:p>
          <a:p>
            <a:r>
              <a:t>ICS の計算の等方近似は原因ではない: 非等方にしても ICS は 1.1〜1.3 倍で、外側のほうが少し大きい (Moskalenko &amp; Strong 2000)。</a:t>
            </a:r>
          </a:p>
          <a:p>
            <a:r>
              <a:t>残る疑問: GALPROP の ICS の形が、バブル領域で 2.3 倍もずれているか。今の道具では確かめられない。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79 か所 = 矮小銀河 54 (LMC/SMC 含む) + M31/M33 + 対照フィールド 23 (2026-07-31)。</a:t>
            </a:r>
          </a:p>
          <a:p>
            <a:r>
              <a:t>予測は「天の川のハローの明るさ × (矮小銀河の J / 天の川の J)」で出した。粒子の性質 (質量など) は比をとると消えるので仮定していない。</a:t>
            </a:r>
          </a:p>
          <a:p>
            <a:r>
              <a:t>ただし天の川側の密度 (ρ_s) の仮定が2乗で効くので、予測は 1.35–5.4σ という幅になる。実測 −0.18σ と強く矛盾するとは言えない (判定記録 (verdict.md) の C3)。</a:t>
            </a:r>
          </a:p>
          <a:p>
            <a:r>
              <a:t>ここで矮小銀河の J の誤差はゼロとして扱っていた → 次のスライドへ。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つなぎのスライド。</a:t>
            </a:r>
          </a:p>
          <a:p>
            <a:r>
              <a:t>この論文の信号 (銀河中心 GeV 超過 GCE、35–65 GeV の WIMP) と、僕の信号 (Totani の 20 GeV ハロー、0.5–0.8 TeV の WIMP) は別物。</a:t>
            </a:r>
          </a:p>
          <a:p>
            <a:r>
              <a:t>共通するのは「天の川の信号 vs 矮小銀河の上限」という構図。矮小銀河の J の誤差の話は、どちらの信号でも同じように効く。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introduction の内容。銀河中心 GeV 超過 = GCE。</a:t>
            </a:r>
          </a:p>
          <a:p>
            <a:r>
              <a:t>パルサー説への反論は3つ: 銀河の内側でパルサーがほとんど見つかっていない / パルサーのもとになる X 線連星が少なく、超過の 4–11% しか説明できない / パルサーは生まれたときに飛ばされて広がるはずなのに、超過は中心に集中しすぎている。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introduction の内容。</a:t>
            </a:r>
          </a:p>
          <a:p>
            <a:r>
              <a:t>J ファクターは「暗黒物質の密度の2乗を視線方向に積分した量」。2乗なのは、対消滅には粒子が2つ必要だから。密度が2倍なら信号は4倍。</a:t>
            </a:r>
          </a:p>
          <a:p>
            <a:r>
              <a:t>観測で決まるのは ⟨σv⟩ × J の組み合わせなので、J の見積もりがずれると ⟨σv⟩ の上限もずれる。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abstract の内容。誤差の原因の個別の説明は本文 (Section II) なので深入りしない。</a:t>
            </a:r>
          </a:p>
          <a:p>
            <a:r>
              <a:t>文献ごとの J の値は、書かれている誤差よりも大きくばらついている。</a:t>
            </a:r>
          </a:p>
          <a:p>
            <a:r>
              <a:t>Δlog10J = 0.5 は、J が 10^0.5 ≒ 3 倍くらいずれうる、という意味。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答えがわかっている仮想の宇宙を作って、解析がちゃんと正解を出せるか試した、というイメージ。</a:t>
            </a:r>
          </a:p>
          <a:p>
            <a:r>
              <a:t>「95% 上限」は本来、本物の値を間違って除外するのが 5% 以下になるはずのもの。この約束が守られているか (カバレッジ) を調べている。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conclusions の内容。論文は σ (推定した J の本当のばらつき) と σ_L (解析で仮定する幅) を分けて動かした。</a:t>
            </a:r>
          </a:p>
          <a:p>
            <a:r>
              <a:t>図は説明用のイメージで、論文の図ではない。細い山 = ソフトの自信、太い山 = 本当のブレ。幅 0.6 と 1.1 は見た目のための値。</a:t>
            </a:r>
          </a:p>
          <a:p>
            <a:r>
              <a:t>log10 J が正規分布でばらつくとして描いている (論文も J の誤差を Δlog10J で表し、2乗和で足している)。</a:t>
            </a:r>
          </a:p>
          <a:p>
            <a:r>
              <a:t>図は slides/figs/plot_sigma_vs_sigmaL.py で作った。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abstract と conclusions の数字。誤差は「2乗和で足す」(合計 = √(元の誤差² + 足す誤差²))。</a:t>
            </a:r>
          </a:p>
          <a:p>
            <a:r>
              <a:t>上限の値は、誤差の扱い方しだいで何倍も変わる、というのがポイント。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conclusions の内容。95% 上限なのに、本物を除外する割合が 5% を大きく超える = 約束が守られていない (アンダーカバレッジ)。</a:t>
            </a:r>
          </a:p>
          <a:p>
            <a:r>
              <a:t>27 個あると、たまたま J が大きく出た天体がまざり、全体の上限を強く引っ張ってしまう。</a:t>
            </a:r>
          </a:p>
          <a:p>
            <a:r>
              <a:t>「何も無い領域」= blank field。本文にある具体的な割合 (Section V) 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conclusions の内容。本当は cNFW 型のハローを、別の形で解析した場合。</a:t>
            </a:r>
          </a:p>
          <a:p>
            <a:r>
              <a:t>論文は、ハローの形や広がりも決め打ちせず、解析の中で動かせるようにすべきだと提案している。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conclusions の最後の内容。</a:t>
            </a:r>
          </a:p>
          <a:p>
            <a:r>
              <a:t>「矮小銀河で信号が無くて当然」とまでは言っていない。「無いからダメ」と判断するのが早すぎるかも、という主張。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数字は .dev/HANDOFF.md と .dev/teams/regionac-dwarf-verification/verdict.md から。</a:t>
            </a:r>
          </a:p>
          <a:p>
            <a:r>
              <a:t>較正は 2026-07-31 に実施。空の領域では平均 −0.021、標準偏差 1.362、最大 4.50σ、|σ|&gt;3 が 2.4% (理論なら 0.27%)。</a:t>
            </a:r>
          </a:p>
          <a:p>
            <a:r>
              <a:t>弱点として正直に言う: 矮小銀河の J の誤差をゼロとして扱っていた。</a:t>
            </a:r>
          </a:p>
          <a:p>
            <a:r>
              <a:t>予測の出し直しは本体リポジトリで計算する (卒論は 12 月執筆・1 月発表なので、大がかりな新規解析はしない)。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76288-565A-D277-27A2-31243F13EE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F3E5DD-02A7-53C2-5F65-A24E78E50A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17448F-53E1-82D6-3186-80CB26BE1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458DBF-37D4-0C0A-D875-CDA3514B4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F6FE9-2529-E8D0-EFC0-D1A342E81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196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D8816-D339-2660-A9A0-5774693A7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48F07-F7C1-5531-8C5A-F5CF2C857F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B3059-FFBB-C324-B03E-02573AB5C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B9ECE3-87D5-740C-32C6-62893CC59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83D2D-B749-AF92-45C7-05E5EC690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906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6B5EB-37AD-0723-7BE7-20F99181B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6D4187-8E02-B2B5-E4C9-6D70116247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A6CE90-C1E2-6986-0B63-63E8B1E5B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D5E9B0-CE6D-032D-6845-E8133D32A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3E5FE-C493-094D-EFE2-A6727E9E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64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37549-3F9D-6C11-B2F1-1D7523B6D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D3F2B-3014-BE4C-4C81-08CAECAA3D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67272-2ACA-EC6E-9436-B1B5CF5839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526295-694B-7554-218D-7BD3CACD1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2543D-8122-939F-3C1F-39B89D25E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F8A527-B1D7-E4BC-7D31-148F1F7CC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831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21425-E27D-BE8E-B111-4022A019A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6573FB-B9E2-F6D6-9264-A030FE48B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A2C888-7C66-C35B-7532-1721C239AE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0DC823-C9B1-4252-E72C-9616EE7B0E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B94EF5-DB06-D6C3-1030-67C290A7DA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CE5A5D-7C36-7BF9-D849-823422836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DF2F8A-993F-C373-6FCB-BE41E6036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D2FAC1-0DFD-063F-B482-E85A1DDE5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904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4FC34-CCA0-BC3B-4EE5-57FA07F2E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37C0BD-2F65-4F9D-8138-332F359FE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242395-5A90-0018-6EDB-4E9405E9B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8C42D8-3674-418A-D5C4-DB6641D39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5675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A4C85A-D13F-5178-0024-E3C109D0D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3FF372-1628-52FA-CEEB-FEDFC7F13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0EAACC-8A0F-7C8B-BC4E-F4873FF56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5873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5A975-6899-E74A-1A75-5C1F8EEA5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C3A41-11A8-9BFA-BB1B-A5FDFF070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D7DF43-769A-FA6C-37EB-0F1F3A67FD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9E693B-A8B0-1E4E-585D-02C764FDE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49ECA5-8194-6265-66E3-032A3A2CA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BFED2F-DDD4-2913-9DD7-B71DA2C4D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891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1062-6446-483E-D756-3F4221812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8481AC-877A-3679-3922-7E24EFC988F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D68AE3-82A7-5109-FFDB-09A55C5D89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D19742-BD7E-99B8-97A5-BDFDBAEB8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C09F9E-01BC-1D8D-DBFA-C67D85CE3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F2E15-E95B-215D-2D7A-97ABF8343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2600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9D0B6-F229-D16D-C4E9-E8E0B3EF6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0B9E41-E224-A442-50B4-B6CBC0B7C2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24D2B-D699-D09D-1C65-68289F3A3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B7D08-9F28-621F-D5D3-104D9A90E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9E9F74-A8C1-1C42-8ADD-52848708E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9028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01748E-72C1-68E8-90C0-875C231A63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C620C0-FBC2-5C34-97CC-6EAE9A8A5A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38CD2-8B3B-E7F4-603C-4B3A5B00A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0F84EF-48D8-FE9D-60E9-F5F71DB00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34EC4F-E359-4520-590D-9FC0ADC11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69456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C2FA98-376E-B2DA-BDD0-3CEC43EB5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8C2AA-C505-9533-8DBC-806557F9DC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B61E66-6EFC-D134-2D97-6609ED0BA9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3892EF-E1D3-FFF9-F20D-00FF9F9B36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2BC47A-0E1A-78CA-FF77-948AC15C49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316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85CD606-E3CE-F314-B3EE-F3D7028115CB}"/>
              </a:ext>
            </a:extLst>
          </p:cNvPr>
          <p:cNvSpPr txBox="1"/>
          <p:nvPr/>
        </p:nvSpPr>
        <p:spPr>
          <a:xfrm>
            <a:off x="5837182" y="5663239"/>
            <a:ext cx="609337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Reference:</a:t>
            </a:r>
            <a:r>
              <a:rPr lang="en-US"/>
              <a:t> Toni Bertólez-Martínez, et al. (2026). "Systematic uncertainties in the J-factor determination of dwarf spheroidal galaxies", </a:t>
            </a:r>
            <a:r>
              <a:rPr lang="en-US" i="1"/>
              <a:t>arXiv:2609.20944</a:t>
            </a:r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E0FE36-509A-D2B0-488B-C638301D6998}"/>
              </a:ext>
            </a:extLst>
          </p:cNvPr>
          <p:cNvSpPr txBox="1"/>
          <p:nvPr/>
        </p:nvSpPr>
        <p:spPr>
          <a:xfrm>
            <a:off x="1564727" y="1242113"/>
            <a:ext cx="945536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/>
              <a:t>Toni Bertólez-Martínez, et al. (2026)</a:t>
            </a:r>
            <a:r>
              <a:rPr lang="ja-JP" altLang="en-US" sz="4800"/>
              <a:t>の内容解説と、それを踏まえた</a:t>
            </a:r>
            <a:endParaRPr lang="en-US" altLang="ja-JP" sz="4800"/>
          </a:p>
          <a:p>
            <a:r>
              <a:rPr lang="ja-JP" altLang="en-US" sz="4800"/>
              <a:t>卒論拡張について</a:t>
            </a:r>
            <a:endParaRPr lang="en-US" sz="4800"/>
          </a:p>
        </p:txBody>
      </p:sp>
    </p:spTree>
    <p:extLst>
      <p:ext uri="{BB962C8B-B14F-4D97-AF65-F5344CB8AC3E}">
        <p14:creationId xmlns:p14="http://schemas.microsoft.com/office/powerpoint/2010/main" val="238548191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僕の研究①：ICS とハローの縮退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3000"/>
              <a:t>Totani の 20 GeV ハローを再現（Bin6 で 19.0σ）</a:t>
            </a:r>
          </a:p>
          <a:p>
            <a:pPr/>
            <a:r>
              <a:rPr sz="3000"/>
              <a:t>ICS とハローは、空での形がよく似ている（縮退）</a:t>
            </a:r>
          </a:p>
          <a:p>
            <a:pPr lvl="1"/>
            <a:r>
              <a:rPr sz="2400"/>
              <a:t>違いは「銀河中心の方向に集まっているか」だけ</a:t>
            </a:r>
          </a:p>
          <a:p>
            <a:pPr/>
            <a:r>
              <a:rPr sz="3000"/>
              <a:t>バブル領域を外すと 19.0σ → 5.0σ に下がる</a:t>
            </a:r>
          </a:p>
          <a:p>
            <a:pPr lvl="1"/>
            <a:r>
              <a:rPr sz="2400"/>
              <a:t>手がかりがそこに集まっているため。汚染の証拠ではない</a:t>
            </a:r>
          </a:p>
          <a:p>
            <a:pPr/>
            <a:r>
              <a:rPr sz="3000"/>
              <a:t>ハローが偽物なら、ICS がバブル領域で約 2.3 倍明るい必要がある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僕の研究②：矮小銀河への拡張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3000"/>
              <a:t>同じ手法を、矮小銀河など 79 か所に使った</a:t>
            </a:r>
          </a:p>
          <a:p>
            <a:pPr lvl="1"/>
            <a:r>
              <a:rPr sz="2400"/>
              <a:t>どこにも信号は見えなかった（最大 +3.46σ）</a:t>
            </a:r>
          </a:p>
          <a:p>
            <a:pPr/>
            <a:r>
              <a:rPr sz="3000"/>
              <a:t>天の川のハローから、矮小銀河で見えるはずの信号を予測</a:t>
            </a:r>
          </a:p>
          <a:p>
            <a:pPr lvl="1"/>
            <a:r>
              <a:rPr sz="2400"/>
              <a:t>予測 1.35–5.4σ　／　実測 −0.18σ</a:t>
            </a:r>
          </a:p>
          <a:p>
            <a:pPr/>
            <a:r>
              <a:rPr sz="3000"/>
              <a:t>予測の幅が広く、矛盾とも一致とも言えない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ここで、この論文が使える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3000"/>
              <a:t>矮小銀河の予測は、J ファクター（どれくらい光るかの見込み）で決まる</a:t>
            </a:r>
          </a:p>
          <a:p>
            <a:pPr/>
            <a:r>
              <a:rPr sz="3000"/>
              <a:t>僕は、矮小銀河の J の誤差をゼロとして扱っていた</a:t>
            </a:r>
          </a:p>
          <a:p>
            <a:pPr/>
            <a:r>
              <a:rPr sz="3000"/>
              <a:t>この論文：J の誤差は小さく見積もられがちで、結果に大きく響く</a:t>
            </a:r>
          </a:p>
          <a:p>
            <a:pPr/>
            <a:r>
              <a:rPr sz="3000"/>
              <a:t>→ 僕の矮小銀河の結果にも、そのまま当てはまる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背景：銀河中心のガンマ線超過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3000"/>
              <a:t>Fermi-LAT で、銀河中心に余分なガンマ線が見つかった</a:t>
            </a:r>
          </a:p>
          <a:p>
            <a:pPr/>
            <a:r>
              <a:rPr sz="3000"/>
              <a:t>暗黒物質（WIMP）の対消滅で、うまく説明できる</a:t>
            </a:r>
          </a:p>
          <a:p>
            <a:pPr lvl="1"/>
            <a:r>
              <a:rPr sz="2400"/>
              <a:t>質量 35–65 GeV、⟨σv⟩ ≈ (1–3)×10⁻²⁶ cm³/s</a:t>
            </a:r>
          </a:p>
          <a:p>
            <a:pPr/>
            <a:r>
              <a:rPr sz="3000"/>
              <a:t>ミリ秒パルサー説もあるが、否定的な材料が多い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確認役としての矮小銀河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3000"/>
              <a:t>本当に暗黒物質なら、矮小銀河からも来るはず</a:t>
            </a:r>
          </a:p>
          <a:p>
            <a:pPr/>
            <a:r>
              <a:rPr sz="3000"/>
              <a:t>信号は銀河中心より 10³〜10⁴ 倍以上弱い</a:t>
            </a:r>
          </a:p>
          <a:p>
            <a:pPr/>
            <a:r>
              <a:rPr sz="3000"/>
              <a:t>でも、ガスや星形成がほとんど無く雑音が少ない</a:t>
            </a:r>
          </a:p>
          <a:p>
            <a:pPr/>
            <a:r>
              <a:rPr sz="3000"/>
              <a:t>どれくらい光るかは「J ファクター」で決まる</a:t>
            </a:r>
          </a:p>
          <a:p>
            <a:pPr lvl="1"/>
            <a:r>
              <a:rPr sz="2400"/>
              <a:t>暗黒物質の密度を2乗して、視線方向に足し合わせた量</a:t>
            </a:r>
          </a:p>
          <a:p>
            <a:pPr lvl="1"/>
            <a:r>
              <a:rPr sz="2400"/>
              <a:t>矮小銀河の J は、星の動きから推定するしかない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この論文の問題意識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3000"/>
              <a:t>矮小銀河の J の誤差は、小さく見積もられている</a:t>
            </a:r>
          </a:p>
          <a:p>
            <a:pPr/>
            <a:r>
              <a:rPr sz="3000"/>
              <a:t>見落とされがちな誤差の原因</a:t>
            </a:r>
          </a:p>
          <a:p>
            <a:pPr lvl="1"/>
            <a:r>
              <a:rPr sz="2400"/>
              <a:t>星の所属判定 ／ 見分けられていない連星</a:t>
            </a:r>
          </a:p>
          <a:p>
            <a:pPr lvl="1"/>
            <a:r>
              <a:rPr sz="2400"/>
              <a:t>釣り合い・球対称からのズレ ／ 密度分布の形の仮定</a:t>
            </a:r>
          </a:p>
          <a:p>
            <a:pPr/>
            <a:r>
              <a:rPr sz="3000"/>
              <a:t>Δlog₁₀J ≈ 0.5（約 3 倍）の誤差は見込むべき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この論文がやったこと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3000"/>
              <a:t>暗黒物質の信号が「ある」宇宙を、何度も作る</a:t>
            </a:r>
          </a:p>
          <a:p>
            <a:pPr/>
            <a:r>
              <a:rPr sz="3000"/>
              <a:t>J の誤差の扱いを変えながら、解析する</a:t>
            </a:r>
          </a:p>
          <a:p>
            <a:pPr/>
            <a:r>
              <a:rPr sz="3000"/>
              <a:t>本物を「無い」と間違えた回数を数える</a:t>
            </a:r>
          </a:p>
          <a:p>
            <a:pPr/>
            <a:r>
              <a:rPr sz="3000"/>
              <a:t>対象：Ursa Minor 1 個と、27 個まとめた解析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2つの「誤差」：σ と σ_L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5120640" cy="0"/>
          </a:xfrm>
        </p:spPr>
        <p:txBody>
          <a:bodyPr/>
          <a:lstStyle/>
          <a:p>
            <a:pPr/>
            <a:r>
              <a:rPr sz="2600"/>
              <a:t>σ：J の本当のブレ</a:t>
            </a:r>
          </a:p>
          <a:p>
            <a:pPr/>
            <a:r>
              <a:rPr sz="2600"/>
              <a:t>σ_L：ソフトに伝えるブレ</a:t>
            </a:r>
          </a:p>
          <a:p>
            <a:pPr/>
            <a:r>
              <a:rPr sz="2600"/>
              <a:t>σ_L が小さい ＝ ソフトが自信満々</a:t>
            </a:r>
          </a:p>
          <a:p>
            <a:pPr lvl="1"/>
            <a:r>
              <a:rPr sz="2000"/>
              <a:t>「見えないから暗黒物質は無い」と言い切ってしまう</a:t>
            </a:r>
          </a:p>
        </p:txBody>
      </p:sp>
      <p:pic>
        <p:nvPicPr>
          <p:cNvPr id="4" name="Picture 3" descr="fig_sigma_vs_sigm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737360"/>
            <a:ext cx="576072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わかったこと①：誤差を正直に広げると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3000"/>
              <a:t>上限がゆるくなる（否定する力が弱まる）</a:t>
            </a:r>
          </a:p>
          <a:p>
            <a:pPr/>
            <a:r>
              <a:rPr sz="3000"/>
              <a:t>Ursa Minor 1 個</a:t>
            </a:r>
          </a:p>
          <a:p>
            <a:pPr lvl="1"/>
            <a:r>
              <a:rPr sz="2400"/>
              <a:t>誤差 +0.3 / +0.5 / +1.0 → 1.5 / 2.5 / 11 倍ゆるく</a:t>
            </a:r>
          </a:p>
          <a:p>
            <a:pPr/>
            <a:r>
              <a:rPr sz="3000"/>
              <a:t>27 個まとめた解析</a:t>
            </a:r>
          </a:p>
          <a:p>
            <a:pPr lvl="1"/>
            <a:r>
              <a:rPr sz="2400"/>
              <a:t>誤差 +0.5 / +1.0 → 1.4 / 3.2 倍ゆるく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わかったこと②：誤差を小さく見積もると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3000"/>
              <a:t>本物を「無い」と間違えやすくなる</a:t>
            </a:r>
          </a:p>
          <a:p>
            <a:pPr/>
            <a:r>
              <a:rPr sz="3000"/>
              <a:t>27 個まとめた解析では特にひどい</a:t>
            </a:r>
          </a:p>
          <a:p>
            <a:pPr lvl="1"/>
            <a:r>
              <a:rPr sz="2400"/>
              <a:t>ふつうの設定でも、5% をはるかに超える頻度で間違える</a:t>
            </a:r>
          </a:p>
          <a:p>
            <a:pPr lvl="1"/>
            <a:r>
              <a:rPr sz="2400"/>
              <a:t>誤差を正しく合わせても、完全には直らない</a:t>
            </a:r>
          </a:p>
          <a:p>
            <a:pPr/>
            <a:r>
              <a:rPr sz="3000"/>
              <a:t>論文のおすすめ：何も無い領域で試して較正する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わかったこと③：ハローの形を間違えると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3000"/>
              <a:t>上限が厳しく出すぎる</a:t>
            </a:r>
          </a:p>
          <a:p>
            <a:pPr/>
            <a:r>
              <a:rPr sz="3000"/>
              <a:t>Ursa Minor の場合</a:t>
            </a:r>
          </a:p>
          <a:p>
            <a:pPr lvl="1"/>
            <a:r>
              <a:rPr sz="2400"/>
              <a:t>形を間違える（球対称の NFW で解析）→ 2.4 倍</a:t>
            </a:r>
          </a:p>
          <a:p>
            <a:pPr lvl="1"/>
            <a:r>
              <a:rPr sz="2400"/>
              <a:t>広がりを無視する（点として解析）→ 1.4 倍</a:t>
            </a:r>
          </a:p>
          <a:p>
            <a:pPr/>
            <a:r>
              <a:rPr sz="3000"/>
              <a:t>27 個全部を点として扱うと、本物を除外しやすい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論文のまとめ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3000"/>
              <a:t>J の誤差や形を雑に扱うと、上限は厳しく出すぎる</a:t>
            </a:r>
          </a:p>
          <a:p>
            <a:pPr/>
            <a:r>
              <a:rPr sz="3000"/>
              <a:t>「銀河中心と矮小銀河が矛盾する」とは、まだ言えない</a:t>
            </a:r>
          </a:p>
          <a:p>
            <a:pPr/>
            <a:r>
              <a:rPr sz="3000"/>
              <a:t>矮小銀河が大事な確認役なのは変わらない</a:t>
            </a:r>
          </a:p>
          <a:p>
            <a:pPr/>
            <a:r>
              <a:rPr sz="3000"/>
              <a:t>今後は、J の誤差をもっと抑えることが必要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論文の結果を、僕の研究に当てはめると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3000"/>
              <a:t>論文がすすめる「何も無い領域での較正」は、やっていた</a:t>
            </a:r>
          </a:p>
          <a:p>
            <a:pPr lvl="1"/>
            <a:r>
              <a:rPr sz="2400"/>
              <a:t>空の領域 833 か所で、σ のばらつきは 1 ではなく 1.362</a:t>
            </a:r>
          </a:p>
          <a:p>
            <a:pPr lvl="1"/>
            <a:r>
              <a:rPr sz="2400"/>
              <a:t>19.0σ は名目値。「19σ だから確実」とは言えない</a:t>
            </a:r>
          </a:p>
          <a:p>
            <a:pPr/>
            <a:r>
              <a:rPr sz="3000"/>
              <a:t>J の誤差（約 3 倍）を入れると、矮小銀河の予測はさらに広がる</a:t>
            </a:r>
          </a:p>
          <a:p>
            <a:pPr lvl="1"/>
            <a:r>
              <a:rPr sz="2400"/>
              <a:t>1.35–5.4σ よりも広くなり、やはり判定できない</a:t>
            </a:r>
          </a:p>
          <a:p>
            <a:pPr/>
            <a:r>
              <a:rPr sz="3000"/>
              <a:t>今後：J の誤差を入れて、予測を出し直す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65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詳細なmethodについて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202304239</dc:creator>
  <cp:lastModifiedBy>202304239</cp:lastModifiedBy>
  <cp:revision>1</cp:revision>
  <dcterms:created xsi:type="dcterms:W3CDTF">2026-10-01T06:55:31Z</dcterms:created>
  <dcterms:modified xsi:type="dcterms:W3CDTF">2026-10-01T06:57:06Z</dcterms:modified>
</cp:coreProperties>
</file>