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8.xml"/><Relationship Id="rId56" Type="http://schemas.openxmlformats.org/officeDocument/2006/relationships/slide" Target="slides/slide31.xml"/><Relationship Id="rId5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2" name="Picture 11" descr="fig_significance_calib.png"/>
          <p:cNvPicPr>
            <a:picLocks noChangeAspect="1"/>
          </p:cNvPicPr>
          <p:nvPr/>
        </p:nvPicPr>
        <p:blipFill>
          <a:blip r:embed="rId5"/>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の同じ形 ρ² は約 14σ）。山の位置も一致。何も無い空で較正すると 15〜16σ（緑）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3" name="Picture 2" descr="fig_rho_compare.png"/>
          <p:cNvPicPr>
            <a:picLocks noChangeAspect="1"/>
          </p:cNvPicPr>
          <p:nvPr/>
        </p:nvPicPr>
        <p:blipFill>
          <a:blip r:embed="rId2"/>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180 / 102</a:t>
            </a:r>
          </a:p>
          <a:p>
            <a:r>
              <a:rPr sz="1400" b="0"/>
              <a:t>2.5 乗 161 / 93</a:t>
            </a:r>
          </a:p>
          <a:p>
            <a:r>
              <a:rPr sz="1400" b="0"/>
              <a:t>1 乗　 127 / 73</a:t>
            </a:r>
          </a:p>
          <a:p>
            <a:r>
              <a:rPr sz="600" b="0"/>
              <a:t/>
            </a:r>
          </a:p>
          <a:p>
            <a:r>
              <a:rPr sz="1500" b="1"/>
              <a:t>合う順番（2 乗 ＞ 2.5 乗 ＞ 1 乗）は同じ</a:t>
            </a:r>
          </a:p>
          <a:p>
            <a:r>
              <a:rPr sz="1300" b="0"/>
              <a:t>3 つとも Totani の約 1.75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19.0σ を較正すると 19.0 ÷ (1.2〜1.3) ≈ 15〜16σ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19.0σ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16.0σ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15.1σ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16.2σ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18.1σ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14.4σ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15〜16σ</a:t>
            </a:r>
          </a:p>
          <a:p>
            <a:r>
              <a:rPr sz="1400" b="0"/>
              <a:t>緑の 2 行が両端。どれを選んでも 14〜18σ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15〜16σ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0.125° の画素</a:t>
                      </a:r>
                    </a:p>
                  </a:txBody>
                  <a:tcPr>
                    <a:solidFill>
                      <a:srgbClr val="F4F4F4"/>
                    </a:solidFill>
                  </a:tcPr>
                </a:tc>
                <a:tc>
                  <a:txBody>
                    <a:bodyPr/>
                    <a:lstStyle/>
                    <a:p>
                      <a:r>
                        <a:rPr sz="1400"/>
                        <a:t>10° のマスでは小さな天体の形が消える</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つの数字の違い：15〜16σ と 1.3σ</a:t>
            </a:r>
          </a:p>
        </p:txBody>
      </p:sp>
      <p:sp>
        <p:nvSpPr>
          <p:cNvPr id="3" name="Content Placeholder 2"/>
          <p:cNvSpPr>
            <a:spLocks noGrp="1"/>
          </p:cNvSpPr>
          <p:nvPr>
            <p:ph idx="1"/>
          </p:nvPr>
        </p:nvSpPr>
        <p:spPr>
          <a:xfrm>
            <a:off x="841248" y="1463040"/>
            <a:ext cx="10515600" cy="4937760"/>
          </a:xfrm>
        </p:spPr>
        <p:txBody>
          <a:bodyPr/>
          <a:lstStyle/>
          <a:p>
            <a:r>
              <a:rPr sz="2400"/>
              <a:t>15〜16σ：天の川のハロー超過の強さ</a:t>
            </a:r>
          </a:p>
          <a:p>
            <a:pPr lvl="1"/>
            <a:r>
              <a:rPr sz="2000"/>
              <a:t>19.0σ を、何も無い空でのばらつき 1.2〜1.3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15〜16σ）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