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318"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311" r:id="rId49"/>
    <p:sldId id="269" r:id="rId50"/>
    <p:sldId id="313" r:id="rId51"/>
    <p:sldId id="275"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4:05.449" v="781"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b="1">
                <a:latin typeface="+mn-lt"/>
                <a:ea typeface="+mn-ea"/>
              </a:rPr>
              <a:t>Reference: Toni Bertólez-Martínez, et al. (2026). "Systematic uncertainties in the J-factor determination of dwarf spheroidal galaxies", </a:t>
            </a:r>
            <a:r>
              <a:rPr lang="ja-JP" altLang="en-US" b="1" i="1">
                <a:latin typeface="+mn-lt"/>
                <a:ea typeface="+mn-ea"/>
              </a:rPr>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ja-JP" altLang="en-US" sz="4800">
                <a:latin typeface="+mn-lt"/>
                <a:ea typeface="+mn-ea"/>
              </a:rPr>
              <a:t>Toni Bertólez-Martínez, et al. (2026)の内容解説と、それを踏まえた</a:t>
            </a:r>
            <a:endParaRPr lang="en-US" altLang="ja-JP" sz="4800"/>
          </a:p>
          <a:p>
            <a:r>
              <a:rPr lang="ja-JP" altLang="en-US" sz="4800">
                <a:latin typeface="+mn-lt"/>
                <a:ea typeface="+mn-ea"/>
              </a:rPr>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lang="ja-JP" altLang="en-US" sz="2400">
                <a:latin typeface="+mn-lt"/>
                <a:ea typeface="+mn-ea"/>
              </a:rPr>
              <a:t>暗黒物質どうしがぶつかると消えて、ガンマ線を出すと考えられている</a:t>
            </a:r>
            <a:endParaRPr lang="en-US" sz="2400"/>
          </a:p>
          <a:p>
            <a:pPr marL="0" indent="0">
              <a:buNone/>
            </a:pPr>
            <a:r>
              <a:rPr lang="ja-JP" altLang="en-US" sz="2400">
                <a:latin typeface="+mn-lt"/>
                <a:ea typeface="+mn-ea"/>
              </a:rPr>
              <a:t>（対消滅）</a:t>
            </a:r>
          </a:p>
          <a:p>
            <a:r>
              <a:rPr lang="ja-JP" altLang="en-US" sz="2400">
                <a:latin typeface="+mn-lt"/>
                <a:ea typeface="+mn-ea"/>
              </a:rPr>
              <a:t>天の川は暗黒物質の「ハロー」に包まれているのではないか→（NFW）</a:t>
            </a:r>
            <a:endParaRPr sz="2400"/>
          </a:p>
          <a:p>
            <a:pPr lvl="1"/>
            <a:r>
              <a:rPr lang="ja-JP" altLang="en-US" sz="2000">
                <a:latin typeface="+mn-lt"/>
                <a:ea typeface="+mn-ea"/>
              </a:rPr>
              <a:t>→ 空全体から、かすかなガンマ線が来るはず</a:t>
            </a:r>
          </a:p>
          <a:p>
            <a:r>
              <a:rPr lang="ja-JP" altLang="en-US" sz="2400">
                <a:latin typeface="+mn-lt"/>
                <a:ea typeface="+mn-ea"/>
              </a:rPr>
              <a:t>Totani (2025)：20 GeV 付近にハロー型の超過を報告（13–19σ）</a:t>
            </a:r>
          </a:p>
          <a:p>
            <a:r>
              <a:rPr lang="ja-JP" altLang="en-US" sz="2400" b="1">
                <a:latin typeface="+mn-lt"/>
                <a:ea typeface="+mn-ea"/>
              </a:rPr>
              <a:t>卒業研究：これを自分で再現し、本物かどうか確かめる</a:t>
            </a:r>
            <a:endParaRPr lang="en-US" sz="2400" b="1"/>
          </a:p>
          <a:p>
            <a:r>
              <a:rPr lang="ja-JP" altLang="en-US" sz="2400" b="1">
                <a:latin typeface="+mn-lt"/>
                <a:ea typeface="+mn-ea"/>
              </a:rPr>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lang="ja-JP" altLang="en-US" sz="2400">
                <a:latin typeface="+mn-lt"/>
                <a:ea typeface="+mn-ea"/>
              </a:rPr>
              <a:t>Fermi-LAT 衛星が集めたガンマ線の光子（約 15 年分）</a:t>
            </a:r>
          </a:p>
          <a:p>
            <a:pPr lvl="1"/>
            <a:r>
              <a:rPr lang="ja-JP" altLang="en-US" sz="2000">
                <a:latin typeface="+mn-lt"/>
                <a:ea typeface="+mn-ea"/>
              </a:rPr>
              <a:t>2008-08 〜 2023-08、UltraClean（雑音の少ない事象）、1 GeV 以上</a:t>
            </a:r>
          </a:p>
          <a:p>
            <a:r>
              <a:rPr lang="ja-JP" altLang="en-US" sz="2400">
                <a:latin typeface="+mn-lt"/>
                <a:ea typeface="+mn-ea"/>
              </a:rPr>
              <a:t>空の範囲：銀経・銀緯とも ±60°（銀河面 |b| &lt; 10° 除く）</a:t>
            </a:r>
          </a:p>
          <a:p>
            <a:r>
              <a:rPr lang="ja-JP" altLang="en-US" sz="2400">
                <a:latin typeface="+mn-lt"/>
                <a:ea typeface="+mn-ea"/>
              </a:rPr>
              <a:t>エネルギーを 13 個のビンに分ける（1.5 〜 814 GeV）</a:t>
            </a:r>
          </a:p>
          <a:p>
            <a:r>
              <a:rPr lang="ja-JP" altLang="en-US" sz="2400">
                <a:latin typeface="+mn-lt"/>
                <a:ea typeface="+mn-ea"/>
              </a:rPr>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latin typeface="+mn-lt"/>
                <a:ea typeface="+mn-ea"/>
              </a:rPr>
              <a:t>６bin </a:t>
            </a:r>
          </a:p>
          <a:p>
            <a:r>
              <a:rPr lang="ja-JP" altLang="en-US" sz="2800">
                <a:latin typeface="+mn-lt"/>
                <a:ea typeface="+mn-ea"/>
              </a:rPr>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lang="ja-JP" altLang="en-US" sz="2400">
                <a:latin typeface="+mn-lt"/>
                <a:ea typeface="+mn-ea"/>
              </a:rPr>
              <a:t>空の光を「既知の要素の足し算」で表す</a:t>
            </a:r>
          </a:p>
          <a:p>
            <a:pPr lvl="1"/>
            <a:r>
              <a:rPr lang="ja-JP" altLang="en-US" sz="2000">
                <a:latin typeface="+mn-lt"/>
                <a:ea typeface="+mn-ea"/>
              </a:rPr>
              <a:t>予測 = Σ（倍率 f_l）×（要素 l）</a:t>
            </a:r>
          </a:p>
          <a:p>
            <a:r>
              <a:rPr lang="ja-JP" altLang="en-US" sz="2400">
                <a:latin typeface="+mn-lt"/>
                <a:ea typeface="+mn-ea"/>
              </a:rPr>
              <a:t>要素は 9 枚</a:t>
            </a:r>
          </a:p>
          <a:p>
            <a:r>
              <a:rPr lang="ja-JP" altLang="en-US" sz="2000">
                <a:latin typeface="+mn-lt"/>
                <a:ea typeface="+mn-ea"/>
              </a:rPr>
              <a:t>等方背景、ガス（π⁰ 崩壊＋制動放射）(</a:t>
            </a:r>
            <a:r>
              <a:rPr lang="ja-JP" altLang="en-US" sz="2400">
                <a:latin typeface="+mn-lt"/>
                <a:ea typeface="+mn-ea"/>
              </a:rPr>
              <a:t>GALPROP)</a:t>
            </a:r>
            <a:r>
              <a:rPr lang="ja-JP" altLang="en-US" sz="2000">
                <a:latin typeface="+mn-lt"/>
                <a:ea typeface="+mn-ea"/>
              </a:rPr>
              <a:t>、ICS</a:t>
            </a:r>
            <a:r>
              <a:rPr lang="ja-JP" altLang="en-US" sz="1800">
                <a:latin typeface="+mn-lt"/>
                <a:ea typeface="+mn-ea"/>
              </a:rPr>
              <a:t> (</a:t>
            </a:r>
            <a:r>
              <a:rPr lang="ja-JP" altLang="en-US" sz="2000">
                <a:latin typeface="+mn-lt"/>
                <a:ea typeface="+mn-ea"/>
              </a:rPr>
              <a:t>GALPROP)</a:t>
            </a:r>
            <a:r>
              <a:rPr lang="ja-JP" altLang="en-US" sz="1800">
                <a:latin typeface="+mn-lt"/>
                <a:ea typeface="+mn-ea"/>
              </a:rPr>
              <a:t>、 </a:t>
            </a:r>
            <a:r>
              <a:rPr lang="ja-JP" altLang="en-US" sz="2000">
                <a:latin typeface="+mn-lt"/>
                <a:ea typeface="+mn-ea"/>
              </a:rPr>
              <a:t>、点源</a:t>
            </a:r>
          </a:p>
          <a:p>
            <a:pPr marL="457200" lvl="1" indent="0">
              <a:buNone/>
            </a:pPr>
            <a:r>
              <a:rPr lang="ja-JP" altLang="en-US" sz="2000">
                <a:latin typeface="+mn-lt"/>
                <a:ea typeface="+mn-ea"/>
              </a:rPr>
              <a:t>Loop I、フェルミバブル、ハロー</a:t>
            </a:r>
          </a:p>
          <a:p>
            <a:pPr marL="0" indent="0">
              <a:buNone/>
            </a:pPr>
            <a:r>
              <a:rPr lang="ja-JP" altLang="en-US" sz="2400">
                <a:latin typeface="+mn-lt"/>
                <a:ea typeface="+mn-ea"/>
              </a:rPr>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lang="ja-JP" altLang="en-US" sz="1700" b="1">
                <a:latin typeface="+mn-lt"/>
                <a:ea typeface="+mn-ea"/>
              </a:rPr>
              <a:t>① 等方背景</a:t>
            </a:r>
          </a:p>
          <a:p>
            <a:r>
              <a:rPr lang="ja-JP" altLang="en-US" sz="1300">
                <a:latin typeface="+mn-lt"/>
                <a:ea typeface="+mn-ea"/>
              </a:rPr>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lang="ja-JP" altLang="en-US" sz="1700" b="1">
                <a:latin typeface="+mn-lt"/>
                <a:ea typeface="+mn-ea"/>
              </a:rPr>
              <a:t>② ガス</a:t>
            </a:r>
          </a:p>
          <a:p>
            <a:r>
              <a:rPr lang="ja-JP" altLang="en-US" sz="1300">
                <a:latin typeface="+mn-lt"/>
                <a:ea typeface="+mn-ea"/>
              </a:rPr>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lang="ja-JP" altLang="en-US" sz="1700" b="1">
                <a:latin typeface="+mn-lt"/>
                <a:ea typeface="+mn-ea"/>
              </a:rPr>
              <a:t>③ ICS</a:t>
            </a:r>
          </a:p>
          <a:p>
            <a:r>
              <a:rPr lang="ja-JP" altLang="en-US" sz="1300">
                <a:latin typeface="+mn-lt"/>
                <a:ea typeface="+mn-ea"/>
              </a:rPr>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lang="ja-JP" altLang="en-US" sz="1700" b="1">
                <a:latin typeface="+mn-lt"/>
                <a:ea typeface="+mn-ea"/>
              </a:rPr>
              <a:t>④ 点源</a:t>
            </a:r>
          </a:p>
          <a:p>
            <a:r>
              <a:rPr lang="ja-JP" altLang="en-US" sz="1300">
                <a:latin typeface="+mn-lt"/>
                <a:ea typeface="+mn-ea"/>
              </a:rPr>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lang="ja-JP" altLang="en-US" sz="1700" b="1">
                <a:latin typeface="+mn-lt"/>
                <a:ea typeface="+mn-ea"/>
              </a:rPr>
              <a:t>⑤ Loop I</a:t>
            </a:r>
          </a:p>
          <a:p>
            <a:r>
              <a:rPr lang="ja-JP" altLang="en-US" sz="1300">
                <a:latin typeface="+mn-lt"/>
                <a:ea typeface="+mn-ea"/>
              </a:rPr>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lang="ja-JP" altLang="en-US" sz="1700" b="1">
                <a:latin typeface="+mn-lt"/>
                <a:ea typeface="+mn-ea"/>
              </a:rPr>
              <a:t>⑥ フェルミバブル</a:t>
            </a:r>
          </a:p>
          <a:p>
            <a:r>
              <a:rPr lang="ja-JP" altLang="en-US" sz="1300">
                <a:latin typeface="+mn-lt"/>
                <a:ea typeface="+mn-ea"/>
              </a:rPr>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lang="ja-JP" altLang="en-US" sz="1800">
                <a:latin typeface="+mn-lt"/>
                <a:ea typeface="+mn-ea"/>
              </a:rPr>
              <a:t>暗黒物質の粒子どうしがぶつかって消え（対消滅）、ガンマ線を出す</a:t>
            </a:r>
          </a:p>
          <a:p>
            <a:r>
              <a:rPr lang="ja-JP" altLang="en-US" sz="1800">
                <a:latin typeface="+mn-lt"/>
                <a:ea typeface="+mn-ea"/>
              </a:rPr>
              <a:t>明るさ ∝ 密度の 2 乗（粒子が 2 つ要るため）</a:t>
            </a:r>
          </a:p>
          <a:p>
            <a:pPr lvl="1"/>
            <a:r>
              <a:rPr lang="ja-JP" altLang="en-US" sz="1500">
                <a:latin typeface="+mn-lt"/>
                <a:ea typeface="+mn-ea"/>
              </a:rPr>
              <a:t>それを視線方向に足し合わせたもの = J ファクター</a:t>
            </a:r>
          </a:p>
          <a:p>
            <a:r>
              <a:rPr lang="ja-JP" altLang="en-US" sz="1800">
                <a:latin typeface="+mn-lt"/>
                <a:ea typeface="+mn-ea"/>
              </a:rPr>
              <a:t>密度の形：NFW（Via Lactea II のシミュレーション）</a:t>
            </a:r>
          </a:p>
          <a:p>
            <a:pPr lvl="1"/>
            <a:r>
              <a:rPr lang="ja-JP" altLang="en-US" sz="1500">
                <a:latin typeface="+mn-lt"/>
                <a:ea typeface="+mn-ea"/>
              </a:rPr>
              <a:t>rs = 21 kpc、太陽の位置で 0.42 GeV/cm³</a:t>
            </a:r>
          </a:p>
          <a:p>
            <a:r>
              <a:rPr lang="ja-JP" altLang="en-US" sz="1800">
                <a:latin typeface="+mn-lt"/>
                <a:ea typeface="+mn-ea"/>
              </a:rPr>
              <a:t>形：銀河中心に向かって明るく、なめらかに広がる</a:t>
            </a:r>
          </a:p>
          <a:p>
            <a:r>
              <a:rPr lang="ja-JP" altLang="en-US" sz="1800">
                <a:latin typeface="+mn-lt"/>
                <a:ea typeface="+mn-ea"/>
              </a:rPr>
              <a:t>倍率：符号自由（負も許す）、最初は 0</a:t>
            </a:r>
          </a:p>
          <a:p>
            <a:pPr lvl="1"/>
            <a:r>
              <a:rPr lang="ja-JP" altLang="en-US" sz="1500">
                <a:latin typeface="+mn-lt"/>
                <a:ea typeface="+mn-ea"/>
              </a:rPr>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lang="ja-JP" altLang="en-US" sz="2600">
                <a:latin typeface="+mn-lt"/>
                <a:ea typeface="+mn-ea"/>
              </a:rPr>
              <a:t>予測 ＝ f₁ × 型₁ ＋ f₂ × 型₂ ＋ … ＋ f₉ × 型₉</a:t>
            </a:r>
          </a:p>
          <a:p>
            <a:pPr marL="457200" lvl="1" indent="0">
              <a:buNone/>
            </a:pPr>
            <a:r>
              <a:rPr lang="ja-JP" altLang="en-US" sz="2200">
                <a:latin typeface="+mn-lt"/>
                <a:ea typeface="+mn-ea"/>
              </a:rPr>
              <a:t>型は固定。動かすのは係数</a:t>
            </a:r>
            <a:endParaRPr lang="en-US" sz="2200"/>
          </a:p>
          <a:p>
            <a:pPr lvl="1"/>
            <a:endParaRPr sz="2200"/>
          </a:p>
          <a:p>
            <a:r>
              <a:rPr lang="ja-JP" altLang="en-US" sz="2600">
                <a:latin typeface="+mn-lt"/>
                <a:ea typeface="+mn-ea"/>
              </a:rPr>
              <a:t>尤度：その係数 9 個が「どれだけ良いか」の点数みたいなもの</a:t>
            </a:r>
            <a:endParaRPr lang="en-US" sz="2600" b="1"/>
          </a:p>
          <a:p>
            <a:r>
              <a:rPr lang="ja-JP" altLang="en-US" sz="2400">
                <a:latin typeface="+mn-lt"/>
                <a:ea typeface="+mn-ea"/>
              </a:rPr>
              <a:t>ln L = Σ_i [ C_obs,i ln C_exp,i − C_exp,i ]</a:t>
            </a:r>
          </a:p>
          <a:p>
            <a:pPr lvl="1"/>
            <a:r>
              <a:rPr lang="ja-JP" altLang="en-US" sz="2000">
                <a:latin typeface="+mn-lt"/>
                <a:ea typeface="+mn-ea"/>
              </a:rPr>
              <a:t>C_obs：観測した光子数、C_exp：予測した光子数</a:t>
            </a:r>
          </a:p>
          <a:p>
            <a:pPr lvl="1"/>
            <a:r>
              <a:rPr lang="ja-JP" altLang="en-US" sz="2000">
                <a:latin typeface="+mn-lt"/>
                <a:ea typeface="+mn-ea"/>
              </a:rPr>
              <a:t>i：10° × 10° のセル（空をマス目に分ける）</a:t>
            </a:r>
          </a:p>
          <a:p>
            <a:r>
              <a:rPr lang="ja-JP" altLang="en-US" sz="2400">
                <a:latin typeface="+mn-lt"/>
                <a:ea typeface="+mn-ea"/>
              </a:rPr>
              <a:t>ln L が最大になる倍率 f を探す（最尤推定）</a:t>
            </a:r>
          </a:p>
          <a:p>
            <a:pPr marL="0" indent="0">
              <a:buNone/>
            </a:pPr>
            <a:endParaRPr sz="2600"/>
          </a:p>
          <a:p>
            <a:r>
              <a:rPr lang="ja-JP" altLang="en-US" sz="2600">
                <a:latin typeface="+mn-lt"/>
                <a:ea typeface="+mn-ea"/>
              </a:rPr>
              <a:t>MCMC：良い係数 9 個を探す方法</a:t>
            </a:r>
          </a:p>
          <a:p>
            <a:r>
              <a:rPr lang="ja-JP" altLang="en-US" sz="2600">
                <a:latin typeface="+mn-lt"/>
                <a:ea typeface="+mn-ea"/>
              </a:rPr>
              <a:t>最良値：見つかった一番良い係数 9 個</a:t>
            </a:r>
          </a:p>
          <a:p>
            <a:r>
              <a:rPr lang="ja-JP" altLang="en-US" sz="2600">
                <a:latin typeface="+mn-lt"/>
                <a:ea typeface="+mn-ea"/>
              </a:rPr>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lang="ja-JP" altLang="en-US" sz="1500" b="1">
                <a:latin typeface="+mn-lt"/>
                <a:ea typeface="+mn-ea"/>
              </a:rPr>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lang="ja-JP" altLang="en-US" sz="1500" b="1">
                <a:latin typeface="+mn-lt"/>
                <a:ea typeface="+mn-ea"/>
              </a:rPr>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lang="ja-JP" altLang="en-US" sz="1500" b="1">
                <a:latin typeface="+mn-lt"/>
                <a:ea typeface="+mn-ea"/>
              </a:rPr>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ja-JP" altLang="en-US" sz="1800" b="1" i="0">
                <a:solidFill>
                  <a:schemeClr val="tx1"/>
                </a:solidFill>
                <a:effectLst/>
                <a:latin typeface="+mn-lt"/>
                <a:ea typeface="+mn-ea"/>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ja-JP" altLang="en-US" sz="1800" b="1" i="0">
                <a:solidFill>
                  <a:schemeClr val="tx1"/>
                </a:solidFill>
                <a:effectLst/>
                <a:latin typeface="+mn-lt"/>
                <a:ea typeface="+mn-ea"/>
              </a:rPr>
              <a:t>差が大きい → ハローありの方が、ずっと観測に近い → ハローが必要 → σ が大きい</a:t>
            </a:r>
          </a:p>
          <a:p>
            <a:pPr marL="342900" lvl="0" indent="-342900" algn="l">
              <a:buFont typeface="Arial" panose="020B0604020202020204" pitchFamily="34" charset="0"/>
              <a:buChar char="•"/>
            </a:pPr>
            <a:r>
              <a:rPr lang="ja-JP" altLang="en-US" sz="1800" b="1" i="0">
                <a:solidFill>
                  <a:schemeClr val="tx1"/>
                </a:solidFill>
                <a:effectLst/>
                <a:latin typeface="+mn-lt"/>
                <a:ea typeface="+mn-ea"/>
              </a:rPr>
              <a:t>差がほぼ 0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ea typeface="+mn-ea"/>
              </a:rPr>
              <a:t>→20.8 GeV では差が 154 で、σ ＝ √(2 × 154) ≈ 17.6σだった！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latin typeface="+mn-lt"/>
                <a:ea typeface="+mn-ea"/>
              </a:rPr>
              <a:t>９つの倍率をいい感じにして観測結果に近づけたい！→haloを入れた時すごく</a:t>
            </a:r>
            <a:r>
              <a:rPr lang="ja-JP" altLang="en-US" b="1">
                <a:solidFill>
                  <a:srgbClr val="FF0000"/>
                </a:solidFill>
                <a:latin typeface="+mn-lt"/>
                <a:ea typeface="+mn-ea"/>
              </a:rPr>
              <a:t>点数</a:t>
            </a:r>
            <a:r>
              <a:rPr lang="ja-JP" altLang="en-US" b="1">
                <a:latin typeface="+mn-lt"/>
                <a:ea typeface="+mn-ea"/>
              </a:rPr>
              <a:t>が良くなったらhaloが必要ってこと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ja-JP" altLang="en-US" sz="1800" b="1" i="0">
                <a:solidFill>
                  <a:schemeClr val="tx1"/>
                </a:solidFill>
                <a:effectLst/>
                <a:latin typeface="+mn-lt"/>
                <a:ea typeface="+mn-ea"/>
              </a:rPr>
              <a:t>2Δln L は「TS（検定統計量）」</a:t>
            </a:r>
          </a:p>
          <a:p>
            <a:r>
              <a:rPr lang="ja-JP" altLang="en-US" sz="1800" b="1" i="0">
                <a:solidFill>
                  <a:schemeClr val="tx1"/>
                </a:solidFill>
                <a:effectLst/>
                <a:latin typeface="+mn-lt"/>
                <a:ea typeface="+mn-ea"/>
              </a:rPr>
              <a:t>と呼ばれていてこの勧化方は統計学の基本らしい、、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尤度 ＝ 点数をつける係（たとえ：高度計）</a:t>
            </a:r>
          </a:p>
          <a:p>
            <a:pPr lvl="1"/>
            <a:r>
              <a:rPr lang="ja-JP" altLang="en-US" sz="2000">
                <a:latin typeface="+mn-lt"/>
                <a:ea typeface="+mn-ea"/>
              </a:rPr>
              <a:t>倍率の組（f_gas, f_ics, …, f_halo）を入れると、予測と観測の合い具合 ln L を返す</a:t>
            </a:r>
          </a:p>
          <a:p>
            <a:r>
              <a:rPr lang="ja-JP" altLang="en-US" sz="2400">
                <a:latin typeface="+mn-lt"/>
                <a:ea typeface="+mn-ea"/>
              </a:rPr>
              <a:t>MCMC ＝ 倍率を探す係（たとえ：霧の山を歩く人）</a:t>
            </a:r>
          </a:p>
          <a:p>
            <a:pPr lvl="1"/>
            <a:r>
              <a:rPr lang="ja-JP" altLang="en-US" sz="2000">
                <a:latin typeface="+mn-lt"/>
                <a:ea typeface="+mn-ea"/>
              </a:rPr>
              <a:t>倍率の組を少しずつ変えながら歩き、そのたびに尤度で点数をつける</a:t>
            </a:r>
          </a:p>
          <a:p>
            <a:pPr lvl="1"/>
            <a:r>
              <a:rPr lang="ja-JP" altLang="en-US" sz="2000">
                <a:latin typeface="+mn-lt"/>
                <a:ea typeface="+mn-ea"/>
              </a:rPr>
              <a:t>点数が上がる方へは必ず進み、下がる方へも進む</a:t>
            </a:r>
          </a:p>
          <a:p>
            <a:r>
              <a:rPr lang="ja-JP" altLang="en-US" sz="2400">
                <a:latin typeface="+mn-lt"/>
                <a:ea typeface="+mn-ea"/>
              </a:rPr>
              <a:t>歩き終わったら</a:t>
            </a:r>
          </a:p>
          <a:p>
            <a:pPr lvl="1"/>
            <a:r>
              <a:rPr lang="ja-JP" altLang="en-US" sz="2000">
                <a:latin typeface="+mn-lt"/>
                <a:ea typeface="+mn-ea"/>
              </a:rPr>
              <a:t>歩いた中で点数が一番高かった組 → 最良の倍率（Totani と同じ）</a:t>
            </a:r>
          </a:p>
          <a:p>
            <a:pPr lvl="1"/>
            <a:r>
              <a:rPr lang="ja-JP" altLang="en-US" sz="2000">
                <a:latin typeface="+mn-lt"/>
                <a:ea typeface="+mn-ea"/>
              </a:rPr>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ハロー「あり」と「なし」の 2 通りで当てはめる</a:t>
            </a:r>
          </a:p>
          <a:p>
            <a:r>
              <a:rPr lang="ja-JP" altLang="en-US" sz="2400">
                <a:latin typeface="+mn-lt"/>
                <a:ea typeface="+mn-ea"/>
              </a:rPr>
              <a:t>差 Δln L = ln L(あり) − ln L(なし)</a:t>
            </a:r>
          </a:p>
          <a:p>
            <a:r>
              <a:rPr lang="ja-JP" altLang="en-US" sz="2400">
                <a:latin typeface="+mn-lt"/>
                <a:ea typeface="+mn-ea"/>
              </a:rPr>
              <a:t>有意度 σ = √( 2 Δln L )</a:t>
            </a:r>
          </a:p>
          <a:p>
            <a:r>
              <a:rPr lang="ja-JP" altLang="en-US" sz="2400">
                <a:latin typeface="+mn-lt"/>
                <a:ea typeface="+mn-ea"/>
              </a:rPr>
              <a:t>根拠：Wilks の定理（ガンマ線天文学の標準の換算。Totani Fig. 9 の Δln L も同じ換算で σ にできる）</a:t>
            </a:r>
          </a:p>
          <a:p>
            <a:pPr lvl="1"/>
            <a:r>
              <a:rPr lang="ja-JP" altLang="en-US" sz="2000">
                <a:latin typeface="+mn-lt"/>
                <a:ea typeface="+mn-ea"/>
              </a:rPr>
              <a:t>データが十分多いと、2Δln L は自由度 1 の χ² 分布に従う</a:t>
            </a:r>
          </a:p>
          <a:p>
            <a:pPr marL="0" indent="0">
              <a:buNone/>
            </a:pPr>
            <a:r>
              <a:rPr lang="ja-JP" altLang="en-US" sz="2400">
                <a:latin typeface="+mn-lt"/>
                <a:ea typeface="+mn-ea"/>
              </a:rPr>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MCMC で、最良の倍率 f と、その誤差の両方を求める（Totani と同じ）</a:t>
            </a:r>
          </a:p>
          <a:p>
            <a:r>
              <a:rPr lang="ja-JP" altLang="en-US" sz="2400">
                <a:latin typeface="+mn-lt"/>
                <a:ea typeface="+mn-ea"/>
              </a:rPr>
              <a:t>MCMC：尤度に比例する確率で、パラメータの空間を歩き回る</a:t>
            </a:r>
          </a:p>
          <a:p>
            <a:pPr lvl="1"/>
            <a:r>
              <a:rPr lang="ja-JP" altLang="en-US" sz="2000">
                <a:latin typeface="+mn-lt"/>
                <a:ea typeface="+mn-ea"/>
              </a:rPr>
              <a:t>歩いた中で尤度が最大の点 = 最良値、歩いた跡の分布 → 誤差棒</a:t>
            </a:r>
          </a:p>
          <a:p>
            <a:r>
              <a:rPr lang="ja-JP" altLang="en-US" sz="2400">
                <a:latin typeface="+mn-lt"/>
                <a:ea typeface="+mn-ea"/>
              </a:rPr>
              <a:t>emcee を使用：32 本の歩行者 × 6000 歩</a:t>
            </a:r>
          </a:p>
          <a:p>
            <a:pPr lvl="1"/>
            <a:r>
              <a:rPr lang="ja-JP" altLang="en-US" sz="2000">
                <a:latin typeface="+mn-lt"/>
                <a:ea typeface="+mn-ea"/>
              </a:rPr>
              <a:t>出発点は Totani と同じ初期値（点源・GALPROP = 1、他 = 0 など）</a:t>
            </a:r>
          </a:p>
          <a:p>
            <a:r>
              <a:rPr lang="ja-JP" altLang="en-US" sz="2400">
                <a:latin typeface="+mn-lt"/>
                <a:ea typeface="+mn-ea"/>
              </a:rPr>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山の上の「場所」 → 倍率の組 θ</a:t>
            </a:r>
          </a:p>
          <a:p>
            <a:pPr lvl="1"/>
            <a:r>
              <a:rPr lang="ja-JP" altLang="en-US" sz="1500">
                <a:latin typeface="+mn-lt"/>
                <a:ea typeface="+mn-ea"/>
              </a:rPr>
              <a:t>θ = (f_iso, f_gas, f_ics, …, f_halo)。9 個あるので 9 次元の山</a:t>
            </a:r>
          </a:p>
          <a:p>
            <a:r>
              <a:rPr lang="ja-JP" altLang="en-US" sz="1800">
                <a:latin typeface="+mn-lt"/>
                <a:ea typeface="+mn-ea"/>
              </a:rPr>
              <a:t>その場所の「高さ」 → 点数（事後分布）</a:t>
            </a:r>
          </a:p>
          <a:p>
            <a:r>
              <a:rPr lang="ja-JP" altLang="en-US" sz="1800">
                <a:latin typeface="+mn-lt"/>
                <a:ea typeface="+mn-ea"/>
              </a:rPr>
              <a:t>「高度計」 → 尤度の計算（手法② の ln L）</a:t>
            </a:r>
          </a:p>
          <a:p>
            <a:r>
              <a:rPr lang="ja-JP" altLang="en-US" sz="1800">
                <a:latin typeface="+mn-lt"/>
                <a:ea typeface="+mn-ea"/>
              </a:rPr>
              <a:t>「立ち入り禁止の場所」 → 事前分布</a:t>
            </a:r>
          </a:p>
          <a:p>
            <a:pPr lvl="1"/>
            <a:r>
              <a:rPr lang="ja-JP" altLang="en-US" sz="1500">
                <a:latin typeface="+mn-lt"/>
                <a:ea typeface="+mn-ea"/>
              </a:rPr>
              <a:t>例：ガスや ICS の倍率は負にならない</a:t>
            </a:r>
          </a:p>
          <a:p>
            <a:r>
              <a:rPr lang="ja-JP" altLang="en-US" sz="1800">
                <a:latin typeface="+mn-lt"/>
                <a:ea typeface="+mn-ea"/>
              </a:rPr>
              <a:t>「歩く人」 → 歩行者（walker）。今回は 32 人</a:t>
            </a:r>
          </a:p>
          <a:p>
            <a:r>
              <a:rPr lang="ja-JP" altLang="en-US" sz="1800">
                <a:latin typeface="+mn-lt"/>
                <a:ea typeface="+mn-ea"/>
              </a:rPr>
              <a:t>「足あとの記録」 → チェーン（サンプル）</a:t>
            </a:r>
          </a:p>
          <a:p>
            <a:r>
              <a:rPr lang="ja-JP" altLang="en-US" sz="1800">
                <a:latin typeface="+mn-lt"/>
                <a:ea typeface="+mn-ea"/>
              </a:rPr>
              <a:t>「一番高い足あと」 → 最良値</a:t>
            </a:r>
          </a:p>
          <a:p>
            <a:r>
              <a:rPr lang="ja-JP" altLang="en-US" sz="1800">
                <a:latin typeface="+mn-lt"/>
                <a:ea typeface="+mn-ea"/>
              </a:rPr>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lang="ja-JP" altLang="en-US" sz="1800">
                <a:latin typeface="+mn-lt"/>
                <a:ea typeface="+mn-ea"/>
              </a:rPr>
              <a:t>P(θ | D) = L(D | θ) × π(θ) ÷ P(D)</a:t>
            </a:r>
          </a:p>
          <a:p>
            <a:r>
              <a:rPr lang="ja-JP" altLang="en-US" sz="1800">
                <a:latin typeface="+mn-lt"/>
                <a:ea typeface="+mn-ea"/>
              </a:rPr>
              <a:t>P(θ | D)：場所 θ の「高さ」（＝点数）</a:t>
            </a:r>
          </a:p>
          <a:p>
            <a:pPr lvl="1"/>
            <a:r>
              <a:rPr lang="ja-JP" altLang="en-US" sz="1500">
                <a:latin typeface="+mn-lt"/>
                <a:ea typeface="+mn-ea"/>
              </a:rPr>
              <a:t>データ D を見た後で、θ がどれくらいもっともらしいか</a:t>
            </a:r>
          </a:p>
          <a:p>
            <a:r>
              <a:rPr lang="ja-JP" altLang="en-US" sz="1800">
                <a:latin typeface="+mn-lt"/>
                <a:ea typeface="+mn-ea"/>
              </a:rPr>
              <a:t>L(D | θ)：「高度計」の読み（尤度）</a:t>
            </a:r>
          </a:p>
          <a:p>
            <a:pPr lvl="1"/>
            <a:r>
              <a:rPr lang="ja-JP" altLang="en-US" sz="1500">
                <a:latin typeface="+mn-lt"/>
                <a:ea typeface="+mn-ea"/>
              </a:rPr>
              <a:t>倍率が θ のとき、観測した光子の地図 D がどれくらい出やすいか</a:t>
            </a:r>
          </a:p>
          <a:p>
            <a:r>
              <a:rPr lang="ja-JP" altLang="en-US" sz="1800">
                <a:latin typeface="+mn-lt"/>
                <a:ea typeface="+mn-ea"/>
              </a:rPr>
              <a:t>π(θ)：入ってよい場所か（事前分布）</a:t>
            </a:r>
          </a:p>
          <a:p>
            <a:pPr lvl="1"/>
            <a:r>
              <a:rPr lang="ja-JP" altLang="en-US" sz="1500">
                <a:latin typeface="+mn-lt"/>
                <a:ea typeface="+mn-ea"/>
              </a:rPr>
              <a:t>入れる場所は全部同じ値、立ち入り禁止なら 0</a:t>
            </a:r>
          </a:p>
          <a:p>
            <a:r>
              <a:rPr lang="ja-JP" altLang="en-US" sz="1800">
                <a:latin typeface="+mn-lt"/>
                <a:ea typeface="+mn-ea"/>
              </a:rPr>
              <a:t>P(D)：海抜の基準。どの場所でも同じ数</a:t>
            </a:r>
          </a:p>
          <a:p>
            <a:pPr lvl="1"/>
            <a:r>
              <a:rPr lang="ja-JP" altLang="en-US" sz="1500">
                <a:latin typeface="+mn-lt"/>
                <a:ea typeface="+mn-ea"/>
              </a:rPr>
              <a:t>「どちらが高いか」を比べるだけなら消える → 計算しなくてよい</a:t>
            </a:r>
          </a:p>
          <a:p>
            <a:r>
              <a:rPr lang="ja-JP" altLang="en-US" sz="1800">
                <a:latin typeface="+mn-lt"/>
                <a:ea typeface="+mn-ea"/>
              </a:rPr>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1. 今いる場所 θ から、少しずれた場所 θ′ に足を出す</a:t>
            </a:r>
          </a:p>
          <a:p>
            <a:pPr lvl="1"/>
            <a:r>
              <a:rPr lang="ja-JP" altLang="en-US" sz="1500">
                <a:latin typeface="+mn-lt"/>
                <a:ea typeface="+mn-ea"/>
              </a:rPr>
              <a:t>どれだけずらすかは乱数で決める</a:t>
            </a:r>
          </a:p>
          <a:p>
            <a:r>
              <a:rPr lang="ja-JP" altLang="en-US" sz="1800">
                <a:latin typeface="+mn-lt"/>
                <a:ea typeface="+mn-ea"/>
              </a:rPr>
              <a:t>2. 高度計で両方を読み、比 r = 高さ(θ′) ÷ 高さ(θ)</a:t>
            </a:r>
          </a:p>
          <a:p>
            <a:r>
              <a:rPr lang="ja-JP" altLang="en-US" sz="1800">
                <a:latin typeface="+mn-lt"/>
                <a:ea typeface="+mn-ea"/>
              </a:rPr>
              <a:t>3. r ≥ 1（上り）なら、必ず θ′ に移る</a:t>
            </a:r>
          </a:p>
          <a:p>
            <a:r>
              <a:rPr lang="ja-JP" altLang="en-US" sz="1800">
                <a:latin typeface="+mn-lt"/>
                <a:ea typeface="+mn-ea"/>
              </a:rPr>
              <a:t>4. r &lt; 1（下り）なら、確率 r で移る</a:t>
            </a:r>
          </a:p>
          <a:p>
            <a:pPr lvl="1"/>
            <a:r>
              <a:rPr lang="ja-JP" altLang="en-US" sz="1500">
                <a:latin typeface="+mn-lt"/>
                <a:ea typeface="+mn-ea"/>
              </a:rPr>
              <a:t>0〜1 の乱数を引き、r より小さければ移る</a:t>
            </a:r>
          </a:p>
          <a:p>
            <a:r>
              <a:rPr lang="ja-JP" altLang="en-US" sz="1800">
                <a:latin typeface="+mn-lt"/>
                <a:ea typeface="+mn-ea"/>
              </a:rPr>
              <a:t>5. 移っても移らなくても、今いる場所を足あとに記録</a:t>
            </a:r>
          </a:p>
          <a:p>
            <a:r>
              <a:rPr lang="ja-JP" altLang="en-US" sz="1800">
                <a:latin typeface="+mn-lt"/>
                <a:ea typeface="+mn-ea"/>
              </a:rPr>
              <a:t>6. 1〜5 を何千回もくり返す</a:t>
            </a:r>
          </a:p>
          <a:p>
            <a:r>
              <a:rPr lang="ja-JP" altLang="en-US" sz="1800">
                <a:latin typeface="+mn-lt"/>
                <a:ea typeface="+mn-ea"/>
              </a:rPr>
              <a:t>なぜ下りにも進む？</a:t>
            </a:r>
          </a:p>
          <a:p>
            <a:pPr lvl="1"/>
            <a:r>
              <a:rPr lang="ja-JP" altLang="en-US" sz="1500">
                <a:latin typeface="+mn-lt"/>
                <a:ea typeface="+mn-ea"/>
              </a:rPr>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lang="ja-JP" altLang="en-US" sz="1800">
                <a:latin typeface="+mn-lt"/>
                <a:ea typeface="+mn-ea"/>
              </a:rPr>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lang="ja-JP" altLang="en-US" sz="2000">
                <a:latin typeface="+mn-lt"/>
                <a:ea typeface="+mn-ea"/>
              </a:rPr>
              <a:t>メトロポリス法（1953）：一番基本。少しずらして、比 r で移るか決める（②）</a:t>
            </a:r>
          </a:p>
          <a:p>
            <a:r>
              <a:rPr lang="ja-JP" altLang="en-US" sz="2000">
                <a:latin typeface="+mn-lt"/>
                <a:ea typeface="+mn-ea"/>
              </a:rPr>
              <a:t>ギブス法：倍率を 1 個ずつ順番に動かす</a:t>
            </a:r>
          </a:p>
          <a:p>
            <a:r>
              <a:rPr lang="ja-JP" altLang="en-US" sz="2000">
                <a:latin typeface="+mn-lt"/>
                <a:ea typeface="+mn-ea"/>
              </a:rPr>
              <a:t>ハミルトニアン MC：坂の傾きを使って、ボールを転がすように大きく動く</a:t>
            </a:r>
          </a:p>
          <a:p>
            <a:r>
              <a:rPr lang="ja-JP" altLang="en-US" sz="2000">
                <a:latin typeface="+mn-lt"/>
                <a:ea typeface="+mn-ea"/>
              </a:rPr>
              <a:t>アンサンブル法（2010）：何人も同時に歩き、仲間の位置で一歩を決める（④）</a:t>
            </a:r>
          </a:p>
          <a:p>
            <a:pPr lvl="1"/>
            <a:r>
              <a:rPr lang="ja-JP" altLang="en-US" sz="1600">
                <a:latin typeface="+mn-lt"/>
                <a:ea typeface="+mn-ea"/>
              </a:rPr>
              <a:t>Python の道具 emcee がこれ。本研究はこれを使った</a:t>
            </a:r>
          </a:p>
          <a:p>
            <a:r>
              <a:rPr lang="ja-JP" altLang="en-US" sz="2000">
                <a:latin typeface="+mn-lt"/>
                <a:ea typeface="+mn-ea"/>
              </a:rPr>
              <a:t>似ているが別物：焼きなまし法</a:t>
            </a:r>
          </a:p>
          <a:p>
            <a:pPr lvl="1"/>
            <a:r>
              <a:rPr lang="ja-JP" altLang="en-US" sz="1600">
                <a:latin typeface="+mn-lt"/>
                <a:ea typeface="+mn-ea"/>
              </a:rPr>
              <a:t>下りに進む確率をだんだん小さくして、頂上だけを探す。誤差は出ない</a:t>
            </a:r>
          </a:p>
          <a:p>
            <a:r>
              <a:rPr lang="ja-JP" altLang="en-US" sz="2000">
                <a:latin typeface="+mn-lt"/>
                <a:ea typeface="+mn-ea"/>
              </a:rPr>
              <a:t>Totani は「MCMC」とだけ書いていて、どの歩き方かは書いていない</a:t>
            </a:r>
          </a:p>
          <a:p>
            <a:pPr lvl="1"/>
            <a:r>
              <a:rPr lang="ja-JP" altLang="en-US" sz="1600">
                <a:latin typeface="+mn-lt"/>
                <a:ea typeface="+mn-ea"/>
              </a:rPr>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lang="ja-JP" altLang="en-US" sz="1600">
                <a:latin typeface="+mn-lt"/>
                <a:ea typeface="+mn-ea"/>
              </a:rPr>
              <a:t>1 人だと、細長い山で迷いやすい</a:t>
            </a:r>
          </a:p>
          <a:p>
            <a:pPr lvl="1"/>
            <a:r>
              <a:rPr lang="ja-JP" altLang="en-US" sz="1400">
                <a:latin typeface="+mn-lt"/>
                <a:ea typeface="+mn-ea"/>
              </a:rPr>
              <a:t>例：ガスと ICS の縮退。片方を上げて片方を下げても高さがほぼ同じ</a:t>
            </a:r>
          </a:p>
          <a:p>
            <a:r>
              <a:rPr lang="ja-JP" altLang="en-US" sz="1600">
                <a:latin typeface="+mn-lt"/>
                <a:ea typeface="+mn-ea"/>
              </a:rPr>
              <a:t>そこで 32 人が同時に歩き、仲間の位置を見て一歩を決める</a:t>
            </a:r>
          </a:p>
          <a:p>
            <a:r>
              <a:rPr lang="ja-JP" altLang="en-US" sz="1600">
                <a:latin typeface="+mn-lt"/>
                <a:ea typeface="+mn-ea"/>
              </a:rPr>
              <a:t>一歩の出し方（ストレッチ移動）</a:t>
            </a:r>
          </a:p>
          <a:p>
            <a:pPr lvl="1"/>
            <a:r>
              <a:rPr lang="ja-JP" altLang="en-US" sz="1400">
                <a:latin typeface="+mn-lt"/>
                <a:ea typeface="+mn-ea"/>
              </a:rPr>
              <a:t>自分 X_k から、ランダムに選んだ仲間 X_j への線を引く</a:t>
            </a:r>
          </a:p>
          <a:p>
            <a:pPr lvl="1"/>
            <a:r>
              <a:rPr lang="ja-JP" altLang="en-US" sz="1400">
                <a:latin typeface="+mn-lt"/>
                <a:ea typeface="+mn-ea"/>
              </a:rPr>
              <a:t>その線の上で、Z 倍（1/2〜2 の乱数）伸ばした点に足を出す</a:t>
            </a:r>
          </a:p>
          <a:p>
            <a:pPr lvl="1"/>
            <a:r>
              <a:rPr lang="ja-JP" altLang="en-US" sz="1400">
                <a:latin typeface="+mn-lt"/>
                <a:ea typeface="+mn-ea"/>
              </a:rPr>
              <a:t>Y = X_j + Z (X_k − X_j)</a:t>
            </a:r>
          </a:p>
          <a:p>
            <a:r>
              <a:rPr lang="ja-JP" altLang="en-US" sz="1600">
                <a:latin typeface="+mn-lt"/>
                <a:ea typeface="+mn-ea"/>
              </a:rPr>
              <a:t>移るかどうかは ② と同じ考え（Z⁸ を掛けて補正）</a:t>
            </a:r>
          </a:p>
          <a:p>
            <a:r>
              <a:rPr lang="ja-JP" altLang="en-US" sz="1600">
                <a:latin typeface="+mn-lt"/>
                <a:ea typeface="+mn-ea"/>
              </a:rPr>
              <a:t>出発点：全員、Totani と同じ初期値の近く。6000 歩</a:t>
            </a:r>
          </a:p>
          <a:p>
            <a:r>
              <a:rPr lang="ja-JP" altLang="en-US" sz="1600">
                <a:latin typeface="+mn-lt"/>
                <a:ea typeface="+mn-ea"/>
              </a:rPr>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一番高い足あと → 最良の倍率（Totani と同じ）</a:t>
            </a:r>
          </a:p>
          <a:p>
            <a:pPr lvl="1"/>
            <a:r>
              <a:rPr lang="ja-JP" altLang="en-US" sz="1500">
                <a:latin typeface="+mn-lt"/>
                <a:ea typeface="+mn-ea"/>
              </a:rPr>
              <a:t>20.8 GeV：ハローの倍率 1.44</a:t>
            </a:r>
          </a:p>
          <a:p>
            <a:r>
              <a:rPr lang="ja-JP" altLang="en-US" sz="1800">
                <a:latin typeface="+mn-lt"/>
                <a:ea typeface="+mn-ea"/>
              </a:rPr>
              <a:t>足あとの広がり → 誤差</a:t>
            </a:r>
          </a:p>
          <a:p>
            <a:pPr lvl="1"/>
            <a:r>
              <a:rPr lang="ja-JP" altLang="en-US" sz="1500">
                <a:latin typeface="+mn-lt"/>
                <a:ea typeface="+mn-ea"/>
              </a:rPr>
              <a:t>最初の 2000 歩（ふもとから登っている途中）は捨て、残りの下から 16%〜84%</a:t>
            </a:r>
          </a:p>
          <a:p>
            <a:pPr lvl="1"/>
            <a:r>
              <a:rPr lang="ja-JP" altLang="en-US" sz="1500">
                <a:latin typeface="+mn-lt"/>
                <a:ea typeface="+mn-ea"/>
              </a:rPr>
              <a:t>20.8 GeV：1.35〜1.52</a:t>
            </a:r>
          </a:p>
          <a:p>
            <a:r>
              <a:rPr lang="ja-JP" altLang="en-US" sz="1800">
                <a:latin typeface="+mn-lt"/>
                <a:ea typeface="+mn-ea"/>
              </a:rPr>
              <a:t>有意度：ハローあり・なしの山を別々に歩く</a:t>
            </a:r>
          </a:p>
          <a:p>
            <a:pPr lvl="1"/>
            <a:r>
              <a:rPr lang="ja-JP" altLang="en-US" sz="1500">
                <a:latin typeface="+mn-lt"/>
                <a:ea typeface="+mn-ea"/>
              </a:rPr>
              <a:t>それぞれの一番高い足あとの高さの差 Δln L → σ = √(2Δln L)</a:t>
            </a:r>
          </a:p>
          <a:p>
            <a:pPr lvl="1"/>
            <a:r>
              <a:rPr lang="ja-JP" altLang="en-US" sz="1500">
                <a:latin typeface="+mn-lt"/>
                <a:ea typeface="+mn-ea"/>
              </a:rPr>
              <a:t>20.8 GeV：17.6σ</a:t>
            </a:r>
          </a:p>
          <a:p>
            <a:r>
              <a:rPr lang="ja-JP" altLang="en-US" sz="1800">
                <a:latin typeface="+mn-lt"/>
                <a:ea typeface="+mn-ea"/>
              </a:rPr>
              <a:t>注意：山の端まで歩き回るには、もっと長く歩くのが理想</a:t>
            </a:r>
          </a:p>
          <a:p>
            <a:pPr lvl="1"/>
            <a:r>
              <a:rPr lang="ja-JP" altLang="en-US" sz="1500">
                <a:latin typeface="+mn-lt"/>
                <a:ea typeface="+mn-ea"/>
              </a:rPr>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lang="ja-JP" altLang="en-US" sz="2000">
                <a:latin typeface="+mn-lt"/>
                <a:ea typeface="+mn-ea"/>
              </a:rPr>
              <a:t>20.8 GeV で 17.6σ（Totani の同じ形 ρ² は約 14σ）。山の位置も一致。</a:t>
            </a:r>
          </a:p>
          <a:p>
            <a:r>
              <a:rPr lang="ja-JP" altLang="en-US" sz="2000">
                <a:latin typeface="+mn-lt"/>
                <a:ea typeface="+mn-ea"/>
              </a:rPr>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830997"/>
          </a:xfrm>
          <a:prstGeom prst="rect">
            <a:avLst/>
          </a:prstGeom>
          <a:noFill/>
        </p:spPr>
        <p:txBody>
          <a:bodyPr wrap="square">
            <a:spAutoFit/>
          </a:bodyPr>
          <a:lstStyle/>
          <a:p>
            <a:r>
              <a:rPr lang="ja-JP" altLang="en-US" sz="1600">
                <a:latin typeface="+mn-lt"/>
                <a:ea typeface="+mn-ea"/>
              </a:rPr>
              <a:t>Totani と同じく、ハローの光の出し方を 3 通り（密度の 2.5 乗・2 乗・1 乗）で比べた</a:t>
            </a:r>
          </a:p>
          <a:p>
            <a:endParaRPr lang="ja-JP" altLang="en-US" sz="1600">
              <a:latin typeface="+mn-lt"/>
              <a:ea typeface="+mn-ea"/>
            </a:endParaRPr>
          </a:p>
        </p:txBody>
      </p:sp>
      <p:sp>
        <p:nvSpPr>
          <p:cNvPr id="5" name="TextBox 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lang="ja-JP" altLang="en-US" sz="2200">
                <a:latin typeface="+mn-lt"/>
                <a:ea typeface="+mn-ea"/>
              </a:rPr>
              <a:t>ICS とハローは、空の上での形がよく似ている</a:t>
            </a:r>
          </a:p>
          <a:p>
            <a:pPr lvl="1"/>
            <a:r>
              <a:rPr lang="ja-JP" altLang="en-US" sz="1800">
                <a:latin typeface="+mn-lt"/>
                <a:ea typeface="+mn-ea"/>
              </a:rPr>
              <a:t>緯度 25° → 55° で暗くなる割合：ハロー 2.70 倍、ICS 2.60 倍（右の図）</a:t>
            </a:r>
          </a:p>
          <a:p>
            <a:r>
              <a:rPr lang="ja-JP" altLang="en-US" sz="2200">
                <a:latin typeface="+mn-lt"/>
                <a:ea typeface="+mn-ea"/>
              </a:rPr>
              <a:t>違いは「銀河中心の方向に集まっているか」だけ</a:t>
            </a:r>
          </a:p>
          <a:p>
            <a:r>
              <a:rPr lang="ja-JP" altLang="en-US" sz="2200">
                <a:latin typeface="+mn-lt"/>
                <a:ea typeface="+mn-ea"/>
              </a:rPr>
              <a:t>ハローを入れると、その分 ICS が暗くなる</a:t>
            </a:r>
          </a:p>
          <a:p>
            <a:pPr lvl="1"/>
            <a:r>
              <a:rPr lang="ja-JP" altLang="en-US" sz="1800">
                <a:latin typeface="+mn-lt"/>
                <a:ea typeface="+mn-ea"/>
              </a:rPr>
              <a:t>ICS の倍率 1.43 → 0.61（20.8 GeV）</a:t>
            </a:r>
          </a:p>
          <a:p>
            <a:r>
              <a:rPr lang="ja-JP" altLang="en-US" sz="1800">
                <a:latin typeface="+mn-lt"/>
                <a:ea typeface="+mn-ea"/>
              </a:rPr>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lang="ja-JP" altLang="en-US" sz="1900">
                <a:latin typeface="+mn-lt"/>
                <a:ea typeface="+mn-ea"/>
              </a:rPr>
              <a:t>ハロー：暗黒物質は銀河の中心ほど濃い → 中心から外へ、なだらかに暗くなる</a:t>
            </a:r>
          </a:p>
          <a:p>
            <a:r>
              <a:rPr lang="ja-JP" altLang="en-US" sz="1900">
                <a:latin typeface="+mn-lt"/>
                <a:ea typeface="+mn-ea"/>
              </a:rPr>
              <a:t>ICS：光を出す電子も、電子がぶつかる星の光も、銀河の中心ほど多い → こちらも中心から外へ暗くなる</a:t>
            </a:r>
          </a:p>
          <a:p>
            <a:r>
              <a:rPr lang="ja-JP" altLang="en-US" sz="1900">
                <a:latin typeface="+mn-lt"/>
                <a:ea typeface="+mn-ea"/>
              </a:rPr>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lang="ja-JP" altLang="en-US" sz="2400">
                <a:latin typeface="+mn-lt"/>
                <a:ea typeface="+mn-ea"/>
              </a:rPr>
              <a:t>縮退があるので、ハローが本当にハローかを確かめたい</a:t>
            </a:r>
          </a:p>
          <a:p>
            <a:r>
              <a:rPr lang="ja-JP" altLang="en-US" sz="2400">
                <a:latin typeface="+mn-lt"/>
                <a:ea typeface="+mn-ea"/>
              </a:rPr>
              <a:t>① 空の一部を外して当てはめ直すと、バブル領域を外したときだけ 17.6σ → 4.6σ と大きく下がった</a:t>
            </a:r>
          </a:p>
          <a:p>
            <a:pPr lvl="1"/>
            <a:r>
              <a:rPr lang="ja-JP" altLang="en-US" sz="2000">
                <a:latin typeface="+mn-lt"/>
                <a:ea typeface="+mn-ea"/>
              </a:rPr>
              <a:t>同じ大きさの領域を横にずらして外すと 13〜15σ</a:t>
            </a:r>
          </a:p>
          <a:p>
            <a:pPr lvl="1"/>
            <a:r>
              <a:rPr lang="ja-JP" altLang="en-US" sz="2000">
                <a:latin typeface="+mn-lt"/>
                <a:ea typeface="+mn-ea"/>
              </a:rPr>
              <a:t>→ ハローは、本当はバブルや ICS の間違いでは？</a:t>
            </a:r>
          </a:p>
          <a:p>
            <a:r>
              <a:rPr lang="ja-JP" altLang="en-US" sz="2400">
                <a:latin typeface="+mn-lt"/>
                <a:ea typeface="+mn-ea"/>
              </a:rPr>
              <a:t>② 何も無い空でも、最大 4.4σ が出る</a:t>
            </a:r>
          </a:p>
          <a:p>
            <a:pPr lvl="1"/>
            <a:r>
              <a:rPr lang="ja-JP" altLang="en-US" sz="2000">
                <a:latin typeface="+mn-lt"/>
                <a:ea typeface="+mn-ea"/>
              </a:rPr>
              <a:t>→ σ をそのまま信じてよいのか？</a:t>
            </a:r>
          </a:p>
          <a:p>
            <a:r>
              <a:rPr lang="ja-JP" altLang="en-US" sz="2400">
                <a:latin typeface="+mn-lt"/>
                <a:ea typeface="+mn-ea"/>
              </a:rPr>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lang="ja-JP" altLang="en-US" sz="2200">
                <a:latin typeface="+mn-lt"/>
                <a:ea typeface="+mn-ea"/>
              </a:rPr>
              <a:t>ハローと ICS を見分ける手がかりは、銀河中心のすぐ上と下に集まっている</a:t>
            </a:r>
          </a:p>
          <a:p>
            <a:r>
              <a:rPr lang="ja-JP" altLang="en-US" sz="2200">
                <a:latin typeface="+mn-lt"/>
                <a:ea typeface="+mn-ea"/>
              </a:rPr>
              <a:t>その場所がバブル領域と重なる</a:t>
            </a:r>
          </a:p>
          <a:p>
            <a:pPr lvl="1"/>
            <a:r>
              <a:rPr lang="ja-JP" altLang="en-US" sz="1800">
                <a:latin typeface="+mn-lt"/>
                <a:ea typeface="+mn-ea"/>
              </a:rPr>
              <a:t>手がかりの 53% がバブル領域にある（面積は 35% だけ）</a:t>
            </a:r>
          </a:p>
          <a:p>
            <a:r>
              <a:rPr lang="ja-JP" altLang="en-US" sz="2200">
                <a:latin typeface="+mn-lt"/>
                <a:ea typeface="+mn-ea"/>
              </a:rPr>
              <a:t>だからバブル領域を外すと、手がかりが減って σ が下がる</a:t>
            </a:r>
          </a:p>
          <a:p>
            <a:pPr lvl="1"/>
            <a:r>
              <a:rPr lang="ja-JP" altLang="en-US" sz="1800">
                <a:latin typeface="+mn-lt"/>
                <a:ea typeface="+mn-ea"/>
              </a:rPr>
              <a:t>手がかりの減り方からの予想 5.8σ、実測 4.6σ</a:t>
            </a:r>
          </a:p>
          <a:p>
            <a:r>
              <a:rPr lang="ja-JP" altLang="en-US" sz="2200">
                <a:latin typeface="+mn-lt"/>
                <a:ea typeface="+mn-ea"/>
              </a:rPr>
              <a:t>同じ大きさを別の場所で外しても、13〜15σ しか下がらない</a:t>
            </a:r>
          </a:p>
          <a:p>
            <a:r>
              <a:rPr lang="ja-JP" altLang="en-US" sz="2200">
                <a:latin typeface="+mn-lt"/>
                <a:ea typeface="+mn-ea"/>
              </a:rPr>
              <a:t>→ 下がったのは「証拠のある場所を隠した」から。バブルが偽の信号を作ったのではないと結論</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もし ICS の計算が間違っていて、ハローの正体が ICS だったら？</a:t>
            </a:r>
          </a:p>
          <a:p>
            <a:r>
              <a:rPr lang="ja-JP" altLang="en-US" sz="2200">
                <a:latin typeface="+mn-lt"/>
                <a:ea typeface="+mn-ea"/>
              </a:rPr>
              <a:t>ICS をバブルの内と外で別々の明るさにしてみた</a:t>
            </a:r>
          </a:p>
          <a:p>
            <a:pPr lvl="1"/>
            <a:r>
              <a:rPr lang="ja-JP" altLang="en-US" sz="1800">
                <a:latin typeface="+mn-lt"/>
                <a:ea typeface="+mn-ea"/>
              </a:rPr>
              <a:t>内側を 2.1 倍明るくしないと、ハローの代わりにならない</a:t>
            </a:r>
          </a:p>
          <a:p>
            <a:r>
              <a:rPr lang="ja-JP" altLang="en-US" sz="2200">
                <a:latin typeface="+mn-lt"/>
                <a:ea typeface="+mn-ea"/>
              </a:rPr>
              <a:t>ICS の計算を細かくしても、変わるのは 1.1〜1.3 倍 → 足りない</a:t>
            </a:r>
          </a:p>
          <a:p>
            <a:r>
              <a:rPr lang="ja-JP" altLang="en-US" sz="2200">
                <a:latin typeface="+mn-lt"/>
                <a:ea typeface="+mn-ea"/>
              </a:rPr>
              <a:t>ICS を 3 種類に分けて自由にしても 17.6σ → 16.5σ（ほぼ残る）</a:t>
            </a:r>
          </a:p>
          <a:p>
            <a:r>
              <a:rPr lang="ja-JP" altLang="en-US" sz="2200">
                <a:latin typeface="+mn-lt"/>
                <a:ea typeface="+mn-ea"/>
              </a:rPr>
              <a:t>→ ICS の明るさの間違いでは説明できない（空での形の間違いは否定できない）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何も無い空 23 か所で、矮小銀河と同じ解析をした（天の川の方法を半径 10° に縮めたもの）</a:t>
            </a:r>
          </a:p>
          <a:p>
            <a:pPr lvl="1"/>
            <a:r>
              <a:rPr lang="ja-JP" altLang="en-US" sz="1700">
                <a:latin typeface="+mn-lt"/>
                <a:ea typeface="+mn-ea"/>
              </a:rPr>
              <a:t>たとえ：真っ暗な所を写したのに「明かりがある」と出てしまう（誤検出）が、どれくらい起きるか</a:t>
            </a:r>
          </a:p>
          <a:p>
            <a:r>
              <a:rPr lang="ja-JP" altLang="en-US" sz="2200">
                <a:latin typeface="+mn-lt"/>
                <a:ea typeface="+mn-ea"/>
              </a:rPr>
              <a:t>本物の信号が無ければ、σ は「平均 0、ばらつき 1」になるはず</a:t>
            </a:r>
          </a:p>
          <a:p>
            <a:pPr lvl="1"/>
            <a:r>
              <a:rPr lang="ja-JP" altLang="en-US" sz="1800">
                <a:latin typeface="+mn-lt"/>
                <a:ea typeface="+mn-ea"/>
              </a:rPr>
              <a:t>Wilks の定理が成り立っていれば</a:t>
            </a:r>
          </a:p>
          <a:p>
            <a:r>
              <a:rPr lang="ja-JP" altLang="en-US" sz="2200">
                <a:latin typeface="+mn-lt"/>
                <a:ea typeface="+mn-ea"/>
              </a:rPr>
              <a:t>実際のばらつき：1.2〜1.3（使うエネルギーで少し変わる。次の 2 枚）</a:t>
            </a:r>
          </a:p>
          <a:p>
            <a:pPr lvl="1"/>
            <a:r>
              <a:rPr lang="ja-JP" altLang="en-US" sz="1800">
                <a:latin typeface="+mn-lt"/>
                <a:ea typeface="+mn-ea"/>
              </a:rPr>
              <a:t>σ は 1.2〜1.3 倍大きく出ている</a:t>
            </a:r>
          </a:p>
          <a:p>
            <a:r>
              <a:rPr lang="ja-JP" altLang="en-US" sz="2200">
                <a:latin typeface="+mn-lt"/>
                <a:ea typeface="+mn-ea"/>
              </a:rPr>
              <a:t>17.6σ を較正すると 17.6 ÷ (1.2〜1.3) ≈ 14〜15σ</a:t>
            </a:r>
          </a:p>
          <a:p>
            <a:r>
              <a:rPr lang="ja-JP" altLang="en-US" sz="1600">
                <a:latin typeface="+mn-lt"/>
                <a:ea typeface="+mn-ea"/>
              </a:rPr>
              <a:t>天の川の解析そのもので偽の空を作ると、ばらつきは 0.89〜1.06（理論どおり）</a:t>
            </a:r>
          </a:p>
          <a:p>
            <a:pPr lvl="1"/>
            <a:r>
              <a:rPr lang="ja-JP" altLang="en-US" sz="1400">
                <a:latin typeface="+mn-lt"/>
                <a:ea typeface="+mn-ea"/>
              </a:rPr>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バブル領域で σ が下がるのは、証拠がそこに集まっているから（バブルが作った偽の信号ではない）</a:t>
            </a:r>
          </a:p>
          <a:p>
            <a:r>
              <a:rPr lang="ja-JP" altLang="en-US" sz="2400">
                <a:latin typeface="+mn-lt"/>
                <a:ea typeface="+mn-ea"/>
              </a:rPr>
              <a:t>ICS の明るさ・計算の近似の間違いでも、超過を説明できない</a:t>
            </a:r>
          </a:p>
          <a:p>
            <a:r>
              <a:rPr lang="ja-JP" altLang="en-US" sz="2400">
                <a:latin typeface="+mn-lt"/>
                <a:ea typeface="+mn-ea"/>
              </a:rPr>
              <a:t>σ は 1.2〜1.3 倍の過大評価 → 較正すると 14〜15σ</a:t>
            </a:r>
          </a:p>
          <a:p>
            <a:r>
              <a:rPr lang="ja-JP" altLang="en-US" sz="2400">
                <a:latin typeface="+mn-lt"/>
                <a:ea typeface="+mn-ea"/>
              </a:rPr>
              <a:t>ただし、暗黒物質の証拠ではない</a:t>
            </a:r>
          </a:p>
          <a:p>
            <a:pPr lvl="1"/>
            <a:r>
              <a:rPr lang="ja-JP" altLang="en-US" sz="2000">
                <a:latin typeface="+mn-lt"/>
                <a:ea typeface="+mn-ea"/>
              </a:rPr>
              <a:t>ICS の「空での形」の間違いは否定できていない</a:t>
            </a:r>
          </a:p>
          <a:p>
            <a:r>
              <a:rPr lang="ja-JP" altLang="en-US" sz="2400">
                <a:latin typeface="+mn-lt"/>
                <a:ea typeface="+mn-ea"/>
              </a:rPr>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矮小銀河：天の川のまわりの小さな銀河</a:t>
            </a:r>
          </a:p>
          <a:p>
            <a:pPr lvl="1"/>
            <a:r>
              <a:rPr lang="ja-JP" altLang="en-US" sz="2000">
                <a:latin typeface="+mn-lt"/>
                <a:ea typeface="+mn-ea"/>
              </a:rPr>
              <a:t>暗黒物質が多く、ガスや星形成が少ない（雑音が少ない）</a:t>
            </a:r>
          </a:p>
          <a:p>
            <a:r>
              <a:rPr lang="ja-JP" altLang="en-US" sz="2400">
                <a:latin typeface="+mn-lt"/>
                <a:ea typeface="+mn-ea"/>
              </a:rPr>
              <a:t>暗黒物質なら、矮小銀河からも同じ 20 GeV の光が来るはず</a:t>
            </a:r>
          </a:p>
          <a:p>
            <a:r>
              <a:rPr lang="ja-JP" altLang="en-US" sz="2400">
                <a:latin typeface="+mn-lt"/>
                <a:ea typeface="+mn-ea"/>
              </a:rPr>
              <a:t>同じ手法を、各天体のまわり半径 10° に使った</a:t>
            </a:r>
          </a:p>
          <a:p>
            <a:pPr lvl="1"/>
            <a:r>
              <a:rPr lang="ja-JP" altLang="en-US" sz="2000">
                <a:latin typeface="+mn-lt"/>
                <a:ea typeface="+mn-ea"/>
              </a:rPr>
              <a:t>矮小銀河 54 ＋ M31・M33 ＋ 何も無い空 23 か所</a:t>
            </a:r>
          </a:p>
          <a:p>
            <a:r>
              <a:rPr lang="ja-JP" altLang="en-US" sz="2400">
                <a:latin typeface="+mn-lt"/>
                <a:ea typeface="+mn-ea"/>
              </a:rPr>
              <a:t>矮小銀河は小さい（0.2〜0.4°）ので、広がった ICS とは縮退しない</a:t>
            </a:r>
          </a:p>
          <a:p>
            <a:pPr lvl="1"/>
            <a:r>
              <a:rPr lang="ja-JP" altLang="en-US" sz="2400">
                <a:latin typeface="+mn-lt"/>
                <a:ea typeface="+mn-ea"/>
              </a:rPr>
              <a:t>ICS は半径 10° の中ではほぼ平らに見える。点のように集まった光とは形がまったく違う</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lang="ja-JP" altLang="en-US" sz="1400" b="1">
                          <a:solidFill>
                            <a:srgbClr val="FFFFFF"/>
                          </a:solidFill>
                          <a:latin typeface="+mn-lt"/>
                          <a:ea typeface="+mn-ea"/>
                        </a:rPr>
                        <a:t>項目</a:t>
                      </a:r>
                    </a:p>
                  </a:txBody>
                  <a:tcPr>
                    <a:solidFill>
                      <a:srgbClr val="404040"/>
                    </a:solidFill>
                  </a:tcPr>
                </a:tc>
                <a:tc>
                  <a:txBody>
                    <a:bodyPr/>
                    <a:lstStyle/>
                    <a:p>
                      <a:r>
                        <a:rPr lang="ja-JP" altLang="en-US" sz="1400" b="1">
                          <a:solidFill>
                            <a:srgbClr val="FFFFFF"/>
                          </a:solidFill>
                          <a:latin typeface="+mn-lt"/>
                          <a:ea typeface="+mn-ea"/>
                        </a:rPr>
                        <a:t>天の川（Totani と同じ）</a:t>
                      </a:r>
                    </a:p>
                  </a:txBody>
                  <a:tcPr>
                    <a:solidFill>
                      <a:srgbClr val="404040"/>
                    </a:solidFill>
                  </a:tcPr>
                </a:tc>
                <a:tc>
                  <a:txBody>
                    <a:bodyPr/>
                    <a:lstStyle/>
                    <a:p>
                      <a:r>
                        <a:rPr lang="ja-JP" altLang="en-US" sz="1400" b="1">
                          <a:solidFill>
                            <a:srgbClr val="FFFFFF"/>
                          </a:solidFill>
                          <a:latin typeface="+mn-lt"/>
                          <a:ea typeface="+mn-ea"/>
                        </a:rPr>
                        <a:t>矮小銀河（本研究の拡張）</a:t>
                      </a:r>
                    </a:p>
                  </a:txBody>
                  <a:tcPr>
                    <a:solidFill>
                      <a:srgbClr val="404040"/>
                    </a:solidFill>
                  </a:tcPr>
                </a:tc>
                <a:tc>
                  <a:txBody>
                    <a:bodyPr/>
                    <a:lstStyle/>
                    <a:p>
                      <a:r>
                        <a:rPr lang="ja-JP" altLang="en-US" sz="1400" b="1">
                          <a:solidFill>
                            <a:srgbClr val="FFFFFF"/>
                          </a:solidFill>
                          <a:latin typeface="+mn-lt"/>
                          <a:ea typeface="+mn-ea"/>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400">
                          <a:latin typeface="+mn-lt"/>
                          <a:ea typeface="+mn-ea"/>
                        </a:rPr>
                        <a:t>見る範囲</a:t>
                      </a:r>
                    </a:p>
                  </a:txBody>
                  <a:tcPr>
                    <a:solidFill>
                      <a:srgbClr val="F4F4F4"/>
                    </a:solidFill>
                  </a:tcPr>
                </a:tc>
                <a:tc>
                  <a:txBody>
                    <a:bodyPr/>
                    <a:lstStyle/>
                    <a:p>
                      <a:r>
                        <a:rPr lang="ja-JP" altLang="en-US" sz="1400">
                          <a:latin typeface="+mn-lt"/>
                          <a:ea typeface="+mn-ea"/>
                        </a:rPr>
                        <a:t>銀河中心の周り ±60°</a:t>
                      </a:r>
                    </a:p>
                  </a:txBody>
                  <a:tcPr>
                    <a:solidFill>
                      <a:srgbClr val="F4F4F4"/>
                    </a:solidFill>
                  </a:tcPr>
                </a:tc>
                <a:tc>
                  <a:txBody>
                    <a:bodyPr/>
                    <a:lstStyle/>
                    <a:p>
                      <a:r>
                        <a:rPr lang="ja-JP" altLang="en-US" sz="1400">
                          <a:latin typeface="+mn-lt"/>
                          <a:ea typeface="+mn-ea"/>
                        </a:rPr>
                        <a:t>各天体の周り 20° × 20°</a:t>
                      </a:r>
                    </a:p>
                  </a:txBody>
                  <a:tcPr>
                    <a:solidFill>
                      <a:srgbClr val="F4F4F4"/>
                    </a:solidFill>
                  </a:tcPr>
                </a:tc>
                <a:tc>
                  <a:txBody>
                    <a:bodyPr/>
                    <a:lstStyle/>
                    <a:p>
                      <a:r>
                        <a:rPr lang="ja-JP" altLang="en-US" sz="1400">
                          <a:latin typeface="+mn-lt"/>
                          <a:ea typeface="+mn-ea"/>
                        </a:rPr>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lang="ja-JP" altLang="en-US" sz="1400">
                          <a:latin typeface="+mn-lt"/>
                          <a:ea typeface="+mn-ea"/>
                        </a:rPr>
                        <a:t>等方・ガス・ICS・点源</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同じ型紙であり</a:t>
                      </a:r>
                    </a:p>
                  </a:txBody>
                  <a:tcPr>
                    <a:solidFill>
                      <a:srgbClr val="F4F4F4"/>
                    </a:solidFill>
                  </a:tcPr>
                </a:tc>
                <a:tc>
                  <a:txBody>
                    <a:bodyPr/>
                    <a:lstStyle/>
                    <a:p>
                      <a:r>
                        <a:rPr lang="ja-JP" altLang="en-US" sz="1400">
                          <a:latin typeface="+mn-lt"/>
                          <a:ea typeface="+mn-ea"/>
                        </a:rPr>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lang="ja-JP" altLang="en-US" sz="1400">
                          <a:latin typeface="+mn-lt"/>
                          <a:ea typeface="+mn-ea"/>
                        </a:rPr>
                        <a:t>バブル・Loop I</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入れない</a:t>
                      </a:r>
                    </a:p>
                  </a:txBody>
                  <a:tcPr>
                    <a:solidFill>
                      <a:srgbClr val="F4F4F4"/>
                    </a:solidFill>
                  </a:tcPr>
                </a:tc>
                <a:tc>
                  <a:txBody>
                    <a:bodyPr/>
                    <a:lstStyle/>
                    <a:p>
                      <a:r>
                        <a:rPr lang="ja-JP" altLang="en-US" sz="1400">
                          <a:latin typeface="+mn-lt"/>
                          <a:ea typeface="+mn-ea"/>
                        </a:rPr>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400">
                          <a:latin typeface="+mn-lt"/>
                          <a:ea typeface="+mn-ea"/>
                        </a:rPr>
                        <a:t>ハローの型紙</a:t>
                      </a:r>
                    </a:p>
                  </a:txBody>
                  <a:tcPr>
                    <a:solidFill>
                      <a:srgbClr val="F4F4F4"/>
                    </a:solidFill>
                  </a:tcPr>
                </a:tc>
                <a:tc>
                  <a:txBody>
                    <a:bodyPr/>
                    <a:lstStyle/>
                    <a:p>
                      <a:r>
                        <a:rPr lang="ja-JP" altLang="en-US" sz="1400">
                          <a:latin typeface="+mn-lt"/>
                          <a:ea typeface="+mn-ea"/>
                        </a:rPr>
                        <a:t>天の川の NFW</a:t>
                      </a:r>
                    </a:p>
                  </a:txBody>
                  <a:tcPr>
                    <a:solidFill>
                      <a:srgbClr val="F4F4F4"/>
                    </a:solidFill>
                  </a:tcPr>
                </a:tc>
                <a:tc>
                  <a:txBody>
                    <a:bodyPr/>
                    <a:lstStyle/>
                    <a:p>
                      <a:r>
                        <a:rPr lang="ja-JP" altLang="en-US" sz="1400">
                          <a:latin typeface="+mn-lt"/>
                          <a:ea typeface="+mn-ea"/>
                        </a:rPr>
                        <a:t>その天体の NFW（ぼやけで広げる）</a:t>
                      </a:r>
                    </a:p>
                  </a:txBody>
                  <a:tcPr>
                    <a:solidFill>
                      <a:srgbClr val="F4F4F4"/>
                    </a:solidFill>
                  </a:tcPr>
                </a:tc>
                <a:tc>
                  <a:txBody>
                    <a:bodyPr/>
                    <a:lstStyle/>
                    <a:p>
                      <a:r>
                        <a:rPr lang="ja-JP" altLang="en-US" sz="1400">
                          <a:latin typeface="+mn-lt"/>
                          <a:ea typeface="+mn-ea"/>
                        </a:rPr>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400">
                          <a:latin typeface="+mn-lt"/>
                          <a:ea typeface="+mn-ea"/>
                        </a:rPr>
                        <a:t>尤度のマス目</a:t>
                      </a:r>
                    </a:p>
                  </a:txBody>
                  <a:tcPr>
                    <a:solidFill>
                      <a:srgbClr val="F4F4F4"/>
                    </a:solidFill>
                  </a:tcPr>
                </a:tc>
                <a:tc>
                  <a:txBody>
                    <a:bodyPr/>
                    <a:lstStyle/>
                    <a:p>
                      <a:r>
                        <a:rPr lang="ja-JP" altLang="en-US" sz="1400">
                          <a:latin typeface="+mn-lt"/>
                          <a:ea typeface="+mn-ea"/>
                        </a:rPr>
                        <a:t>10° × 10°</a:t>
                      </a:r>
                    </a:p>
                  </a:txBody>
                  <a:tcPr>
                    <a:solidFill>
                      <a:srgbClr val="F4F4F4"/>
                    </a:solidFill>
                  </a:tcPr>
                </a:tc>
                <a:tc>
                  <a:txBody>
                    <a:bodyPr/>
                    <a:lstStyle/>
                    <a:p>
                      <a:r>
                        <a:rPr lang="ja-JP" altLang="en-US" sz="1400">
                          <a:latin typeface="+mn-lt"/>
                          <a:ea typeface="+mn-ea"/>
                        </a:rPr>
                        <a:t>1° のセル</a:t>
                      </a:r>
                    </a:p>
                  </a:txBody>
                  <a:tcPr>
                    <a:solidFill>
                      <a:srgbClr val="F4F4F4"/>
                    </a:solidFill>
                  </a:tcPr>
                </a:tc>
                <a:tc>
                  <a:txBody>
                    <a:bodyPr/>
                    <a:lstStyle/>
                    <a:p>
                      <a:r>
                        <a:rPr lang="ja-JP" altLang="en-US" sz="1400">
                          <a:latin typeface="+mn-lt"/>
                          <a:ea typeface="+mn-ea"/>
                        </a:rPr>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lang="ja-JP" altLang="en-US" sz="1700" b="1">
                <a:latin typeface="+mn-lt"/>
                <a:ea typeface="+mn-ea"/>
              </a:rPr>
              <a:t>Totani は矮小銀河にこの方法を使っていない → ここは本研究で足した部分</a:t>
            </a:r>
          </a:p>
          <a:p>
            <a:r>
              <a:rPr lang="ja-JP" altLang="en-US" sz="1500" b="0">
                <a:latin typeface="+mn-lt"/>
                <a:ea typeface="+mn-ea"/>
              </a:rPr>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暗黒物質の光の明るさ ＝（粒子の性質）×（J）</a:t>
            </a:r>
          </a:p>
          <a:p>
            <a:pPr lvl="1"/>
            <a:r>
              <a:rPr lang="ja-JP" altLang="en-US" sz="2000">
                <a:latin typeface="+mn-lt"/>
                <a:ea typeface="+mn-ea"/>
              </a:rPr>
              <a:t>J ＝ 暗黒物質がどこにどれだけあるか（密度の 2 乗を視線に沿って足したもの）</a:t>
            </a:r>
          </a:p>
          <a:p>
            <a:r>
              <a:rPr lang="ja-JP" altLang="en-US" sz="2400">
                <a:latin typeface="+mn-lt"/>
                <a:ea typeface="+mn-ea"/>
              </a:rPr>
              <a:t>粒子の性質は、天の川でも矮小銀河でも同じ</a:t>
            </a:r>
          </a:p>
          <a:p>
            <a:r>
              <a:rPr lang="ja-JP" altLang="en-US" sz="2400">
                <a:latin typeface="+mn-lt"/>
                <a:ea typeface="+mn-ea"/>
              </a:rPr>
              <a:t>→ 矮小銀河の予想の明るさ ＝ 天の川で測った明るさ ×（矮小銀河の J ÷ 天の川の J）</a:t>
            </a:r>
          </a:p>
          <a:p>
            <a:r>
              <a:rPr lang="ja-JP" altLang="en-US" sz="2400">
                <a:latin typeface="+mn-lt"/>
                <a:ea typeface="+mn-ea"/>
              </a:rPr>
              <a:t>粒子の質量などを仮定しなくてよい</a:t>
            </a:r>
          </a:p>
          <a:p>
            <a:r>
              <a:rPr lang="ja-JP" altLang="en-US" sz="2400">
                <a:latin typeface="+mn-lt"/>
                <a:ea typeface="+mn-ea"/>
              </a:rPr>
              <a:t>矮小銀河の J は、星の動きから推定する（重い銀河ほど星が速く動く）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どの天体・どのエネルギーでも最大 +3.23σ（何も無い空でも 4.40σ）</a:t>
            </a:r>
          </a:p>
          <a:p>
            <a:r>
              <a:rPr lang="ja-JP" altLang="en-US" sz="2000">
                <a:latin typeface="+mn-lt"/>
                <a:ea typeface="+mn-ea"/>
              </a:rPr>
              <a:t>黒（矮小銀河）と灰色（何も無い空）の形が同じ ＝ 矮小銀河は何も無い空と区別できない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文献ごとの J の値は、書かれた誤差よりも大きくばらつく</a:t>
            </a:r>
          </a:p>
          <a:p>
            <a:r>
              <a:rPr lang="ja-JP" altLang="en-US" sz="2400">
                <a:latin typeface="+mn-lt"/>
                <a:ea typeface="+mn-ea"/>
              </a:rPr>
              <a:t>見落とされがちな誤差の原因（8 つ）</a:t>
            </a:r>
          </a:p>
          <a:p>
            <a:pPr lvl="1"/>
            <a:r>
              <a:rPr lang="ja-JP" altLang="en-US" sz="2000">
                <a:latin typeface="+mn-lt"/>
                <a:ea typeface="+mn-ea"/>
              </a:rPr>
              <a:t>点として扱う・ハローの形・星の分布の形の仮定</a:t>
            </a:r>
          </a:p>
          <a:p>
            <a:pPr lvl="1"/>
            <a:r>
              <a:rPr lang="ja-JP" altLang="en-US" sz="2000">
                <a:latin typeface="+mn-lt"/>
                <a:ea typeface="+mn-ea"/>
              </a:rPr>
              <a:t>非球対称（最大 0.4 dex）・非平衡（〜0.1）・連星（Ret II で〜0.3）</a:t>
            </a:r>
          </a:p>
          <a:p>
            <a:pPr lvl="1"/>
            <a:r>
              <a:rPr lang="ja-JP" altLang="en-US" sz="2000">
                <a:latin typeface="+mn-lt"/>
                <a:ea typeface="+mn-ea"/>
              </a:rPr>
              <a:t>前景の星の混入・誤差の分布が正規分布でない</a:t>
            </a:r>
          </a:p>
          <a:p>
            <a:r>
              <a:rPr lang="ja-JP" altLang="en-US" sz="2400">
                <a:latin typeface="+mn-lt"/>
                <a:ea typeface="+mn-ea"/>
              </a:rPr>
              <a:t>Δlog₁₀J ≈ 0.5（約 3 倍）以上の誤差を見込むべき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論文の全体像：J のずれを小さく見積もるとどうなるか</a:t>
            </a:r>
          </a:p>
        </p:txBody>
      </p:sp>
      <p:sp>
        <p:nvSpPr>
          <p:cNvPr id="3" name="Rounded Rectangle 2"/>
          <p:cNvSpPr/>
          <p:nvPr/>
        </p:nvSpPr>
        <p:spPr>
          <a:xfrm>
            <a:off x="731520" y="1554480"/>
            <a:ext cx="3840480" cy="146304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論文に書かれた J（推定値）</a:t>
            </a:r>
          </a:p>
        </p:txBody>
      </p:sp>
      <p:sp>
        <p:nvSpPr>
          <p:cNvPr id="4" name="Rounded Rectangle 3"/>
          <p:cNvSpPr/>
          <p:nvPr/>
        </p:nvSpPr>
        <p:spPr>
          <a:xfrm>
            <a:off x="7589520" y="1554480"/>
            <a:ext cx="3840480" cy="146304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本当の J</a:t>
            </a:r>
          </a:p>
        </p:txBody>
      </p:sp>
      <p:sp>
        <p:nvSpPr>
          <p:cNvPr id="5" name="Left-Right Arrow 4"/>
          <p:cNvSpPr/>
          <p:nvPr/>
        </p:nvSpPr>
        <p:spPr>
          <a:xfrm>
            <a:off x="4754880" y="1965960"/>
            <a:ext cx="2651760" cy="64008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3383280"/>
            <a:ext cx="10698480" cy="2377440"/>
          </a:xfrm>
          <a:prstGeom prst="rect">
            <a:avLst/>
          </a:prstGeom>
          <a:noFill/>
        </p:spPr>
        <p:txBody>
          <a:bodyPr wrap="square">
            <a:spAutoFit/>
          </a:bodyPr>
          <a:lstStyle/>
          <a:p>
            <a:r>
              <a:rPr lang="ja-JP" altLang="en-US" sz="2000" b="1">
                <a:latin typeface="+mn-lt"/>
                <a:ea typeface="+mn-ea"/>
              </a:rPr>
              <a:t>ずれ ＝ log₁₀（本当の J）− log₁₀（書かれた J）≈ ±0.5 くらい</a:t>
            </a:r>
          </a:p>
          <a:p>
            <a:r>
              <a:rPr lang="ja-JP" altLang="en-US" sz="1800" b="0">
                <a:latin typeface="+mn-lt"/>
                <a:ea typeface="+mn-ea"/>
              </a:rPr>
              <a:t>→ 10^0.5 ≈ 3：本当の J は、書かれた値の 1/3〜3 倍くらいずれうる</a:t>
            </a:r>
          </a:p>
          <a:p>
            <a:r>
              <a:rPr lang="ja-JP" altLang="en-US" sz="2000" b="1">
                <a:latin typeface="+mn-lt"/>
                <a:ea typeface="+mn-ea"/>
              </a:rPr>
              <a:t>このずれを小さく見積もると → 「暗黒物質は無い」と言いすぎる（本物を見落とす）</a:t>
            </a:r>
          </a:p>
          <a:p>
            <a:r>
              <a:rPr lang="ja-JP" altLang="en-US" sz="1800" b="0">
                <a:latin typeface="+mn-lt"/>
                <a:ea typeface="+mn-ea"/>
              </a:rPr>
              <a:t>論文は、答えが分かっている偽のデータで、これを確かめた</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Fermi-LAT の観測を計算機の中で作る（FermiTools、fermipy）</a:t>
            </a:r>
          </a:p>
          <a:p>
            <a:pPr lvl="1"/>
            <a:r>
              <a:rPr lang="ja-JP" altLang="en-US" sz="1800">
                <a:latin typeface="+mn-lt"/>
                <a:ea typeface="+mn-ea"/>
              </a:rPr>
              <a:t>17.4 年分、0.5 GeV〜1 TeV、10° × 10° の領域、0.08° の画素</a:t>
            </a:r>
          </a:p>
          <a:p>
            <a:r>
              <a:rPr lang="ja-JP" altLang="en-US" sz="2200">
                <a:latin typeface="+mn-lt"/>
                <a:ea typeface="+mn-ea"/>
              </a:rPr>
              <a:t>背景：銀河の拡散光＋等方の光から、ポアソン乱数で光子を作る</a:t>
            </a:r>
          </a:p>
          <a:p>
            <a:r>
              <a:rPr lang="ja-JP" altLang="en-US" sz="2200">
                <a:latin typeface="+mn-lt"/>
                <a:ea typeface="+mn-ea"/>
              </a:rPr>
              <a:t>暗黒物質の信号を入れる</a:t>
            </a:r>
          </a:p>
          <a:p>
            <a:pPr lvl="1"/>
            <a:r>
              <a:rPr lang="ja-JP" altLang="en-US" sz="1800">
                <a:latin typeface="+mn-lt"/>
                <a:ea typeface="+mn-ea"/>
              </a:rPr>
              <a:t>質量 42 GeV、b クォーク対、⟨σv⟩ = 1.4 × 10⁻²⁶ cm³/s</a:t>
            </a:r>
          </a:p>
          <a:p>
            <a:pPr lvl="1"/>
            <a:r>
              <a:rPr lang="ja-JP" altLang="en-US" sz="1800">
                <a:latin typeface="+mn-lt"/>
                <a:ea typeface="+mn-ea"/>
              </a:rPr>
              <a:t>銀河中心 GeV 超過（GCE）に合う値</a:t>
            </a:r>
          </a:p>
          <a:p>
            <a:r>
              <a:rPr lang="ja-JP" altLang="en-US" sz="2200">
                <a:latin typeface="+mn-lt"/>
                <a:ea typeface="+mn-ea"/>
              </a:rPr>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各天体の尤度 = 光子のポアソン尤度 × J の尤度</a:t>
            </a:r>
          </a:p>
          <a:p>
            <a:pPr lvl="1"/>
            <a:r>
              <a:rPr lang="ja-JP" altLang="en-US" sz="1800">
                <a:latin typeface="+mn-lt"/>
                <a:ea typeface="+mn-ea"/>
              </a:rPr>
              <a:t>L_J ∝ exp[ −(log₁₀J − log₁₀J_obs)² / 2σ_L² ]</a:t>
            </a:r>
          </a:p>
          <a:p>
            <a:r>
              <a:rPr lang="ja-JP" altLang="en-US" sz="2200">
                <a:latin typeface="+mn-lt"/>
                <a:ea typeface="+mn-ea"/>
              </a:rPr>
              <a:t>27 個は尤度の積でまとめる（⟨σv⟩ は共通、J は天体ごと）</a:t>
            </a:r>
          </a:p>
          <a:p>
            <a:r>
              <a:rPr lang="ja-JP" altLang="en-US" sz="2200">
                <a:latin typeface="+mn-lt"/>
                <a:ea typeface="+mn-ea"/>
              </a:rPr>
              <a:t>2 つの誤差を分けて動かす</a:t>
            </a:r>
          </a:p>
          <a:p>
            <a:pPr lvl="1"/>
            <a:r>
              <a:rPr lang="ja-JP" altLang="en-US" sz="1800">
                <a:latin typeface="+mn-lt"/>
                <a:ea typeface="+mn-ea"/>
              </a:rPr>
              <a:t>σ：J の本当のばらつき（J_obs を J_true のまわりに σ でばらつかせる）</a:t>
            </a:r>
          </a:p>
          <a:p>
            <a:pPr lvl="1"/>
            <a:r>
              <a:rPr lang="ja-JP" altLang="en-US" sz="1800">
                <a:latin typeface="+mn-lt"/>
                <a:ea typeface="+mn-ea"/>
              </a:rPr>
              <a:t>σ_L：解析で仮定する幅</a:t>
            </a:r>
          </a:p>
          <a:p>
            <a:r>
              <a:rPr lang="ja-JP" altLang="en-US" sz="2200">
                <a:latin typeface="+mn-lt"/>
                <a:ea typeface="+mn-ea"/>
              </a:rPr>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式 (6)–(10)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本物の信号を入れた仮想データを何度も作る</a:t>
            </a:r>
          </a:p>
          <a:p>
            <a:pPr lvl="1"/>
            <a:r>
              <a:rPr lang="ja-JP" altLang="en-US" sz="2000">
                <a:latin typeface="+mn-lt"/>
                <a:ea typeface="+mn-ea"/>
              </a:rPr>
              <a:t>Ursa Minor で 1000 回（基準の設定では 1 万回）</a:t>
            </a:r>
          </a:p>
          <a:p>
            <a:r>
              <a:rPr lang="ja-JP" altLang="en-US" sz="2400">
                <a:latin typeface="+mn-lt"/>
                <a:ea typeface="+mn-ea"/>
              </a:rPr>
              <a:t>それぞれで 95% 上限を出す</a:t>
            </a:r>
          </a:p>
          <a:p>
            <a:r>
              <a:rPr lang="ja-JP" altLang="en-US" sz="2400">
                <a:latin typeface="+mn-lt"/>
                <a:ea typeface="+mn-ea"/>
              </a:rPr>
              <a:t>上限が本物の ⟨σv⟩ より下 =「本物を無いと間違えた」</a:t>
            </a:r>
          </a:p>
          <a:p>
            <a:r>
              <a:rPr lang="ja-JP" altLang="en-US" sz="2400">
                <a:latin typeface="+mn-lt"/>
                <a:ea typeface="+mn-ea"/>
              </a:rPr>
              <a:t>95% 上限なら、間違いは 5% 以下のはず</a:t>
            </a:r>
          </a:p>
          <a:p>
            <a:pPr lvl="1"/>
            <a:r>
              <a:rPr lang="ja-JP" altLang="en-US" sz="2000">
                <a:latin typeface="+mn-lt"/>
                <a:ea typeface="+mn-ea"/>
              </a:rPr>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σ_L を 0.3 / 0.5 / 1.0 だけ大きくすると</a:t>
            </a:r>
          </a:p>
          <a:p>
            <a:pPr lvl="1"/>
            <a:r>
              <a:rPr lang="ja-JP" altLang="en-US" sz="2000">
                <a:latin typeface="+mn-lt"/>
                <a:ea typeface="+mn-ea"/>
              </a:rPr>
              <a:t>上限が 1.5 / 2.5 / 11 倍ゆるくなる</a:t>
            </a:r>
          </a:p>
          <a:p>
            <a:r>
              <a:rPr lang="ja-JP" altLang="en-US" sz="2400">
                <a:latin typeface="+mn-lt"/>
                <a:ea typeface="+mn-ea"/>
              </a:rPr>
              <a:t>本当の誤差 σ だけ大きく、σ_L は小さいままだと</a:t>
            </a:r>
          </a:p>
          <a:p>
            <a:pPr lvl="1"/>
            <a:r>
              <a:rPr lang="ja-JP" altLang="en-US" sz="2000">
                <a:latin typeface="+mn-lt"/>
                <a:ea typeface="+mn-ea"/>
              </a:rPr>
              <a:t>本物を除外する割合 1.7% / 8.0% / 22%</a:t>
            </a:r>
          </a:p>
          <a:p>
            <a:pPr lvl="1"/>
            <a:r>
              <a:rPr lang="ja-JP" altLang="en-US" sz="2000">
                <a:latin typeface="+mn-lt"/>
                <a:ea typeface="+mn-ea"/>
              </a:rPr>
              <a:t>σ_L を σ に合わせれば 5% 以下に戻る</a:t>
            </a:r>
          </a:p>
          <a:p>
            <a:r>
              <a:rPr lang="ja-JP" altLang="en-US" sz="2400">
                <a:latin typeface="+mn-lt"/>
                <a:ea typeface="+mn-ea"/>
              </a:rPr>
              <a:t>形の間違い：球対称 NFW で解析 → 上限 2.4 倍厳しく</a:t>
            </a:r>
          </a:p>
          <a:p>
            <a:pPr lvl="1"/>
            <a:r>
              <a:rPr lang="ja-JP" altLang="en-US" sz="2000">
                <a:latin typeface="+mn-lt"/>
                <a:ea typeface="+mn-ea"/>
              </a:rPr>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 Fig. 2–4</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σ_L を 0.3 / 0.5 / 1.0 → 上限 1.14 / 1.44 / 3.23 倍ゆるく</a:t>
            </a:r>
          </a:p>
          <a:p>
            <a:r>
              <a:rPr lang="ja-JP" altLang="en-US" sz="2200">
                <a:latin typeface="+mn-lt"/>
                <a:ea typeface="+mn-ea"/>
              </a:rPr>
              <a:t>誤差を正しく入れても、本物を除外する割合 21%（5% のはず）</a:t>
            </a:r>
          </a:p>
          <a:p>
            <a:pPr lvl="1"/>
            <a:r>
              <a:rPr lang="ja-JP" altLang="en-US" sz="1800">
                <a:latin typeface="+mn-lt"/>
                <a:ea typeface="+mn-ea"/>
              </a:rPr>
              <a:t>J の数が天体の数と一緒に増え、Wilks の定理の前提が崩れる</a:t>
            </a:r>
          </a:p>
          <a:p>
            <a:r>
              <a:rPr lang="ja-JP" altLang="en-US" sz="2200">
                <a:latin typeface="+mn-lt"/>
                <a:ea typeface="+mn-ea"/>
              </a:rPr>
              <a:t>本当の誤差を 0.3 / 0.5 / 1.0 大きくすると 31% / 49% / 88%</a:t>
            </a:r>
          </a:p>
          <a:p>
            <a:pPr lvl="1"/>
            <a:r>
              <a:rPr lang="ja-JP" altLang="en-US" sz="1800">
                <a:latin typeface="+mn-lt"/>
                <a:ea typeface="+mn-ea"/>
              </a:rPr>
              <a:t>σ_L を合わせても 23% / 28% / 38%</a:t>
            </a:r>
          </a:p>
          <a:p>
            <a:r>
              <a:rPr lang="ja-JP" altLang="en-US" sz="2200">
                <a:latin typeface="+mn-lt"/>
                <a:ea typeface="+mn-ea"/>
              </a:rPr>
              <a:t>原因：J が上に振れた天体が、上限を決めてしまう</a:t>
            </a:r>
          </a:p>
          <a:p>
            <a:r>
              <a:rPr lang="ja-JP" altLang="en-US" sz="2200">
                <a:latin typeface="+mn-lt"/>
                <a:ea typeface="+mn-ea"/>
              </a:rPr>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 Fig. 5–7</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J の誤差や形を雑に扱うと、上限は厳しく出すぎ、本物の信号を除外しやすい</a:t>
            </a:r>
          </a:p>
          <a:p>
            <a:r>
              <a:rPr lang="ja-JP" altLang="en-US" sz="2400">
                <a:latin typeface="+mn-lt"/>
                <a:ea typeface="+mn-ea"/>
              </a:rPr>
              <a:t>「銀河中心と矮小銀河が矛盾する」とは、まだ言えない</a:t>
            </a:r>
          </a:p>
          <a:p>
            <a:r>
              <a:rPr lang="ja-JP" altLang="en-US" sz="2400">
                <a:latin typeface="+mn-lt"/>
                <a:ea typeface="+mn-ea"/>
              </a:rPr>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これまで：J の誤差 = 0（J は推定値そのまま）</a:t>
            </a:r>
          </a:p>
          <a:p>
            <a:r>
              <a:rPr lang="ja-JP" altLang="en-US" sz="2400">
                <a:latin typeface="+mn-lt"/>
                <a:ea typeface="+mn-ea"/>
              </a:rPr>
              <a:t>今回：各天体の本当の J = 推定値 × 10^δ_i</a:t>
            </a:r>
          </a:p>
          <a:p>
            <a:pPr lvl="1"/>
            <a:r>
              <a:rPr lang="ja-JP" altLang="en-US" sz="2000">
                <a:latin typeface="+mn-lt"/>
                <a:ea typeface="+mn-ea"/>
              </a:rPr>
              <a:t>δ_i は平均 0、幅 0.5 の正規分布（天体ごとに独立）</a:t>
            </a:r>
          </a:p>
          <a:p>
            <a:pPr lvl="1"/>
            <a:r>
              <a:rPr lang="ja-JP" altLang="en-US" sz="2000">
                <a:latin typeface="+mn-lt"/>
                <a:ea typeface="+mn-ea"/>
              </a:rPr>
              <a:t>→ J がおよそ 1/3 倍〜3 倍の範囲でずれる</a:t>
            </a:r>
          </a:p>
          <a:p>
            <a:r>
              <a:rPr lang="ja-JP" altLang="en-US" sz="2400">
                <a:latin typeface="+mn-lt"/>
                <a:ea typeface="+mn-ea"/>
              </a:rPr>
              <a:t>予測 σ は J に比例 → pred_i × 10^δ_i</a:t>
            </a:r>
          </a:p>
          <a:p>
            <a:r>
              <a:rPr lang="ja-JP" altLang="en-US" sz="2400">
                <a:latin typeface="+mn-lt"/>
                <a:ea typeface="+mn-ea"/>
              </a:rPr>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暗黒物質ありで期待される T</a:t>
            </a:r>
          </a:p>
          <a:p>
            <a:pPr lvl="1"/>
            <a:r>
              <a:rPr lang="ja-JP" altLang="en-US" sz="2000">
                <a:latin typeface="+mn-lt"/>
                <a:ea typeface="+mn-ea"/>
              </a:rPr>
              <a:t>誤差なし：E[T] = Σ w_i pred_i / √Σ w_i² = 1.8</a:t>
            </a:r>
          </a:p>
          <a:p>
            <a:pPr lvl="1"/>
            <a:r>
              <a:rPr lang="ja-JP" altLang="en-US" sz="2000">
                <a:latin typeface="+mn-lt"/>
                <a:ea typeface="+mn-ea"/>
              </a:rPr>
              <a:t>誤差あり：E[T] = Σ w_i pred_i 10^δ_i / √Σ w_i²  ← δ でばらつく</a:t>
            </a:r>
          </a:p>
          <a:p>
            <a:r>
              <a:rPr lang="ja-JP" altLang="en-US" sz="2400">
                <a:latin typeface="+mn-lt"/>
                <a:ea typeface="+mn-ea"/>
              </a:rPr>
              <a:t>実測 T にも測定の揺れ s がある（s = 1、または空で測った 1.19）</a:t>
            </a:r>
          </a:p>
          <a:p>
            <a:r>
              <a:rPr lang="ja-JP" altLang="en-US" sz="2400">
                <a:latin typeface="+mn-lt"/>
                <a:ea typeface="+mn-ea"/>
              </a:rPr>
              <a:t>暗黒物質ありで、実測 0.42 以下になる確率</a:t>
            </a:r>
          </a:p>
          <a:p>
            <a:pPr lvl="1"/>
            <a:r>
              <a:rPr lang="ja-JP" altLang="en-US" sz="2000">
                <a:latin typeface="+mn-lt"/>
                <a:ea typeface="+mn-ea"/>
              </a:rPr>
              <a:t>p = （δ について平均）Φ( (0.42 − E[T]) / s )</a:t>
            </a:r>
          </a:p>
          <a:p>
            <a:r>
              <a:rPr lang="ja-JP" altLang="en-US" sz="2400">
                <a:latin typeface="+mn-lt"/>
                <a:ea typeface="+mn-ea"/>
              </a:rPr>
              <a:t>p を σ に直したもの =「ずれ」</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期待 1.8σ → J の誤差で 1.4〜5σ に広がる。実測 0.4σ ± 1.19。ずれ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局所密度 0.42 GeV/cm³ の場合（43 天体、20 GeV）</a:t>
            </a:r>
          </a:p>
          <a:p>
            <a:pPr lvl="1"/>
            <a:r>
              <a:rPr lang="ja-JP" altLang="en-US" sz="2000">
                <a:latin typeface="+mn-lt"/>
                <a:ea typeface="+mn-ea"/>
              </a:rPr>
              <a:t>J の誤差なし：期待 1.8、ずれ 1.4σ（s = 1.19 なら 1.2σ）</a:t>
            </a:r>
          </a:p>
          <a:p>
            <a:pPr lvl="1"/>
            <a:r>
              <a:rPr lang="ja-JP" altLang="en-US" sz="2000">
                <a:latin typeface="+mn-lt"/>
                <a:ea typeface="+mn-ea"/>
              </a:rPr>
              <a:t>J の誤差あり：期待 2.6（68% で 1.4–5）、ずれ 1.5σ（1.4σ）</a:t>
            </a:r>
          </a:p>
          <a:p>
            <a:r>
              <a:rPr lang="ja-JP" altLang="en-US" sz="2400">
                <a:latin typeface="+mn-lt"/>
                <a:ea typeface="+mn-ea"/>
              </a:rPr>
              <a:t>天の川側の局所密度を 0.3〜0.6 GeV/cm³ で動かしても</a:t>
            </a:r>
          </a:p>
          <a:p>
            <a:pPr lvl="1"/>
            <a:r>
              <a:rPr lang="ja-JP" altLang="en-US" sz="2000">
                <a:latin typeface="+mn-lt"/>
                <a:ea typeface="+mn-ea"/>
              </a:rPr>
              <a:t>ずれは較正後 0.7〜2.2σ</a:t>
            </a:r>
          </a:p>
          <a:p>
            <a:r>
              <a:rPr lang="ja-JP" altLang="en-US" sz="2400">
                <a:latin typeface="+mn-lt"/>
                <a:ea typeface="+mn-ea"/>
              </a:rPr>
              <a:t>→ 暗黒物質と矛盾はしないが、確認もできない（判定できない。ずれ 1.4σ）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14〜15σ：天の川のハロー超過の強さ</a:t>
            </a:r>
          </a:p>
          <a:p>
            <a:pPr lvl="1"/>
            <a:r>
              <a:rPr lang="ja-JP" altLang="en-US" sz="2000">
                <a:latin typeface="+mn-lt"/>
                <a:ea typeface="+mn-ea"/>
              </a:rPr>
              <a:t>17.6σ を、何も無い空でのばらつき 1.2〜1.3 で割ったもの</a:t>
            </a:r>
          </a:p>
          <a:p>
            <a:pPr lvl="1"/>
            <a:r>
              <a:rPr lang="ja-JP" altLang="en-US" sz="2000">
                <a:latin typeface="+mn-lt"/>
                <a:ea typeface="+mn-ea"/>
              </a:rPr>
              <a:t>「天の川に、背景では説明しにくい何かがある」</a:t>
            </a:r>
          </a:p>
          <a:p>
            <a:r>
              <a:rPr lang="ja-JP" altLang="en-US" sz="2400">
                <a:latin typeface="+mn-lt"/>
                <a:ea typeface="+mn-ea"/>
              </a:rPr>
              <a:t>1.4σ：矮小銀河での「予測と実測のずれ」</a:t>
            </a:r>
          </a:p>
          <a:p>
            <a:pPr lvl="1"/>
            <a:r>
              <a:rPr lang="ja-JP" altLang="en-US" sz="2000">
                <a:latin typeface="+mn-lt"/>
                <a:ea typeface="+mn-ea"/>
              </a:rPr>
              <a:t>「天の川の超過が暗黒物質だとしても、矮小銀河の結果と矛盾しない」</a:t>
            </a:r>
          </a:p>
          <a:p>
            <a:r>
              <a:rPr lang="ja-JP" altLang="en-US" sz="2400">
                <a:latin typeface="+mn-lt"/>
                <a:ea typeface="+mn-ea"/>
              </a:rPr>
              <a:t>別のものを測った、別の数字</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Totani の超過を再現（名目 17.6σ、較正後 14〜15σ。Totani の同じ形は 14σ）</a:t>
            </a:r>
          </a:p>
          <a:p>
            <a:r>
              <a:rPr lang="ja-JP" altLang="en-US" sz="2400">
                <a:latin typeface="+mn-lt"/>
                <a:ea typeface="+mn-ea"/>
              </a:rPr>
              <a:t>ICS の明るさ・バブル・計算の近似の間違いでは説明できない</a:t>
            </a:r>
          </a:p>
          <a:p>
            <a:pPr lvl="1"/>
            <a:r>
              <a:rPr lang="ja-JP" altLang="en-US" sz="2000">
                <a:latin typeface="+mn-lt"/>
                <a:ea typeface="+mn-ea"/>
              </a:rPr>
              <a:t>暗黒物質の証拠ではない（ICS の空間の形は未確認）</a:t>
            </a:r>
          </a:p>
          <a:p>
            <a:r>
              <a:rPr lang="ja-JP" altLang="en-US" sz="2400">
                <a:latin typeface="+mn-lt"/>
                <a:ea typeface="+mn-ea"/>
              </a:rPr>
              <a:t>矮小銀河では非検出</a:t>
            </a:r>
          </a:p>
          <a:p>
            <a:pPr lvl="1"/>
            <a:r>
              <a:rPr lang="ja-JP" altLang="en-US" sz="2000">
                <a:latin typeface="+mn-lt"/>
                <a:ea typeface="+mn-ea"/>
              </a:rPr>
              <a:t>J の誤差（約 3 倍）を入れると、予測とのずれは 1.4σ → 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 が 1.2〜1.3 倍に膨らんだ原因</a:t>
            </a:r>
          </a:p>
          <a:p>
            <a:pPr lvl="1"/>
            <a:r>
              <a:rPr lang="ja-JP" altLang="en-US" sz="2000">
                <a:latin typeface="+mn-lt"/>
                <a:ea typeface="+mn-ea"/>
              </a:rPr>
              <a:t>尤度は「型紙（GALPROP）は完璧、誤差は光子の数のばらつきだけ」と仮定</a:t>
            </a:r>
          </a:p>
          <a:p>
            <a:pPr lvl="1"/>
            <a:r>
              <a:rPr lang="ja-JP" altLang="en-US" sz="2000">
                <a:latin typeface="+mn-lt"/>
                <a:ea typeface="+mn-ea"/>
              </a:rPr>
              <a:t>型紙そのものの誤差が、統計モデルに入っていない</a:t>
            </a:r>
          </a:p>
          <a:p>
            <a:r>
              <a:rPr lang="ja-JP" altLang="en-US" sz="2400">
                <a:latin typeface="+mn-lt"/>
                <a:ea typeface="+mn-ea"/>
              </a:rPr>
              <a:t>データ同化：シミュレーションの誤差と観測の誤差を分けて、統計モデルに入れる枠組み</a:t>
            </a:r>
          </a:p>
          <a:p>
            <a:r>
              <a:rPr lang="ja-JP" altLang="en-US" sz="2400">
                <a:latin typeface="+mn-lt"/>
                <a:ea typeface="+mn-ea"/>
              </a:rPr>
              <a:t>J をずらして何度も計算したのも、分布をたくさんのサンプルで表すという同じ発想</a:t>
            </a:r>
          </a:p>
          <a:p>
            <a:pPr lvl="1"/>
            <a:r>
              <a:rPr lang="ja-JP" altLang="en-US" sz="2000">
                <a:latin typeface="+mn-lt"/>
                <a:ea typeface="+mn-ea"/>
              </a:rPr>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中村和幸 (2017), 数理解析研究所講究録 2057, 59–66</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lang="ja-JP" altLang="en-US" sz="1800">
                <a:latin typeface="+mn-lt"/>
                <a:ea typeface="+mn-ea"/>
              </a:rPr>
              <a:t>T. Totani (2025), arXiv:2507.07209</a:t>
            </a:r>
          </a:p>
          <a:p>
            <a:r>
              <a:rPr lang="ja-JP" altLang="en-US" sz="1800">
                <a:latin typeface="+mn-lt"/>
                <a:ea typeface="+mn-ea"/>
              </a:rPr>
              <a:t>Bertólez-Martínez, Hooper &amp; Khatee Zathul (2026), arXiv:2609.20944</a:t>
            </a:r>
          </a:p>
          <a:p>
            <a:r>
              <a:rPr lang="ja-JP" altLang="en-US" sz="1800">
                <a:latin typeface="+mn-lt"/>
                <a:ea typeface="+mn-ea"/>
              </a:rPr>
              <a:t>S. S. Wilks (1938), Ann. Math. Stat. 9, 60</a:t>
            </a:r>
          </a:p>
          <a:p>
            <a:r>
              <a:rPr lang="ja-JP" altLang="en-US" sz="1800">
                <a:latin typeface="+mn-lt"/>
                <a:ea typeface="+mn-ea"/>
              </a:rPr>
              <a:t>D. Foreman-Mackey et al. (2013), PASP 125, 306</a:t>
            </a:r>
          </a:p>
          <a:p>
            <a:r>
              <a:rPr lang="ja-JP" altLang="en-US" sz="1800">
                <a:latin typeface="+mn-lt"/>
                <a:ea typeface="+mn-ea"/>
              </a:rPr>
              <a:t>I. V. Moskalenko &amp; A. W. Strong (2000), ApJ 528, 357</a:t>
            </a:r>
          </a:p>
          <a:p>
            <a:r>
              <a:rPr lang="ja-JP" altLang="en-US" sz="1800">
                <a:latin typeface="+mn-lt"/>
                <a:ea typeface="+mn-ea"/>
              </a:rPr>
              <a:t>B. Efron &amp; R. J. Tibshirani (1993), An Introduction to the Bootstrap</a:t>
            </a:r>
          </a:p>
          <a:p>
            <a:r>
              <a:rPr lang="ja-JP" altLang="en-US" sz="1800">
                <a:latin typeface="+mn-lt"/>
                <a:ea typeface="+mn-ea"/>
              </a:rPr>
              <a:t>A. B. Pace (2025), Open J. Astrophys. 8, 142</a:t>
            </a:r>
          </a:p>
          <a:p>
            <a:r>
              <a:rPr lang="ja-JP" altLang="en-US" sz="1800">
                <a:latin typeface="+mn-lt"/>
                <a:ea typeface="+mn-ea"/>
              </a:rPr>
              <a:t>A. B. Pace &amp; L. E. Strigari (2019), MNRAS 482, 3480</a:t>
            </a:r>
          </a:p>
          <a:p>
            <a:r>
              <a:rPr lang="ja-JP" altLang="en-US" sz="1800">
                <a:latin typeface="+mn-lt"/>
                <a:ea typeface="+mn-ea"/>
              </a:rPr>
              <a:t>中村和幸 (2017), 数理解析研究所講究録 2057, 59–66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lang="ja-JP" altLang="en-US" sz="1900">
                <a:latin typeface="+mn-lt"/>
                <a:ea typeface="+mn-ea"/>
              </a:rPr>
              <a:t>模様がなく、中心にも集まらない光が 3 つある</a:t>
            </a:r>
          </a:p>
          <a:p>
            <a:pPr lvl="1"/>
            <a:r>
              <a:rPr lang="ja-JP" altLang="en-US" sz="1600">
                <a:latin typeface="+mn-lt"/>
                <a:ea typeface="+mn-ea"/>
              </a:rPr>
              <a:t>等方背景：どこを見ても同じ明るさ</a:t>
            </a:r>
          </a:p>
          <a:p>
            <a:pPr lvl="1"/>
            <a:r>
              <a:rPr lang="ja-JP" altLang="en-US" sz="1600">
                <a:latin typeface="+mn-lt"/>
                <a:ea typeface="+mn-ea"/>
              </a:rPr>
              <a:t>Loop I（近い殻）：太陽が殻の中にいるので、空全体をゆるやかに照らす</a:t>
            </a:r>
          </a:p>
          <a:p>
            <a:pPr lvl="1"/>
            <a:r>
              <a:rPr lang="ja-JP" altLang="en-US" sz="1600">
                <a:latin typeface="+mn-lt"/>
                <a:ea typeface="+mn-ea"/>
              </a:rPr>
              <a:t>ICS：横方向にはほとんど暗くならない</a:t>
            </a:r>
          </a:p>
          <a:p>
            <a:r>
              <a:rPr lang="ja-JP" altLang="en-US" sz="1900">
                <a:latin typeface="+mn-lt"/>
                <a:ea typeface="+mn-ea"/>
              </a:rPr>
              <a:t>形が似ているので、なだらかな光を 3 つにどう分けるかが写真から決まらない</a:t>
            </a:r>
          </a:p>
          <a:p>
            <a:pPr lvl="1"/>
            <a:r>
              <a:rPr lang="ja-JP" altLang="en-US" sz="1600">
                <a:latin typeface="+mn-lt"/>
                <a:ea typeface="+mn-ea"/>
              </a:rPr>
              <a:t>決まるのは 3 つの合計だけ。たとえ：3 つのコップの水は、合計は量れても、どれに何杯かは分からない</a:t>
            </a:r>
          </a:p>
          <a:p>
            <a:r>
              <a:rPr lang="ja-JP" altLang="en-US" sz="1900">
                <a:latin typeface="+mn-lt"/>
                <a:ea typeface="+mn-ea"/>
              </a:rPr>
              <a:t>等方背景が Totani より小さいのは、分け方がたまたまそうなったため</a:t>
            </a:r>
          </a:p>
          <a:p>
            <a:pPr lvl="1"/>
            <a:r>
              <a:rPr lang="ja-JP" altLang="en-US" sz="1600">
                <a:latin typeface="+mn-lt"/>
                <a:ea typeface="+mn-ea"/>
              </a:rPr>
              <a:t>空の上の方だけで計算すると、等方背景が戻る（7 月に確認）</a:t>
            </a:r>
          </a:p>
          <a:p>
            <a:r>
              <a:rPr lang="ja-JP" altLang="en-US" sz="1900">
                <a:latin typeface="+mn-lt"/>
                <a:ea typeface="+mn-ea"/>
              </a:rPr>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光子が十分ある範囲では、ばらつきは 1.0〜1.4（理論の 1 よりほぼ大きい）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lang="ja-JP" altLang="en-US" sz="1800" b="1">
                <a:latin typeface="+mn-lt"/>
                <a:ea typeface="+mn-ea"/>
              </a:rPr>
              <a:t>使うのはビン 2〜10（2.6〜169 GeV）</a:t>
            </a:r>
          </a:p>
          <a:p>
            <a:r>
              <a:rPr lang="ja-JP" altLang="en-US" sz="1500" b="0">
                <a:latin typeface="+mn-lt"/>
                <a:ea typeface="+mn-ea"/>
              </a:rPr>
              <a:t>両端は「本当は ±1 揺れるはず」の比べ方が成り立たない</a:t>
            </a:r>
          </a:p>
          <a:p>
            <a:endParaRPr sz="1500" b="0"/>
          </a:p>
          <a:p>
            <a:r>
              <a:rPr lang="ja-JP" altLang="en-US" sz="1600" b="1">
                <a:latin typeface="+mn-lt"/>
                <a:ea typeface="+mn-ea"/>
              </a:rPr>
              <a:t>ビン 1（1.5 GeV）を外す理由</a:t>
            </a:r>
          </a:p>
          <a:p>
            <a:r>
              <a:rPr lang="ja-JP" altLang="en-US" sz="1400" b="0">
                <a:latin typeface="+mn-lt"/>
                <a:ea typeface="+mn-ea"/>
              </a:rPr>
              <a:t>望遠鏡のぼやけが一番大きい → 背景の型紙のずれがそのまま出て、揺れが 2.2 に跳ねる</a:t>
            </a:r>
          </a:p>
          <a:p>
            <a:endParaRPr sz="1400" b="0"/>
          </a:p>
          <a:p>
            <a:r>
              <a:rPr lang="ja-JP" altLang="en-US" sz="1600" b="1">
                <a:latin typeface="+mn-lt"/>
                <a:ea typeface="+mn-ea"/>
              </a:rPr>
              <a:t>ビン 11〜13（285 GeV 以上）を外す理由</a:t>
            </a:r>
          </a:p>
          <a:p>
            <a:r>
              <a:rPr lang="ja-JP" altLang="en-US" sz="1400" b="0">
                <a:latin typeface="+mn-lt"/>
                <a:ea typeface="+mn-ea"/>
              </a:rPr>
              <a:t>光子が数個〜数十個しかない → どこでも σ がほぼ 0 しか出ない</a:t>
            </a:r>
          </a:p>
          <a:p>
            <a:r>
              <a:rPr lang="ja-JP" altLang="en-US" sz="1400" b="0">
                <a:latin typeface="+mn-lt"/>
                <a:ea typeface="+mn-ea"/>
              </a:rPr>
              <a:t>「±1 揺れる」は光子が多いときだけ成り立つ（Wilks の定理の前提）</a:t>
            </a:r>
          </a:p>
          <a:p>
            <a:r>
              <a:rPr lang="ja-JP" altLang="en-US" sz="1400" b="0">
                <a:latin typeface="+mn-lt"/>
                <a:ea typeface="+mn-ea"/>
              </a:rPr>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lang="ja-JP" altLang="en-US" sz="1500" b="1">
                          <a:solidFill>
                            <a:srgbClr val="FFFFFF"/>
                          </a:solidFill>
                          <a:latin typeface="+mn-lt"/>
                          <a:ea typeface="+mn-ea"/>
                        </a:rPr>
                        <a:t>使うビン</a:t>
                      </a:r>
                    </a:p>
                  </a:txBody>
                  <a:tcPr>
                    <a:solidFill>
                      <a:srgbClr val="404040"/>
                    </a:solidFill>
                  </a:tcPr>
                </a:tc>
                <a:tc>
                  <a:txBody>
                    <a:bodyPr/>
                    <a:lstStyle/>
                    <a:p>
                      <a:r>
                        <a:rPr lang="ja-JP" altLang="en-US" sz="1500" b="1">
                          <a:solidFill>
                            <a:srgbClr val="FFFFFF"/>
                          </a:solidFill>
                          <a:latin typeface="+mn-lt"/>
                          <a:ea typeface="+mn-ea"/>
                        </a:rPr>
                        <a:t>揺れ</a:t>
                      </a:r>
                    </a:p>
                  </a:txBody>
                  <a:tcPr>
                    <a:solidFill>
                      <a:srgbClr val="404040"/>
                    </a:solidFill>
                  </a:tcPr>
                </a:tc>
                <a:tc>
                  <a:txBody>
                    <a:bodyPr/>
                    <a:lstStyle/>
                    <a:p>
                      <a:r>
                        <a:rPr lang="ja-JP" altLang="en-US" sz="1500" b="1">
                          <a:solidFill>
                            <a:srgbClr val="FFFFFF"/>
                          </a:solidFill>
                          <a:latin typeface="+mn-lt"/>
                          <a:ea typeface="+mn-ea"/>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500" b="1">
                          <a:latin typeface="+mn-lt"/>
                          <a:ea typeface="+mn-ea"/>
                        </a:rPr>
                        <a:t>2〜10（既定）</a:t>
                      </a:r>
                    </a:p>
                  </a:txBody>
                  <a:tcPr>
                    <a:solidFill>
                      <a:srgbClr val="DDEEDD"/>
                    </a:solidFill>
                  </a:tcPr>
                </a:tc>
                <a:tc>
                  <a:txBody>
                    <a:bodyPr/>
                    <a:lstStyle/>
                    <a:p>
                      <a:r>
                        <a:rPr lang="ja-JP" altLang="en-US" sz="1500" b="1">
                          <a:latin typeface="+mn-lt"/>
                          <a:ea typeface="+mn-ea"/>
                        </a:rPr>
                        <a:t>1.19</a:t>
                      </a:r>
                    </a:p>
                  </a:txBody>
                  <a:tcPr>
                    <a:solidFill>
                      <a:srgbClr val="DDEEDD"/>
                    </a:solidFill>
                  </a:tcPr>
                </a:tc>
                <a:tc>
                  <a:txBody>
                    <a:bodyPr/>
                    <a:lstStyle/>
                    <a:p>
                      <a:r>
                        <a:rPr lang="ja-JP" altLang="en-US" sz="1500" b="1">
                          <a:latin typeface="+mn-lt"/>
                          <a:ea typeface="+mn-ea"/>
                        </a:rPr>
                        <a:t>14.8σ</a:t>
                      </a:r>
                    </a:p>
                  </a:txBody>
                  <a:tcPr>
                    <a:solidFill>
                      <a:srgbClr val="DDEEDD"/>
                    </a:solidFill>
                  </a:tcPr>
                </a:tc>
                <a:extLst>
                  <a:ext uri="{0D108BD9-81ED-4DB2-BD59-A6C34878D82A}">
                    <a16:rowId xmlns:a16="http://schemas.microsoft.com/office/drawing/2014/main" val="10001"/>
                  </a:ext>
                </a:extLst>
              </a:tr>
              <a:tr h="365760">
                <a:tc>
                  <a:txBody>
                    <a:bodyPr/>
                    <a:lstStyle/>
                    <a:p>
                      <a:r>
                        <a:rPr lang="ja-JP" altLang="en-US" sz="1500" b="1">
                          <a:latin typeface="+mn-lt"/>
                          <a:ea typeface="+mn-ea"/>
                        </a:rPr>
                        <a:t>20.8 GeV だけ</a:t>
                      </a:r>
                    </a:p>
                  </a:txBody>
                  <a:tcPr>
                    <a:solidFill>
                      <a:srgbClr val="DDEEDD"/>
                    </a:solidFill>
                  </a:tcPr>
                </a:tc>
                <a:tc>
                  <a:txBody>
                    <a:bodyPr/>
                    <a:lstStyle/>
                    <a:p>
                      <a:r>
                        <a:rPr lang="ja-JP" altLang="en-US" sz="1500" b="1">
                          <a:latin typeface="+mn-lt"/>
                          <a:ea typeface="+mn-ea"/>
                        </a:rPr>
                        <a:t>1.26</a:t>
                      </a:r>
                    </a:p>
                  </a:txBody>
                  <a:tcPr>
                    <a:solidFill>
                      <a:srgbClr val="DDEEDD"/>
                    </a:solidFill>
                  </a:tcPr>
                </a:tc>
                <a:tc>
                  <a:txBody>
                    <a:bodyPr/>
                    <a:lstStyle/>
                    <a:p>
                      <a:r>
                        <a:rPr lang="ja-JP" altLang="en-US" sz="1500" b="1">
                          <a:latin typeface="+mn-lt"/>
                          <a:ea typeface="+mn-ea"/>
                        </a:rPr>
                        <a:t>13.9σ</a:t>
                      </a:r>
                    </a:p>
                  </a:txBody>
                  <a:tcPr>
                    <a:solidFill>
                      <a:srgbClr val="DDEEDD"/>
                    </a:solidFill>
                  </a:tcPr>
                </a:tc>
                <a:extLst>
                  <a:ext uri="{0D108BD9-81ED-4DB2-BD59-A6C34878D82A}">
                    <a16:rowId xmlns:a16="http://schemas.microsoft.com/office/drawing/2014/main" val="10002"/>
                  </a:ext>
                </a:extLst>
              </a:tr>
              <a:tr h="365760">
                <a:tc>
                  <a:txBody>
                    <a:bodyPr/>
                    <a:lstStyle/>
                    <a:p>
                      <a:r>
                        <a:rPr lang="ja-JP" altLang="en-US" sz="1500">
                          <a:latin typeface="+mn-lt"/>
                          <a:ea typeface="+mn-ea"/>
                        </a:rPr>
                        <a:t>1〜13 全部</a:t>
                      </a:r>
                    </a:p>
                  </a:txBody>
                  <a:tcPr>
                    <a:solidFill>
                      <a:srgbClr val="F4F4F4"/>
                    </a:solidFill>
                  </a:tcPr>
                </a:tc>
                <a:tc>
                  <a:txBody>
                    <a:bodyPr/>
                    <a:lstStyle/>
                    <a:p>
                      <a:r>
                        <a:rPr lang="ja-JP" altLang="en-US" sz="1500">
                          <a:latin typeface="+mn-lt"/>
                          <a:ea typeface="+mn-ea"/>
                        </a:rPr>
                        <a:t>1.17</a:t>
                      </a:r>
                    </a:p>
                  </a:txBody>
                  <a:tcPr>
                    <a:solidFill>
                      <a:srgbClr val="F4F4F4"/>
                    </a:solidFill>
                  </a:tcPr>
                </a:tc>
                <a:tc>
                  <a:txBody>
                    <a:bodyPr/>
                    <a:lstStyle/>
                    <a:p>
                      <a:r>
                        <a:rPr lang="ja-JP" altLang="en-US" sz="1500">
                          <a:latin typeface="+mn-lt"/>
                          <a:ea typeface="+mn-ea"/>
                        </a:rPr>
                        <a:t>15.0σ</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500">
                          <a:latin typeface="+mn-lt"/>
                          <a:ea typeface="+mn-ea"/>
                        </a:rPr>
                        <a:t>2〜13</a:t>
                      </a:r>
                    </a:p>
                  </a:txBody>
                  <a:tcPr>
                    <a:solidFill>
                      <a:srgbClr val="F4F4F4"/>
                    </a:solidFill>
                  </a:tcPr>
                </a:tc>
                <a:tc>
                  <a:txBody>
                    <a:bodyPr/>
                    <a:lstStyle/>
                    <a:p>
                      <a:r>
                        <a:rPr lang="ja-JP" altLang="en-US" sz="1500">
                          <a:latin typeface="+mn-lt"/>
                          <a:ea typeface="+mn-ea"/>
                        </a:rPr>
                        <a:t>1.05</a:t>
                      </a:r>
                    </a:p>
                  </a:txBody>
                  <a:tcPr>
                    <a:solidFill>
                      <a:srgbClr val="F4F4F4"/>
                    </a:solidFill>
                  </a:tcPr>
                </a:tc>
                <a:tc>
                  <a:txBody>
                    <a:bodyPr/>
                    <a:lstStyle/>
                    <a:p>
                      <a:r>
                        <a:rPr lang="ja-JP" altLang="en-US" sz="1500">
                          <a:latin typeface="+mn-lt"/>
                          <a:ea typeface="+mn-ea"/>
                        </a:rPr>
                        <a:t>16.7σ</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500">
                          <a:latin typeface="+mn-lt"/>
                          <a:ea typeface="+mn-ea"/>
                        </a:rPr>
                        <a:t>1〜10</a:t>
                      </a:r>
                    </a:p>
                  </a:txBody>
                  <a:tcPr>
                    <a:solidFill>
                      <a:srgbClr val="F4F4F4"/>
                    </a:solidFill>
                  </a:tcPr>
                </a:tc>
                <a:tc>
                  <a:txBody>
                    <a:bodyPr/>
                    <a:lstStyle/>
                    <a:p>
                      <a:r>
                        <a:rPr lang="ja-JP" altLang="en-US" sz="1500">
                          <a:latin typeface="+mn-lt"/>
                          <a:ea typeface="+mn-ea"/>
                        </a:rPr>
                        <a:t>1.32</a:t>
                      </a:r>
                    </a:p>
                  </a:txBody>
                  <a:tcPr>
                    <a:solidFill>
                      <a:srgbClr val="F4F4F4"/>
                    </a:solidFill>
                  </a:tcPr>
                </a:tc>
                <a:tc>
                  <a:txBody>
                    <a:bodyPr/>
                    <a:lstStyle/>
                    <a:p>
                      <a:r>
                        <a:rPr lang="ja-JP" altLang="en-US" sz="1500">
                          <a:latin typeface="+mn-lt"/>
                          <a:ea typeface="+mn-ea"/>
                        </a:rPr>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lang="ja-JP" altLang="en-US" sz="1800" b="1">
                <a:latin typeface="+mn-lt"/>
                <a:ea typeface="+mn-ea"/>
              </a:rPr>
              <a:t>→ 割る数は 1.2〜1.3、較正後は 14〜15σ</a:t>
            </a:r>
          </a:p>
          <a:p>
            <a:r>
              <a:rPr lang="ja-JP" altLang="en-US" sz="1400" b="0">
                <a:latin typeface="+mn-lt"/>
                <a:ea typeface="+mn-ea"/>
              </a:rPr>
              <a:t>緑の 2 行が両端。どれを選んでも 13〜17σ</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 個ずつでは弱いので、J が求まる 43 天体をまとめる</a:t>
            </a:r>
          </a:p>
          <a:p>
            <a:r>
              <a:rPr lang="ja-JP" altLang="en-US" sz="2400">
                <a:latin typeface="+mn-lt"/>
                <a:ea typeface="+mn-ea"/>
              </a:rPr>
              <a:t>T = Σ w_i z_i / √( Σ w_i² )、重み w_i = 天体 i の予測 σ</a:t>
            </a:r>
          </a:p>
          <a:p>
            <a:pPr lvl="1"/>
            <a:r>
              <a:rPr lang="ja-JP" altLang="en-US" sz="2000">
                <a:latin typeface="+mn-lt"/>
                <a:ea typeface="+mn-ea"/>
              </a:rPr>
              <a:t>z_i：天体 i の実測の σ（20 GeV）</a:t>
            </a:r>
          </a:p>
          <a:p>
            <a:r>
              <a:rPr lang="ja-JP" altLang="en-US" sz="2400">
                <a:latin typeface="+mn-lt"/>
                <a:ea typeface="+mn-ea"/>
              </a:rPr>
              <a:t>暗黒物質が無ければ：T は平均 0、ばらつき 1</a:t>
            </a:r>
          </a:p>
          <a:p>
            <a:r>
              <a:rPr lang="ja-JP" altLang="en-US" sz="2400">
                <a:latin typeface="+mn-lt"/>
                <a:ea typeface="+mn-ea"/>
              </a:rPr>
              <a:t>暗黒物質があれば：T の平均 = √( Σ pred_i² ) = 1.8</a:t>
            </a:r>
          </a:p>
          <a:p>
            <a:r>
              <a:rPr lang="ja-JP" altLang="en-US" sz="2400">
                <a:latin typeface="+mn-lt"/>
                <a:ea typeface="+mn-ea"/>
              </a:rPr>
              <a:t>実測 T = 0.42 → ずれ 1.4σ</a:t>
            </a:r>
          </a:p>
          <a:p>
            <a:r>
              <a:rPr lang="ja-JP" altLang="en-US" sz="2400">
                <a:latin typeface="+mn-lt"/>
                <a:ea typeface="+mn-ea"/>
              </a:rPr>
              <a:t>ただし、ここでは J に誤差は無いとしていた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360</TotalTime>
  <Words>16382</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が犯人なら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2026-10-05T05:54:08Z</dcterms:modified>
</cp:coreProperties>
</file>