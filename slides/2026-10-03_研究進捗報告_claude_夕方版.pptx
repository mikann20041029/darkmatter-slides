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57"/>
    <p:sldId id="316" r:id="rId58"/>
    <p:sldId id="264" r:id="rId20"/>
    <p:sldId id="310" r:id="rId21"/>
    <p:sldId id="311" r:id="rId22"/>
    <p:sldId id="265" r:id="rId23"/>
    <p:sldId id="266" r:id="rId24"/>
    <p:sldId id="267" r:id="rId25"/>
    <p:sldId id="268" r:id="rId26"/>
    <p:sldId id="269" r:id="rId27"/>
    <p:sldId id="313" r:id="rId55"/>
    <p:sldId id="271" r:id="rId28"/>
    <p:sldId id="272" r:id="rId29"/>
    <p:sldId id="314" r:id="rId56"/>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7.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40.xml"/><Relationship Id="rId39" Type="http://schemas.openxmlformats.org/officeDocument/2006/relationships/slide" Target="slides/slide41.xml"/><Relationship Id="rId40" Type="http://schemas.openxmlformats.org/officeDocument/2006/relationships/slide" Target="slides/slide42.xml"/><Relationship Id="rId41" Type="http://schemas.openxmlformats.org/officeDocument/2006/relationships/slide" Target="slides/slide43.xml"/><Relationship Id="rId42" Type="http://schemas.openxmlformats.org/officeDocument/2006/relationships/slide" Target="slides/slide44.xml"/><Relationship Id="rId43" Type="http://schemas.openxmlformats.org/officeDocument/2006/relationships/slide" Target="slides/slide45.xml"/><Relationship Id="rId44" Type="http://schemas.openxmlformats.org/officeDocument/2006/relationships/slide" Target="slides/slide46.xml"/><Relationship Id="rId45" Type="http://schemas.openxmlformats.org/officeDocument/2006/relationships/slide" Target="slides/slide47.xml"/><Relationship Id="rId46" Type="http://schemas.openxmlformats.org/officeDocument/2006/relationships/slide" Target="slides/slide48.xml"/><Relationship Id="rId47" Type="http://schemas.openxmlformats.org/officeDocument/2006/relationships/slide" Target="slides/slide49.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8.xml"/><Relationship Id="rId56" Type="http://schemas.openxmlformats.org/officeDocument/2006/relationships/slide" Target="slides/slide31.xml"/><Relationship Id="rId57" Type="http://schemas.openxmlformats.org/officeDocument/2006/relationships/slide" Target="slides/slide19.xml"/><Relationship Id="rId58" Type="http://schemas.openxmlformats.org/officeDocument/2006/relationships/slide" Target="slides/slide5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6:10:09.262" v="81" actId="478"/>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spChg chg="del">
          <ac:chgData name="202304239" userId="ab1adf7a-b8eb-4038-b404-de23e20d8a3a" providerId="ADAL" clId="{6C0E59ED-D716-49AF-B2FA-B94E7B8E5A8C}" dt="2026-10-03T04:15:36.651" v="66" actId="478"/>
          <ac:spMkLst>
            <pc:docMk/>
            <pc:sldMk cId="0" sldId="296"/>
            <ac:spMk id="8" creationId="{F85CD606-E3CE-F314-B3EE-F3D7028115CB}"/>
          </ac:spMkLst>
        </pc:spChg>
        <pc:picChg chg="add del mod">
          <ac:chgData name="202304239" userId="ab1adf7a-b8eb-4038-b404-de23e20d8a3a" providerId="ADAL" clId="{6C0E59ED-D716-49AF-B2FA-B94E7B8E5A8C}" dt="2026-10-03T04:16:25.221" v="69" actId="478"/>
          <ac:picMkLst>
            <pc:docMk/>
            <pc:sldMk cId="0" sldId="296"/>
            <ac:picMk id="5" creationId="{9F1A482B-9BF6-EF3C-C1F0-DE13BF60C225}"/>
          </ac:picMkLst>
        </pc:pic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picChg chg="add del mod">
          <ac:chgData name="202304239" userId="ab1adf7a-b8eb-4038-b404-de23e20d8a3a" providerId="ADAL" clId="{6C0E59ED-D716-49AF-B2FA-B94E7B8E5A8C}" dt="2026-10-03T06:10:09.262" v="81" actId="478"/>
          <ac:picMkLst>
            <pc:docMk/>
            <pc:sldMk cId="0" sldId="300"/>
            <ac:picMk id="5" creationId="{4206F3F6-6980-B027-0044-AE735E407525}"/>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以前は「天の川と同じ解析をした」と書いていたが誤り。何も無い空は矮小銀河用の解析 (範囲 20°、成分 5 つ、0.125° 画素の尤度)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1.94、実測 0.53。予測の大部分は数天体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1.94。赤い点: 実測 0.53、横棒は測定の揺れ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は矮小銀河 2 kpc、M31 200 kpc で切る。ハローの倍率の数字は天体どうしで比べられない (型紙を ROI 平均 1 にそろえているため)。比べてよいのは有意度。</a:t>
            </a:r>
          </a:p>
          <a:p>
            <a:r>
              <a:t>尤度を 0.125° の画素で組むのは、20° 角の ROI では 10° のマスが 4 個しか取れないため。天の川は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21.png"/><Relationship Id="rId5" Type="http://schemas.openxmlformats.org/officeDocument/2006/relationships/image" Target="../media/image24.png"/><Relationship Id="rId6"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9.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20.png"/><Relationship Id="rId4"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6"/>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4"/>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r>
              <a:rPr sz="600" b="0"/>
              <a:t/>
            </a:r>
          </a:p>
          <a:p>
            <a:r>
              <a:rPr sz="1600" b="1"/>
              <a:t>20.8 GeV の Δln L（本研究 / Totani）</a:t>
            </a:r>
          </a:p>
          <a:p>
            <a:r>
              <a:rPr sz="1400" b="0"/>
              <a:t>2 乗　 154 / 102</a:t>
            </a:r>
          </a:p>
          <a:p>
            <a:r>
              <a:rPr sz="1400" b="0"/>
              <a:t>2.5 乗 136 / 93</a:t>
            </a:r>
          </a:p>
          <a:p>
            <a:r>
              <a:rPr sz="1400" b="0"/>
              <a:t>1 乗　 111 / 73</a:t>
            </a:r>
          </a:p>
          <a:p>
            <a:r>
              <a:rPr sz="600" b="0"/>
              <a:t/>
            </a:r>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5.9σ、実測 4.6σ</a:t>
            </a:r>
          </a:p>
          <a:p>
            <a:r>
              <a:rPr sz="2200"/>
              <a:t>同じ形の領域を横にずらして外すと 13.3〜15.0σ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5" name="Picture 4" descr="fig_null_variance_local.png"/>
          <p:cNvPicPr>
            <a:picLocks noChangeAspect="1"/>
          </p:cNvPicPr>
          <p:nvPr/>
        </p:nvPicPr>
        <p:blipFill>
          <a:blip r:embed="rId4"/>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r>
              <a:rPr sz="800" b="0"/>
              <a:t/>
            </a:r>
          </a:p>
          <a:p>
            <a:r>
              <a:rPr sz="1600" b="1"/>
              <a:t>ビン 1（1.5 GeV）を外す理由</a:t>
            </a:r>
          </a:p>
          <a:p>
            <a:r>
              <a:rPr sz="1400" b="0"/>
              <a:t>望遠鏡のぼやけが一番大きい → 背景の型紙のずれがそのまま出て、揺れが 2.2 に跳ねる</a:t>
            </a:r>
          </a:p>
          <a:p>
            <a:r>
              <a:rPr sz="800" b="0"/>
              <a:t/>
            </a:r>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gridCol w="1371600"/>
                <a:gridCol w="1828800"/>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gridCol w="2651760"/>
                <a:gridCol w="3108960"/>
                <a:gridCol w="3291840"/>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1.9</a:t>
            </a:r>
          </a:p>
          <a:p>
            <a:r>
              <a:rPr sz="2400"/>
              <a:t>実測 T = 0.53 → ずれ 1.4σ</a:t>
            </a:r>
          </a:p>
          <a:p>
            <a:r>
              <a:rPr sz="2400"/>
              <a:t>ただし、ここでは J に誤差は無いとしていた</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1.9</a:t>
            </a:r>
          </a:p>
          <a:p>
            <a:pPr lvl="1"/>
            <a:r>
              <a:rPr sz="2000"/>
              <a:t>誤差あり：E[T] = Σ w_i pred_i 10^δ_i / √Σ w_i²  ← δ でばらつく</a:t>
            </a:r>
          </a:p>
          <a:p>
            <a:r>
              <a:rPr sz="2400"/>
              <a:t>実測 T にも測定の揺れ s がある（s = 1、または空で測った 1.19）</a:t>
            </a:r>
          </a:p>
          <a:p>
            <a:r>
              <a:rPr sz="2400"/>
              <a:t>暗黒物質ありで、実測 0.53 以下になる確率</a:t>
            </a:r>
          </a:p>
          <a:p>
            <a:pPr lvl="1"/>
            <a:r>
              <a:rPr sz="2000"/>
              <a:t>p = （δ について平均）Φ( (0.53 − E[T]) / s )</a:t>
            </a:r>
          </a:p>
          <a:p>
            <a:r>
              <a:rPr sz="2400"/>
              <a:t>p を σ に直したもの =「ずれ」</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4"/>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1.9σ → J の誤差で 1.5〜6σ に広がる。実測 0.5σ ± 1.19。ずれ 1.4σ</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1.9、ずれ 1.4σ（s = 1.19 なら 1.2σ）</a:t>
            </a:r>
          </a:p>
          <a:p>
            <a:pPr lvl="1"/>
            <a:r>
              <a:rPr sz="2000"/>
              <a:t>J の誤差あり：期待 2.7（68% で 1.5–6）、ずれ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r>
              <a:rPr sz="600" b="0"/>
              <a:t/>
            </a:r>
          </a:p>
          <a:p>
            <a:r>
              <a:rPr sz="1600" b="1"/>
              <a:t>前：自作の近似（Totani と違う）</a:t>
            </a:r>
          </a:p>
          <a:p>
            <a:r>
              <a:rPr sz="1400" b="0"/>
              <a:t>角度による感度を大ざっぱな式で近似</a:t>
            </a:r>
          </a:p>
          <a:p>
            <a:r>
              <a:rPr sz="1400" b="0"/>
              <a:t>地球の近くを見た時間を除いていなかった</a:t>
            </a:r>
          </a:p>
          <a:p>
            <a:r>
              <a:rPr sz="600" b="0"/>
              <a:t/>
            </a:r>
          </a:p>
          <a:p>
            <a:r>
              <a:rPr sz="1600" b="1"/>
              <a:t>今：公式の較正表 + 観測時間（gtltcube と同じ考え方）</a:t>
            </a:r>
          </a:p>
          <a:p>
            <a:r>
              <a:rPr sz="1400" b="0"/>
              <a:t>Fermi 公式の有効面積（UltraClean）</a:t>
            </a:r>
          </a:p>
          <a:p>
            <a:r>
              <a:rPr sz="1400" b="0"/>
              <a:t>天頂角 100° 以上の時間を除く（光子と同じ条件）</a:t>
            </a:r>
          </a:p>
          <a:p>
            <a:r>
              <a:rPr sz="600" b="0"/>
              <a:t/>
            </a:r>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gridCol w="1737360"/>
                <a:gridCol w="1737360"/>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tr>
              <a:tr h="411480">
                <a:tc>
                  <a:txBody>
                    <a:bodyPr/>
                    <a:lstStyle/>
                    <a:p>
                      <a:r>
                        <a:rPr sz="1500" b="0"/>
                        <a:t>強さ</a:t>
                      </a:r>
                    </a:p>
                  </a:txBody>
                  <a:tcPr/>
                </a:tc>
                <a:tc>
                  <a:txBody>
                    <a:bodyPr/>
                    <a:lstStyle/>
                    <a:p>
                      <a:r>
                        <a:rPr sz="1500" b="0"/>
                        <a:t>19.0σ</a:t>
                      </a:r>
                    </a:p>
                  </a:txBody>
                  <a:tcPr/>
                </a:tc>
                <a:tc>
                  <a:txBody>
                    <a:bodyPr/>
                    <a:lstStyle/>
                    <a:p>
                      <a:r>
                        <a:rPr sz="1500" b="1"/>
                        <a:t>17.6σ</a:t>
                      </a:r>
                    </a:p>
                  </a:txBody>
                  <a:tcPr/>
                </a:tc>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tr>
              <a:tr h="411480">
                <a:tc>
                  <a:txBody>
                    <a:bodyPr/>
                    <a:lstStyle/>
                    <a:p>
                      <a:r>
                        <a:rPr sz="1500" b="0"/>
                        <a:t>較正後</a:t>
                      </a:r>
                    </a:p>
                  </a:txBody>
                  <a:tcPr/>
                </a:tc>
                <a:tc>
                  <a:txBody>
                    <a:bodyPr/>
                    <a:lstStyle/>
                    <a:p>
                      <a:r>
                        <a:rPr sz="1500" b="0"/>
                        <a:t>15〜16σ</a:t>
                      </a:r>
                    </a:p>
                  </a:txBody>
                  <a:tcPr/>
                </a:tc>
                <a:tc>
                  <a:txBody>
                    <a:bodyPr/>
                    <a:lstStyle/>
                    <a:p>
                      <a:r>
                        <a:rPr sz="1500" b="1"/>
                        <a:t>14〜15σ</a:t>
                      </a:r>
                    </a:p>
                  </a:txBody>
                  <a:tcPr/>
                </a:tc>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240</TotalTime>
  <Words>7135</Words>
  <Application>Microsoft Office PowerPoint</Application>
  <PresentationFormat>Widescreen</PresentationFormat>
  <Paragraphs>566</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2026-10-03T06:10:17Z</dcterms:modified>
</cp:coreProperties>
</file>