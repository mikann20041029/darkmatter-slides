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2"/>
  </p:notesMasterIdLst>
  <p:sldIdLst>
    <p:sldId id="256" r:id="rId2"/>
    <p:sldId id="257" r:id="rId3"/>
    <p:sldId id="258" r:id="rId4"/>
    <p:sldId id="259" r:id="rId5"/>
    <p:sldId id="312" r:id="rId6"/>
    <p:sldId id="307" r:id="rId7"/>
    <p:sldId id="308" r:id="rId8"/>
    <p:sldId id="294" r:id="rId9"/>
    <p:sldId id="261" r:id="rId10"/>
    <p:sldId id="262" r:id="rId11"/>
    <p:sldId id="295" r:id="rId12"/>
    <p:sldId id="296" r:id="rId13"/>
    <p:sldId id="297" r:id="rId14"/>
    <p:sldId id="298" r:id="rId15"/>
    <p:sldId id="309" r:id="rId16"/>
    <p:sldId id="299" r:id="rId17"/>
    <p:sldId id="300" r:id="rId18"/>
    <p:sldId id="317" r:id="rId19"/>
    <p:sldId id="263" r:id="rId20"/>
    <p:sldId id="315" r:id="rId21"/>
    <p:sldId id="264" r:id="rId22"/>
    <p:sldId id="310" r:id="rId23"/>
    <p:sldId id="311" r:id="rId24"/>
    <p:sldId id="265" r:id="rId25"/>
    <p:sldId id="266" r:id="rId26"/>
    <p:sldId id="267" r:id="rId27"/>
    <p:sldId id="268" r:id="rId28"/>
    <p:sldId id="269" r:id="rId29"/>
    <p:sldId id="313" r:id="rId30"/>
    <p:sldId id="271" r:id="rId31"/>
    <p:sldId id="272" r:id="rId32"/>
    <p:sldId id="314" r:id="rId33"/>
    <p:sldId id="273" r:id="rId34"/>
    <p:sldId id="274" r:id="rId35"/>
    <p:sldId id="275" r:id="rId36"/>
    <p:sldId id="276" r:id="rId37"/>
    <p:sldId id="277" r:id="rId38"/>
    <p:sldId id="278" r:id="rId39"/>
    <p:sldId id="279" r:id="rId40"/>
    <p:sldId id="280" r:id="rId41"/>
    <p:sldId id="281" r:id="rId42"/>
    <p:sldId id="282" r:id="rId43"/>
    <p:sldId id="283" r:id="rId44"/>
    <p:sldId id="284" r:id="rId45"/>
    <p:sldId id="285" r:id="rId46"/>
    <p:sldId id="286" r:id="rId47"/>
    <p:sldId id="287" r:id="rId48"/>
    <p:sldId id="288" r:id="rId49"/>
    <p:sldId id="289" r:id="rId50"/>
    <p:sldId id="290" r:id="rId5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28602-DADF-4A12-9718-18B16E5CE366}" v="1" dt="2026-10-05T03:38:29.2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287" autoAdjust="0"/>
    <p:restoredTop sz="94611" autoAdjust="0"/>
  </p:normalViewPr>
  <p:slideViewPr>
    <p:cSldViewPr snapToGrid="0" showGuides="1">
      <p:cViewPr varScale="1">
        <p:scale>
          <a:sx n="82" d="100"/>
          <a:sy n="82" d="100"/>
        </p:scale>
        <p:origin x="96" y="355"/>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8" Type="http://schemas.microsoft.com/office/2015/10/relationships/revisionInfo" Target="revisionInfo.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6/11/relationships/changesInfo" Target="changesInfos/changesInfo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undo custSel addSld delSld modSld">
      <pc:chgData name="202304239" userId="ab1adf7a-b8eb-4038-b404-de23e20d8a3a" providerId="ADAL" clId="{6C0E59ED-D716-49AF-B2FA-B94E7B8E5A8C}" dt="2026-10-05T04:16:45.835" v="354" actId="1076"/>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mod">
        <pc:chgData name="202304239" userId="ab1adf7a-b8eb-4038-b404-de23e20d8a3a" providerId="ADAL" clId="{6C0E59ED-D716-49AF-B2FA-B94E7B8E5A8C}" dt="2026-10-05T03:38:03.028" v="92" actId="20577"/>
        <pc:sldMkLst>
          <pc:docMk/>
          <pc:sldMk cId="0" sldId="259"/>
        </pc:sldMkLst>
        <pc:spChg chg="mod">
          <ac:chgData name="202304239" userId="ab1adf7a-b8eb-4038-b404-de23e20d8a3a" providerId="ADAL" clId="{6C0E59ED-D716-49AF-B2FA-B94E7B8E5A8C}" dt="2026-10-05T03:38:03.028" v="92" actId="20577"/>
          <ac:spMkLst>
            <pc:docMk/>
            <pc:sldMk cId="0" sldId="259"/>
            <ac:spMk id="3" creationId="{00000000-0000-0000-0000-000000000000}"/>
          </ac:spMkLst>
        </pc:spChg>
      </pc:sldChg>
      <pc:sldChg chg="delSp modSp mod">
        <pc:chgData name="202304239" userId="ab1adf7a-b8eb-4038-b404-de23e20d8a3a" providerId="ADAL" clId="{6C0E59ED-D716-49AF-B2FA-B94E7B8E5A8C}" dt="2026-10-05T04:15:26.124" v="351" actId="20577"/>
        <pc:sldMkLst>
          <pc:docMk/>
          <pc:sldMk cId="0" sldId="263"/>
        </pc:sldMkLst>
        <pc:spChg chg="mod">
          <ac:chgData name="202304239" userId="ab1adf7a-b8eb-4038-b404-de23e20d8a3a" providerId="ADAL" clId="{6C0E59ED-D716-49AF-B2FA-B94E7B8E5A8C}" dt="2026-10-05T04:15:26.124" v="351" actId="20577"/>
          <ac:spMkLst>
            <pc:docMk/>
            <pc:sldMk cId="0" sldId="263"/>
            <ac:spMk id="4" creationId="{00000000-0000-0000-0000-000000000000}"/>
          </ac:spMkLst>
        </pc:spChg>
        <pc:spChg chg="del mod">
          <ac:chgData name="202304239" userId="ab1adf7a-b8eb-4038-b404-de23e20d8a3a" providerId="ADAL" clId="{6C0E59ED-D716-49AF-B2FA-B94E7B8E5A8C}" dt="2026-10-05T04:13:08.928" v="327" actId="478"/>
          <ac:spMkLst>
            <pc:docMk/>
            <pc:sldMk cId="0" sldId="263"/>
            <ac:spMk id="8" creationId="{F85CD606-E3CE-F314-B3EE-F3D7028115CB}"/>
          </ac:spMkLst>
        </pc:spChg>
      </pc:sldChg>
      <pc:sldChg chg="modSp mod">
        <pc:chgData name="202304239" userId="ab1adf7a-b8eb-4038-b404-de23e20d8a3a" providerId="ADAL" clId="{6C0E59ED-D716-49AF-B2FA-B94E7B8E5A8C}" dt="2026-10-05T03:49:46.800" v="146" actId="20577"/>
        <pc:sldMkLst>
          <pc:docMk/>
          <pc:sldMk cId="0" sldId="294"/>
        </pc:sldMkLst>
        <pc:spChg chg="mod">
          <ac:chgData name="202304239" userId="ab1adf7a-b8eb-4038-b404-de23e20d8a3a" providerId="ADAL" clId="{6C0E59ED-D716-49AF-B2FA-B94E7B8E5A8C}" dt="2026-10-05T03:49:46.800" v="146" actId="20577"/>
          <ac:spMkLst>
            <pc:docMk/>
            <pc:sldMk cId="0" sldId="294"/>
            <ac:spMk id="3" creationId="{00000000-0000-0000-0000-000000000000}"/>
          </ac:spMkLst>
        </pc:spChg>
      </pc:sldChg>
      <pc:sldChg chg="addSp modSp mod">
        <pc:chgData name="202304239" userId="ab1adf7a-b8eb-4038-b404-de23e20d8a3a" providerId="ADAL" clId="{6C0E59ED-D716-49AF-B2FA-B94E7B8E5A8C}" dt="2026-10-05T03:51:16.698" v="185" actId="20577"/>
        <pc:sldMkLst>
          <pc:docMk/>
          <pc:sldMk cId="0" sldId="295"/>
        </pc:sldMkLst>
        <pc:spChg chg="mod">
          <ac:chgData name="202304239" userId="ab1adf7a-b8eb-4038-b404-de23e20d8a3a" providerId="ADAL" clId="{6C0E59ED-D716-49AF-B2FA-B94E7B8E5A8C}" dt="2026-10-05T03:51:16.698" v="185" actId="20577"/>
          <ac:spMkLst>
            <pc:docMk/>
            <pc:sldMk cId="0" sldId="295"/>
            <ac:spMk id="2" creationId="{00000000-0000-0000-0000-000000000000}"/>
          </ac:spMkLst>
        </pc:spChg>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addSp mod">
        <pc:chgData name="202304239" userId="ab1adf7a-b8eb-4038-b404-de23e20d8a3a" providerId="ADAL" clId="{6C0E59ED-D716-49AF-B2FA-B94E7B8E5A8C}" dt="2026-10-03T06:08:02.273" v="75" actId="22"/>
        <pc:sldMkLst>
          <pc:docMk/>
          <pc:sldMk cId="0" sldId="297"/>
        </pc:sldMkLst>
        <pc:picChg chg="add">
          <ac:chgData name="202304239" userId="ab1adf7a-b8eb-4038-b404-de23e20d8a3a" providerId="ADAL" clId="{6C0E59ED-D716-49AF-B2FA-B94E7B8E5A8C}" dt="2026-10-03T06:08:02.273" v="75" actId="22"/>
          <ac:picMkLst>
            <pc:docMk/>
            <pc:sldMk cId="0" sldId="297"/>
            <ac:picMk id="5" creationId="{A90FDE7D-1E04-5388-2EF9-2BF6180BCFE4}"/>
          </ac:picMkLst>
        </pc:picChg>
      </pc:sldChg>
      <pc:sldChg chg="addSp modSp mod">
        <pc:chgData name="202304239" userId="ab1adf7a-b8eb-4038-b404-de23e20d8a3a" providerId="ADAL" clId="{6C0E59ED-D716-49AF-B2FA-B94E7B8E5A8C}" dt="2026-10-03T06:10:08.014" v="80" actId="27614"/>
        <pc:sldMkLst>
          <pc:docMk/>
          <pc:sldMk cId="0" sldId="299"/>
        </pc:sldMkLst>
        <pc:picChg chg="add mod">
          <ac:chgData name="202304239" userId="ab1adf7a-b8eb-4038-b404-de23e20d8a3a" providerId="ADAL" clId="{6C0E59ED-D716-49AF-B2FA-B94E7B8E5A8C}" dt="2026-10-03T06:10:08.014" v="80" actId="27614"/>
          <ac:picMkLst>
            <pc:docMk/>
            <pc:sldMk cId="0" sldId="299"/>
            <ac:picMk id="5" creationId="{4380DBC0-9AA7-8727-D6C3-C05AE0BF39C9}"/>
          </ac:picMkLst>
        </pc:picChg>
      </pc:sldChg>
      <pc:sldChg chg="addSp delSp modSp mod">
        <pc:chgData name="202304239" userId="ab1adf7a-b8eb-4038-b404-de23e20d8a3a" providerId="ADAL" clId="{6C0E59ED-D716-49AF-B2FA-B94E7B8E5A8C}" dt="2026-10-03T06:10:09.262" v="81" actId="478"/>
        <pc:sldMkLst>
          <pc:docMk/>
          <pc:sldMk cId="0" sldId="300"/>
        </pc:sldMkLst>
      </pc:sldChg>
      <pc:sldChg chg="addSp modSp mod">
        <pc:chgData name="202304239" userId="ab1adf7a-b8eb-4038-b404-de23e20d8a3a" providerId="ADAL" clId="{6C0E59ED-D716-49AF-B2FA-B94E7B8E5A8C}" dt="2026-10-05T03:47:04.200" v="139" actId="1076"/>
        <pc:sldMkLst>
          <pc:docMk/>
          <pc:sldMk cId="0" sldId="308"/>
        </pc:sldMkLst>
        <pc:spChg chg="mod">
          <ac:chgData name="202304239" userId="ab1adf7a-b8eb-4038-b404-de23e20d8a3a" providerId="ADAL" clId="{6C0E59ED-D716-49AF-B2FA-B94E7B8E5A8C}" dt="2026-10-05T03:47:04.200" v="139" actId="1076"/>
          <ac:spMkLst>
            <pc:docMk/>
            <pc:sldMk cId="0" sldId="308"/>
            <ac:spMk id="3" creationId="{00000000-0000-0000-0000-000000000000}"/>
          </ac:spMkLst>
        </pc:spChg>
        <pc:spChg chg="add ord">
          <ac:chgData name="202304239" userId="ab1adf7a-b8eb-4038-b404-de23e20d8a3a" providerId="ADAL" clId="{6C0E59ED-D716-49AF-B2FA-B94E7B8E5A8C}" dt="2026-10-05T03:46:28.757" v="136" actId="167"/>
          <ac:spMkLst>
            <pc:docMk/>
            <pc:sldMk cId="0" sldId="308"/>
            <ac:spMk id="4" creationId="{07B93427-A0EC-CAF4-55EC-F54270438D49}"/>
          </ac:spMkLst>
        </pc:spChg>
      </pc:sldChg>
      <pc:sldChg chg="modSp mod">
        <pc:chgData name="202304239" userId="ab1adf7a-b8eb-4038-b404-de23e20d8a3a" providerId="ADAL" clId="{6C0E59ED-D716-49AF-B2FA-B94E7B8E5A8C}" dt="2026-10-05T03:40:28.584" v="94" actId="20577"/>
        <pc:sldMkLst>
          <pc:docMk/>
          <pc:sldMk cId="0" sldId="312"/>
        </pc:sldMkLst>
        <pc:spChg chg="mod">
          <ac:chgData name="202304239" userId="ab1adf7a-b8eb-4038-b404-de23e20d8a3a" providerId="ADAL" clId="{6C0E59ED-D716-49AF-B2FA-B94E7B8E5A8C}" dt="2026-10-05T03:40:28.584" v="94" actId="20577"/>
          <ac:spMkLst>
            <pc:docMk/>
            <pc:sldMk cId="0" sldId="312"/>
            <ac:spMk id="2" creationId="{00000000-0000-0000-0000-000000000000}"/>
          </ac:spMkLst>
        </pc:spChg>
      </pc:sldChg>
      <pc:sldChg chg="del">
        <pc:chgData name="202304239" userId="ab1adf7a-b8eb-4038-b404-de23e20d8a3a" providerId="ADAL" clId="{6C0E59ED-D716-49AF-B2FA-B94E7B8E5A8C}" dt="2026-10-05T04:15:43.044" v="352" actId="47"/>
        <pc:sldMkLst>
          <pc:docMk/>
          <pc:sldMk cId="0" sldId="316"/>
        </pc:sldMkLst>
      </pc:sldChg>
      <pc:sldChg chg="addSp modSp new mod">
        <pc:chgData name="202304239" userId="ab1adf7a-b8eb-4038-b404-de23e20d8a3a" providerId="ADAL" clId="{6C0E59ED-D716-49AF-B2FA-B94E7B8E5A8C}" dt="2026-10-05T04:16:45.835" v="354" actId="1076"/>
        <pc:sldMkLst>
          <pc:docMk/>
          <pc:sldMk cId="714849090" sldId="317"/>
        </pc:sldMkLst>
        <pc:spChg chg="mod">
          <ac:chgData name="202304239" userId="ab1adf7a-b8eb-4038-b404-de23e20d8a3a" providerId="ADAL" clId="{6C0E59ED-D716-49AF-B2FA-B94E7B8E5A8C}" dt="2026-10-05T04:09:31.106" v="295" actId="1076"/>
          <ac:spMkLst>
            <pc:docMk/>
            <pc:sldMk cId="714849090" sldId="317"/>
            <ac:spMk id="9" creationId="{00000000-0000-0000-0000-000000000000}"/>
          </ac:spMkLst>
        </pc:spChg>
        <pc:spChg chg="add mod">
          <ac:chgData name="202304239" userId="ab1adf7a-b8eb-4038-b404-de23e20d8a3a" providerId="ADAL" clId="{6C0E59ED-D716-49AF-B2FA-B94E7B8E5A8C}" dt="2026-10-05T04:16:45.835" v="354" actId="1076"/>
          <ac:spMkLst>
            <pc:docMk/>
            <pc:sldMk cId="714849090" sldId="317"/>
            <ac:spMk id="11" creationId="{54EEC75A-A1BF-4B87-31AF-F8D21C7F155D}"/>
          </ac:spMkLst>
        </pc:spChg>
        <pc:spChg chg="add mod">
          <ac:chgData name="202304239" userId="ab1adf7a-b8eb-4038-b404-de23e20d8a3a" providerId="ADAL" clId="{6C0E59ED-D716-49AF-B2FA-B94E7B8E5A8C}" dt="2026-10-05T04:11:23.115" v="298" actId="14100"/>
          <ac:spMkLst>
            <pc:docMk/>
            <pc:sldMk cId="714849090" sldId="317"/>
            <ac:spMk id="13" creationId="{E198F735-7ED1-C6E3-B5DD-7E35C7F9775E}"/>
          </ac:spMkLst>
        </pc:spChg>
        <pc:spChg chg="add mod">
          <ac:chgData name="202304239" userId="ab1adf7a-b8eb-4038-b404-de23e20d8a3a" providerId="ADAL" clId="{6C0E59ED-D716-49AF-B2FA-B94E7B8E5A8C}" dt="2026-10-05T04:11:46.285" v="302" actId="1076"/>
          <ac:spMkLst>
            <pc:docMk/>
            <pc:sldMk cId="714849090" sldId="317"/>
            <ac:spMk id="15" creationId="{23677353-82B3-89C2-CBEC-1909E56DA99B}"/>
          </ac:spMkLst>
        </pc:spChg>
        <pc:spChg chg="add mod">
          <ac:chgData name="202304239" userId="ab1adf7a-b8eb-4038-b404-de23e20d8a3a" providerId="ADAL" clId="{6C0E59ED-D716-49AF-B2FA-B94E7B8E5A8C}" dt="2026-10-05T04:12:40.901" v="325" actId="1076"/>
          <ac:spMkLst>
            <pc:docMk/>
            <pc:sldMk cId="714849090" sldId="317"/>
            <ac:spMk id="17" creationId="{DF60EA9B-3568-50AE-F318-5AEA0A94F1C2}"/>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lvl="0"/>
            <a:r>
              <a:rPr lang="en-US" sz="1200" b="0" i="0" kern="1200">
                <a:solidFill>
                  <a:schemeClr val="tx1"/>
                </a:solidFill>
                <a:effectLst/>
                <a:latin typeface="+mn-lt"/>
                <a:ea typeface="+mn-ea"/>
                <a:cs typeface="+mn-cs"/>
              </a:rPr>
              <a:t>今日は、矮小銀河の J ファクターの誤差を扱った論文（Bertólez-Martínez ほか 2026）の紹介と、それを使った卒論の拡張の話です。</a:t>
            </a:r>
          </a:p>
          <a:p>
            <a:pPr lvl="0"/>
            <a:r>
              <a:rPr lang="en-US" sz="1200" b="0" i="0" kern="1200">
                <a:solidFill>
                  <a:schemeClr val="tx1"/>
                </a:solidFill>
                <a:effectLst/>
                <a:latin typeface="+mn-lt"/>
                <a:ea typeface="+mn-ea"/>
                <a:cs typeface="+mn-cs"/>
              </a:rPr>
              <a:t>前半は卒論の本体（Totani の再現）の報告で、後半が論文と拡張です。</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地図はどれも 20.8 GeV の型紙 (倍率は掛けていない。形だけを見る図)。Loop I は殻 1、バブルは正の型紙。</a:t>
            </a:r>
          </a:p>
          <a:p>
            <a:r>
              <a:t>以下は、まとめる前の 6 枚のノート (詳しい説明)。</a:t>
            </a:r>
          </a:p>
          <a:p>
            <a:r>
              <a:t>【① 等方背景】たとえ: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a:p>
            <a:r>
              <a:t>【② ガス】GALPROP: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a:p>
            <a:r>
              <a:t>【③ ICS】逆コンプトン散乱: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a:p>
            <a:r>
              <a:t>【④ 点源】4FGL-DR4: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a:p>
            <a:r>
              <a:t>【⑤ Loop I】pc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a:p>
            <a:r>
              <a:t>【⑥ フェルミバブル】なぜデータから作るか: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を示しており、それを σ = √(2Δln L) で σ に直すと、21 GeV で NFW-ρ² 約 14.3σ・ρ^2.5 約 13.6σ・ρ¹ 約 12.1σ。(訂正 10/3: 以前は「本文の 13–19σ はこの換算の値」と書いていたが誤り。本文の 13–19σ はハローの形 3 通りの結果の幅で、どの計算かは論文に書かれていない。)Totani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(658〜663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(635〜649 行、立ち入り禁止のチェック)、log_likelihood (652〜655 行、高度計)、log_probability (658〜663 行、両方を足す)。コードは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(882〜883 行)。メトロポリスの判定そのものは emcee の中にある。コードは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0.44 (10/5 公式の露出で計算し直した値))、自己相関時間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(871〜875 行)、32 人で歩かせる emcee.EnsembleSampler (882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a:t>
            </a:r>
          </a:p>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0.45 以下、有意度の差 0.10σ 以下 (10/5 公式の露出で計算し直した値)。確認のためだけで、結果には使っていない。</a:t>
            </a:r>
          </a:p>
          <a:p>
            <a:r>
              <a:t>長さの目安: 自己相関時間 τ (何歩離れたら前の場所を忘れるか) の 50 倍以上が推奨。20.8 GeV で τ ≈ 631 歩なので 3 万歩以上が理想だが、6000 歩。</a:t>
            </a:r>
          </a:p>
          <a:p>
            <a:r>
              <a:t>数字は本人 PC で、Totani と同じやり方・公式の露出で出した値 (10/5、results/mcmc_allbins_gasICS_v20t_irf/)。</a:t>
            </a:r>
          </a:p>
          <a:p>
            <a:r>
              <a:t>スクショ候補: 一番高い足あとを探す行 (884〜886 行)、有意度 (924〜925 行)、誤差の 16〜84% (941 行)。コードは code/mcmc_fit_all_bins.py (10/3 にローカルで修正を当てた今のファイルの行番号。コミット 880fbdb)。</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1.35〜1.52)。最良値 1.44 と有意度 17.6σ は捨てる歩数によらず同じ。</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較正後 13.9〜14.8σ。Totani (ρ²、同じ定義) は 14.3σ で、名目どうしの比は 1.23 倍 (旧 1.33 倍)。以下の古いノートの 19.0σ・15〜16σ は露出を作り直す前の値。</a:t>
            </a:r>
          </a:p>
          <a:p>
            <a:r>
              <a:t>(10/4) オレンジの帯 (Totani の 13–19σ) を外した。13–19σ はハローの形 3 通りの幅なので、ρ² の線どうしの図に置くと意味が混ざるため。3 通りの比較は次のスライド。</a:t>
            </a:r>
          </a:p>
          <a:p>
            <a:r>
              <a:t>【比べ方】同じ形 (ρ²)・同じ定義どうしで、Totani 14.3σ。本研究は名目 19.0σ、較正後 15〜16σ。Totani の方法が何も無い空でばらつき 1 だったなら、較正後どうし (15〜16 対 14.3) が同じ土俵。Totani も同じく 1.2〜1.3 だったなら、名目どうし (19.0 対 14.3) が同じ土俵。論文に確認が無いので、どちらかは決められない。</a:t>
            </a:r>
          </a:p>
          <a:p>
            <a:r>
              <a:t>【Totani の 13〜19σ とは】論文 §3.2 の「13–19σ」は、ハローの形を 3 通り (NFW-ρ^2.5・ρ²・ρ¹) で当てはめたときの幅。誤差の幅でも、何も無い空での較正でもない (論文にその確認は無い)。</a:t>
            </a:r>
          </a:p>
          <a:p>
            <a:r>
              <a:t>同じ定義 (ln L の差 → σ) で Fig. 9 から読むと、21 GeV で ρ² が約 14.3σ、ρ^2.5 が約 13.6σ、ρ¹ が約 12.1σ。赤の線は ρ² の値。13–19σ の 19 がどう計算されたかは論文に書かれていない。</a:t>
            </a:r>
          </a:p>
          <a:p>
            <a:r>
              <a:t>青が本研究 (10/3、本人 PC で Totani と同じやり方 = MCMC で最良値。results/mcmc_allbins_gasICS_v20t/)、赤が Totani Fig. 9。</a:t>
            </a:r>
          </a:p>
          <a:p>
            <a:r>
              <a:t>緑の帯は青を 1.19〜1.26 で割った範囲。何も無い空 23 か所で同じ解析をしたときの σ のばらつき (本当は 1 になるはず) で、ビン 2〜10 をまとめると 1.19、20.8 GeV だけだと 1.26 (どちらも本人 PC・Totani 方式)。20.8 GeV で 15.1〜16.0σ。割る数の決め方は「どのビンで較正するか」のスライド。</a:t>
            </a:r>
          </a:p>
          <a:p>
            <a:r>
              <a:t>注意: 赤 (Totani) は較正していない名目の値。緑と赤が近いのは、定義の違う値どうしの比較なので、「Totani の値が正しく較正されている」という意味ではない。同じ定義で比べるのは青と赤。</a:t>
            </a:r>
          </a:p>
          <a:p>
            <a:r>
              <a:t>較正の仮定: 19σ のような大きな値でも同じ 1.2〜1.3 倍かは確かめていない。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3 通りの σ: 2.5 乗 16.5 / 2 乗 17.6 / 1 乗 14.9σ (Δln L の Totani 比 1.47 / 1.51 / 1.52)。下の古いノートの数字は作り直す前。</a:t>
            </a:r>
          </a:p>
          <a:p>
            <a:r>
              <a:t>Totani §3.2 は、ハローの光の出し方を密度の 2.5 乗 (GCE の形)・2 乗・1 乗の 3 通りで当てはめ、Fig. 9 で ln L を比べている。本研究も同じ 3 通りを、本人 PC で Totani 方式 (MCMC で最良値) で計算した (10/3、results/mcmc_allbins_gasICS_v20t_rho2.5, _v20t, _v20t_rho1)。</a:t>
            </a:r>
          </a:p>
          <a:p>
            <a:r>
              <a:t>線 (塗りつぶしの印) が本研究、点線が Totani の 2 乗 (機械読み取り)、白抜きの大きな印が Totani の 21 GeV の 3 つの形 (Fig. 9 の目視読み取り)。</a:t>
            </a:r>
          </a:p>
          <a:p>
            <a:r>
              <a:t>Totani の結論: 10〜20 GeV で 2 乗が 2.5 乗より約 95% の信頼度でよく合い、1 乗はさらに悪い。本研究も同じ順番。</a:t>
            </a:r>
          </a:p>
          <a:p>
            <a:r>
              <a:t>σ に直すと 20.8 GeV で 2.5 乗 17.9σ / 2 乗 19.0σ / 1 乗 15.9σ (Totani 13.6 / 14.3 / 12.1σ)。Totani の「13–19σ」はこの 3 つの形の幅。</a:t>
            </a:r>
          </a:p>
          <a:p>
            <a:r>
              <a:t>Δln L が 3 つとも約 1.75 倍 (σ で約 1.3 倍) なので、強さの差はハローの形によらない。</a:t>
            </a:r>
          </a:p>
          <a:p>
            <a:r>
              <a:t>低いエネルギー (1.5〜2.5 GeV) の 1 乗は本研究で 26σ・8.8σ と大きい。Totani では 1.5 GeV のハローは負。原因は未確認。</a:t>
            </a:r>
          </a:p>
          <a:p>
            <a:r>
              <a:t>作図 /home/arsei/slidework/make_rho_compare.py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20.8 GeV の型紙そのもの (倍率は掛けていない)。横軸は銀河面からの角度、縦軸は明るさ (|b| = 25° を 1 にそろえた。経度は ROI 全体で平均)。2 本の線がほぼ重なる = 緯度方向の暗くなり方が同じ。作図 /home/arsei/slidework/make_lat_profile.py。
(前の図: ICS の倍率。ハローなしでは全エネルギーで約 1.4〜1.6 倍でほぼ平ら。ハローを入れると、ハローが効くビンでだけへこむ。slides/figs/fig_ics_norm_totani.png)</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20.8 GeV の成分の明るさの Totani 比 (最良値、Totani は Fig. 6 の目視読み取り ±30%): ガス 0.93 / ICS 0.94 / 等方 0.49 / Loop I 0.95 / ハロー 1.19 / 5 成分の合計 0.94。下の古いノートの 0.4 倍・0.96 倍・1.16 倍は露出を作り直す前の値。(code/component_ratio_v20t.py)</a:t>
            </a:r>
          </a:p>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フィッシャー情報を公式の露出・最良値で計算し直した (results/fisher_geometry_v20t_irf/): 固有情報のうち矩形内 53.4%、矩形の面積 34.5%、矩形を外したときの予測 5.80σ・実測 4.58σ (実測/予測 0.79)。横にずらした 6 通りは 実測/予測 0.94〜1.21。下の古いノートの 54%・6.4σ・5.9σ (換算値)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予測 5.9σ は、10/1 のフィッシャー情報の計算 (6.4/19.0 = 0.337 倍) を同じ割合で当てはめた値。バブル外のハローの倍率は 0.81 倍。ずらした対照: 13.3〜15.0σ。</a:t>
            </a:r>
          </a:p>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 (予測 6.4σ は 10/1 の v20r で計算したフィッシャー情報から。実測と倍率は 10/3 本人 PC、Totani 方式)。この内外の差は約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バブル矩形の内外で ICS の倍率を分けると、ハロー無しで内/外 = 2.13 倍、点数の改善はハローの 93%。そのときハローは 5.71σ (基準 17.58σ、勾配法)。results/ics_inner_boost_irf/。下の古いノートの 2.3 倍・92%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ICS 3 分割: 16.46σ (results/mcmc_allbins_gasICS_v20t_irf_icssplit)。</a:t>
            </a:r>
          </a:p>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種類の光を電子がはね上げたもの。19.0σ と 17.8σ は本人 PC で、Totani と同じやり方で出した値 (10/3、results/mcmc_allbins_gasICS_v20t_icssplit/)。Totani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何も無い空のばらつき (新しい露出): ビン 2〜10 まとめ 1.186、20.8 GeV だけ 1.258 (古い露出と同じ)。</a:t>
            </a:r>
          </a:p>
          <a:p>
            <a:r>
              <a:t>(10/5 訂正) 以前は「天の川と同じ解析をした」と書いていたが誤り。何も無い空は矮小銀河用の解析 (範囲 20°、成分 5 つ、1° セルの尤度) で測っている。天の川の解析 (範囲 120°、成分 9 つ、10° セル) で偽データ 300 枚を 13 ビンで作ると、σ のばらつきは 0.89〜1.06 (code/mw_null_pseudo.py、results/mw_null_pseudo)。偽データは型紙そのものから作るので、型紙のずれによるふくらみは測れない。だから「名目 17.6σ は統計としては正しい。14〜15σ は、型紙のずれが天の川でも同じ 1.2〜1.3 倍と仮定したときの慎重な値」。</a:t>
            </a:r>
          </a:p>
          <a:p>
            <a:r>
              <a:t>(10/3 更新) 本人 PC の Totani 方式の計算では、ビン 2〜10 まとめ 1.19 (95% 1.05–1.33)、20.8 GeV だけ 1.26。以下のノートの「1.26」はクラウドの古い方式の値 (1.26、95% 1.14–1.39)。割る数は 1.2〜1.3 として扱う。</a:t>
            </a:r>
          </a:p>
          <a:p>
            <a:r>
              <a:t>【電球のたとえ】電球が 1 個も無い真っ暗な部屋 (何も無い空) を 23 部屋用意して、天の川と同じ明るさ計 (解析) で「豆電球ある？」と測る。本当に何も無ければ、針は 0 のまわりで ±1 くらい揺れるはず (理論)。実際には ±1.26 くらい揺れた。→ この明るさ計は、揺れを 1.26 倍大きく見せるクセがある。だから天の川の 19.0 も 1.26 で割って、約 15 と読み直す。</a:t>
            </a:r>
          </a:p>
          <a:p>
            <a:r>
              <a:t>【本当に何も無い所？】既知の天体 (矮小銀河など) から離して、|b| &gt; 20° で選んだ。ただし、見えないほど暗い天体や、背景の型紙の小さな誤りは残る。それも含めて「何も無いはずの所でもこれだけ揺れる」を測るのが目的。</a:t>
            </a:r>
          </a:p>
          <a:p>
            <a:r>
              <a:t>【1.26 の出し方】23 か所 × ビン 2〜10 (9 本) = 207 個の σ を、それぞれ 2 乗して平均し、平方根をとった値 (RMS)。中央値ではない。理論どおりなら 1。</a:t>
            </a:r>
          </a:p>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図を公式の露出の結果 (results/targets_v20_totani_fixneg_irf) で描き直した。ビン 2〜10 まとめ 1.19、20.8 GeV だけ 1.26。作図 /home/arsei/slidework/make_null_var.py</a:t>
            </a:r>
          </a:p>
          <a:p>
            <a:r>
              <a:t>(10/3 更新) 図を本人 PC の Totani 方式の計算 (results/targets_v20_totani_fixneg) で描き直した。ビン 2〜10 まとめ 1.19 (95% 1.05–1.33)。20.8 GeV だけでは 1.26。下の古いノートの 1.26 はクラウドの古い方式の値。作図 /home/arsei/slidework/make_null_var.py</a:t>
            </a:r>
          </a:p>
          <a:p>
            <a:r>
              <a:t>【図の読み方】横 = エネルギー、縦 = 23 部屋で測った針の揺れの大きさ。黒い点 1 つ = そのエネルギーだけで、23 個の σ から出した揺れ。点線 1 = 理論どおりの揺れ。黒い点はどれも 1 より上 (1.1〜1.4)。灰色の帯 = 黒い点のエネルギー (ビン 2〜10) の 207 個をまとめて出した 1.26 (中央値ではなく、全部まとめた RMS)。灰色の点 (一番低いエネルギーと 285 GeV 以上) は、ぼやけが大きい・光子が少ないので、まとめる計算から外した。</a:t>
            </a:r>
          </a:p>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ビンごとの揺れ: 1.5 2.15 / 2.6 1.24 / 4.3 1.14 / 7.3 1.05 / 12.3 1.36 / 20.8 1.26 / 35 1.20 / 59 1.31 / 100 1.08 / 169 0.98 / 285 0.49 / 482 0.44 / 814 0.10 (GeV)。表の 1.19 / 1.26 / 1.17 / 1.05 / 1.32 は新しい露出でも同じ (1.186 / 1.258 / 1.168 / 1.045 / 1.315)。</a:t>
            </a:r>
          </a:p>
          <a:p>
            <a:r>
              <a:t>揺れ = 何も無い空 23 か所の σ を 2 乗して平均し、平方根をとった値 (RMS)。理論どおりなら 1。</a:t>
            </a:r>
          </a:p>
          <a:p>
            <a:r>
              <a:t>数字はすべて本人 PC で Totani 方式 (MCMC で最良値) で計算した結果 (results/targets_v20_totani_fixneg、10/3)。</a:t>
            </a:r>
          </a:p>
          <a:p>
            <a:r>
              <a:t>ビンごとの揺れ: 1.5 GeV 2.19 / 2.6 GeV 1.24 / 4.3 GeV 1.13 / 7.3 GeV 1.07 / 12.3 GeV 1.36 / 20.8 GeV 1.26 / 35 GeV 1.20 / 59 GeV 1.31 / 100 GeV 1.09 / 169 GeV 0.96 / 285 GeV 0.49 / 482 GeV 0.45 / 814 GeV 0.04。</a:t>
            </a:r>
          </a:p>
          <a:p>
            <a:r>
              <a:t>ビン 2〜10 にしたのは、光子が十分あり、かつぼやけが小さい範囲だから。この範囲の決め方で 1.05〜1.32 まで動くので、1 つの値に決めず 1.2〜1.3 (2〜10 まとめ と 20.8 GeV だけ の両端) として扱う。</a:t>
            </a:r>
          </a:p>
          <a:p>
            <a:r>
              <a:t>たとえ: 体重計のくせを調べるのに、軽すぎて針が動かない物 (光子が数個) や、揺れる台の上の物 (ぼやけが大きい) は使わない。</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訂正) 尤度は 0.125° の画素ごとではなく、1° のセルに束ねている (本番の実行は --cell-deg 1)。以前の表は誤り。</a:t>
            </a:r>
          </a:p>
          <a:p>
            <a:r>
              <a:t>コード: code/apply_v20_method_targets.py (冒頭の説明と [ASSUMPTION] 1〜4)。</a:t>
            </a:r>
          </a:p>
          <a:p>
            <a:r>
              <a:t>Loop I を入れなくてよいかは --report-loopi で各 ROI での大きさを出して確かめられるようにしてある。</a:t>
            </a:r>
          </a:p>
          <a:p>
            <a:r>
              <a:t>ハローの型紙: その天体の NFW の密度の 2 乗を視線方向に足し、望遠鏡のぼやけ (PSF) で広げたもの。NFW は全天体でスケール半径の 10 倍 (10 rs) で切る。ハローの倍率の数字は天体どうしで比べられない (型紙を ROI 平均 1 にそろえているため)。比べてよいのは有意度。</a:t>
            </a:r>
          </a:p>
          <a:p>
            <a:r>
              <a:t>尤度を 1° のセルで組むのは、20° 角の ROI では 10° のマスが 4 個しか取れず、0.2〜0.4° の天体の形が消えるため (画素は 0.125°)。天の川は Totani と同じ 10° セル。</a:t>
            </a:r>
          </a:p>
          <a:p>
            <a:r>
              <a:t>何も無い空 23 か所も、矮小銀河と全く同じやり方で解析している (だから較正に使える)。</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 ファクターを根本から】</a:t>
            </a:r>
          </a:p>
          <a:p>
            <a:r>
              <a:t>① 暗黒物質の粒子が 2 つぶつかると消えて光る。小さな箱の中で 1 秒に何回ぶつかるかは、粒子の数 × 粒子の数 = 密度の 2 乗に比例する (たとえ: 部屋の中で人どうしがぶつかる回数は、人数の 2 乗に比例する)。</a:t>
            </a:r>
          </a:p>
          <a:p>
            <a:r>
              <a:t>② 地球から 1 つの方向を見たときの明るさ = その視線に並んでいる箱の光を全部足したもの。だから J = 密度の 2 乗を視線に沿って足したもの。J は「暗黒物質がどこにどれだけあるか」の地図だけで決まり、粒子の種類には関係ない。</a:t>
            </a:r>
          </a:p>
          <a:p>
            <a:r>
              <a:t>③ 実際の明るさ = (粒子の性質: 1 回ぶつかると光がどれだけ出るか・どれだけぶつかりやすいか) × J。粒子の性質は誰も知らない。</a:t>
            </a:r>
          </a:p>
          <a:p>
            <a:r>
              <a:t>④ 天の川では、明るさ (超過) を測った。J は NFW から計算できる。だから 明るさ ÷ J で「粒子の性質」が逆算できる。</a:t>
            </a:r>
          </a:p>
          <a:p>
            <a:r>
              <a:t>⑤ 矮小銀河の J が分かれば、明るさの予想 = (④で逆算した粒子の性質) × J_矮小 = 天の川の明るさ × J_矮小 ÷ J_天の川。</a:t>
            </a:r>
          </a:p>
          <a:p>
            <a:r>
              <a:t>⑥ 矮小銀河の暗黒物質は見えないので、J は星の動きから推定する。重い (暗黒物質が多い) 銀河ほど、星が速く動き回る。</a:t>
            </a:r>
          </a:p>
          <a:p>
            <a:r>
              <a:t>電球のたとえ: J = 電球の「数と近さ」。粒子の性質 = 電球 1 個の明るさ。天の川で 1 個の明るさが分かったので、矮小銀河は電球の数と近さ (J) だけで明るさが予想できる。</a:t>
            </a:r>
          </a:p>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「何σ見えるはずか」は、背景の最良予測に予測どおりのハローを足した理想データ (Asimov データ) を、本番と同じ 1° セルの解析にかけて出す (10/5 から。code/dwarf_fisher_error.py)。</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図と数字を公式の露出の結果 (results/targets_v20_totani_fixneg_irf) に差し替えた。作図 /home/arsei/slidework/make_dwarf_hist.py</a:t>
            </a:r>
          </a:p>
          <a:p>
            <a:r>
              <a:t>【何をしているか】1 個の話ではない。矮小銀河 52 個と M31・M33 を、1 個ずつ天の川と同じ解析にかけ、出てきた σ (54 天体 × 13 ビン = 702 個) をヒストグラムにした。灰色は何も無い空 23 か所。</a:t>
            </a:r>
          </a:p>
          <a:p>
            <a:r>
              <a:t>【電球のたとえ】遠くの家 54 軒の窓を 1 軒ずつ明るさ計で測り、「真っ暗な部屋で測った針の揺れ」と並べた。2 つの形がほぼ同じ → どの窓も、真っ暗な部屋と区別がつかない。</a:t>
            </a:r>
          </a:p>
          <a:p>
            <a:r>
              <a:t>ただし「暗黒物質は無い」とは言えない。そもそも 1 軒ずつでは暗すぎて、あっても見えない明るさだから (次のスライド)。</a:t>
            </a:r>
          </a:p>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点検で修正) ①予測の平均の J を「円の中の合計 ÷ 正方形の面積」で出していたバグ (予測が 0.785 倍) を直した。②「何σ見えたはずか」を、実測のフラックス ÷ 実測の σ から推した誤差ではなく、Asimov データ (背景 + 予測どおりのハローの理想データ) で出すようにした。旧方式は弱い天体で誤差を約 2〜4 倍大きく見積もり、σ = 0 の天体を黙って除外していた。偽データで確かめた (0.125° 画素版で Segue 1: Asimov 2.6σ・偽データ 2.4σ。本番と同じ 1° セルで計算し直した)。③入力を本人 PC の Totani 方式・新しい露出の天の川に替えた。結果: 期待 1.82、実測 0.42。予測の大部分は数天体 (Carina III・Segue 1・Willman 1・Ursa Major II) から来ており、どれも J の推定が不確か。code/dwarf_consistency_check.py、code/dwarf_fisher_error.py、results/dwarf_consistency_v20t_irf/。以下の古いノートの 1.77・0.39 は修正前。</a:t>
            </a:r>
          </a:p>
          <a:p>
            <a:r>
              <a:t>【電球のたとえ】1 軒ずつでは暗すぎるので、43 軒の結果を足し合わせて 1 つの数 T にする。明るく見えるはずの家 (J が大きい) ほど重く数える。z_i = 家 i で測った針の値、w_i = 家 i に期待される明るさ。</a:t>
            </a:r>
          </a:p>
          <a:p>
            <a:r>
              <a:t>暗黒物質があれば T は平均 1.77 くらい。無ければ 0 のまわり ±1。実測は 0.39。期待の 1.77 から 1.4σ 下にずれている → 「無い」寄りだが、決めつけるほど離れていない。</a:t>
            </a:r>
          </a:p>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灰色の山: J の誤差 (Δlog10 J = 0.5) を入れた予測の分布 (20 万回)。点線: J の誤差なしの予測 1.82。赤い点: 実測 0.42、横棒は測定の揺れ ±1.19。点と山の位置関係は図のとおり。作図 /home/arsei/slidework/make_dwarf_J.py。以下の古いノートは修正前。</a:t>
            </a:r>
          </a:p>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数字は results/dwarf_consistency_v20t_irf/J_uncertainty_s1.19.json。括弧内は s = 1.19。予測は数天体の J に強く依存する (Carina III だけで予測の 2 乗和の約半分)。以下の古いノートは修正前。</a:t>
            </a:r>
          </a:p>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14〜15σ は「ハローがあるか」の強さ、1.4σ は「天の川と矮小銀河が食い違うか」の強さ。</a:t>
            </a:r>
          </a:p>
          <a:p>
            <a:r>
              <a:t>どちらも Wilks の定理だけに頼らず、何も無い空で較正した値 (1.19〜1.26)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4.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marL="457200" lvl="1" indent="0">
              <a:buNone/>
            </a:pPr>
            <a:r>
              <a:rPr sz="2000"/>
              <a:t>Loop I、フェルミバブル、ハロー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背景の成分①〜⑥：何が、どうやってガンマ線を出す</a:t>
            </a:r>
            <a:r>
              <a:rPr lang="en-US" sz="2800"/>
              <a:t>?</a:t>
            </a:r>
            <a:endParaRPr sz="2800"/>
          </a:p>
        </p:txBody>
      </p:sp>
      <p:pic>
        <p:nvPicPr>
          <p:cNvPr id="3" name="Picture 2" descr="image.png"/>
          <p:cNvPicPr>
            <a:picLocks noChangeAspect="1"/>
          </p:cNvPicPr>
          <p:nvPr/>
        </p:nvPicPr>
        <p:blipFill>
          <a:blip r:embed="rId3"/>
          <a:stretch>
            <a:fillRect/>
          </a:stretch>
        </p:blipFill>
        <p:spPr>
          <a:xfrm>
            <a:off x="411480" y="1417320"/>
            <a:ext cx="1717040" cy="1783080"/>
          </a:xfrm>
          <a:prstGeom prst="rect">
            <a:avLst/>
          </a:prstGeom>
        </p:spPr>
      </p:pic>
      <p:sp>
        <p:nvSpPr>
          <p:cNvPr id="4" name="TextBox 3"/>
          <p:cNvSpPr txBox="1"/>
          <p:nvPr/>
        </p:nvSpPr>
        <p:spPr>
          <a:xfrm>
            <a:off x="2286000" y="1463040"/>
            <a:ext cx="1965960" cy="1783080"/>
          </a:xfrm>
          <a:prstGeom prst="rect">
            <a:avLst/>
          </a:prstGeom>
          <a:noFill/>
        </p:spPr>
        <p:txBody>
          <a:bodyPr wrap="square">
            <a:spAutoFit/>
          </a:bodyPr>
          <a:lstStyle/>
          <a:p>
            <a:r>
              <a:rPr sz="1700" b="1"/>
              <a:t>① 等方背景</a:t>
            </a:r>
          </a:p>
          <a:p>
            <a:r>
              <a:rPr sz="1300"/>
              <a:t>天の川の外の遠い銀河の光が重なったもの。どこを見ても同じ明るさ</a:t>
            </a:r>
          </a:p>
        </p:txBody>
      </p:sp>
      <p:pic>
        <p:nvPicPr>
          <p:cNvPr id="5" name="Picture 4" descr="image.png"/>
          <p:cNvPicPr>
            <a:picLocks noChangeAspect="1"/>
          </p:cNvPicPr>
          <p:nvPr/>
        </p:nvPicPr>
        <p:blipFill>
          <a:blip r:embed="rId4"/>
          <a:stretch>
            <a:fillRect/>
          </a:stretch>
        </p:blipFill>
        <p:spPr>
          <a:xfrm>
            <a:off x="4343400" y="1417320"/>
            <a:ext cx="1717040" cy="1783080"/>
          </a:xfrm>
          <a:prstGeom prst="rect">
            <a:avLst/>
          </a:prstGeom>
        </p:spPr>
      </p:pic>
      <p:sp>
        <p:nvSpPr>
          <p:cNvPr id="6" name="TextBox 5"/>
          <p:cNvSpPr txBox="1"/>
          <p:nvPr/>
        </p:nvSpPr>
        <p:spPr>
          <a:xfrm>
            <a:off x="6217920" y="1463040"/>
            <a:ext cx="1965960" cy="1783080"/>
          </a:xfrm>
          <a:prstGeom prst="rect">
            <a:avLst/>
          </a:prstGeom>
          <a:noFill/>
        </p:spPr>
        <p:txBody>
          <a:bodyPr wrap="square">
            <a:spAutoFit/>
          </a:bodyPr>
          <a:lstStyle/>
          <a:p>
            <a:r>
              <a:rPr sz="1700" b="1"/>
              <a:t>② ガス</a:t>
            </a:r>
          </a:p>
          <a:p>
            <a:r>
              <a:rPr sz="1300"/>
              <a:t>宇宙線がガス（水素）にぶつかる → π⁰ が壊れて光る、電子がブレーキで光る</a:t>
            </a:r>
          </a:p>
        </p:txBody>
      </p:sp>
      <p:pic>
        <p:nvPicPr>
          <p:cNvPr id="7" name="Picture 6" descr="image.png"/>
          <p:cNvPicPr>
            <a:picLocks noChangeAspect="1"/>
          </p:cNvPicPr>
          <p:nvPr/>
        </p:nvPicPr>
        <p:blipFill>
          <a:blip r:embed="rId5"/>
          <a:stretch>
            <a:fillRect/>
          </a:stretch>
        </p:blipFill>
        <p:spPr>
          <a:xfrm>
            <a:off x="8275320" y="1417320"/>
            <a:ext cx="1717040" cy="1783080"/>
          </a:xfrm>
          <a:prstGeom prst="rect">
            <a:avLst/>
          </a:prstGeom>
        </p:spPr>
      </p:pic>
      <p:sp>
        <p:nvSpPr>
          <p:cNvPr id="8" name="TextBox 7"/>
          <p:cNvSpPr txBox="1"/>
          <p:nvPr/>
        </p:nvSpPr>
        <p:spPr>
          <a:xfrm>
            <a:off x="10149840" y="1463040"/>
            <a:ext cx="1965960" cy="1783080"/>
          </a:xfrm>
          <a:prstGeom prst="rect">
            <a:avLst/>
          </a:prstGeom>
          <a:noFill/>
        </p:spPr>
        <p:txBody>
          <a:bodyPr wrap="square">
            <a:spAutoFit/>
          </a:bodyPr>
          <a:lstStyle/>
          <a:p>
            <a:r>
              <a:rPr sz="1700" b="1"/>
              <a:t>③ ICS</a:t>
            </a:r>
          </a:p>
          <a:p>
            <a:r>
              <a:rPr sz="1300"/>
              <a:t>宇宙線の電子が、星の光などをはね飛ばしてガンマ線にする</a:t>
            </a:r>
          </a:p>
        </p:txBody>
      </p:sp>
      <p:pic>
        <p:nvPicPr>
          <p:cNvPr id="9" name="Picture 8" descr="image.png"/>
          <p:cNvPicPr>
            <a:picLocks noChangeAspect="1"/>
          </p:cNvPicPr>
          <p:nvPr/>
        </p:nvPicPr>
        <p:blipFill>
          <a:blip r:embed="rId6"/>
          <a:stretch>
            <a:fillRect/>
          </a:stretch>
        </p:blipFill>
        <p:spPr>
          <a:xfrm>
            <a:off x="411480" y="3977639"/>
            <a:ext cx="1717040" cy="1783080"/>
          </a:xfrm>
          <a:prstGeom prst="rect">
            <a:avLst/>
          </a:prstGeom>
        </p:spPr>
      </p:pic>
      <p:sp>
        <p:nvSpPr>
          <p:cNvPr id="10" name="TextBox 9"/>
          <p:cNvSpPr txBox="1"/>
          <p:nvPr/>
        </p:nvSpPr>
        <p:spPr>
          <a:xfrm>
            <a:off x="2286000" y="4023359"/>
            <a:ext cx="1965960" cy="1783080"/>
          </a:xfrm>
          <a:prstGeom prst="rect">
            <a:avLst/>
          </a:prstGeom>
          <a:noFill/>
        </p:spPr>
        <p:txBody>
          <a:bodyPr wrap="square">
            <a:spAutoFit/>
          </a:bodyPr>
          <a:lstStyle/>
          <a:p>
            <a:r>
              <a:rPr sz="1700" b="1"/>
              <a:t>④ 点源</a:t>
            </a:r>
          </a:p>
          <a:p>
            <a:r>
              <a:rPr sz="1300"/>
              <a:t>パルサーや遠い銀河の中心など、位置が分かっている天体 1 つ 1 つ</a:t>
            </a:r>
          </a:p>
        </p:txBody>
      </p:sp>
      <p:pic>
        <p:nvPicPr>
          <p:cNvPr id="11" name="Picture 10" descr="image.png"/>
          <p:cNvPicPr>
            <a:picLocks noChangeAspect="1"/>
          </p:cNvPicPr>
          <p:nvPr/>
        </p:nvPicPr>
        <p:blipFill>
          <a:blip r:embed="rId7"/>
          <a:stretch>
            <a:fillRect/>
          </a:stretch>
        </p:blipFill>
        <p:spPr>
          <a:xfrm>
            <a:off x="4343400" y="3977639"/>
            <a:ext cx="1717040" cy="1783080"/>
          </a:xfrm>
          <a:prstGeom prst="rect">
            <a:avLst/>
          </a:prstGeom>
        </p:spPr>
      </p:pic>
      <p:sp>
        <p:nvSpPr>
          <p:cNvPr id="12" name="TextBox 11"/>
          <p:cNvSpPr txBox="1"/>
          <p:nvPr/>
        </p:nvSpPr>
        <p:spPr>
          <a:xfrm>
            <a:off x="6217920" y="4023359"/>
            <a:ext cx="1965960" cy="1783080"/>
          </a:xfrm>
          <a:prstGeom prst="rect">
            <a:avLst/>
          </a:prstGeom>
          <a:noFill/>
        </p:spPr>
        <p:txBody>
          <a:bodyPr wrap="square">
            <a:spAutoFit/>
          </a:bodyPr>
          <a:lstStyle/>
          <a:p>
            <a:r>
              <a:rPr sz="1700" b="1"/>
              <a:t>⑤ Loop I</a:t>
            </a:r>
          </a:p>
          <a:p>
            <a:r>
              <a:rPr sz="1300"/>
              <a:t>近くの超新星の残骸の殻。殻の中の宇宙線が光ると考えられている</a:t>
            </a:r>
          </a:p>
        </p:txBody>
      </p:sp>
      <p:pic>
        <p:nvPicPr>
          <p:cNvPr id="13" name="Picture 12" descr="image.png"/>
          <p:cNvPicPr>
            <a:picLocks noChangeAspect="1"/>
          </p:cNvPicPr>
          <p:nvPr/>
        </p:nvPicPr>
        <p:blipFill>
          <a:blip r:embed="rId8"/>
          <a:stretch>
            <a:fillRect/>
          </a:stretch>
        </p:blipFill>
        <p:spPr>
          <a:xfrm>
            <a:off x="8275320" y="3977639"/>
            <a:ext cx="1717040" cy="1783080"/>
          </a:xfrm>
          <a:prstGeom prst="rect">
            <a:avLst/>
          </a:prstGeom>
        </p:spPr>
      </p:pic>
      <p:sp>
        <p:nvSpPr>
          <p:cNvPr id="14" name="TextBox 13"/>
          <p:cNvSpPr txBox="1"/>
          <p:nvPr/>
        </p:nvSpPr>
        <p:spPr>
          <a:xfrm>
            <a:off x="10149840" y="4023359"/>
            <a:ext cx="1965960" cy="1783080"/>
          </a:xfrm>
          <a:prstGeom prst="rect">
            <a:avLst/>
          </a:prstGeom>
          <a:noFill/>
        </p:spPr>
        <p:txBody>
          <a:bodyPr wrap="square">
            <a:spAutoFit/>
          </a:bodyPr>
          <a:lstStyle/>
          <a:p>
            <a:r>
              <a:rPr sz="1700" b="1"/>
              <a:t>⑥ フェルミバブル</a:t>
            </a:r>
          </a:p>
          <a:p>
            <a:r>
              <a:rPr sz="1300"/>
              <a:t>銀河中心から吹き出した泡。中の宇宙線が光る（くわしい仕組みは研究中）</a:t>
            </a:r>
          </a:p>
        </p:txBody>
      </p:sp>
      <p:sp>
        <p:nvSpPr>
          <p:cNvPr id="15" name="TextBox 14"/>
          <p:cNvSpPr txBox="1"/>
          <p:nvPr/>
        </p:nvSpPr>
        <p:spPr>
          <a:xfrm>
            <a:off x="5833872" y="5989320"/>
            <a:ext cx="6089904" cy="457200"/>
          </a:xfrm>
          <a:prstGeom prst="rect">
            <a:avLst/>
          </a:prstGeom>
          <a:noFill/>
        </p:spPr>
        <p:txBody>
          <a:bodyPr wrap="none">
            <a:spAutoFit/>
          </a:bodyPr>
          <a:lstStyle/>
          <a:p>
            <a:r>
              <a:rPr sz="1200"/>
              <a:t>Reference: T. Totani (2025), arXiv:2507.07209 §2.3, §3.1; GALPROP v54</a:t>
            </a:r>
          </a:p>
        </p:txBody>
      </p:sp>
      <p:sp>
        <p:nvSpPr>
          <p:cNvPr id="16" name="TextBox 15"/>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sz="1800"/>
              <a:t>暗黒物質の粒子どうしがぶつかって消え（対消滅）、ガンマ線を出す</a:t>
            </a:r>
          </a:p>
          <a:p>
            <a:r>
              <a:rPr sz="1800"/>
              <a:t>明るさ ∝ 密度の 2 乗（粒子が 2 つ要るため）</a:t>
            </a:r>
          </a:p>
          <a:p>
            <a:pPr lvl="1"/>
            <a:r>
              <a:rPr sz="1500"/>
              <a:t>それを視線方向に足し合わせたもの = J ファクター</a:t>
            </a:r>
          </a:p>
          <a:p>
            <a:r>
              <a:rPr sz="1800"/>
              <a:t>密度の形：NFW（Via Lactea II のシミュレーション）</a:t>
            </a:r>
          </a:p>
          <a:p>
            <a:pPr lvl="1"/>
            <a:r>
              <a:rPr sz="1500"/>
              <a:t>rs = 21 kpc、太陽の位置で 0.42 GeV/cm³</a:t>
            </a:r>
          </a:p>
          <a:p>
            <a:r>
              <a:rPr sz="1800"/>
              <a:t>形：銀河中心に向かって明るく、なめらかに広がる</a:t>
            </a:r>
          </a:p>
          <a:p>
            <a:r>
              <a:rPr sz="1800"/>
              <a:t>倍率：符号自由（負も許す）、最初は 0</a:t>
            </a:r>
          </a:p>
          <a:p>
            <a:pPr lvl="1"/>
            <a:r>
              <a:rPr sz="1500"/>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
        <p:nvSpPr>
          <p:cNvPr id="9" name="TextBox 8"/>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7B93427-A0EC-CAF4-55EC-F54270438D49}"/>
              </a:ext>
            </a:extLst>
          </p:cNvPr>
          <p:cNvSpPr/>
          <p:nvPr/>
        </p:nvSpPr>
        <p:spPr>
          <a:xfrm>
            <a:off x="445477" y="4794738"/>
            <a:ext cx="9003323" cy="18639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73258" y="1371599"/>
            <a:ext cx="11045483" cy="5121275"/>
          </a:xfrm>
        </p:spPr>
        <p:txBody>
          <a:bodyPr>
            <a:normAutofit lnSpcReduction="10000"/>
          </a:bodyPr>
          <a:lstStyle/>
          <a:p>
            <a:r>
              <a:rPr sz="2600"/>
              <a:t>予測 ＝ f₁ × 型₁ ＋ f₂ × 型₂ ＋ … ＋ f₉ × 型₉</a:t>
            </a:r>
          </a:p>
          <a:p>
            <a:pPr marL="457200" lvl="1" indent="0">
              <a:buNone/>
            </a:pPr>
            <a:r>
              <a:rPr sz="2200"/>
              <a:t>型は固定。動かすのは係数</a:t>
            </a:r>
            <a:endParaRPr lang="en-US" sz="2200"/>
          </a:p>
          <a:p>
            <a:pPr lvl="1"/>
            <a:endParaRPr sz="2200"/>
          </a:p>
          <a:p>
            <a:r>
              <a:rPr sz="2600"/>
              <a:t>尤度：その係数 9 個が「どれだけ良いか」の点数</a:t>
            </a:r>
            <a:r>
              <a:rPr lang="ja-JP" altLang="en-US" sz="2600" b="1"/>
              <a:t>みたいなもの</a:t>
            </a:r>
            <a:endParaRPr lang="en-US" sz="2600" b="1"/>
          </a:p>
          <a:p>
            <a:r>
              <a:rPr lang="en-US" altLang="ja-JP" sz="2400"/>
              <a:t>ln L = Σ_i [ C_obs,i ln C_exp,i − C_exp,i ]</a:t>
            </a:r>
          </a:p>
          <a:p>
            <a:pPr lvl="1"/>
            <a:r>
              <a:rPr lang="en-US" altLang="ja-JP" sz="2000"/>
              <a:t>C_obs</a:t>
            </a:r>
            <a:r>
              <a:rPr lang="ja-JP" altLang="en-US" sz="2000"/>
              <a:t>：観測した光子数、</a:t>
            </a:r>
            <a:r>
              <a:rPr lang="en-US" altLang="ja-JP" sz="2000"/>
              <a:t>C_exp</a:t>
            </a:r>
            <a:r>
              <a:rPr lang="ja-JP" altLang="en-US" sz="2000"/>
              <a:t>：予測した光子数</a:t>
            </a:r>
          </a:p>
          <a:p>
            <a:pPr lvl="1"/>
            <a:r>
              <a:rPr lang="en-US" altLang="ja-JP" sz="2000"/>
              <a:t>i</a:t>
            </a:r>
            <a:r>
              <a:rPr lang="ja-JP" altLang="en-US" sz="2000"/>
              <a:t>：</a:t>
            </a:r>
            <a:r>
              <a:rPr lang="en-US" altLang="ja-JP" sz="2000"/>
              <a:t>10° × 10° </a:t>
            </a:r>
            <a:r>
              <a:rPr lang="ja-JP" altLang="en-US" sz="2000"/>
              <a:t>のセル（空をマス目に分ける）</a:t>
            </a:r>
          </a:p>
          <a:p>
            <a:r>
              <a:rPr lang="en-US" altLang="ja-JP" sz="2400"/>
              <a:t>ln L </a:t>
            </a:r>
            <a:r>
              <a:rPr lang="ja-JP" altLang="en-US" sz="2400"/>
              <a:t>が最大になる倍率 </a:t>
            </a:r>
            <a:r>
              <a:rPr lang="en-US" altLang="ja-JP" sz="2400"/>
              <a:t>f </a:t>
            </a:r>
            <a:r>
              <a:rPr lang="ja-JP" altLang="en-US" sz="2400"/>
              <a:t>を探す（最尤推定）</a:t>
            </a:r>
          </a:p>
          <a:p>
            <a:pPr marL="0" indent="0">
              <a:buNone/>
            </a:pPr>
            <a:endParaRPr sz="2600"/>
          </a:p>
          <a:p>
            <a:r>
              <a:rPr sz="2600"/>
              <a:t>MCMC：良い係数 9 個を探す方法</a:t>
            </a:r>
          </a:p>
          <a:p>
            <a:r>
              <a:rPr sz="2600"/>
              <a:t>最良値：見つかった一番良い係数 9 個</a:t>
            </a:r>
          </a:p>
          <a:p>
            <a:r>
              <a:rPr sz="2600"/>
              <a:t>誤差：その係数が「どこまでずれても十分良いか」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sz="2400"/>
              <a:t>尤度 ＝ 点数をつける係（たとえ：高度計）</a:t>
            </a:r>
          </a:p>
          <a:p>
            <a:pPr lvl="1"/>
            <a:r>
              <a:rPr sz="2000"/>
              <a:t>倍率の組（f_gas, f_ics, …, f_halo）を入れると、予測と観測の合い具合 ln L を返す</a:t>
            </a:r>
          </a:p>
          <a:p>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a:t>
            </a:r>
            <a:r>
              <a:rPr lang="ja-JP" altLang="en-US" sz="2000"/>
              <a:t>も</a:t>
            </a:r>
            <a:r>
              <a:rPr sz="2000"/>
              <a:t>進む</a:t>
            </a:r>
          </a:p>
          <a:p>
            <a:r>
              <a:rPr sz="2400"/>
              <a:t>歩き終わったら</a:t>
            </a:r>
          </a:p>
          <a:p>
            <a:pPr lvl="1"/>
            <a:r>
              <a:rPr sz="2000"/>
              <a:t>歩いた中で点数が一番高かった組 → 最良の倍率（Totani と同じ）</a:t>
            </a:r>
          </a:p>
          <a:p>
            <a:pPr lvl="1"/>
            <a:r>
              <a:rPr sz="2000"/>
              <a:t>歩いた範囲の広さ → 倍率の誤差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の定理（ガンマ線天文学の標準の換算。Totani Fig. 9 の Δln L も同じ換算で σ にできる）</a:t>
            </a:r>
          </a:p>
          <a:p>
            <a:pPr lvl="1"/>
            <a:r>
              <a:rPr sz="2000"/>
              <a:t>データが十分多いと、2Δln L は自由度 1 の χ² 分布に従う</a:t>
            </a:r>
          </a:p>
          <a:p>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a:t>
            </a:r>
            <a:r>
              <a:rPr lang="ja-JP" altLang="en-US" sz="3000"/>
              <a:t>をわかりやすいたとえで説明→</a:t>
            </a:r>
            <a:r>
              <a:rPr sz="3000"/>
              <a:t>霧の山を歩く</a:t>
            </a:r>
          </a:p>
        </p:txBody>
      </p:sp>
      <p:sp>
        <p:nvSpPr>
          <p:cNvPr id="3" name="Content Placeholder 2"/>
          <p:cNvSpPr>
            <a:spLocks noGrp="1"/>
          </p:cNvSpPr>
          <p:nvPr>
            <p:ph idx="1"/>
          </p:nvPr>
        </p:nvSpPr>
        <p:spPr>
          <a:xfrm>
            <a:off x="548640" y="1371600"/>
            <a:ext cx="5669280" cy="4297680"/>
          </a:xfrm>
        </p:spPr>
        <p:txBody>
          <a:bodyPr/>
          <a:lstStyle/>
          <a:p>
            <a:r>
              <a:rPr sz="1800"/>
              <a:t>山の上の「場所」 → 倍率の組 θ</a:t>
            </a:r>
          </a:p>
          <a:p>
            <a:pPr lvl="1"/>
            <a:r>
              <a:rPr sz="1500"/>
              <a:t>θ = (f_iso, f_gas, f_ics, …, f_halo)。9 個あるので 9 次元の山</a:t>
            </a:r>
          </a:p>
          <a:p>
            <a:r>
              <a:rPr sz="1800"/>
              <a:t>その場所の「高さ」 → 点数（事後分布）</a:t>
            </a:r>
          </a:p>
          <a:p>
            <a:r>
              <a:rPr sz="1800"/>
              <a:t>「高度計」 → 尤度の計算（手法② の ln L）</a:t>
            </a:r>
          </a:p>
          <a:p>
            <a:r>
              <a:rPr sz="1800"/>
              <a:t>「立ち入り禁止の場所」 → 事前分布</a:t>
            </a:r>
          </a:p>
          <a:p>
            <a:pPr lvl="1"/>
            <a:r>
              <a:rPr sz="1500"/>
              <a:t>例：ガスや ICS の倍率は負にならない</a:t>
            </a:r>
          </a:p>
          <a:p>
            <a:r>
              <a:rPr sz="1800"/>
              <a:t>「歩く人」 → 歩行者（walker）。今回は 32 人</a:t>
            </a:r>
          </a:p>
          <a:p>
            <a:r>
              <a:rPr sz="1800"/>
              <a:t>「足あとの記録」 → チェーン（サンプル）</a:t>
            </a:r>
          </a:p>
          <a:p>
            <a:r>
              <a:rPr sz="1800"/>
              <a:t>「一番高い足あと」 → 最良値</a:t>
            </a:r>
          </a:p>
          <a:p>
            <a:r>
              <a:rPr sz="1800"/>
              <a:t>「足あとの広がり」 → 誤差</a:t>
            </a:r>
          </a:p>
        </p:txBody>
      </p:sp>
      <p:pic>
        <p:nvPicPr>
          <p:cNvPr id="5" name="Picture 4" descr="The image displays a snippet of a Python function that calculates the log probability of a sequence of parameters given counts and a template dictionary, handling non-finite values by returning negative infinity.&#10;&#10;AI-generated content may be incorrect.">
            <a:extLst>
              <a:ext uri="{FF2B5EF4-FFF2-40B4-BE49-F238E27FC236}">
                <a16:creationId xmlns:a16="http://schemas.microsoft.com/office/drawing/2014/main" id="{960CE5B3-4BC1-0B00-D670-CAC2F1397BD5}"/>
              </a:ext>
            </a:extLst>
          </p:cNvPr>
          <p:cNvPicPr>
            <a:picLocks noChangeAspect="1"/>
          </p:cNvPicPr>
          <p:nvPr/>
        </p:nvPicPr>
        <p:blipFill>
          <a:blip r:embed="rId3"/>
          <a:stretch>
            <a:fillRect/>
          </a:stretch>
        </p:blipFill>
        <p:spPr>
          <a:xfrm>
            <a:off x="440692" y="5116782"/>
            <a:ext cx="11310616" cy="155897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0" y="1298771"/>
            <a:ext cx="4652211" cy="4572639"/>
          </a:xfrm>
        </p:spPr>
        <p:txBody>
          <a:bodyPr/>
          <a:lstStyle/>
          <a:p>
            <a:r>
              <a:rPr sz="1800"/>
              <a:t>P(θ | D) = L(D | θ) × π(θ) ÷ P(D)</a:t>
            </a:r>
          </a:p>
          <a:p>
            <a:r>
              <a:rPr sz="1800"/>
              <a:t>P(θ | D)：場所 θ の「高さ」（＝点数）</a:t>
            </a:r>
          </a:p>
          <a:p>
            <a:pPr lvl="1"/>
            <a:r>
              <a:rPr sz="1500"/>
              <a:t>データ D を見た後で、θ がどれくらいもっともらしいか</a:t>
            </a:r>
          </a:p>
          <a:p>
            <a:r>
              <a:rPr sz="1800"/>
              <a:t>L(D | θ)：「高度計」の読み（尤度）</a:t>
            </a:r>
          </a:p>
          <a:p>
            <a:pPr lvl="1"/>
            <a:r>
              <a:rPr sz="1500"/>
              <a:t>倍率が θ のとき、観測した光子の地図 D がどれくらい出やすいか</a:t>
            </a:r>
          </a:p>
          <a:p>
            <a:r>
              <a:rPr sz="1800"/>
              <a:t>π(θ)：入ってよい場所か（事前分布）</a:t>
            </a:r>
          </a:p>
          <a:p>
            <a:pPr lvl="1"/>
            <a:r>
              <a:rPr sz="1500"/>
              <a:t>入れる場所は全部同じ値、立ち入り禁止なら 0</a:t>
            </a:r>
          </a:p>
          <a:p>
            <a:r>
              <a:rPr sz="1800"/>
              <a:t>P(D)：海抜の基準。どの場所でも同じ数</a:t>
            </a:r>
          </a:p>
          <a:p>
            <a:pPr lvl="1"/>
            <a:r>
              <a:rPr sz="1500"/>
              <a:t>「どちらが高いか」を比べるだけなら消える → 計算しなくてよい</a:t>
            </a:r>
          </a:p>
          <a:p>
            <a:r>
              <a:rPr sz="1800"/>
              <a:t>計算では対数で：ln(高さ) = ln L + ln π</a:t>
            </a:r>
          </a:p>
        </p:txBody>
      </p:sp>
      <p:pic>
        <p:nvPicPr>
          <p:cNvPr id="7" name="Picture 6" descr="The image depicts a segment of Python code, including function definitions and a conditional statement, related to data analysis or scientific computation.&#10;&#10;AI-generated content may be incorrect.">
            <a:extLst>
              <a:ext uri="{FF2B5EF4-FFF2-40B4-BE49-F238E27FC236}">
                <a16:creationId xmlns:a16="http://schemas.microsoft.com/office/drawing/2014/main" id="{DBE7D927-8B33-8CDB-1BC3-DBD46AE4DF3A}"/>
              </a:ext>
            </a:extLst>
          </p:cNvPr>
          <p:cNvPicPr>
            <a:picLocks noChangeAspect="1"/>
          </p:cNvPicPr>
          <p:nvPr/>
        </p:nvPicPr>
        <p:blipFill>
          <a:blip r:embed="rId3"/>
          <a:stretch>
            <a:fillRect/>
          </a:stretch>
        </p:blipFill>
        <p:spPr>
          <a:xfrm>
            <a:off x="4830442" y="1298772"/>
            <a:ext cx="7361558" cy="384843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sz="1800"/>
              <a:t>1. 今いる場所 θ から、少しずれた場所 θ′ に足を出す</a:t>
            </a:r>
          </a:p>
          <a:p>
            <a:pPr lvl="1"/>
            <a:r>
              <a:rPr sz="1500"/>
              <a:t>どれだけずらすかは乱数で決める</a:t>
            </a:r>
          </a:p>
          <a:p>
            <a:r>
              <a:rPr sz="1800"/>
              <a:t>2. 高度計で両方を読み、比 r = 高さ(θ′) ÷ 高さ(θ)</a:t>
            </a:r>
          </a:p>
          <a:p>
            <a:r>
              <a:rPr sz="1800"/>
              <a:t>3. r ≥ 1（上り）なら、必ず θ′ に移る</a:t>
            </a:r>
          </a:p>
          <a:p>
            <a:r>
              <a:rPr sz="1800"/>
              <a:t>4. r &lt; 1（下り）なら、確率 r で移る</a:t>
            </a:r>
          </a:p>
          <a:p>
            <a:pPr lvl="1"/>
            <a:r>
              <a:rPr sz="1500"/>
              <a:t>0〜1 の乱数を引き、r より小さければ移る</a:t>
            </a:r>
          </a:p>
          <a:p>
            <a:r>
              <a:rPr sz="1800"/>
              <a:t>5. 移っても移らなくても、今いる場所を足あとに記録</a:t>
            </a:r>
          </a:p>
          <a:p>
            <a:r>
              <a:rPr sz="1800"/>
              <a:t>6. 1〜5 を何千回もくり返す</a:t>
            </a:r>
          </a:p>
          <a:p>
            <a:r>
              <a:rPr sz="1800"/>
              <a:t>なぜ下りにも進む？</a:t>
            </a:r>
          </a:p>
          <a:p>
            <a:pPr lvl="1"/>
            <a:r>
              <a:rPr sz="1500"/>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pic>
        <p:nvPicPr>
          <p:cNvPr id="5" name="Picture 4">
            <a:extLst>
              <a:ext uri="{FF2B5EF4-FFF2-40B4-BE49-F238E27FC236}">
                <a16:creationId xmlns:a16="http://schemas.microsoft.com/office/drawing/2014/main" id="{A90FDE7D-1E04-5388-2EF9-2BF6180BCFE4}"/>
              </a:ext>
            </a:extLst>
          </p:cNvPr>
          <p:cNvPicPr>
            <a:picLocks noChangeAspect="1"/>
          </p:cNvPicPr>
          <p:nvPr/>
        </p:nvPicPr>
        <p:blipFill>
          <a:blip r:embed="rId3"/>
          <a:stretch>
            <a:fillRect/>
          </a:stretch>
        </p:blipFill>
        <p:spPr>
          <a:xfrm>
            <a:off x="3988887" y="2724089"/>
            <a:ext cx="4214225" cy="140982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a:t>左：足あと（縦＝倍率、横＝歩数）。最初の 200 歩は山にたどり着く途中なので捨てる。右：足あとのヒストグラム ＝ 山の形</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sz="2000"/>
              <a:t>メトロポリス法（1953）：一番基本。少しずらして、比 r で移るか決める（②）</a:t>
            </a:r>
          </a:p>
          <a:p>
            <a:r>
              <a:rPr sz="2000"/>
              <a:t>ギブス法：倍率を 1 個ずつ順番に動かす</a:t>
            </a:r>
          </a:p>
          <a:p>
            <a:r>
              <a:rPr sz="2000"/>
              <a:t>ハミルトニアン MC：坂の傾きを使って、ボールを転がすように大きく動く</a:t>
            </a:r>
          </a:p>
          <a:p>
            <a:r>
              <a:rPr sz="2000"/>
              <a:t>アンサンブル法（2010）：何人も同時に歩き、仲間の位置で一歩を決める（④）</a:t>
            </a:r>
          </a:p>
          <a:p>
            <a:pPr lvl="1"/>
            <a:r>
              <a:rPr sz="1600"/>
              <a:t>Python の道具 emcee がこれ。本研究はこれを使った</a:t>
            </a:r>
          </a:p>
          <a:p>
            <a:r>
              <a:rPr sz="2000"/>
              <a:t>似ているが別物：焼きなまし法</a:t>
            </a:r>
          </a:p>
          <a:p>
            <a:pPr lvl="1"/>
            <a:r>
              <a:rPr sz="1600"/>
              <a:t>下りに進む確率をだんだん小さくして、頂上だけを探す。誤差は出ない</a:t>
            </a:r>
          </a:p>
          <a:p>
            <a:r>
              <a:rPr sz="2000"/>
              <a:t>Totani は「MCMC」とだけ書いていて、どの歩き方かは書いていない</a:t>
            </a:r>
          </a:p>
          <a:p>
            <a:pPr lvl="1"/>
            <a:r>
              <a:rPr sz="1600"/>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sz="1600"/>
              <a:t>1 人だと、細長い山で迷いやすい</a:t>
            </a:r>
          </a:p>
          <a:p>
            <a:pPr lvl="1"/>
            <a:r>
              <a:rPr sz="1400"/>
              <a:t>例：ガスと ICS の縮退。片方を上げて片方を下げても高さがほぼ同じ</a:t>
            </a:r>
          </a:p>
          <a:p>
            <a:r>
              <a:rPr sz="1600"/>
              <a:t>そこで 32 人が同時に歩き、仲間の位置を見て一歩を決める</a:t>
            </a:r>
          </a:p>
          <a:p>
            <a:r>
              <a:rPr sz="1600"/>
              <a:t>一歩の出し方（ストレッチ移動）</a:t>
            </a:r>
          </a:p>
          <a:p>
            <a:pPr lvl="1"/>
            <a:r>
              <a:rPr sz="1400"/>
              <a:t>自分 X_k から、ランダムに選んだ仲間 X_j への線を引く</a:t>
            </a:r>
          </a:p>
          <a:p>
            <a:pPr lvl="1"/>
            <a:r>
              <a:rPr sz="1400"/>
              <a:t>その線の上で、Z 倍（1/2〜2 の乱数）伸ばした点に足を出す</a:t>
            </a:r>
          </a:p>
          <a:p>
            <a:pPr lvl="1"/>
            <a:r>
              <a:rPr sz="1400"/>
              <a:t>Y = X_j + Z (X_k − X_j)</a:t>
            </a:r>
          </a:p>
          <a:p>
            <a:r>
              <a:rPr sz="1600"/>
              <a:t>移るかどうかは ② と同じ考え（Z⁸ を掛けて補正）</a:t>
            </a:r>
          </a:p>
          <a:p>
            <a:r>
              <a:rPr sz="1600"/>
              <a:t>出発点：全員、Totani と同じ初期値の近く。6000 歩</a:t>
            </a:r>
          </a:p>
          <a:p>
            <a:r>
              <a:rPr sz="1600"/>
              <a:t>emcee はこの歩き方の Python の道具の名前。32 人・6000 歩は本研究の設定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J. Goodman &amp; J. Weare (2010), Comm. App. Math. Comp. Sci. 5, 65</a:t>
            </a:r>
            <a:endParaRPr lang="en-US"/>
          </a:p>
        </p:txBody>
      </p:sp>
      <p:pic>
        <p:nvPicPr>
          <p:cNvPr id="5" name="Picture 4" descr="The image shows a segment of Python code with numpy array operations, initializing a position array for a simulation or optimization process, adjusting the position values with small random perturbations, and selectively modifying the sign of certain elements.&#10;&#10;AI-generated content may be incorrect.">
            <a:extLst>
              <a:ext uri="{FF2B5EF4-FFF2-40B4-BE49-F238E27FC236}">
                <a16:creationId xmlns:a16="http://schemas.microsoft.com/office/drawing/2014/main" id="{4380DBC0-9AA7-8727-D6C3-C05AE0BF39C9}"/>
              </a:ext>
            </a:extLst>
          </p:cNvPr>
          <p:cNvPicPr>
            <a:picLocks noChangeAspect="1"/>
          </p:cNvPicPr>
          <p:nvPr/>
        </p:nvPicPr>
        <p:blipFill>
          <a:blip r:embed="rId3"/>
          <a:stretch>
            <a:fillRect/>
          </a:stretch>
        </p:blipFill>
        <p:spPr>
          <a:xfrm>
            <a:off x="5120027" y="454311"/>
            <a:ext cx="7071973" cy="1005927"/>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sz="1800"/>
              <a:t>一番高い足あと → 最良の倍率（Totani と同じ）</a:t>
            </a:r>
          </a:p>
          <a:p>
            <a:pPr lvl="1"/>
            <a:r>
              <a:rPr sz="1500"/>
              <a:t>20.8 GeV：ハローの倍率 1.44</a:t>
            </a:r>
          </a:p>
          <a:p>
            <a:r>
              <a:rPr sz="1800"/>
              <a:t>足あとの広がり → 誤差</a:t>
            </a:r>
          </a:p>
          <a:p>
            <a:pPr lvl="1"/>
            <a:r>
              <a:rPr sz="1500"/>
              <a:t>最初の 2000 歩（ふもとから登っている途中）は捨て、残りの下から 16%〜84%</a:t>
            </a:r>
          </a:p>
          <a:p>
            <a:pPr lvl="1"/>
            <a:r>
              <a:rPr sz="1500"/>
              <a:t>20.8 GeV：1.35〜1.52</a:t>
            </a:r>
          </a:p>
          <a:p>
            <a:r>
              <a:rPr sz="1800"/>
              <a:t>有意度：ハローあり・なしの山を別々に歩く</a:t>
            </a:r>
          </a:p>
          <a:p>
            <a:pPr lvl="1"/>
            <a:r>
              <a:rPr sz="1500"/>
              <a:t>それぞれの一番高い足あとの高さの差 Δln L → σ = √(2Δln L)</a:t>
            </a:r>
          </a:p>
          <a:p>
            <a:pPr lvl="1"/>
            <a:r>
              <a:rPr sz="1500"/>
              <a:t>20.8 GeV：17.6σ</a:t>
            </a:r>
          </a:p>
          <a:p>
            <a:r>
              <a:rPr sz="1800"/>
              <a:t>注意：山の端まで歩き回るには、もっと長く歩くのが理想</a:t>
            </a:r>
          </a:p>
          <a:p>
            <a:pPr lvl="1"/>
            <a:r>
              <a:rPr sz="1500"/>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xp_ハローなし_四角"/>
          <p:cNvSpPr/>
          <p:nvPr/>
        </p:nvSpPr>
        <p:spPr>
          <a:xfrm>
            <a:off x="502920"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exp_ハローなし_光"/>
          <p:cNvSpPr/>
          <p:nvPr/>
        </p:nvSpPr>
        <p:spPr>
          <a:xfrm>
            <a:off x="1280160"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exp_ハローなし_ラベル"/>
          <p:cNvSpPr txBox="1"/>
          <p:nvPr/>
        </p:nvSpPr>
        <p:spPr>
          <a:xfrm>
            <a:off x="502920" y="2880360"/>
            <a:ext cx="3017520" cy="411480"/>
          </a:xfrm>
          <a:prstGeom prst="rect">
            <a:avLst/>
          </a:prstGeom>
          <a:noFill/>
        </p:spPr>
        <p:txBody>
          <a:bodyPr wrap="square">
            <a:spAutoFit/>
          </a:bodyPr>
          <a:lstStyle/>
          <a:p>
            <a:pPr algn="ctr"/>
            <a:r>
              <a:rPr sz="1500" b="1"/>
              <a:t>予測 exp（ハローなし：f₁〜f₈）</a:t>
            </a:r>
          </a:p>
        </p:txBody>
      </p:sp>
      <p:sp>
        <p:nvSpPr>
          <p:cNvPr id="5" name="exp_ハローあり_四角"/>
          <p:cNvSpPr/>
          <p:nvPr/>
        </p:nvSpPr>
        <p:spPr>
          <a:xfrm>
            <a:off x="3977639"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exp_ハローあり_光"/>
          <p:cNvSpPr/>
          <p:nvPr/>
        </p:nvSpPr>
        <p:spPr>
          <a:xfrm>
            <a:off x="4754879"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exp_ハローあり_ラベル"/>
          <p:cNvSpPr txBox="1"/>
          <p:nvPr/>
        </p:nvSpPr>
        <p:spPr>
          <a:xfrm>
            <a:off x="3977639" y="2880360"/>
            <a:ext cx="3017520" cy="411480"/>
          </a:xfrm>
          <a:prstGeom prst="rect">
            <a:avLst/>
          </a:prstGeom>
          <a:noFill/>
        </p:spPr>
        <p:txBody>
          <a:bodyPr wrap="square">
            <a:spAutoFit/>
          </a:bodyPr>
          <a:lstStyle/>
          <a:p>
            <a:pPr algn="ctr"/>
            <a:r>
              <a:rPr sz="1500" b="1"/>
              <a:t>予測 exp（ハローあり：f₁〜f₉）</a:t>
            </a:r>
          </a:p>
        </p:txBody>
      </p:sp>
      <p:sp>
        <p:nvSpPr>
          <p:cNvPr id="8" name="obs_四角"/>
          <p:cNvSpPr/>
          <p:nvPr/>
        </p:nvSpPr>
        <p:spPr>
          <a:xfrm>
            <a:off x="8641080" y="320040"/>
            <a:ext cx="3017520" cy="2514600"/>
          </a:xfrm>
          <a:prstGeom prst="rect">
            <a:avLst/>
          </a:prstGeom>
          <a:solidFill>
            <a:srgbClr val="101010"/>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bs_光"/>
          <p:cNvSpPr/>
          <p:nvPr/>
        </p:nvSpPr>
        <p:spPr>
          <a:xfrm>
            <a:off x="9418320" y="845819"/>
            <a:ext cx="1463040" cy="1463040"/>
          </a:xfrm>
          <a:prstGeom prst="ellipse">
            <a:avLst/>
          </a:prstGeom>
          <a:gradFill rotWithShape="1">
            <a:gsLst>
              <a:gs pos="0">
                <a:srgbClr val="FFF2A8">
                  <a:alpha val="95000"/>
                </a:srgbClr>
              </a:gs>
              <a:gs pos="45000">
                <a:srgbClr val="FFF2A8">
                  <a:alpha val="55000"/>
                </a:srgbClr>
              </a:gs>
              <a:gs pos="100000">
                <a:srgbClr val="FFF2A8">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bs_ラベル"/>
          <p:cNvSpPr txBox="1"/>
          <p:nvPr/>
        </p:nvSpPr>
        <p:spPr>
          <a:xfrm>
            <a:off x="8641080" y="2880360"/>
            <a:ext cx="3017520" cy="411480"/>
          </a:xfrm>
          <a:prstGeom prst="rect">
            <a:avLst/>
          </a:prstGeom>
          <a:noFill/>
        </p:spPr>
        <p:txBody>
          <a:bodyPr wrap="square">
            <a:spAutoFit/>
          </a:bodyPr>
          <a:lstStyle/>
          <a:p>
            <a:pPr algn="ctr"/>
            <a:r>
              <a:rPr sz="1500" b="1"/>
              <a:t>観測 obs（正解）</a:t>
            </a:r>
          </a:p>
        </p:txBody>
      </p:sp>
      <p:sp>
        <p:nvSpPr>
          <p:cNvPr id="11" name="Flowchart: Connector 10">
            <a:extLst>
              <a:ext uri="{FF2B5EF4-FFF2-40B4-BE49-F238E27FC236}">
                <a16:creationId xmlns:a16="http://schemas.microsoft.com/office/drawing/2014/main" id="{54EEC75A-A1BF-4B87-31AF-F8D21C7F155D}"/>
              </a:ext>
            </a:extLst>
          </p:cNvPr>
          <p:cNvSpPr/>
          <p:nvPr/>
        </p:nvSpPr>
        <p:spPr>
          <a:xfrm>
            <a:off x="4389121" y="646233"/>
            <a:ext cx="2246141" cy="1862212"/>
          </a:xfrm>
          <a:prstGeom prst="flowChartConnector">
            <a:avLst/>
          </a:prstGeom>
          <a:gradFill flip="none" rotWithShape="1">
            <a:gsLst>
              <a:gs pos="0">
                <a:srgbClr val="7030A0">
                  <a:tint val="66000"/>
                  <a:satMod val="160000"/>
                  <a:alpha val="0"/>
                </a:srgbClr>
              </a:gs>
              <a:gs pos="50000">
                <a:srgbClr val="7030A0">
                  <a:tint val="44500"/>
                  <a:satMod val="160000"/>
                </a:srgbClr>
              </a:gs>
              <a:gs pos="100000">
                <a:srgbClr val="7030A0">
                  <a:tint val="23500"/>
                  <a:satMod val="160000"/>
                </a:srgb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E198F735-7ED1-C6E3-B5DD-7E35C7F9775E}"/>
              </a:ext>
            </a:extLst>
          </p:cNvPr>
          <p:cNvSpPr txBox="1"/>
          <p:nvPr/>
        </p:nvSpPr>
        <p:spPr>
          <a:xfrm>
            <a:off x="502920" y="3902173"/>
            <a:ext cx="7941284" cy="369332"/>
          </a:xfrm>
          <a:prstGeom prst="rect">
            <a:avLst/>
          </a:prstGeom>
          <a:noFill/>
        </p:spPr>
        <p:txBody>
          <a:bodyPr wrap="square">
            <a:spAutoFit/>
          </a:bodyPr>
          <a:lstStyle/>
          <a:p>
            <a:r>
              <a:rPr lang="en-US" sz="1800" b="1" i="0">
                <a:solidFill>
                  <a:schemeClr val="tx1"/>
                </a:solidFill>
                <a:effectLst/>
                <a:latin typeface="+mn-lt"/>
              </a:rPr>
              <a:t>Δln L ＝ ln L（9 変数・ハローあり） − ln L（8 変数・ハローなし）</a:t>
            </a:r>
            <a:endParaRPr lang="en-US"/>
          </a:p>
        </p:txBody>
      </p:sp>
      <p:sp>
        <p:nvSpPr>
          <p:cNvPr id="15" name="TextBox 14">
            <a:extLst>
              <a:ext uri="{FF2B5EF4-FFF2-40B4-BE49-F238E27FC236}">
                <a16:creationId xmlns:a16="http://schemas.microsoft.com/office/drawing/2014/main" id="{23677353-82B3-89C2-CBEC-1909E56DA99B}"/>
              </a:ext>
            </a:extLst>
          </p:cNvPr>
          <p:cNvSpPr txBox="1"/>
          <p:nvPr/>
        </p:nvSpPr>
        <p:spPr>
          <a:xfrm>
            <a:off x="502920" y="4669624"/>
            <a:ext cx="10165235" cy="646331"/>
          </a:xfrm>
          <a:prstGeom prst="rect">
            <a:avLst/>
          </a:prstGeom>
          <a:noFill/>
        </p:spPr>
        <p:txBody>
          <a:bodyPr wrap="square">
            <a:spAutoFit/>
          </a:bodyPr>
          <a:lstStyle/>
          <a:p>
            <a:pPr marL="342900" lvl="0" indent="-342900" algn="l">
              <a:buFont typeface="Arial" panose="020B0604020202020204" pitchFamily="34" charset="0"/>
              <a:buChar char="•"/>
            </a:pPr>
            <a:r>
              <a:rPr lang="en-US" sz="1800" b="1" i="0">
                <a:solidFill>
                  <a:schemeClr val="tx1"/>
                </a:solidFill>
                <a:effectLst/>
                <a:latin typeface="+mn-lt"/>
              </a:rPr>
              <a:t>差が大きい</a:t>
            </a:r>
            <a:r>
              <a:rPr lang="en-US" sz="1800" b="0" i="0">
                <a:solidFill>
                  <a:schemeClr val="tx1"/>
                </a:solidFill>
                <a:effectLst/>
                <a:latin typeface="+mn-lt"/>
              </a:rPr>
              <a:t> → ハローありの方が、ずっと観測に近い → ハローが必要 → σ が大きい</a:t>
            </a:r>
          </a:p>
          <a:p>
            <a:pPr marL="342900" lvl="0" indent="-342900" algn="l">
              <a:buFont typeface="Arial" panose="020B0604020202020204" pitchFamily="34" charset="0"/>
              <a:buChar char="•"/>
            </a:pPr>
            <a:r>
              <a:rPr lang="en-US" sz="1800" b="1" i="0">
                <a:solidFill>
                  <a:schemeClr val="tx1"/>
                </a:solidFill>
                <a:effectLst/>
                <a:latin typeface="+mn-lt"/>
              </a:rPr>
              <a:t>差がほぼ 0</a:t>
            </a:r>
            <a:r>
              <a:rPr lang="en-US" sz="1800" b="0" i="0">
                <a:solidFill>
                  <a:schemeClr val="tx1"/>
                </a:solidFill>
                <a:effectLst/>
                <a:latin typeface="+mn-lt"/>
              </a:rPr>
              <a:t> → ハローを足しても近さが変わらない → ハローは要らない</a:t>
            </a:r>
            <a:endParaRPr lang="en-US" sz="975" b="0" i="0">
              <a:solidFill>
                <a:srgbClr val="BFBFBF"/>
              </a:solidFill>
              <a:effectLst/>
              <a:latin typeface="-apple-system"/>
            </a:endParaRPr>
          </a:p>
        </p:txBody>
      </p:sp>
      <p:sp>
        <p:nvSpPr>
          <p:cNvPr id="17" name="TextBox 16">
            <a:extLst>
              <a:ext uri="{FF2B5EF4-FFF2-40B4-BE49-F238E27FC236}">
                <a16:creationId xmlns:a16="http://schemas.microsoft.com/office/drawing/2014/main" id="{DF60EA9B-3568-50AE-F318-5AEA0A94F1C2}"/>
              </a:ext>
            </a:extLst>
          </p:cNvPr>
          <p:cNvSpPr txBox="1"/>
          <p:nvPr/>
        </p:nvSpPr>
        <p:spPr>
          <a:xfrm>
            <a:off x="467929" y="5649289"/>
            <a:ext cx="7019419" cy="369332"/>
          </a:xfrm>
          <a:prstGeom prst="rect">
            <a:avLst/>
          </a:prstGeom>
          <a:noFill/>
        </p:spPr>
        <p:txBody>
          <a:bodyPr wrap="square">
            <a:spAutoFit/>
          </a:bodyPr>
          <a:lstStyle/>
          <a:p>
            <a:r>
              <a:rPr lang="ja-JP" altLang="en-US" sz="1800" b="0" i="0">
                <a:solidFill>
                  <a:schemeClr val="tx1"/>
                </a:solidFill>
                <a:effectLst/>
                <a:latin typeface="+mn-lt"/>
              </a:rPr>
              <a:t>→</a:t>
            </a:r>
            <a:r>
              <a:rPr lang="en-US" sz="1800" b="0" i="0">
                <a:solidFill>
                  <a:schemeClr val="tx1"/>
                </a:solidFill>
                <a:effectLst/>
                <a:latin typeface="+mn-lt"/>
              </a:rPr>
              <a:t>20.8 GeV では差が 154 で、σ ＝ √(2 × 154) ≈ </a:t>
            </a:r>
            <a:r>
              <a:rPr lang="en-US" sz="1800" b="1" i="0">
                <a:solidFill>
                  <a:schemeClr val="tx1"/>
                </a:solidFill>
                <a:effectLst/>
                <a:latin typeface="+mn-lt"/>
              </a:rPr>
              <a:t>17.6σ</a:t>
            </a:r>
            <a:r>
              <a:rPr lang="ja-JP" altLang="en-US" sz="1800" b="1" i="0">
                <a:solidFill>
                  <a:schemeClr val="tx1"/>
                </a:solidFill>
                <a:effectLst/>
                <a:latin typeface="+mn-lt"/>
              </a:rPr>
              <a:t>だった！</a:t>
            </a:r>
            <a:endParaRPr lang="en-US"/>
          </a:p>
        </p:txBody>
      </p:sp>
    </p:spTree>
    <p:extLst>
      <p:ext uri="{BB962C8B-B14F-4D97-AF65-F5344CB8AC3E}">
        <p14:creationId xmlns:p14="http://schemas.microsoft.com/office/powerpoint/2010/main" val="7148490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13" name="Picture 12" descr="fig_significance_calib.png"/>
          <p:cNvPicPr>
            <a:picLocks noChangeAspect="1"/>
          </p:cNvPicPr>
          <p:nvPr/>
        </p:nvPicPr>
        <p:blipFill>
          <a:blip r:embed="rId3"/>
          <a:stretch>
            <a:fillRect/>
          </a:stretch>
        </p:blipFill>
        <p:spPr>
          <a:xfrm>
            <a:off x="2148840" y="1188720"/>
            <a:ext cx="6105832" cy="4206240"/>
          </a:xfrm>
          <a:prstGeom prst="rect">
            <a:avLst/>
          </a:prstGeom>
        </p:spPr>
      </p:pic>
      <p:sp>
        <p:nvSpPr>
          <p:cNvPr id="4" name="TextBox 3"/>
          <p:cNvSpPr txBox="1"/>
          <p:nvPr/>
        </p:nvSpPr>
        <p:spPr>
          <a:xfrm>
            <a:off x="457200" y="5486400"/>
            <a:ext cx="11247120" cy="707886"/>
          </a:xfrm>
          <a:prstGeom prst="rect">
            <a:avLst/>
          </a:prstGeom>
          <a:noFill/>
        </p:spPr>
        <p:txBody>
          <a:bodyPr wrap="square">
            <a:spAutoFit/>
          </a:bodyPr>
          <a:lstStyle/>
          <a:p>
            <a:r>
              <a:rPr sz="2000"/>
              <a:t>20.8 GeV で 17.6σ（Totani の同じ形 ρ² は約 14σ）。山の位置も一致。</a:t>
            </a:r>
          </a:p>
          <a:p>
            <a:r>
              <a:rPr sz="2000"/>
              <a:t>緑の幅 = 割る数 1.19〜1.26 の違い</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ハローの形 3 通り：一番合う形も Totani と同じ</a:t>
            </a:r>
          </a:p>
        </p:txBody>
      </p:sp>
      <p:pic>
        <p:nvPicPr>
          <p:cNvPr id="6" name="Picture 5" descr="fig_rho_compare.png"/>
          <p:cNvPicPr>
            <a:picLocks noChangeAspect="1"/>
          </p:cNvPicPr>
          <p:nvPr/>
        </p:nvPicPr>
        <p:blipFill>
          <a:blip r:embed="rId3"/>
          <a:stretch>
            <a:fillRect/>
          </a:stretch>
        </p:blipFill>
        <p:spPr>
          <a:xfrm>
            <a:off x="365760" y="1280160"/>
            <a:ext cx="6720840" cy="4480560"/>
          </a:xfrm>
          <a:prstGeom prst="rect">
            <a:avLst/>
          </a:prstGeom>
        </p:spPr>
      </p:pic>
      <p:sp>
        <p:nvSpPr>
          <p:cNvPr id="4" name="TextBox 3"/>
          <p:cNvSpPr txBox="1"/>
          <p:nvPr/>
        </p:nvSpPr>
        <p:spPr>
          <a:xfrm>
            <a:off x="7269480" y="1371600"/>
            <a:ext cx="4663440" cy="4389120"/>
          </a:xfrm>
          <a:prstGeom prst="rect">
            <a:avLst/>
          </a:prstGeom>
          <a:noFill/>
        </p:spPr>
        <p:txBody>
          <a:bodyPr wrap="square">
            <a:spAutoFit/>
          </a:bodyPr>
          <a:lstStyle/>
          <a:p>
            <a:r>
              <a:rPr sz="1600" b="1"/>
              <a:t>光の出し方 ∝ 密度の何乗か（Totani と同じ 3 通り）</a:t>
            </a:r>
          </a:p>
          <a:p>
            <a:r>
              <a:rPr sz="1300" b="0"/>
              <a:t>2.5 乗：銀河中心 GeV 超過と同じ形（一番とがる）</a:t>
            </a:r>
          </a:p>
          <a:p>
            <a:r>
              <a:rPr sz="1300" b="0"/>
              <a:t>2 乗：本研究の基本（対消滅）</a:t>
            </a:r>
          </a:p>
          <a:p>
            <a:r>
              <a:rPr sz="1300" b="0"/>
              <a:t>1 乗：一番なだらか</a:t>
            </a:r>
          </a:p>
          <a:p>
            <a:endParaRPr sz="1300" b="0"/>
          </a:p>
          <a:p>
            <a:r>
              <a:rPr sz="1600" b="1"/>
              <a:t>20.8 GeV の Δln L（本研究 / Totani）</a:t>
            </a:r>
          </a:p>
          <a:p>
            <a:r>
              <a:rPr sz="1400" b="0"/>
              <a:t>2 乗　 154 / 102</a:t>
            </a:r>
          </a:p>
          <a:p>
            <a:r>
              <a:rPr sz="1400" b="0"/>
              <a:t>2.5 乗 136 / 93</a:t>
            </a:r>
          </a:p>
          <a:p>
            <a:r>
              <a:rPr sz="1400" b="0"/>
              <a:t>1 乗　 111 / 73</a:t>
            </a:r>
          </a:p>
          <a:p>
            <a:endParaRPr sz="1400" b="0"/>
          </a:p>
          <a:p>
            <a:r>
              <a:rPr sz="1500" b="1"/>
              <a:t>合う順番（2 乗 ＞ 2.5 乗 ＞ 1 乗）は同じ</a:t>
            </a:r>
          </a:p>
          <a:p>
            <a:r>
              <a:rPr sz="1300" b="0"/>
              <a:t>3 つとも Totani の約 1.5 倍 → 形の選び方ではなく、解析全体に共通するずれ</a:t>
            </a:r>
          </a:p>
          <a:p>
            <a:r>
              <a:rPr sz="1200" b="0"/>
              <a:t>1.5 GeV では 1 乗だけ大きくずれる（低エネルギーの GALPROP の差と同じ原因の可能性。未確認）</a:t>
            </a:r>
          </a:p>
        </p:txBody>
      </p:sp>
      <p:sp>
        <p:nvSpPr>
          <p:cNvPr id="5" name="TextBox 4"/>
          <p:cNvSpPr txBox="1"/>
          <p:nvPr/>
        </p:nvSpPr>
        <p:spPr>
          <a:xfrm>
            <a:off x="5833872" y="5989320"/>
            <a:ext cx="6089904" cy="457200"/>
          </a:xfrm>
          <a:prstGeom prst="rect">
            <a:avLst/>
          </a:prstGeom>
          <a:noFill/>
        </p:spPr>
        <p:txBody>
          <a:bodyPr wrap="none">
            <a:spAutoFit/>
          </a:bodyPr>
          <a:lstStyle/>
          <a:p>
            <a:r>
              <a:rPr sz="1200"/>
              <a:t>Reference: T. Totani (2025), arXiv:2507.07209 §3.2, Fig. 6–9</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2.70 倍、ICS 2.60 倍（右の図）</a:t>
            </a:r>
          </a:p>
          <a:p>
            <a:r>
              <a:rPr sz="2200"/>
              <a:t>違いは「銀河中心の方向に集まっているか」だけ</a:t>
            </a:r>
          </a:p>
          <a:p>
            <a:r>
              <a:rPr sz="2200"/>
              <a:t>ハローを入れると、その分 ICS が暗くなる</a:t>
            </a:r>
          </a:p>
          <a:p>
            <a:pPr lvl="1"/>
            <a:r>
              <a:rPr sz="1800"/>
              <a:t>ICS の倍率 1.43 → 0.61（20.8 GeV）</a:t>
            </a:r>
          </a:p>
          <a:p>
            <a:r>
              <a:rPr sz="1800"/>
              <a:t>たとえ：部屋の電球（ICS）と探している光（ハロー）が、写真ではほぼ同じ形 → 余った明るさがどちらのものか決めにくい</a:t>
            </a:r>
          </a:p>
        </p:txBody>
      </p:sp>
      <p:pic>
        <p:nvPicPr>
          <p:cNvPr id="6" name="Picture 5" descr="fig_lat_profile.png"/>
          <p:cNvPicPr>
            <a:picLocks noChangeAspect="1"/>
          </p:cNvPicPr>
          <p:nvPr/>
        </p:nvPicPr>
        <p:blipFill>
          <a:blip r:embed="rId3"/>
          <a:stretch>
            <a:fillRect/>
          </a:stretch>
        </p:blipFill>
        <p:spPr>
          <a:xfrm>
            <a:off x="6400800" y="1600200"/>
            <a:ext cx="5394960" cy="404622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sz="1900"/>
              <a:t>ハロー：暗黒物質は銀河の中心ほど濃い → 中心から外へ、なだらかに暗くなる</a:t>
            </a:r>
          </a:p>
          <a:p>
            <a:r>
              <a:rPr sz="1900"/>
              <a:t>ICS：光を出す電子も、電子がぶつかる星の光も、銀河の中心ほど多い → こちらも中心から外へ暗くなる</a:t>
            </a:r>
          </a:p>
          <a:p>
            <a:r>
              <a:rPr sz="1900"/>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sz="1900"/>
              <a:t>模様がなく、中心にも集まらない光が 3 つある</a:t>
            </a:r>
          </a:p>
          <a:p>
            <a:pPr lvl="1"/>
            <a:r>
              <a:rPr sz="1600"/>
              <a:t>等方背景：どこを見ても同じ明るさ</a:t>
            </a:r>
          </a:p>
          <a:p>
            <a:pPr lvl="1"/>
            <a:r>
              <a:rPr sz="1600"/>
              <a:t>Loop I（近い殻）：太陽が殻の中にいるので、空全体をゆるやかに照らす</a:t>
            </a:r>
          </a:p>
          <a:p>
            <a:pPr lvl="1"/>
            <a:r>
              <a:rPr sz="1600"/>
              <a:t>ICS：横方向にはほとんど暗くならない</a:t>
            </a:r>
          </a:p>
          <a:p>
            <a:r>
              <a:rPr sz="1900"/>
              <a:t>形が似ているので、なだらかな光を 3 つにどう分けるかが写真から決まらない</a:t>
            </a:r>
          </a:p>
          <a:p>
            <a:pPr lvl="1"/>
            <a:r>
              <a:rPr sz="1600"/>
              <a:t>決まるのは 3 つの合計だけ。たとえ：3 つのコップの水は、合計は量れても、どれに何杯かは分からない</a:t>
            </a:r>
          </a:p>
          <a:p>
            <a:r>
              <a:rPr sz="1900"/>
              <a:t>等方背景が Totani より小さいのは、分け方がたまたまそうなったため</a:t>
            </a:r>
          </a:p>
          <a:p>
            <a:pPr lvl="1"/>
            <a:r>
              <a:rPr sz="1600"/>
              <a:t>空の上の方だけで計算すると、等方背景が戻る（7 月に確認）</a:t>
            </a:r>
          </a:p>
          <a:p>
            <a:r>
              <a:rPr sz="1900"/>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縮退が引き起こした 2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17.6σ → 4.6σ に落ちる</a:t>
            </a:r>
          </a:p>
          <a:p>
            <a:pPr lvl="1"/>
            <a:r>
              <a:rPr sz="2000"/>
              <a:t>ハローは、本当は ICS やバブルの間違いでは？</a:t>
            </a:r>
          </a:p>
          <a:p>
            <a:r>
              <a:rPr sz="2400"/>
              <a:t>② 何も無い空でも、最大 4.4σ が出る</a:t>
            </a:r>
          </a:p>
          <a:p>
            <a:pPr lvl="1"/>
            <a:r>
              <a:rPr sz="2000"/>
              <a:t>σ をそのまま信じてよいのか？</a:t>
            </a:r>
          </a:p>
          <a:p>
            <a:r>
              <a:rPr sz="2400"/>
              <a:t>→ 次から、1 つずつ調べた結果</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53% がバブル領域（面積は 35%）に集中</a:t>
            </a:r>
          </a:p>
          <a:p>
            <a:r>
              <a:rPr sz="2200"/>
              <a:t>手がかりの減り方だけで予測すると 5.8σ、実測 4.6σ</a:t>
            </a:r>
          </a:p>
          <a:p>
            <a:r>
              <a:rPr sz="2200"/>
              <a:t>同じ形の領域を横にずらして外すと 13.3〜15.0σ</a:t>
            </a:r>
          </a:p>
          <a:p>
            <a:r>
              <a:rPr sz="2200"/>
              <a:t>→ 17.6 → 4.6σ は「手がかりを捨てた」から。汚染の証拠ではない</a:t>
            </a:r>
          </a:p>
          <a:p>
            <a:r>
              <a:rPr sz="2000"/>
              <a:t>たとえ：写真の真ん中を隠すと、2 つの光を見分けるヒントが減って自信が下がる</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2.1 倍明るければ、ハローの改善の 93% を ICS が説明</a:t>
            </a:r>
          </a:p>
          <a:p>
            <a:r>
              <a:rPr sz="2200"/>
              <a:t>ICS の計算の近似（等方近似）を直しても 1.1〜1.3 倍</a:t>
            </a:r>
          </a:p>
          <a:p>
            <a:pPr lvl="1"/>
            <a:r>
              <a:rPr sz="1800"/>
              <a:t>しかも外側のほうが大きくなる → 2.1 倍には届かない</a:t>
            </a:r>
          </a:p>
          <a:p>
            <a:r>
              <a:rPr sz="2200"/>
              <a:t>ICS を 3 種類に分けて、それぞれ自由に動かしても</a:t>
            </a:r>
          </a:p>
          <a:p>
            <a:pPr lvl="1"/>
            <a:r>
              <a:rPr sz="1800"/>
              <a:t>17.6σ → 16.5σ（約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か所で、矮小銀河と同じ解析をした（天の川の方法を半径 10° に縮めたもの）</a:t>
            </a:r>
          </a:p>
          <a:p>
            <a:pPr lvl="1"/>
            <a:r>
              <a:rPr sz="1700"/>
              <a:t>たとえ：真っ暗な所を写したのに「明かりがある」と出てしまう（誤検出）が、どれくらい起きるか</a:t>
            </a:r>
          </a:p>
          <a:p>
            <a:r>
              <a:rPr sz="2200"/>
              <a:t>本物の信号が無ければ、σ は「平均 0、ばらつき 1」になるはず</a:t>
            </a:r>
          </a:p>
          <a:p>
            <a:pPr lvl="1"/>
            <a:r>
              <a:rPr sz="1800"/>
              <a:t>Wilks の定理が成り立っていれば</a:t>
            </a:r>
          </a:p>
          <a:p>
            <a:r>
              <a:rPr sz="2200"/>
              <a:t>実際のばらつき：1.2〜1.3（使うエネルギーで少し変わる。次の 2 枚）</a:t>
            </a:r>
          </a:p>
          <a:p>
            <a:pPr lvl="1"/>
            <a:r>
              <a:rPr sz="1800"/>
              <a:t>σ は 1.2〜1.3 倍大きく出ている</a:t>
            </a:r>
          </a:p>
          <a:p>
            <a:r>
              <a:rPr sz="2200"/>
              <a:t>17.6σ を較正すると 17.6 ÷ (1.2〜1.3) ≈ 14〜15σ</a:t>
            </a:r>
          </a:p>
          <a:p>
            <a:r>
              <a:rPr sz="1600"/>
              <a:t>天の川の解析そのもので偽の空を作ると、ばらつきは 0.89〜1.06（理論どおり）</a:t>
            </a:r>
          </a:p>
          <a:p>
            <a:pPr lvl="1"/>
            <a:r>
              <a:rPr sz="1400"/>
              <a:t>→ 1.2〜1.3 は型紙のずれが原因。天の川でも同じだけずれるかは仮定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6" name="Picture 5" descr="fig_null_variance_irf.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光子が十分ある範囲では、ばらつきは 1.0〜1.4（理論の 1 よりほぼ大きい）</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どのエネルギーで較正するか：割る数は 1.2〜1.3</a:t>
            </a:r>
          </a:p>
        </p:txBody>
      </p:sp>
      <p:sp>
        <p:nvSpPr>
          <p:cNvPr id="3" name="TextBox 2"/>
          <p:cNvSpPr txBox="1"/>
          <p:nvPr/>
        </p:nvSpPr>
        <p:spPr>
          <a:xfrm>
            <a:off x="548640" y="1325880"/>
            <a:ext cx="5669280" cy="4206240"/>
          </a:xfrm>
          <a:prstGeom prst="rect">
            <a:avLst/>
          </a:prstGeom>
          <a:noFill/>
        </p:spPr>
        <p:txBody>
          <a:bodyPr wrap="square">
            <a:spAutoFit/>
          </a:bodyPr>
          <a:lstStyle/>
          <a:p>
            <a:r>
              <a:rPr sz="1800" b="1"/>
              <a:t>使うのはビン 2〜10（2.6〜169 GeV）</a:t>
            </a:r>
          </a:p>
          <a:p>
            <a:r>
              <a:rPr sz="1500" b="0"/>
              <a:t>両端は「本当は ±1 揺れるはず」の比べ方が成り立たない</a:t>
            </a:r>
          </a:p>
          <a:p>
            <a:endParaRPr sz="1500" b="0"/>
          </a:p>
          <a:p>
            <a:r>
              <a:rPr sz="1600" b="1"/>
              <a:t>ビン 1（1.5 GeV）を外す理由</a:t>
            </a:r>
          </a:p>
          <a:p>
            <a:r>
              <a:rPr sz="1400" b="0"/>
              <a:t>望遠鏡のぼやけが一番大きい → 背景の型紙のずれがそのまま出て、揺れが 2.2 に跳ねる</a:t>
            </a:r>
          </a:p>
          <a:p>
            <a:endParaRPr sz="1400" b="0"/>
          </a:p>
          <a:p>
            <a:r>
              <a:rPr sz="1600" b="1"/>
              <a:t>ビン 11〜13（285 GeV 以上）を外す理由</a:t>
            </a:r>
          </a:p>
          <a:p>
            <a:r>
              <a:rPr sz="1400" b="0"/>
              <a:t>光子が数個〜数十個しかない → どこでも σ がほぼ 0 しか出ない</a:t>
            </a:r>
          </a:p>
          <a:p>
            <a:r>
              <a:rPr sz="1400" b="0"/>
              <a:t>「±1 揺れる」は光子が多いときだけ成り立つ（Wilks の定理の前提）</a:t>
            </a:r>
          </a:p>
          <a:p>
            <a:r>
              <a:rPr sz="1400" b="0"/>
              <a:t>入れると揺れを小さく見せてしまう（814 GeV は 0.04）</a:t>
            </a:r>
          </a:p>
        </p:txBody>
      </p:sp>
      <p:graphicFrame>
        <p:nvGraphicFramePr>
          <p:cNvPr id="4" name="Table 3"/>
          <p:cNvGraphicFramePr>
            <a:graphicFrameLocks noGrp="1"/>
          </p:cNvGraphicFramePr>
          <p:nvPr/>
        </p:nvGraphicFramePr>
        <p:xfrm>
          <a:off x="6400800" y="1417320"/>
          <a:ext cx="5394960" cy="219456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65760">
                <a:tc>
                  <a:txBody>
                    <a:bodyPr/>
                    <a:lstStyle/>
                    <a:p>
                      <a:r>
                        <a:rPr sz="1500" b="1">
                          <a:solidFill>
                            <a:srgbClr val="FFFFFF"/>
                          </a:solidFill>
                        </a:rPr>
                        <a:t>使うビン</a:t>
                      </a:r>
                    </a:p>
                  </a:txBody>
                  <a:tcPr>
                    <a:solidFill>
                      <a:srgbClr val="404040"/>
                    </a:solidFill>
                  </a:tcPr>
                </a:tc>
                <a:tc>
                  <a:txBody>
                    <a:bodyPr/>
                    <a:lstStyle/>
                    <a:p>
                      <a:r>
                        <a:rPr sz="1500" b="1">
                          <a:solidFill>
                            <a:srgbClr val="FFFFFF"/>
                          </a:solidFill>
                        </a:rPr>
                        <a:t>揺れ</a:t>
                      </a:r>
                    </a:p>
                  </a:txBody>
                  <a:tcPr>
                    <a:solidFill>
                      <a:srgbClr val="404040"/>
                    </a:solidFill>
                  </a:tcPr>
                </a:tc>
                <a:tc>
                  <a:txBody>
                    <a:bodyPr/>
                    <a:lstStyle/>
                    <a:p>
                      <a:r>
                        <a:rPr sz="1500" b="1">
                          <a:solidFill>
                            <a:srgbClr val="FFFFFF"/>
                          </a:solidFill>
                        </a:rPr>
                        <a:t>17.6σ ÷ 揺れ</a:t>
                      </a:r>
                    </a:p>
                  </a:txBody>
                  <a:tcPr>
                    <a:solidFill>
                      <a:srgbClr val="404040"/>
                    </a:solidFill>
                  </a:tcPr>
                </a:tc>
                <a:extLst>
                  <a:ext uri="{0D108BD9-81ED-4DB2-BD59-A6C34878D82A}">
                    <a16:rowId xmlns:a16="http://schemas.microsoft.com/office/drawing/2014/main" val="10000"/>
                  </a:ext>
                </a:extLst>
              </a:tr>
              <a:tr h="365760">
                <a:tc>
                  <a:txBody>
                    <a:bodyPr/>
                    <a:lstStyle/>
                    <a:p>
                      <a:r>
                        <a:rPr sz="1500" b="1"/>
                        <a:t>2〜10（既定）</a:t>
                      </a:r>
                    </a:p>
                  </a:txBody>
                  <a:tcPr>
                    <a:solidFill>
                      <a:srgbClr val="DDEEDD"/>
                    </a:solidFill>
                  </a:tcPr>
                </a:tc>
                <a:tc>
                  <a:txBody>
                    <a:bodyPr/>
                    <a:lstStyle/>
                    <a:p>
                      <a:r>
                        <a:rPr sz="1500" b="1"/>
                        <a:t>1.19</a:t>
                      </a:r>
                    </a:p>
                  </a:txBody>
                  <a:tcPr>
                    <a:solidFill>
                      <a:srgbClr val="DDEEDD"/>
                    </a:solidFill>
                  </a:tcPr>
                </a:tc>
                <a:tc>
                  <a:txBody>
                    <a:bodyPr/>
                    <a:lstStyle/>
                    <a:p>
                      <a:r>
                        <a:rPr sz="1500" b="1"/>
                        <a:t>14.8σ</a:t>
                      </a:r>
                    </a:p>
                  </a:txBody>
                  <a:tcPr>
                    <a:solidFill>
                      <a:srgbClr val="DDEEDD"/>
                    </a:solidFill>
                  </a:tcPr>
                </a:tc>
                <a:extLst>
                  <a:ext uri="{0D108BD9-81ED-4DB2-BD59-A6C34878D82A}">
                    <a16:rowId xmlns:a16="http://schemas.microsoft.com/office/drawing/2014/main" val="10001"/>
                  </a:ext>
                </a:extLst>
              </a:tr>
              <a:tr h="365760">
                <a:tc>
                  <a:txBody>
                    <a:bodyPr/>
                    <a:lstStyle/>
                    <a:p>
                      <a:r>
                        <a:rPr sz="1500" b="1"/>
                        <a:t>20.8 GeV だけ</a:t>
                      </a:r>
                    </a:p>
                  </a:txBody>
                  <a:tcPr>
                    <a:solidFill>
                      <a:srgbClr val="DDEEDD"/>
                    </a:solidFill>
                  </a:tcPr>
                </a:tc>
                <a:tc>
                  <a:txBody>
                    <a:bodyPr/>
                    <a:lstStyle/>
                    <a:p>
                      <a:r>
                        <a:rPr sz="1500" b="1"/>
                        <a:t>1.26</a:t>
                      </a:r>
                    </a:p>
                  </a:txBody>
                  <a:tcPr>
                    <a:solidFill>
                      <a:srgbClr val="DDEEDD"/>
                    </a:solidFill>
                  </a:tcPr>
                </a:tc>
                <a:tc>
                  <a:txBody>
                    <a:bodyPr/>
                    <a:lstStyle/>
                    <a:p>
                      <a:r>
                        <a:rPr sz="1500" b="1"/>
                        <a:t>13.9σ</a:t>
                      </a:r>
                    </a:p>
                  </a:txBody>
                  <a:tcPr>
                    <a:solidFill>
                      <a:srgbClr val="DDEEDD"/>
                    </a:solidFill>
                  </a:tcPr>
                </a:tc>
                <a:extLst>
                  <a:ext uri="{0D108BD9-81ED-4DB2-BD59-A6C34878D82A}">
                    <a16:rowId xmlns:a16="http://schemas.microsoft.com/office/drawing/2014/main" val="10002"/>
                  </a:ext>
                </a:extLst>
              </a:tr>
              <a:tr h="365760">
                <a:tc>
                  <a:txBody>
                    <a:bodyPr/>
                    <a:lstStyle/>
                    <a:p>
                      <a:r>
                        <a:rPr sz="1500"/>
                        <a:t>1〜13 全部</a:t>
                      </a:r>
                    </a:p>
                  </a:txBody>
                  <a:tcPr>
                    <a:solidFill>
                      <a:srgbClr val="F4F4F4"/>
                    </a:solidFill>
                  </a:tcPr>
                </a:tc>
                <a:tc>
                  <a:txBody>
                    <a:bodyPr/>
                    <a:lstStyle/>
                    <a:p>
                      <a:r>
                        <a:rPr sz="1500"/>
                        <a:t>1.17</a:t>
                      </a:r>
                    </a:p>
                  </a:txBody>
                  <a:tcPr>
                    <a:solidFill>
                      <a:srgbClr val="F4F4F4"/>
                    </a:solidFill>
                  </a:tcPr>
                </a:tc>
                <a:tc>
                  <a:txBody>
                    <a:bodyPr/>
                    <a:lstStyle/>
                    <a:p>
                      <a:r>
                        <a:rPr sz="1500"/>
                        <a:t>15.0σ</a:t>
                      </a:r>
                    </a:p>
                  </a:txBody>
                  <a:tcPr>
                    <a:solidFill>
                      <a:srgbClr val="F4F4F4"/>
                    </a:solidFill>
                  </a:tcPr>
                </a:tc>
                <a:extLst>
                  <a:ext uri="{0D108BD9-81ED-4DB2-BD59-A6C34878D82A}">
                    <a16:rowId xmlns:a16="http://schemas.microsoft.com/office/drawing/2014/main" val="10003"/>
                  </a:ext>
                </a:extLst>
              </a:tr>
              <a:tr h="365760">
                <a:tc>
                  <a:txBody>
                    <a:bodyPr/>
                    <a:lstStyle/>
                    <a:p>
                      <a:r>
                        <a:rPr sz="1500"/>
                        <a:t>2〜13</a:t>
                      </a:r>
                    </a:p>
                  </a:txBody>
                  <a:tcPr>
                    <a:solidFill>
                      <a:srgbClr val="F4F4F4"/>
                    </a:solidFill>
                  </a:tcPr>
                </a:tc>
                <a:tc>
                  <a:txBody>
                    <a:bodyPr/>
                    <a:lstStyle/>
                    <a:p>
                      <a:r>
                        <a:rPr sz="1500"/>
                        <a:t>1.05</a:t>
                      </a:r>
                    </a:p>
                  </a:txBody>
                  <a:tcPr>
                    <a:solidFill>
                      <a:srgbClr val="F4F4F4"/>
                    </a:solidFill>
                  </a:tcPr>
                </a:tc>
                <a:tc>
                  <a:txBody>
                    <a:bodyPr/>
                    <a:lstStyle/>
                    <a:p>
                      <a:r>
                        <a:rPr sz="1500"/>
                        <a:t>16.7σ</a:t>
                      </a:r>
                    </a:p>
                  </a:txBody>
                  <a:tcPr>
                    <a:solidFill>
                      <a:srgbClr val="F4F4F4"/>
                    </a:solidFill>
                  </a:tcPr>
                </a:tc>
                <a:extLst>
                  <a:ext uri="{0D108BD9-81ED-4DB2-BD59-A6C34878D82A}">
                    <a16:rowId xmlns:a16="http://schemas.microsoft.com/office/drawing/2014/main" val="10004"/>
                  </a:ext>
                </a:extLst>
              </a:tr>
              <a:tr h="365760">
                <a:tc>
                  <a:txBody>
                    <a:bodyPr/>
                    <a:lstStyle/>
                    <a:p>
                      <a:r>
                        <a:rPr sz="1500"/>
                        <a:t>1〜10</a:t>
                      </a:r>
                    </a:p>
                  </a:txBody>
                  <a:tcPr>
                    <a:solidFill>
                      <a:srgbClr val="F4F4F4"/>
                    </a:solidFill>
                  </a:tcPr>
                </a:tc>
                <a:tc>
                  <a:txBody>
                    <a:bodyPr/>
                    <a:lstStyle/>
                    <a:p>
                      <a:r>
                        <a:rPr sz="1500"/>
                        <a:t>1.32</a:t>
                      </a:r>
                    </a:p>
                  </a:txBody>
                  <a:tcPr>
                    <a:solidFill>
                      <a:srgbClr val="F4F4F4"/>
                    </a:solidFill>
                  </a:tcPr>
                </a:tc>
                <a:tc>
                  <a:txBody>
                    <a:bodyPr/>
                    <a:lstStyle/>
                    <a:p>
                      <a:r>
                        <a:rPr sz="1500"/>
                        <a:t>13.3σ</a:t>
                      </a:r>
                    </a:p>
                  </a:txBody>
                  <a:tcPr>
                    <a:solidFill>
                      <a:srgbClr val="F4F4F4"/>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6400800" y="3886200"/>
            <a:ext cx="5394960" cy="1371600"/>
          </a:xfrm>
          <a:prstGeom prst="rect">
            <a:avLst/>
          </a:prstGeom>
          <a:noFill/>
        </p:spPr>
        <p:txBody>
          <a:bodyPr wrap="square">
            <a:spAutoFit/>
          </a:bodyPr>
          <a:lstStyle/>
          <a:p>
            <a:r>
              <a:rPr sz="1800" b="1"/>
              <a:t>→ 割る数は 1.2〜1.3、較正後は 14〜15σ</a:t>
            </a:r>
          </a:p>
          <a:p>
            <a:r>
              <a:rPr sz="1400" b="0"/>
              <a:t>緑の 2 行が両端。どれを選んでも 13〜17σ</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1.2〜1.3 倍の過大評価 → 較正すると 14〜15σ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矮小銀河：天の川の方法から変えた点</a:t>
            </a:r>
          </a:p>
        </p:txBody>
      </p:sp>
      <p:graphicFrame>
        <p:nvGraphicFramePr>
          <p:cNvPr id="3" name="Table 2"/>
          <p:cNvGraphicFramePr>
            <a:graphicFrameLocks noGrp="1"/>
          </p:cNvGraphicFramePr>
          <p:nvPr/>
        </p:nvGraphicFramePr>
        <p:xfrm>
          <a:off x="411480" y="1280160"/>
          <a:ext cx="11338560" cy="24993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365760">
                <a:tc>
                  <a:txBody>
                    <a:bodyPr/>
                    <a:lstStyle/>
                    <a:p>
                      <a:r>
                        <a:rPr sz="1400" b="1">
                          <a:solidFill>
                            <a:srgbClr val="FFFFFF"/>
                          </a:solidFill>
                        </a:rPr>
                        <a:t>項目</a:t>
                      </a:r>
                    </a:p>
                  </a:txBody>
                  <a:tcPr>
                    <a:solidFill>
                      <a:srgbClr val="404040"/>
                    </a:solidFill>
                  </a:tcPr>
                </a:tc>
                <a:tc>
                  <a:txBody>
                    <a:bodyPr/>
                    <a:lstStyle/>
                    <a:p>
                      <a:r>
                        <a:rPr sz="1400" b="1">
                          <a:solidFill>
                            <a:srgbClr val="FFFFFF"/>
                          </a:solidFill>
                        </a:rPr>
                        <a:t>天の川（Totani と同じ）</a:t>
                      </a:r>
                    </a:p>
                  </a:txBody>
                  <a:tcPr>
                    <a:solidFill>
                      <a:srgbClr val="404040"/>
                    </a:solidFill>
                  </a:tcPr>
                </a:tc>
                <a:tc>
                  <a:txBody>
                    <a:bodyPr/>
                    <a:lstStyle/>
                    <a:p>
                      <a:r>
                        <a:rPr sz="1400" b="1">
                          <a:solidFill>
                            <a:srgbClr val="FFFFFF"/>
                          </a:solidFill>
                        </a:rPr>
                        <a:t>矮小銀河（本研究の拡張）</a:t>
                      </a:r>
                    </a:p>
                  </a:txBody>
                  <a:tcPr>
                    <a:solidFill>
                      <a:srgbClr val="404040"/>
                    </a:solidFill>
                  </a:tcPr>
                </a:tc>
                <a:tc>
                  <a:txBody>
                    <a:bodyPr/>
                    <a:lstStyle/>
                    <a:p>
                      <a:r>
                        <a:rPr sz="1400" b="1">
                          <a:solidFill>
                            <a:srgbClr val="FFFFFF"/>
                          </a:solidFill>
                        </a:rPr>
                        <a:t>変えた理由</a:t>
                      </a:r>
                    </a:p>
                  </a:txBody>
                  <a:tcPr>
                    <a:solidFill>
                      <a:srgbClr val="404040"/>
                    </a:solidFill>
                  </a:tcPr>
                </a:tc>
                <a:extLst>
                  <a:ext uri="{0D108BD9-81ED-4DB2-BD59-A6C34878D82A}">
                    <a16:rowId xmlns:a16="http://schemas.microsoft.com/office/drawing/2014/main" val="10000"/>
                  </a:ext>
                </a:extLst>
              </a:tr>
              <a:tr h="365760">
                <a:tc>
                  <a:txBody>
                    <a:bodyPr/>
                    <a:lstStyle/>
                    <a:p>
                      <a:r>
                        <a:rPr sz="1400"/>
                        <a:t>見る範囲</a:t>
                      </a:r>
                    </a:p>
                  </a:txBody>
                  <a:tcPr>
                    <a:solidFill>
                      <a:srgbClr val="F4F4F4"/>
                    </a:solidFill>
                  </a:tcPr>
                </a:tc>
                <a:tc>
                  <a:txBody>
                    <a:bodyPr/>
                    <a:lstStyle/>
                    <a:p>
                      <a:r>
                        <a:rPr sz="1400"/>
                        <a:t>銀河中心の周り ±60°</a:t>
                      </a:r>
                    </a:p>
                  </a:txBody>
                  <a:tcPr>
                    <a:solidFill>
                      <a:srgbClr val="F4F4F4"/>
                    </a:solidFill>
                  </a:tcPr>
                </a:tc>
                <a:tc>
                  <a:txBody>
                    <a:bodyPr/>
                    <a:lstStyle/>
                    <a:p>
                      <a:r>
                        <a:rPr sz="1400"/>
                        <a:t>各天体の周り 20° × 20°</a:t>
                      </a:r>
                    </a:p>
                  </a:txBody>
                  <a:tcPr>
                    <a:solidFill>
                      <a:srgbClr val="F4F4F4"/>
                    </a:solidFill>
                  </a:tcPr>
                </a:tc>
                <a:tc>
                  <a:txBody>
                    <a:bodyPr/>
                    <a:lstStyle/>
                    <a:p>
                      <a:r>
                        <a:rPr sz="1400"/>
                        <a:t>天体が小さい（0.2〜0.4°）</a:t>
                      </a:r>
                    </a:p>
                  </a:txBody>
                  <a:tcPr>
                    <a:solidFill>
                      <a:srgbClr val="F4F4F4"/>
                    </a:solidFill>
                  </a:tcPr>
                </a:tc>
                <a:extLst>
                  <a:ext uri="{0D108BD9-81ED-4DB2-BD59-A6C34878D82A}">
                    <a16:rowId xmlns:a16="http://schemas.microsoft.com/office/drawing/2014/main" val="10001"/>
                  </a:ext>
                </a:extLst>
              </a:tr>
              <a:tr h="365760">
                <a:tc>
                  <a:txBody>
                    <a:bodyPr/>
                    <a:lstStyle/>
                    <a:p>
                      <a:r>
                        <a:rPr sz="1400"/>
                        <a:t>等方・ガス・ICS・点源</a:t>
                      </a:r>
                    </a:p>
                  </a:txBody>
                  <a:tcPr>
                    <a:solidFill>
                      <a:srgbClr val="F4F4F4"/>
                    </a:solidFill>
                  </a:tcPr>
                </a:tc>
                <a:tc>
                  <a:txBody>
                    <a:bodyPr/>
                    <a:lstStyle/>
                    <a:p>
                      <a:r>
                        <a:rPr sz="1400"/>
                        <a:t>あり</a:t>
                      </a:r>
                    </a:p>
                  </a:txBody>
                  <a:tcPr>
                    <a:solidFill>
                      <a:srgbClr val="F4F4F4"/>
                    </a:solidFill>
                  </a:tcPr>
                </a:tc>
                <a:tc>
                  <a:txBody>
                    <a:bodyPr/>
                    <a:lstStyle/>
                    <a:p>
                      <a:r>
                        <a:rPr sz="1400"/>
                        <a:t>同じ型紙であり</a:t>
                      </a:r>
                    </a:p>
                  </a:txBody>
                  <a:tcPr>
                    <a:solidFill>
                      <a:srgbClr val="F4F4F4"/>
                    </a:solidFill>
                  </a:tcPr>
                </a:tc>
                <a:tc>
                  <a:txBody>
                    <a:bodyPr/>
                    <a:lstStyle/>
                    <a:p>
                      <a:r>
                        <a:rPr sz="1400"/>
                        <a:t>同じ空の別の場所を見るだけ</a:t>
                      </a:r>
                    </a:p>
                  </a:txBody>
                  <a:tcPr>
                    <a:solidFill>
                      <a:srgbClr val="F4F4F4"/>
                    </a:solidFill>
                  </a:tcPr>
                </a:tc>
                <a:extLst>
                  <a:ext uri="{0D108BD9-81ED-4DB2-BD59-A6C34878D82A}">
                    <a16:rowId xmlns:a16="http://schemas.microsoft.com/office/drawing/2014/main" val="10002"/>
                  </a:ext>
                </a:extLst>
              </a:tr>
              <a:tr h="365760">
                <a:tc>
                  <a:txBody>
                    <a:bodyPr/>
                    <a:lstStyle/>
                    <a:p>
                      <a:r>
                        <a:rPr sz="1400"/>
                        <a:t>バブル・Loop I</a:t>
                      </a:r>
                    </a:p>
                  </a:txBody>
                  <a:tcPr>
                    <a:solidFill>
                      <a:srgbClr val="F4F4F4"/>
                    </a:solidFill>
                  </a:tcPr>
                </a:tc>
                <a:tc>
                  <a:txBody>
                    <a:bodyPr/>
                    <a:lstStyle/>
                    <a:p>
                      <a:r>
                        <a:rPr sz="1400"/>
                        <a:t>あり</a:t>
                      </a:r>
                    </a:p>
                  </a:txBody>
                  <a:tcPr>
                    <a:solidFill>
                      <a:srgbClr val="F4F4F4"/>
                    </a:solidFill>
                  </a:tcPr>
                </a:tc>
                <a:tc>
                  <a:txBody>
                    <a:bodyPr/>
                    <a:lstStyle/>
                    <a:p>
                      <a:r>
                        <a:rPr sz="1400"/>
                        <a:t>入れない</a:t>
                      </a:r>
                    </a:p>
                  </a:txBody>
                  <a:tcPr>
                    <a:solidFill>
                      <a:srgbClr val="F4F4F4"/>
                    </a:solidFill>
                  </a:tcPr>
                </a:tc>
                <a:tc>
                  <a:txBody>
                    <a:bodyPr/>
                    <a:lstStyle/>
                    <a:p>
                      <a:r>
                        <a:rPr sz="1400"/>
                        <a:t>銀河中心の構造で、その範囲にはほぼ無い</a:t>
                      </a:r>
                    </a:p>
                  </a:txBody>
                  <a:tcPr>
                    <a:solidFill>
                      <a:srgbClr val="F4F4F4"/>
                    </a:solidFill>
                  </a:tcPr>
                </a:tc>
                <a:extLst>
                  <a:ext uri="{0D108BD9-81ED-4DB2-BD59-A6C34878D82A}">
                    <a16:rowId xmlns:a16="http://schemas.microsoft.com/office/drawing/2014/main" val="10003"/>
                  </a:ext>
                </a:extLst>
              </a:tr>
              <a:tr h="365760">
                <a:tc>
                  <a:txBody>
                    <a:bodyPr/>
                    <a:lstStyle/>
                    <a:p>
                      <a:r>
                        <a:rPr sz="1400"/>
                        <a:t>ハローの型紙</a:t>
                      </a:r>
                    </a:p>
                  </a:txBody>
                  <a:tcPr>
                    <a:solidFill>
                      <a:srgbClr val="F4F4F4"/>
                    </a:solidFill>
                  </a:tcPr>
                </a:tc>
                <a:tc>
                  <a:txBody>
                    <a:bodyPr/>
                    <a:lstStyle/>
                    <a:p>
                      <a:r>
                        <a:rPr sz="1400"/>
                        <a:t>天の川の NFW</a:t>
                      </a:r>
                    </a:p>
                  </a:txBody>
                  <a:tcPr>
                    <a:solidFill>
                      <a:srgbClr val="F4F4F4"/>
                    </a:solidFill>
                  </a:tcPr>
                </a:tc>
                <a:tc>
                  <a:txBody>
                    <a:bodyPr/>
                    <a:lstStyle/>
                    <a:p>
                      <a:r>
                        <a:rPr sz="1400"/>
                        <a:t>その天体の NFW（ぼやけで広げる）</a:t>
                      </a:r>
                    </a:p>
                  </a:txBody>
                  <a:tcPr>
                    <a:solidFill>
                      <a:srgbClr val="F4F4F4"/>
                    </a:solidFill>
                  </a:tcPr>
                </a:tc>
                <a:tc>
                  <a:txBody>
                    <a:bodyPr/>
                    <a:lstStyle/>
                    <a:p>
                      <a:r>
                        <a:rPr sz="1400"/>
                        <a:t>探すのはその天体の中心の光</a:t>
                      </a:r>
                    </a:p>
                  </a:txBody>
                  <a:tcPr>
                    <a:solidFill>
                      <a:srgbClr val="F4F4F4"/>
                    </a:solidFill>
                  </a:tcPr>
                </a:tc>
                <a:extLst>
                  <a:ext uri="{0D108BD9-81ED-4DB2-BD59-A6C34878D82A}">
                    <a16:rowId xmlns:a16="http://schemas.microsoft.com/office/drawing/2014/main" val="10004"/>
                  </a:ext>
                </a:extLst>
              </a:tr>
              <a:tr h="365760">
                <a:tc>
                  <a:txBody>
                    <a:bodyPr/>
                    <a:lstStyle/>
                    <a:p>
                      <a:r>
                        <a:rPr sz="1400"/>
                        <a:t>尤度のマス目</a:t>
                      </a:r>
                    </a:p>
                  </a:txBody>
                  <a:tcPr>
                    <a:solidFill>
                      <a:srgbClr val="F4F4F4"/>
                    </a:solidFill>
                  </a:tcPr>
                </a:tc>
                <a:tc>
                  <a:txBody>
                    <a:bodyPr/>
                    <a:lstStyle/>
                    <a:p>
                      <a:r>
                        <a:rPr sz="1400"/>
                        <a:t>10° × 10°</a:t>
                      </a:r>
                    </a:p>
                  </a:txBody>
                  <a:tcPr>
                    <a:solidFill>
                      <a:srgbClr val="F4F4F4"/>
                    </a:solidFill>
                  </a:tcPr>
                </a:tc>
                <a:tc>
                  <a:txBody>
                    <a:bodyPr/>
                    <a:lstStyle/>
                    <a:p>
                      <a:r>
                        <a:rPr sz="1400"/>
                        <a:t>1° のセル</a:t>
                      </a:r>
                    </a:p>
                  </a:txBody>
                  <a:tcPr>
                    <a:solidFill>
                      <a:srgbClr val="F4F4F4"/>
                    </a:solidFill>
                  </a:tcPr>
                </a:tc>
                <a:tc>
                  <a:txBody>
                    <a:bodyPr/>
                    <a:lstStyle/>
                    <a:p>
                      <a:r>
                        <a:rPr sz="1400"/>
                        <a:t>10° のマスでは小さな天体の形が消える（画素は 0.125°）</a:t>
                      </a:r>
                    </a:p>
                  </a:txBody>
                  <a:tcPr>
                    <a:solidFill>
                      <a:srgbClr val="F4F4F4"/>
                    </a:solidFill>
                  </a:tcPr>
                </a:tc>
                <a:extLst>
                  <a:ext uri="{0D108BD9-81ED-4DB2-BD59-A6C34878D82A}">
                    <a16:rowId xmlns:a16="http://schemas.microsoft.com/office/drawing/2014/main" val="10005"/>
                  </a:ext>
                </a:extLst>
              </a:tr>
            </a:tbl>
          </a:graphicData>
        </a:graphic>
      </p:graphicFrame>
      <p:sp>
        <p:nvSpPr>
          <p:cNvPr id="4" name="TextBox 3"/>
          <p:cNvSpPr txBox="1"/>
          <p:nvPr/>
        </p:nvSpPr>
        <p:spPr>
          <a:xfrm>
            <a:off x="548640" y="3886200"/>
            <a:ext cx="11155680" cy="1463040"/>
          </a:xfrm>
          <a:prstGeom prst="rect">
            <a:avLst/>
          </a:prstGeom>
          <a:noFill/>
        </p:spPr>
        <p:txBody>
          <a:bodyPr wrap="square">
            <a:spAutoFit/>
          </a:bodyPr>
          <a:lstStyle/>
          <a:p>
            <a:r>
              <a:rPr sz="1700" b="1"/>
              <a:t>Totani は矮小銀河にこの方法を使っていない → ここは本研究で足した部分</a:t>
            </a:r>
          </a:p>
          <a:p>
            <a:r>
              <a:rPr sz="1500" b="0"/>
              <a:t>最良値の求め方（MCMC）・選ぶ光子（UltraClean）・露出の計算は天の川と同じ</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5" name="Picture 4" descr="fig_dwarf_results_irf.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+3.23σ（何も無い空でも 4.40σ）</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1.8</a:t>
            </a:r>
          </a:p>
          <a:p>
            <a:r>
              <a:rPr sz="2400"/>
              <a:t>実測 T = 0.42 → ずれ 1.4σ</a:t>
            </a:r>
          </a:p>
          <a:p>
            <a:r>
              <a:rPr sz="2400"/>
              <a:t>ただし、ここでは J に誤差は無いとしていた</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1.8</a:t>
            </a:r>
          </a:p>
          <a:p>
            <a:pPr lvl="1"/>
            <a:r>
              <a:rPr sz="2000"/>
              <a:t>誤差あり：E[T] = Σ w_i pred_i 10^δ_i / √Σ w_i²  ← δ でばらつく</a:t>
            </a:r>
          </a:p>
          <a:p>
            <a:r>
              <a:rPr sz="2400"/>
              <a:t>実測 T にも測定の揺れ s がある（s = 1、または空で測った 1.19）</a:t>
            </a:r>
          </a:p>
          <a:p>
            <a:r>
              <a:rPr sz="2400"/>
              <a:t>暗黒物質ありで、実測 0.42 以下になる確率</a:t>
            </a:r>
          </a:p>
          <a:p>
            <a:pPr lvl="1"/>
            <a:r>
              <a:rPr sz="2000"/>
              <a:t>p = （δ について平均）Φ( (0.42 − E[T]) / s )</a:t>
            </a:r>
          </a:p>
          <a:p>
            <a:r>
              <a:rPr sz="2400"/>
              <a:t>p を σ に直したもの =「ずれ」</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6" name="Picture 5" descr="fig_dwarf_J_fixed.png"/>
          <p:cNvPicPr>
            <a:picLocks noChangeAspect="1"/>
          </p:cNvPicPr>
          <p:nvPr/>
        </p:nvPicPr>
        <p:blipFill>
          <a:blip r:embed="rId3"/>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1.8σ → J の誤差で 1.4〜5σ に広がる。実測 0.4σ ± 1.19。ずれ 1.4σ</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1.8、ずれ 1.4σ（s = 1.19 なら 1.2σ）</a:t>
            </a:r>
          </a:p>
          <a:p>
            <a:pPr lvl="1"/>
            <a:r>
              <a:rPr sz="2000"/>
              <a:t>J の誤差あり：期待 2.6（68% で 1.4–5）、ずれ 1.5σ（1.4σ）</a:t>
            </a:r>
          </a:p>
          <a:p>
            <a:r>
              <a:rPr sz="2400"/>
              <a:t>天の川側の局所密度を 0.3〜0.6 GeV/cm³ で動かしても</a:t>
            </a:r>
          </a:p>
          <a:p>
            <a:pPr lvl="1"/>
            <a:r>
              <a:rPr sz="2000"/>
              <a:t>ずれは較正後 0.7〜2.2σ</a:t>
            </a:r>
          </a:p>
          <a:p>
            <a:r>
              <a:rPr sz="2400"/>
              <a:t>→ 暗黒物質と矛盾はしないが、確認もできない（判定できない。ずれ 1.4σ）</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つの数字の違い：14〜15σ と 1.4σ</a:t>
            </a:r>
          </a:p>
        </p:txBody>
      </p:sp>
      <p:sp>
        <p:nvSpPr>
          <p:cNvPr id="3" name="Content Placeholder 2"/>
          <p:cNvSpPr>
            <a:spLocks noGrp="1"/>
          </p:cNvSpPr>
          <p:nvPr>
            <p:ph idx="1"/>
          </p:nvPr>
        </p:nvSpPr>
        <p:spPr>
          <a:xfrm>
            <a:off x="841248" y="1463040"/>
            <a:ext cx="10515600" cy="4937760"/>
          </a:xfrm>
        </p:spPr>
        <p:txBody>
          <a:bodyPr/>
          <a:lstStyle/>
          <a:p>
            <a:r>
              <a:rPr sz="2400"/>
              <a:t>14〜15σ：天の川のハロー超過の強さ</a:t>
            </a:r>
          </a:p>
          <a:p>
            <a:pPr lvl="1"/>
            <a:r>
              <a:rPr sz="2000"/>
              <a:t>17.6σ を、何も無い空でのばらつき 1.2〜1.3 で割ったもの</a:t>
            </a:r>
          </a:p>
          <a:p>
            <a:pPr lvl="1"/>
            <a:r>
              <a:rPr sz="2000"/>
              <a:t>「天の川に、背景では説明しにくい何かがある」</a:t>
            </a:r>
          </a:p>
          <a:p>
            <a:r>
              <a:rPr sz="2400"/>
              <a:t>1.4σ：矮小銀河での「予測と実測のずれ」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17.6σ、較正後 14〜15σ。Totani の同じ形は 14σ）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1.4σ → 判定できない</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1.2〜1.3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272</TotalTime>
  <Words>9322</Words>
  <Application>Microsoft Office PowerPoint</Application>
  <PresentationFormat>Widescreen</PresentationFormat>
  <Paragraphs>694</Paragraphs>
  <Slides>50</Slides>
  <Notes>49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50</vt:i4>
      </vt:variant>
    </vt:vector>
  </HeadingPairs>
  <TitlesOfParts>
    <vt:vector size="55" baseType="lpstr">
      <vt:lpstr>-apple-system</vt: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vt:lpstr>
      <vt:lpstr>成分⑦：ハロー（探しているもの）</vt:lpstr>
      <vt:lpstr>ここからやること：係数 9 個を決めるだけ</vt:lpstr>
      <vt:lpstr>尤度と MCMC の役割分担</vt:lpstr>
      <vt:lpstr>手法③：有意度 σ の出し方</vt:lpstr>
      <vt:lpstr>手法④：MCMC（最良値と誤差）</vt:lpstr>
      <vt:lpstr>MCMC をわかりやすいたとえで説明→霧の山を歩く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PowerPoint Presentation</vt:lpstr>
      <vt:lpstr>結果：Totani の超過を再現</vt:lpstr>
      <vt:lpstr>ハローの形 3 通り：一番合う形も Totani と同じ</vt:lpstr>
      <vt:lpstr>問題：ハローと ICS が見分けにくい（縮退）</vt:lpstr>
      <vt:lpstr>なぜ ICS とハローは形が似ているのか</vt:lpstr>
      <vt:lpstr>等方背景が小さく出る理由：なだらかな光の分け方が決まらない</vt:lpstr>
      <vt:lpstr>縮退が引き起こした 2 つの疑問</vt:lpstr>
      <vt:lpstr>① を調べる：手がかりはどこにあるか</vt:lpstr>
      <vt:lpstr>① を調べる：ICS が犯人なら</vt:lpstr>
      <vt:lpstr>② を調べる：σ を信じてよいか</vt:lpstr>
      <vt:lpstr>② の結果：エネルギーごとのばらつき</vt:lpstr>
      <vt:lpstr>どのエネルギーで較正するか：割る数は 1.2〜1.3</vt:lpstr>
      <vt:lpstr>ここまでのまとめ</vt:lpstr>
      <vt:lpstr>矮小銀河で確かめる</vt:lpstr>
      <vt:lpstr>矮小銀河：天の川の方法から変えた点</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つの数字の違い：14〜15σ と 1.4σ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2026-10-05T04:16:50Z</dcterms:modified>
</cp:coreProperties>
</file>