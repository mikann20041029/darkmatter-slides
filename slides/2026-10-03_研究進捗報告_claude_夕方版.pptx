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2"/>
  </p:notesMasterIdLst>
  <p:sldIdLst>
    <p:sldId id="256" r:id="rId2"/>
    <p:sldId id="257" r:id="rId3"/>
    <p:sldId id="258" r:id="rId4"/>
    <p:sldId id="259" r:id="rId5"/>
    <p:sldId id="312" r:id="rId6"/>
    <p:sldId id="307" r:id="rId7"/>
    <p:sldId id="308" r:id="rId8"/>
    <p:sldId id="294" r:id="rId9"/>
    <p:sldId id="261" r:id="rId10"/>
    <p:sldId id="262" r:id="rId11"/>
    <p:sldId id="295" r:id="rId12"/>
    <p:sldId id="296" r:id="rId13"/>
    <p:sldId id="297" r:id="rId14"/>
    <p:sldId id="298" r:id="rId15"/>
    <p:sldId id="309" r:id="rId16"/>
    <p:sldId id="299" r:id="rId17"/>
    <p:sldId id="300" r:id="rId18"/>
    <p:sldId id="263" r:id="rId19"/>
    <p:sldId id="315" r:id="rId20"/>
    <p:sldId id="316" r:id="rId21"/>
    <p:sldId id="264" r:id="rId22"/>
    <p:sldId id="310" r:id="rId23"/>
    <p:sldId id="311" r:id="rId24"/>
    <p:sldId id="265" r:id="rId25"/>
    <p:sldId id="266" r:id="rId26"/>
    <p:sldId id="267" r:id="rId27"/>
    <p:sldId id="268" r:id="rId28"/>
    <p:sldId id="269" r:id="rId29"/>
    <p:sldId id="313" r:id="rId30"/>
    <p:sldId id="271" r:id="rId31"/>
    <p:sldId id="272" r:id="rId32"/>
    <p:sldId id="314" r:id="rId33"/>
    <p:sldId id="273" r:id="rId34"/>
    <p:sldId id="274" r:id="rId35"/>
    <p:sldId id="275" r:id="rId36"/>
    <p:sldId id="276" r:id="rId37"/>
    <p:sldId id="277" r:id="rId38"/>
    <p:sldId id="278" r:id="rId39"/>
    <p:sldId id="279" r:id="rId40"/>
    <p:sldId id="280" r:id="rId41"/>
    <p:sldId id="281" r:id="rId42"/>
    <p:sldId id="282" r:id="rId43"/>
    <p:sldId id="283" r:id="rId44"/>
    <p:sldId id="284" r:id="rId45"/>
    <p:sldId id="285" r:id="rId46"/>
    <p:sldId id="286" r:id="rId47"/>
    <p:sldId id="287" r:id="rId48"/>
    <p:sldId id="288" r:id="rId49"/>
    <p:sldId id="289" r:id="rId50"/>
    <p:sldId id="290"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45" autoAdjust="0"/>
    <p:restoredTop sz="94660"/>
  </p:normalViewPr>
  <p:slideViewPr>
    <p:cSldViewPr snapToGrid="0" showGuides="1">
      <p:cViewPr varScale="1">
        <p:scale>
          <a:sx n="65" d="100"/>
          <a:sy n="65" d="100"/>
        </p:scale>
        <p:origin x="53" y="710"/>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custSel delSld modSld">
      <pc:chgData name="202304239" userId="ab1adf7a-b8eb-4038-b404-de23e20d8a3a" providerId="ADAL" clId="{6C0E59ED-D716-49AF-B2FA-B94E7B8E5A8C}" dt="2026-10-05T03:38:03.028" v="92" actId="20577"/>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addSp modSp mod">
        <pc:chgData name="202304239" userId="ab1adf7a-b8eb-4038-b404-de23e20d8a3a" providerId="ADAL" clId="{6C0E59ED-D716-49AF-B2FA-B94E7B8E5A8C}" dt="2026-10-03T04:13:39.011" v="59" actId="27614"/>
        <pc:sldMkLst>
          <pc:docMk/>
          <pc:sldMk cId="0" sldId="295"/>
        </pc:sldMkLst>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
        <pc:chgData name="202304239" userId="ab1adf7a-b8eb-4038-b404-de23e20d8a3a" providerId="ADAL" clId="{6C0E59ED-D716-49AF-B2FA-B94E7B8E5A8C}" dt="2026-10-03T06:08:02.273" v="75" actId="22"/>
        <pc:sldMkLst>
          <pc:docMk/>
          <pc:sldMk cId="0" sldId="297"/>
        </pc:sldMkLst>
        <pc:picChg chg="add">
          <ac:chgData name="202304239" userId="ab1adf7a-b8eb-4038-b404-de23e20d8a3a" providerId="ADAL" clId="{6C0E59ED-D716-49AF-B2FA-B94E7B8E5A8C}" dt="2026-10-03T06:08:02.273" v="75" actId="22"/>
          <ac:picMkLst>
            <pc:docMk/>
            <pc:sldMk cId="0" sldId="297"/>
            <ac:picMk id="5" creationId="{A90FDE7D-1E04-5388-2EF9-2BF6180BCFE4}"/>
          </ac:picMkLst>
        </pc:picChg>
      </pc:sldChg>
      <pc:sldChg chg="addSp modSp mod">
        <pc:chgData name="202304239" userId="ab1adf7a-b8eb-4038-b404-de23e20d8a3a" providerId="ADAL" clId="{6C0E59ED-D716-49AF-B2FA-B94E7B8E5A8C}" dt="2026-10-03T06:10:08.014" v="80" actId="27614"/>
        <pc:sldMkLst>
          <pc:docMk/>
          <pc:sldMk cId="0" sldId="299"/>
        </pc:sldMkLst>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modSp mod">
        <pc:chgData name="202304239" userId="ab1adf7a-b8eb-4038-b404-de23e20d8a3a" providerId="ADAL" clId="{6C0E59ED-D716-49AF-B2FA-B94E7B8E5A8C}" dt="2026-10-03T03:37:06.765" v="53" actId="20577"/>
        <pc:sldMkLst>
          <pc:docMk/>
          <pc:sldMk cId="0" sldId="308"/>
        </pc:sldMkLst>
        <pc:spChg chg="mod">
          <ac:chgData name="202304239" userId="ab1adf7a-b8eb-4038-b404-de23e20d8a3a" providerId="ADAL" clId="{6C0E59ED-D716-49AF-B2FA-B94E7B8E5A8C}" dt="2026-10-03T03:37:06.765" v="53" actId="20577"/>
          <ac:spMkLst>
            <pc:docMk/>
            <pc:sldMk cId="0" sldId="308"/>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0.44 (10/5 公式の露出で計算し直した値))、自己相関時間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0.45 以下、有意度の差 0.10σ 以下 (10/5 公式の露出で計算し直した値)。確認のためだけで、結果には使っていない。</a:t>
            </a:r>
          </a:p>
          <a:p>
            <a:r>
              <a:t>長さの目安: 自己相関時間 τ (何歩離れたら前の場所を忘れるか) の 50 倍以上が推奨。20.8 GeV で τ ≈ 631 歩なので 3 万歩以上が理想だが、6000 歩。</a:t>
            </a:r>
          </a:p>
          <a:p>
            <a:r>
              <a:t>数字は本人 PC で、Totani と同じやり方・公式の露出で出した値 (10/5、results/mcmc_allbins_gasICS_v20t_irf/)。</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1.35〜1.52)。最良値 1.44 と有意度 17.6σ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コード: code/compute_exposure_map_irf.py。FT2 (30 秒ごとの衛星の向き・天頂の向き・観測時間) 779 週分から、画素ごと・入射角 cosθ ごとの観測時間 (livetime cube、公式ツール gtltcube と同じもの) を足し、公式の有効面積の表 (CALDB aeff_P8R3_ULTRACLEAN_V2_FB、FRONT+BACK) を掛けた。品質フラグ DATA_QUAL&gt;0 かつ LAT_CONFIG==1 の時間だけ使い、その画素の天頂角が 100° 以上の時間は除いた (光子の選び方と同じ)。残る近似: 有効面積の方位角依存と、時間あたりの効率補正は入れていない (どちらも数 % 以下)。</a:t>
            </a:r>
          </a:p>
          <a:p>
            <a:r>
              <a:t>Totani (2025) §2.1 は露出を公式ツールで 0.125° で作っている。今回の作り直しで Totani の方法に近づいた。</a:t>
            </a:r>
          </a:p>
          <a:p>
            <a:r>
              <a:t>結果: results/mcmc_allbins_gasICS_v20t_irf。Bin5 18.3σ、Bin6 17.6σ。</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20.8 GeV の成分の明るさの Totani 比 (最良値、Totani は Fig. 6 の目視読み取り ±30%): ガス 0.93 / ICS 0.94 / 等方 0.49 / Loop I 0.95 / ハロー 1.19 / 5 成分の合計 0.94。下の古いノートの 0.4 倍・0.96 倍・1.16 倍は露出を作り直す前の値。(code/component_ratio_v20t.py)</a:t>
            </a:r>
          </a:p>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フィッシャー情報を公式の露出・最良値で計算し直した (results/fisher_geometry_v20t_irf/): 固有情報のうち矩形内 53.4%、矩形の面積 34.5%、矩形を外したときの予測 5.80σ・実測 4.58σ (実測/予測 0.79)。横にずらした 6 通りは 実測/予測 0.94〜1.21。下の古いノートの 54%・6.4σ・5.9σ (換算値)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バブル矩形の内外で ICS の倍率を分けると、ハロー無しで内/外 = 2.13 倍、点数の改善はハローの 93%。そのときハローは 5.71σ (基準 17.58σ、勾配法)。results/ics_inner_boost_irf/。下の古いノートの 2.3 倍・92%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何も無い空のばらつき (新しい露出): ビン 2〜10 まとめ 1.186、20.8 GeV だけ 1.258 (古い露出と同じ)。</a:t>
            </a:r>
          </a:p>
          <a:p>
            <a:r>
              <a:t>(10/5 訂正) 以前は「天の川と同じ解析をした」と書いていたが誤り。何も無い空は矮小銀河用の解析 (範囲 20°、成分 5 つ、1° セルの尤度)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図を公式の露出の結果 (results/targets_v20_totani_fixneg_irf) で描き直した。ビン 2〜10 まとめ 1.19、20.8 GeV だけ 1.26。作図 /home/arsei/slidework/make_null_var.py</a:t>
            </a:r>
          </a:p>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ビンごとの揺れ: 1.5 2.15 / 2.6 1.24 / 4.3 1.14 / 7.3 1.05 / 12.3 1.36 / 20.8 1.26 / 35 1.20 / 59 1.31 / 100 1.08 / 169 0.98 / 285 0.49 / 482 0.44 / 814 0.10 (GeV)。表の 1.19 / 1.26 / 1.17 / 1.05 / 1.32 は新しい露出でも同じ (1.186 / 1.258 / 1.168 / 1.045 / 1.315)。</a:t>
            </a:r>
          </a:p>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は全天体でスケール半径の 10 倍 (10 rs) で切る。ハローの倍率の数字は天体どうしで比べられない (型紙を ROI 平均 1 にそろえているため)。比べてよいのは有意度。</a:t>
            </a:r>
          </a:p>
          <a:p>
            <a:r>
              <a:t>尤度を 1° のセルで組むのは、20° 角の ROI では 10° のマスが 4 個しか取れず、0.2〜0.4° の天体の形が消えるため (画素は 0.125°)。天の川は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「何σ見えるはずか」は、背景の最良予測に予測どおりのハローを足した理想データ (Asimov データ) を、本番と同じ 1° セルの解析にかけて出す (10/5 から。code/dwarf_fisher_error.py)。</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図と数字を公式の露出の結果 (results/targets_v20_totani_fixneg_irf) に差し替えた。作図 /home/arsei/slidework/make_dwarf_hist.py</a:t>
            </a:r>
          </a:p>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1.82、実測 0.42。予測の大部分は数天体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1.82。赤い点: 実測 0.42、横棒は測定の揺れ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14〜15σ は「ハローがあるか」の強さ、1.4σ は「天の川と矮小銀河が食い違うか」の強さ。</a:t>
            </a:r>
          </a:p>
          <a:p>
            <a:r>
              <a:t>どちらも Wilks の定理だけに頼らず、何も無い空で較正した値 (1.19〜1.26)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marL="457200" lvl="1" indent="0">
              <a:buNone/>
            </a:pPr>
            <a:r>
              <a:rPr sz="2000"/>
              <a:t>Loop I、フェルミバブル、ハロー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背景の成分①〜⑥：何が、どうやってガンマ線を出すか</a:t>
            </a:r>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48640" y="1371600"/>
            <a:ext cx="10789920" cy="4297680"/>
          </a:xfrm>
        </p:spPr>
        <p:txBody>
          <a:bodyPr>
            <a:normAutofit fontScale="92500" lnSpcReduction="10000"/>
          </a:bodyPr>
          <a:lstStyle/>
          <a:p>
            <a:r>
              <a:rPr sz="2600"/>
              <a:t>予測 ＝ f₁ × 型紙₁ ＋ f₂ × 型紙₂ ＋ … ＋ f₉ × 型紙₉</a:t>
            </a:r>
          </a:p>
          <a:p>
            <a:pPr lvl="1"/>
            <a:r>
              <a:rPr sz="2200"/>
              <a:t>型紙は固定。動かすのは係数（倍率）9 個だけ</a:t>
            </a:r>
          </a:p>
          <a:p>
            <a:r>
              <a:rPr sz="2600"/>
              <a:t>尤度：その係数 9 個が「どれだけ良いか」の点数</a:t>
            </a:r>
            <a:endParaRPr lang="en-US" sz="2600"/>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点数が上がる方へは必ず進み、下がる方へもたまに進む</a:t>
            </a:r>
          </a:p>
          <a:p>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Fig. 9 の Δln L も同じ換算で σ にできる）</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をたとえで見る：霧の山を歩く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3988887" y="2724089"/>
            <a:ext cx="4214225" cy="140982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1.44</a:t>
            </a:r>
          </a:p>
          <a:p>
            <a:r>
              <a:rPr sz="1800"/>
              <a:t>足あとの広がり → 誤差</a:t>
            </a:r>
          </a:p>
          <a:p>
            <a:pPr lvl="1"/>
            <a:r>
              <a:rPr sz="1500"/>
              <a:t>最初の 2000 歩（ふもとから登っている途中）は捨て、残りの下から 16%〜84%</a:t>
            </a:r>
          </a:p>
          <a:p>
            <a:pPr lvl="1"/>
            <a:r>
              <a:rPr sz="1500"/>
              <a:t>20.8 GeV：1.35〜1.52</a:t>
            </a:r>
          </a:p>
          <a:p>
            <a:r>
              <a:rPr sz="1800"/>
              <a:t>有意度：ハローあり・なしの山を別々に歩く</a:t>
            </a:r>
          </a:p>
          <a:p>
            <a:pPr lvl="1"/>
            <a:r>
              <a:rPr sz="1500"/>
              <a:t>それぞれの一番高い足あとの高さの差 Δln L → σ = √(2Δln L)</a:t>
            </a:r>
          </a:p>
          <a:p>
            <a:pPr lvl="1"/>
            <a:r>
              <a:rPr sz="1500"/>
              <a:t>20.8 GeV：17.6σ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20.8 GeV で 17.6σ（Totani の同じ形 ρ² は約 14σ）。山の位置も一致。何も無い空で較正すると 14〜15σ（緑）</a:t>
            </a:r>
          </a:p>
          <a:p>
            <a:r>
              <a:rPr sz="2000"/>
              <a:t>緑の幅 = 割る数 1.19〜1.26 の違い（較正に使うエネルギーの選び方。27 枚目）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6035040"/>
            <a:ext cx="6093372" cy="923330"/>
          </a:xfrm>
          <a:prstGeom prst="rect">
            <a:avLst/>
          </a:prstGeom>
          <a:noFill/>
        </p:spPr>
        <p:txBody>
          <a:bodyPr wrap="square">
            <a:spAutoFit/>
          </a:bodyPr>
          <a:lstStyle/>
          <a:p>
            <a:r>
              <a:rPr lang="en-US" sz="1400" b="1"/>
              <a:t>Reference:</a:t>
            </a:r>
            <a:r>
              <a:rPr lang="en-US" sz="1400"/>
              <a:t> T. Totani (2025), arXiv:2507.07209 Fig. 9</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ハローの形 3 通り：一番合う形も Totani と同じ</a:t>
            </a:r>
          </a:p>
        </p:txBody>
      </p:sp>
      <p:pic>
        <p:nvPicPr>
          <p:cNvPr id="6" name="Picture 5" descr="fig_rho_compare.png"/>
          <p:cNvPicPr>
            <a:picLocks noChangeAspect="1"/>
          </p:cNvPicPr>
          <p:nvPr/>
        </p:nvPicPr>
        <p:blipFill>
          <a:blip r:embed="rId3"/>
          <a:stretch>
            <a:fillRect/>
          </a:stretch>
        </p:blipFill>
        <p:spPr>
          <a:xfrm>
            <a:off x="365760" y="1280160"/>
            <a:ext cx="6720840" cy="4480560"/>
          </a:xfrm>
          <a:prstGeom prst="rect">
            <a:avLst/>
          </a:prstGeom>
        </p:spPr>
      </p:pic>
      <p:sp>
        <p:nvSpPr>
          <p:cNvPr id="4" name="TextBox 3"/>
          <p:cNvSpPr txBox="1"/>
          <p:nvPr/>
        </p:nvSpPr>
        <p:spPr>
          <a:xfrm>
            <a:off x="7269480" y="1371600"/>
            <a:ext cx="4663440" cy="4389120"/>
          </a:xfrm>
          <a:prstGeom prst="rect">
            <a:avLst/>
          </a:prstGeom>
          <a:noFill/>
        </p:spPr>
        <p:txBody>
          <a:bodyPr wrap="square">
            <a:spAutoFit/>
          </a:bodyPr>
          <a:lstStyle/>
          <a:p>
            <a:r>
              <a:rPr sz="1600" b="1"/>
              <a:t>光の出し方 ∝ 密度の何乗か（Totani と同じ 3 通り）</a:t>
            </a:r>
          </a:p>
          <a:p>
            <a:r>
              <a:rPr sz="1300" b="0"/>
              <a:t>2.5 乗：銀河中心 GeV 超過と同じ形（一番とがる）</a:t>
            </a:r>
          </a:p>
          <a:p>
            <a:r>
              <a:rPr sz="1300" b="0"/>
              <a:t>2 乗：本研究の基本（対消滅）</a:t>
            </a:r>
          </a:p>
          <a:p>
            <a:r>
              <a:rPr sz="1300" b="0"/>
              <a:t>1 乗：一番なだらか</a:t>
            </a:r>
          </a:p>
          <a:p>
            <a:endParaRPr sz="1300" b="0"/>
          </a:p>
          <a:p>
            <a:r>
              <a:rPr sz="1600" b="1"/>
              <a:t>20.8 GeV の Δln L（本研究 / Totani）</a:t>
            </a:r>
          </a:p>
          <a:p>
            <a:r>
              <a:rPr sz="1400" b="0"/>
              <a:t>2 乗　 154 / 102</a:t>
            </a:r>
          </a:p>
          <a:p>
            <a:r>
              <a:rPr sz="1400" b="0"/>
              <a:t>2.5 乗 136 / 93</a:t>
            </a:r>
          </a:p>
          <a:p>
            <a:r>
              <a:rPr sz="1400" b="0"/>
              <a:t>1 乗　 111 / 73</a:t>
            </a:r>
          </a:p>
          <a:p>
            <a:endParaRPr sz="1400" b="0"/>
          </a:p>
          <a:p>
            <a:r>
              <a:rPr sz="1500" b="1"/>
              <a:t>合う順番（2 乗 ＞ 2.5 乗 ＞ 1 乗）は同じ</a:t>
            </a:r>
          </a:p>
          <a:p>
            <a:r>
              <a:rPr sz="1300" b="0"/>
              <a:t>3 つとも Totani の約 1.5 倍 → 形の選び方ではなく、解析全体に共通するずれ</a:t>
            </a:r>
          </a:p>
          <a:p>
            <a:r>
              <a:rPr sz="1200" b="0"/>
              <a:t>1.5 GeV では 1 乗だけ大きくずれる（低エネルギーの GALPROP の差と同じ原因の可能性。未確認）</a:t>
            </a:r>
          </a:p>
        </p:txBody>
      </p:sp>
      <p:sp>
        <p:nvSpPr>
          <p:cNvPr id="5" name="TextBox 4"/>
          <p:cNvSpPr txBox="1"/>
          <p:nvPr/>
        </p:nvSpPr>
        <p:spPr>
          <a:xfrm>
            <a:off x="5833872" y="5989320"/>
            <a:ext cx="6089904" cy="457200"/>
          </a:xfrm>
          <a:prstGeom prst="rect">
            <a:avLst/>
          </a:prstGeom>
          <a:noFill/>
        </p:spPr>
        <p:txBody>
          <a:bodyPr wrap="none">
            <a:spAutoFit/>
          </a:bodyPr>
          <a:lstStyle/>
          <a:p>
            <a:r>
              <a:rPr sz="1200"/>
              <a:t>Reference: T. Totani (2025), arXiv:2507.07209 §3.2, Fig. 6–9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点検で直したこと①：露出マップを公式の方法で作り直した</a:t>
            </a:r>
          </a:p>
        </p:txBody>
      </p:sp>
      <p:sp>
        <p:nvSpPr>
          <p:cNvPr id="3" name="TextBox 2"/>
          <p:cNvSpPr txBox="1"/>
          <p:nvPr/>
        </p:nvSpPr>
        <p:spPr>
          <a:xfrm>
            <a:off x="548640" y="1325880"/>
            <a:ext cx="5852160" cy="4480560"/>
          </a:xfrm>
          <a:prstGeom prst="rect">
            <a:avLst/>
          </a:prstGeom>
          <a:noFill/>
        </p:spPr>
        <p:txBody>
          <a:bodyPr wrap="square">
            <a:spAutoFit/>
          </a:bodyPr>
          <a:lstStyle/>
          <a:p>
            <a:r>
              <a:rPr sz="1700" b="1"/>
              <a:t>露出 = 望遠鏡が各方向をどれだけ見たか</a:t>
            </a:r>
          </a:p>
          <a:p>
            <a:r>
              <a:rPr sz="1400" b="0"/>
              <a:t>全成分の「光子の数の予測」に掛かる</a:t>
            </a:r>
          </a:p>
          <a:p>
            <a:endParaRPr sz="1400" b="0"/>
          </a:p>
          <a:p>
            <a:r>
              <a:rPr sz="1600" b="1"/>
              <a:t>前：自作の近似（Totani と違う）</a:t>
            </a:r>
          </a:p>
          <a:p>
            <a:r>
              <a:rPr sz="1400" b="0"/>
              <a:t>角度による感度を大ざっぱな式で近似</a:t>
            </a:r>
          </a:p>
          <a:p>
            <a:r>
              <a:rPr sz="1400" b="0"/>
              <a:t>地球の近くを見た時間を除いていなかった</a:t>
            </a:r>
          </a:p>
          <a:p>
            <a:endParaRPr sz="1400" b="0"/>
          </a:p>
          <a:p>
            <a:r>
              <a:rPr sz="1600" b="1"/>
              <a:t>今：公式の較正表 + 観測時間（gtltcube と同じ考え方）</a:t>
            </a:r>
          </a:p>
          <a:p>
            <a:r>
              <a:rPr sz="1400" b="0"/>
              <a:t>Fermi 公式の有効面積（UltraClean）</a:t>
            </a:r>
          </a:p>
          <a:p>
            <a:r>
              <a:rPr sz="1400" b="0"/>
              <a:t>天頂角 100° 以上の時間を除く（光子と同じ条件）</a:t>
            </a:r>
          </a:p>
          <a:p>
            <a:endParaRPr sz="1400" b="0"/>
          </a:p>
          <a:p>
            <a:r>
              <a:rPr sz="1500" b="1"/>
              <a:t>場所によって形が 0.79〜1.05 倍ずれていた</a:t>
            </a:r>
          </a:p>
        </p:txBody>
      </p:sp>
      <p:graphicFrame>
        <p:nvGraphicFramePr>
          <p:cNvPr id="4" name="Table 3"/>
          <p:cNvGraphicFramePr>
            <a:graphicFrameLocks noGrp="1"/>
          </p:cNvGraphicFramePr>
          <p:nvPr/>
        </p:nvGraphicFramePr>
        <p:xfrm>
          <a:off x="6583680" y="1463040"/>
          <a:ext cx="5212080" cy="1645920"/>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411480">
                <a:tc>
                  <a:txBody>
                    <a:bodyPr/>
                    <a:lstStyle/>
                    <a:p>
                      <a:r>
                        <a:rPr sz="1500" b="1"/>
                        <a:t>20.8 GeV（ρ²）</a:t>
                      </a:r>
                    </a:p>
                  </a:txBody>
                  <a:tcPr/>
                </a:tc>
                <a:tc>
                  <a:txBody>
                    <a:bodyPr/>
                    <a:lstStyle/>
                    <a:p>
                      <a:r>
                        <a:rPr sz="1500" b="1"/>
                        <a:t>前</a:t>
                      </a:r>
                    </a:p>
                  </a:txBody>
                  <a:tcPr/>
                </a:tc>
                <a:tc>
                  <a:txBody>
                    <a:bodyPr/>
                    <a:lstStyle/>
                    <a:p>
                      <a:r>
                        <a:rPr sz="1500" b="1"/>
                        <a:t>今</a:t>
                      </a:r>
                    </a:p>
                  </a:txBody>
                  <a:tcPr/>
                </a:tc>
                <a:extLst>
                  <a:ext uri="{0D108BD9-81ED-4DB2-BD59-A6C34878D82A}">
                    <a16:rowId xmlns:a16="http://schemas.microsoft.com/office/drawing/2014/main" val="10000"/>
                  </a:ext>
                </a:extLst>
              </a:tr>
              <a:tr h="411480">
                <a:tc>
                  <a:txBody>
                    <a:bodyPr/>
                    <a:lstStyle/>
                    <a:p>
                      <a:r>
                        <a:rPr sz="1500" b="0"/>
                        <a:t>強さ</a:t>
                      </a:r>
                    </a:p>
                  </a:txBody>
                  <a:tcPr/>
                </a:tc>
                <a:tc>
                  <a:txBody>
                    <a:bodyPr/>
                    <a:lstStyle/>
                    <a:p>
                      <a:r>
                        <a:rPr sz="1500" b="0"/>
                        <a:t>19.0σ</a:t>
                      </a:r>
                    </a:p>
                  </a:txBody>
                  <a:tcPr/>
                </a:tc>
                <a:tc>
                  <a:txBody>
                    <a:bodyPr/>
                    <a:lstStyle/>
                    <a:p>
                      <a:r>
                        <a:rPr sz="1500" b="1"/>
                        <a:t>17.6σ</a:t>
                      </a:r>
                    </a:p>
                  </a:txBody>
                  <a:tcPr/>
                </a:tc>
                <a:extLst>
                  <a:ext uri="{0D108BD9-81ED-4DB2-BD59-A6C34878D82A}">
                    <a16:rowId xmlns:a16="http://schemas.microsoft.com/office/drawing/2014/main" val="10001"/>
                  </a:ext>
                </a:extLst>
              </a:tr>
              <a:tr h="411480">
                <a:tc>
                  <a:txBody>
                    <a:bodyPr/>
                    <a:lstStyle/>
                    <a:p>
                      <a:r>
                        <a:rPr sz="1500" b="0"/>
                        <a:t>Totani（14.3σ）との比</a:t>
                      </a:r>
                    </a:p>
                  </a:txBody>
                  <a:tcPr/>
                </a:tc>
                <a:tc>
                  <a:txBody>
                    <a:bodyPr/>
                    <a:lstStyle/>
                    <a:p>
                      <a:r>
                        <a:rPr sz="1500" b="0"/>
                        <a:t>1.33 倍</a:t>
                      </a:r>
                    </a:p>
                  </a:txBody>
                  <a:tcPr/>
                </a:tc>
                <a:tc>
                  <a:txBody>
                    <a:bodyPr/>
                    <a:lstStyle/>
                    <a:p>
                      <a:r>
                        <a:rPr sz="1500" b="1"/>
                        <a:t>1.23 倍</a:t>
                      </a:r>
                    </a:p>
                  </a:txBody>
                  <a:tcPr/>
                </a:tc>
                <a:extLst>
                  <a:ext uri="{0D108BD9-81ED-4DB2-BD59-A6C34878D82A}">
                    <a16:rowId xmlns:a16="http://schemas.microsoft.com/office/drawing/2014/main" val="10002"/>
                  </a:ext>
                </a:extLst>
              </a:tr>
              <a:tr h="411480">
                <a:tc>
                  <a:txBody>
                    <a:bodyPr/>
                    <a:lstStyle/>
                    <a:p>
                      <a:r>
                        <a:rPr sz="1500" b="0"/>
                        <a:t>較正後</a:t>
                      </a:r>
                    </a:p>
                  </a:txBody>
                  <a:tcPr/>
                </a:tc>
                <a:tc>
                  <a:txBody>
                    <a:bodyPr/>
                    <a:lstStyle/>
                    <a:p>
                      <a:r>
                        <a:rPr sz="1500" b="0"/>
                        <a:t>15〜16σ</a:t>
                      </a:r>
                    </a:p>
                  </a:txBody>
                  <a:tcPr/>
                </a:tc>
                <a:tc>
                  <a:txBody>
                    <a:bodyPr/>
                    <a:lstStyle/>
                    <a:p>
                      <a:r>
                        <a:rPr sz="1500" b="1"/>
                        <a:t>14〜15σ</a:t>
                      </a:r>
                    </a:p>
                  </a:txBody>
                  <a:tcPr/>
                </a:tc>
                <a:extLst>
                  <a:ext uri="{0D108BD9-81ED-4DB2-BD59-A6C34878D82A}">
                    <a16:rowId xmlns:a16="http://schemas.microsoft.com/office/drawing/2014/main" val="10003"/>
                  </a:ext>
                </a:extLst>
              </a:tr>
            </a:tbl>
          </a:graphicData>
        </a:graphic>
      </p:graphicFrame>
      <p:sp>
        <p:nvSpPr>
          <p:cNvPr id="5" name="TextBox 4"/>
          <p:cNvSpPr txBox="1"/>
          <p:nvPr/>
        </p:nvSpPr>
        <p:spPr>
          <a:xfrm>
            <a:off x="6583680" y="3429000"/>
            <a:ext cx="5212080" cy="1463040"/>
          </a:xfrm>
          <a:prstGeom prst="rect">
            <a:avLst/>
          </a:prstGeom>
          <a:noFill/>
        </p:spPr>
        <p:txBody>
          <a:bodyPr wrap="square">
            <a:spAutoFit/>
          </a:bodyPr>
          <a:lstStyle/>
          <a:p>
            <a:r>
              <a:rPr sz="1600" b="1"/>
              <a:t>→ Totani との差の一部は、露出の近似が原因だった</a:t>
            </a:r>
          </a:p>
          <a:p>
            <a:r>
              <a:rPr sz="1400"/>
              <a:t>山の位置・形・合うハローの形の順番は変わらない</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1.43 → 0.61（20.8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17.6σ → 4.6σ に落ちる</a:t>
            </a:r>
          </a:p>
          <a:p>
            <a:pPr lvl="1"/>
            <a:r>
              <a:rPr sz="2000"/>
              <a:t>ハローは、本当は ICS やバブルの間違いでは？</a:t>
            </a:r>
          </a:p>
          <a:p>
            <a:r>
              <a:rPr sz="2400"/>
              <a:t>② 何も無い空でも、最大 4.4σ が出る</a:t>
            </a:r>
          </a:p>
          <a:p>
            <a:pPr lvl="1"/>
            <a:r>
              <a:rPr sz="2000"/>
              <a:t>σ をそのまま信じてよいのか？</a:t>
            </a:r>
          </a:p>
          <a:p>
            <a:r>
              <a:rPr sz="2400"/>
              <a:t>→ 次から、1 つずつ調べた結果</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53% がバブル領域（面積は 35%）に集中</a:t>
            </a:r>
          </a:p>
          <a:p>
            <a:r>
              <a:rPr sz="2200"/>
              <a:t>手がかりの減り方だけで予測すると 5.8σ、実測 4.6σ</a:t>
            </a:r>
          </a:p>
          <a:p>
            <a:r>
              <a:rPr sz="2200"/>
              <a:t>同じ形の領域を横にずらして外すと 13.3〜15.0σ</a:t>
            </a:r>
          </a:p>
          <a:p>
            <a:r>
              <a:rPr sz="2200"/>
              <a:t>→ 17.6 → 4.6σ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2.1 倍明るければ、ハローの改善の 93% を ICS が説明</a:t>
            </a:r>
          </a:p>
          <a:p>
            <a:r>
              <a:rPr sz="2200"/>
              <a:t>ICS の計算の近似（等方近似）を直しても 1.1〜1.3 倍</a:t>
            </a:r>
          </a:p>
          <a:p>
            <a:pPr lvl="1"/>
            <a:r>
              <a:rPr sz="1800"/>
              <a:t>しかも外側のほうが大きくなる → 2.1 倍には届かない</a:t>
            </a:r>
          </a:p>
          <a:p>
            <a:r>
              <a:rPr sz="2200"/>
              <a:t>ICS を 3 種類に分けて、それぞれ自由に動かしても</a:t>
            </a:r>
          </a:p>
          <a:p>
            <a:pPr lvl="1"/>
            <a:r>
              <a:rPr sz="1800"/>
              <a:t>17.6σ → 16.5σ（約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か所で、矮小銀河と同じ解析をした（天の川の方法を半径 10° に縮めたもの）</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実際のばらつき：1.2〜1.3（使うエネルギーで少し変わる。次の 2 枚）</a:t>
            </a:r>
          </a:p>
          <a:p>
            <a:pPr lvl="1"/>
            <a:r>
              <a:rPr sz="1800"/>
              <a:t>σ は 1.2〜1.3 倍大きく出ている</a:t>
            </a:r>
          </a:p>
          <a:p>
            <a:r>
              <a:rPr sz="2200"/>
              <a:t>17.6σ を較正すると 17.6 ÷ (1.2〜1.3) ≈ 14〜15σ</a:t>
            </a:r>
          </a:p>
          <a:p>
            <a:r>
              <a:rPr sz="1600"/>
              <a:t>天の川の解析そのもので偽の空を作ると、ばらつきは 0.89〜1.06（理論どおり）</a:t>
            </a:r>
          </a:p>
          <a:p>
            <a:pPr lvl="1"/>
            <a:r>
              <a:rPr sz="1400"/>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6" name="Picture 5" descr="fig_null_variance_irf.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光子が十分ある範囲では、ばらつきは 1.0〜1.4（理論の 1 よりほぼ大きい）</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sz="1800" b="1"/>
              <a:t>使うのはビン 2〜10（2.6〜169 GeV）</a:t>
            </a:r>
          </a:p>
          <a:p>
            <a:r>
              <a:rPr sz="1500" b="0"/>
              <a:t>両端は「本当は ±1 揺れるはず」の比べ方が成り立たない</a:t>
            </a:r>
          </a:p>
          <a:p>
            <a:endParaRPr sz="1500" b="0"/>
          </a:p>
          <a:p>
            <a:r>
              <a:rPr sz="1600" b="1"/>
              <a:t>ビン 1（1.5 GeV）を外す理由</a:t>
            </a:r>
          </a:p>
          <a:p>
            <a:r>
              <a:rPr sz="1400" b="0"/>
              <a:t>望遠鏡のぼやけが一番大きい → 背景の型紙のずれがそのまま出て、揺れが 2.2 に跳ねる</a:t>
            </a:r>
          </a:p>
          <a:p>
            <a:endParaRPr sz="1400" b="0"/>
          </a:p>
          <a:p>
            <a:r>
              <a:rPr sz="1600" b="1"/>
              <a:t>ビン 11〜13（285 GeV 以上）を外す理由</a:t>
            </a:r>
          </a:p>
          <a:p>
            <a:r>
              <a:rPr sz="1400" b="0"/>
              <a:t>光子が数個〜数十個しかない → どこでも σ がほぼ 0 しか出ない</a:t>
            </a:r>
          </a:p>
          <a:p>
            <a:r>
              <a:rPr sz="1400" b="0"/>
              <a:t>「±1 揺れる」は光子が多いときだけ成り立つ（Wilks の定理の前提）</a:t>
            </a:r>
          </a:p>
          <a:p>
            <a:r>
              <a:rPr sz="1400" b="0"/>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sz="1500" b="1">
                          <a:solidFill>
                            <a:srgbClr val="FFFFFF"/>
                          </a:solidFill>
                        </a:rPr>
                        <a:t>使うビン</a:t>
                      </a:r>
                    </a:p>
                  </a:txBody>
                  <a:tcPr>
                    <a:solidFill>
                      <a:srgbClr val="404040"/>
                    </a:solidFill>
                  </a:tcPr>
                </a:tc>
                <a:tc>
                  <a:txBody>
                    <a:bodyPr/>
                    <a:lstStyle/>
                    <a:p>
                      <a:r>
                        <a:rPr sz="1500" b="1">
                          <a:solidFill>
                            <a:srgbClr val="FFFFFF"/>
                          </a:solidFill>
                        </a:rPr>
                        <a:t>揺れ</a:t>
                      </a:r>
                    </a:p>
                  </a:txBody>
                  <a:tcPr>
                    <a:solidFill>
                      <a:srgbClr val="404040"/>
                    </a:solidFill>
                  </a:tcPr>
                </a:tc>
                <a:tc>
                  <a:txBody>
                    <a:bodyPr/>
                    <a:lstStyle/>
                    <a:p>
                      <a:r>
                        <a:rPr sz="1500" b="1">
                          <a:solidFill>
                            <a:srgbClr val="FFFFFF"/>
                          </a:solidFill>
                        </a:rPr>
                        <a:t>17.6σ ÷ 揺れ</a:t>
                      </a:r>
                    </a:p>
                  </a:txBody>
                  <a:tcPr>
                    <a:solidFill>
                      <a:srgbClr val="404040"/>
                    </a:solidFill>
                  </a:tcPr>
                </a:tc>
                <a:extLst>
                  <a:ext uri="{0D108BD9-81ED-4DB2-BD59-A6C34878D82A}">
                    <a16:rowId xmlns:a16="http://schemas.microsoft.com/office/drawing/2014/main" val="10000"/>
                  </a:ext>
                </a:extLst>
              </a:tr>
              <a:tr h="365760">
                <a:tc>
                  <a:txBody>
                    <a:bodyPr/>
                    <a:lstStyle/>
                    <a:p>
                      <a:r>
                        <a:rPr sz="1500" b="1"/>
                        <a:t>2〜10（既定）</a:t>
                      </a:r>
                    </a:p>
                  </a:txBody>
                  <a:tcPr>
                    <a:solidFill>
                      <a:srgbClr val="DDEEDD"/>
                    </a:solidFill>
                  </a:tcPr>
                </a:tc>
                <a:tc>
                  <a:txBody>
                    <a:bodyPr/>
                    <a:lstStyle/>
                    <a:p>
                      <a:r>
                        <a:rPr sz="1500" b="1"/>
                        <a:t>1.19</a:t>
                      </a:r>
                    </a:p>
                  </a:txBody>
                  <a:tcPr>
                    <a:solidFill>
                      <a:srgbClr val="DDEEDD"/>
                    </a:solidFill>
                  </a:tcPr>
                </a:tc>
                <a:tc>
                  <a:txBody>
                    <a:bodyPr/>
                    <a:lstStyle/>
                    <a:p>
                      <a:r>
                        <a:rPr sz="1500" b="1"/>
                        <a:t>14.8σ</a:t>
                      </a:r>
                    </a:p>
                  </a:txBody>
                  <a:tcPr>
                    <a:solidFill>
                      <a:srgbClr val="DDEEDD"/>
                    </a:solidFill>
                  </a:tcPr>
                </a:tc>
                <a:extLst>
                  <a:ext uri="{0D108BD9-81ED-4DB2-BD59-A6C34878D82A}">
                    <a16:rowId xmlns:a16="http://schemas.microsoft.com/office/drawing/2014/main" val="10001"/>
                  </a:ext>
                </a:extLst>
              </a:tr>
              <a:tr h="365760">
                <a:tc>
                  <a:txBody>
                    <a:bodyPr/>
                    <a:lstStyle/>
                    <a:p>
                      <a:r>
                        <a:rPr sz="1500" b="1"/>
                        <a:t>20.8 GeV だけ</a:t>
                      </a:r>
                    </a:p>
                  </a:txBody>
                  <a:tcPr>
                    <a:solidFill>
                      <a:srgbClr val="DDEEDD"/>
                    </a:solidFill>
                  </a:tcPr>
                </a:tc>
                <a:tc>
                  <a:txBody>
                    <a:bodyPr/>
                    <a:lstStyle/>
                    <a:p>
                      <a:r>
                        <a:rPr sz="1500" b="1"/>
                        <a:t>1.26</a:t>
                      </a:r>
                    </a:p>
                  </a:txBody>
                  <a:tcPr>
                    <a:solidFill>
                      <a:srgbClr val="DDEEDD"/>
                    </a:solidFill>
                  </a:tcPr>
                </a:tc>
                <a:tc>
                  <a:txBody>
                    <a:bodyPr/>
                    <a:lstStyle/>
                    <a:p>
                      <a:r>
                        <a:rPr sz="1500" b="1"/>
                        <a:t>13.9σ</a:t>
                      </a:r>
                    </a:p>
                  </a:txBody>
                  <a:tcPr>
                    <a:solidFill>
                      <a:srgbClr val="DDEEDD"/>
                    </a:solidFill>
                  </a:tcPr>
                </a:tc>
                <a:extLst>
                  <a:ext uri="{0D108BD9-81ED-4DB2-BD59-A6C34878D82A}">
                    <a16:rowId xmlns:a16="http://schemas.microsoft.com/office/drawing/2014/main" val="10002"/>
                  </a:ext>
                </a:extLst>
              </a:tr>
              <a:tr h="365760">
                <a:tc>
                  <a:txBody>
                    <a:bodyPr/>
                    <a:lstStyle/>
                    <a:p>
                      <a:r>
                        <a:rPr sz="1500"/>
                        <a:t>1〜13 全部</a:t>
                      </a:r>
                    </a:p>
                  </a:txBody>
                  <a:tcPr>
                    <a:solidFill>
                      <a:srgbClr val="F4F4F4"/>
                    </a:solidFill>
                  </a:tcPr>
                </a:tc>
                <a:tc>
                  <a:txBody>
                    <a:bodyPr/>
                    <a:lstStyle/>
                    <a:p>
                      <a:r>
                        <a:rPr sz="1500"/>
                        <a:t>1.17</a:t>
                      </a:r>
                    </a:p>
                  </a:txBody>
                  <a:tcPr>
                    <a:solidFill>
                      <a:srgbClr val="F4F4F4"/>
                    </a:solidFill>
                  </a:tcPr>
                </a:tc>
                <a:tc>
                  <a:txBody>
                    <a:bodyPr/>
                    <a:lstStyle/>
                    <a:p>
                      <a:r>
                        <a:rPr sz="1500"/>
                        <a:t>15.0σ</a:t>
                      </a:r>
                    </a:p>
                  </a:txBody>
                  <a:tcPr>
                    <a:solidFill>
                      <a:srgbClr val="F4F4F4"/>
                    </a:solidFill>
                  </a:tcPr>
                </a:tc>
                <a:extLst>
                  <a:ext uri="{0D108BD9-81ED-4DB2-BD59-A6C34878D82A}">
                    <a16:rowId xmlns:a16="http://schemas.microsoft.com/office/drawing/2014/main" val="10003"/>
                  </a:ext>
                </a:extLst>
              </a:tr>
              <a:tr h="365760">
                <a:tc>
                  <a:txBody>
                    <a:bodyPr/>
                    <a:lstStyle/>
                    <a:p>
                      <a:r>
                        <a:rPr sz="1500"/>
                        <a:t>2〜13</a:t>
                      </a:r>
                    </a:p>
                  </a:txBody>
                  <a:tcPr>
                    <a:solidFill>
                      <a:srgbClr val="F4F4F4"/>
                    </a:solidFill>
                  </a:tcPr>
                </a:tc>
                <a:tc>
                  <a:txBody>
                    <a:bodyPr/>
                    <a:lstStyle/>
                    <a:p>
                      <a:r>
                        <a:rPr sz="1500"/>
                        <a:t>1.05</a:t>
                      </a:r>
                    </a:p>
                  </a:txBody>
                  <a:tcPr>
                    <a:solidFill>
                      <a:srgbClr val="F4F4F4"/>
                    </a:solidFill>
                  </a:tcPr>
                </a:tc>
                <a:tc>
                  <a:txBody>
                    <a:bodyPr/>
                    <a:lstStyle/>
                    <a:p>
                      <a:r>
                        <a:rPr sz="1500"/>
                        <a:t>16.7σ</a:t>
                      </a:r>
                    </a:p>
                  </a:txBody>
                  <a:tcPr>
                    <a:solidFill>
                      <a:srgbClr val="F4F4F4"/>
                    </a:solidFill>
                  </a:tcPr>
                </a:tc>
                <a:extLst>
                  <a:ext uri="{0D108BD9-81ED-4DB2-BD59-A6C34878D82A}">
                    <a16:rowId xmlns:a16="http://schemas.microsoft.com/office/drawing/2014/main" val="10004"/>
                  </a:ext>
                </a:extLst>
              </a:tr>
              <a:tr h="365760">
                <a:tc>
                  <a:txBody>
                    <a:bodyPr/>
                    <a:lstStyle/>
                    <a:p>
                      <a:r>
                        <a:rPr sz="1500"/>
                        <a:t>1〜10</a:t>
                      </a:r>
                    </a:p>
                  </a:txBody>
                  <a:tcPr>
                    <a:solidFill>
                      <a:srgbClr val="F4F4F4"/>
                    </a:solidFill>
                  </a:tcPr>
                </a:tc>
                <a:tc>
                  <a:txBody>
                    <a:bodyPr/>
                    <a:lstStyle/>
                    <a:p>
                      <a:r>
                        <a:rPr sz="1500"/>
                        <a:t>1.32</a:t>
                      </a:r>
                    </a:p>
                  </a:txBody>
                  <a:tcPr>
                    <a:solidFill>
                      <a:srgbClr val="F4F4F4"/>
                    </a:solidFill>
                  </a:tcPr>
                </a:tc>
                <a:tc>
                  <a:txBody>
                    <a:bodyPr/>
                    <a:lstStyle/>
                    <a:p>
                      <a:r>
                        <a:rPr sz="1500"/>
                        <a:t>13.3σ</a:t>
                      </a:r>
                    </a:p>
                  </a:txBody>
                  <a:tcPr>
                    <a:solidFill>
                      <a:srgbClr val="F4F4F4"/>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sz="1800" b="1"/>
              <a:t>→ 割る数は 1.2〜1.3、較正後は 14〜15σ</a:t>
            </a:r>
          </a:p>
          <a:p>
            <a:r>
              <a:rPr sz="1400" b="0"/>
              <a:t>緑の 2 行が両端。どれを選んでも 13〜17σ</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1.2〜1.3 倍の過大評価 → 較正すると 14〜15σ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1945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65760">
                <a:tc>
                  <a:txBody>
                    <a:bodyPr/>
                    <a:lstStyle/>
                    <a:p>
                      <a:r>
                        <a:rPr sz="1400" b="1">
                          <a:solidFill>
                            <a:srgbClr val="FFFFFF"/>
                          </a:solidFill>
                        </a:rPr>
                        <a:t>項目</a:t>
                      </a:r>
                    </a:p>
                  </a:txBody>
                  <a:tcPr>
                    <a:solidFill>
                      <a:srgbClr val="404040"/>
                    </a:solidFill>
                  </a:tcPr>
                </a:tc>
                <a:tc>
                  <a:txBody>
                    <a:bodyPr/>
                    <a:lstStyle/>
                    <a:p>
                      <a:r>
                        <a:rPr sz="1400" b="1">
                          <a:solidFill>
                            <a:srgbClr val="FFFFFF"/>
                          </a:solidFill>
                        </a:rPr>
                        <a:t>天の川（Totani と同じ）</a:t>
                      </a:r>
                    </a:p>
                  </a:txBody>
                  <a:tcPr>
                    <a:solidFill>
                      <a:srgbClr val="404040"/>
                    </a:solidFill>
                  </a:tcPr>
                </a:tc>
                <a:tc>
                  <a:txBody>
                    <a:bodyPr/>
                    <a:lstStyle/>
                    <a:p>
                      <a:r>
                        <a:rPr sz="1400" b="1">
                          <a:solidFill>
                            <a:srgbClr val="FFFFFF"/>
                          </a:solidFill>
                        </a:rPr>
                        <a:t>矮小銀河（本研究の拡張）</a:t>
                      </a:r>
                    </a:p>
                  </a:txBody>
                  <a:tcPr>
                    <a:solidFill>
                      <a:srgbClr val="404040"/>
                    </a:solidFill>
                  </a:tcPr>
                </a:tc>
                <a:tc>
                  <a:txBody>
                    <a:bodyPr/>
                    <a:lstStyle/>
                    <a:p>
                      <a:r>
                        <a:rPr sz="1400" b="1">
                          <a:solidFill>
                            <a:srgbClr val="FFFFFF"/>
                          </a:solidFill>
                        </a:rPr>
                        <a:t>変えた理由</a:t>
                      </a:r>
                    </a:p>
                  </a:txBody>
                  <a:tcPr>
                    <a:solidFill>
                      <a:srgbClr val="404040"/>
                    </a:solidFill>
                  </a:tcPr>
                </a:tc>
                <a:extLst>
                  <a:ext uri="{0D108BD9-81ED-4DB2-BD59-A6C34878D82A}">
                    <a16:rowId xmlns:a16="http://schemas.microsoft.com/office/drawing/2014/main" val="10000"/>
                  </a:ext>
                </a:extLst>
              </a:tr>
              <a:tr h="365760">
                <a:tc>
                  <a:txBody>
                    <a:bodyPr/>
                    <a:lstStyle/>
                    <a:p>
                      <a:r>
                        <a:rPr sz="1400"/>
                        <a:t>見る範囲</a:t>
                      </a:r>
                    </a:p>
                  </a:txBody>
                  <a:tcPr>
                    <a:solidFill>
                      <a:srgbClr val="F4F4F4"/>
                    </a:solidFill>
                  </a:tcPr>
                </a:tc>
                <a:tc>
                  <a:txBody>
                    <a:bodyPr/>
                    <a:lstStyle/>
                    <a:p>
                      <a:r>
                        <a:rPr sz="1400"/>
                        <a:t>銀河中心の周り ±60°</a:t>
                      </a:r>
                    </a:p>
                  </a:txBody>
                  <a:tcPr>
                    <a:solidFill>
                      <a:srgbClr val="F4F4F4"/>
                    </a:solidFill>
                  </a:tcPr>
                </a:tc>
                <a:tc>
                  <a:txBody>
                    <a:bodyPr/>
                    <a:lstStyle/>
                    <a:p>
                      <a:r>
                        <a:rPr sz="1400"/>
                        <a:t>各天体の周り 20° × 20°</a:t>
                      </a:r>
                    </a:p>
                  </a:txBody>
                  <a:tcPr>
                    <a:solidFill>
                      <a:srgbClr val="F4F4F4"/>
                    </a:solidFill>
                  </a:tcPr>
                </a:tc>
                <a:tc>
                  <a:txBody>
                    <a:bodyPr/>
                    <a:lstStyle/>
                    <a:p>
                      <a:r>
                        <a:rPr sz="1400"/>
                        <a:t>天体が小さい（0.2〜0.4°）</a:t>
                      </a:r>
                    </a:p>
                  </a:txBody>
                  <a:tcPr>
                    <a:solidFill>
                      <a:srgbClr val="F4F4F4"/>
                    </a:solidFill>
                  </a:tcPr>
                </a:tc>
                <a:extLst>
                  <a:ext uri="{0D108BD9-81ED-4DB2-BD59-A6C34878D82A}">
                    <a16:rowId xmlns:a16="http://schemas.microsoft.com/office/drawing/2014/main" val="10001"/>
                  </a:ext>
                </a:extLst>
              </a:tr>
              <a:tr h="365760">
                <a:tc>
                  <a:txBody>
                    <a:bodyPr/>
                    <a:lstStyle/>
                    <a:p>
                      <a:r>
                        <a:rPr sz="1400"/>
                        <a:t>等方・ガス・ICS・点源</a:t>
                      </a:r>
                    </a:p>
                  </a:txBody>
                  <a:tcPr>
                    <a:solidFill>
                      <a:srgbClr val="F4F4F4"/>
                    </a:solidFill>
                  </a:tcPr>
                </a:tc>
                <a:tc>
                  <a:txBody>
                    <a:bodyPr/>
                    <a:lstStyle/>
                    <a:p>
                      <a:r>
                        <a:rPr sz="1400"/>
                        <a:t>あり</a:t>
                      </a:r>
                    </a:p>
                  </a:txBody>
                  <a:tcPr>
                    <a:solidFill>
                      <a:srgbClr val="F4F4F4"/>
                    </a:solidFill>
                  </a:tcPr>
                </a:tc>
                <a:tc>
                  <a:txBody>
                    <a:bodyPr/>
                    <a:lstStyle/>
                    <a:p>
                      <a:r>
                        <a:rPr sz="1400"/>
                        <a:t>同じ型紙であり</a:t>
                      </a:r>
                    </a:p>
                  </a:txBody>
                  <a:tcPr>
                    <a:solidFill>
                      <a:srgbClr val="F4F4F4"/>
                    </a:solidFill>
                  </a:tcPr>
                </a:tc>
                <a:tc>
                  <a:txBody>
                    <a:bodyPr/>
                    <a:lstStyle/>
                    <a:p>
                      <a:r>
                        <a:rPr sz="1400"/>
                        <a:t>同じ空の別の場所を見るだけ</a:t>
                      </a:r>
                    </a:p>
                  </a:txBody>
                  <a:tcPr>
                    <a:solidFill>
                      <a:srgbClr val="F4F4F4"/>
                    </a:solidFill>
                  </a:tcPr>
                </a:tc>
                <a:extLst>
                  <a:ext uri="{0D108BD9-81ED-4DB2-BD59-A6C34878D82A}">
                    <a16:rowId xmlns:a16="http://schemas.microsoft.com/office/drawing/2014/main" val="10002"/>
                  </a:ext>
                </a:extLst>
              </a:tr>
              <a:tr h="365760">
                <a:tc>
                  <a:txBody>
                    <a:bodyPr/>
                    <a:lstStyle/>
                    <a:p>
                      <a:r>
                        <a:rPr sz="1400"/>
                        <a:t>バブル・Loop I</a:t>
                      </a:r>
                    </a:p>
                  </a:txBody>
                  <a:tcPr>
                    <a:solidFill>
                      <a:srgbClr val="F4F4F4"/>
                    </a:solidFill>
                  </a:tcPr>
                </a:tc>
                <a:tc>
                  <a:txBody>
                    <a:bodyPr/>
                    <a:lstStyle/>
                    <a:p>
                      <a:r>
                        <a:rPr sz="1400"/>
                        <a:t>あり</a:t>
                      </a:r>
                    </a:p>
                  </a:txBody>
                  <a:tcPr>
                    <a:solidFill>
                      <a:srgbClr val="F4F4F4"/>
                    </a:solidFill>
                  </a:tcPr>
                </a:tc>
                <a:tc>
                  <a:txBody>
                    <a:bodyPr/>
                    <a:lstStyle/>
                    <a:p>
                      <a:r>
                        <a:rPr sz="1400"/>
                        <a:t>入れない</a:t>
                      </a:r>
                    </a:p>
                  </a:txBody>
                  <a:tcPr>
                    <a:solidFill>
                      <a:srgbClr val="F4F4F4"/>
                    </a:solidFill>
                  </a:tcPr>
                </a:tc>
                <a:tc>
                  <a:txBody>
                    <a:bodyPr/>
                    <a:lstStyle/>
                    <a:p>
                      <a:r>
                        <a:rPr sz="1400"/>
                        <a:t>銀河中心の構造で、その範囲にはほぼ無い</a:t>
                      </a:r>
                    </a:p>
                  </a:txBody>
                  <a:tcPr>
                    <a:solidFill>
                      <a:srgbClr val="F4F4F4"/>
                    </a:solidFill>
                  </a:tcPr>
                </a:tc>
                <a:extLst>
                  <a:ext uri="{0D108BD9-81ED-4DB2-BD59-A6C34878D82A}">
                    <a16:rowId xmlns:a16="http://schemas.microsoft.com/office/drawing/2014/main" val="10003"/>
                  </a:ext>
                </a:extLst>
              </a:tr>
              <a:tr h="365760">
                <a:tc>
                  <a:txBody>
                    <a:bodyPr/>
                    <a:lstStyle/>
                    <a:p>
                      <a:r>
                        <a:rPr sz="1400"/>
                        <a:t>ハローの型紙</a:t>
                      </a:r>
                    </a:p>
                  </a:txBody>
                  <a:tcPr>
                    <a:solidFill>
                      <a:srgbClr val="F4F4F4"/>
                    </a:solidFill>
                  </a:tcPr>
                </a:tc>
                <a:tc>
                  <a:txBody>
                    <a:bodyPr/>
                    <a:lstStyle/>
                    <a:p>
                      <a:r>
                        <a:rPr sz="1400"/>
                        <a:t>天の川の NFW</a:t>
                      </a:r>
                    </a:p>
                  </a:txBody>
                  <a:tcPr>
                    <a:solidFill>
                      <a:srgbClr val="F4F4F4"/>
                    </a:solidFill>
                  </a:tcPr>
                </a:tc>
                <a:tc>
                  <a:txBody>
                    <a:bodyPr/>
                    <a:lstStyle/>
                    <a:p>
                      <a:r>
                        <a:rPr sz="1400"/>
                        <a:t>その天体の NFW（ぼやけで広げる）</a:t>
                      </a:r>
                    </a:p>
                  </a:txBody>
                  <a:tcPr>
                    <a:solidFill>
                      <a:srgbClr val="F4F4F4"/>
                    </a:solidFill>
                  </a:tcPr>
                </a:tc>
                <a:tc>
                  <a:txBody>
                    <a:bodyPr/>
                    <a:lstStyle/>
                    <a:p>
                      <a:r>
                        <a:rPr sz="1400"/>
                        <a:t>探すのはその天体の中心の光</a:t>
                      </a:r>
                    </a:p>
                  </a:txBody>
                  <a:tcPr>
                    <a:solidFill>
                      <a:srgbClr val="F4F4F4"/>
                    </a:solidFill>
                  </a:tcPr>
                </a:tc>
                <a:extLst>
                  <a:ext uri="{0D108BD9-81ED-4DB2-BD59-A6C34878D82A}">
                    <a16:rowId xmlns:a16="http://schemas.microsoft.com/office/drawing/2014/main" val="10004"/>
                  </a:ext>
                </a:extLst>
              </a:tr>
              <a:tr h="365760">
                <a:tc>
                  <a:txBody>
                    <a:bodyPr/>
                    <a:lstStyle/>
                    <a:p>
                      <a:r>
                        <a:rPr sz="1400"/>
                        <a:t>尤度のマス目</a:t>
                      </a:r>
                    </a:p>
                  </a:txBody>
                  <a:tcPr>
                    <a:solidFill>
                      <a:srgbClr val="F4F4F4"/>
                    </a:solidFill>
                  </a:tcPr>
                </a:tc>
                <a:tc>
                  <a:txBody>
                    <a:bodyPr/>
                    <a:lstStyle/>
                    <a:p>
                      <a:r>
                        <a:rPr sz="1400"/>
                        <a:t>10° × 10°</a:t>
                      </a:r>
                    </a:p>
                  </a:txBody>
                  <a:tcPr>
                    <a:solidFill>
                      <a:srgbClr val="F4F4F4"/>
                    </a:solidFill>
                  </a:tcPr>
                </a:tc>
                <a:tc>
                  <a:txBody>
                    <a:bodyPr/>
                    <a:lstStyle/>
                    <a:p>
                      <a:r>
                        <a:rPr sz="1400"/>
                        <a:t>1° のセル</a:t>
                      </a:r>
                    </a:p>
                  </a:txBody>
                  <a:tcPr>
                    <a:solidFill>
                      <a:srgbClr val="F4F4F4"/>
                    </a:solidFill>
                  </a:tcPr>
                </a:tc>
                <a:tc>
                  <a:txBody>
                    <a:bodyPr/>
                    <a:lstStyle/>
                    <a:p>
                      <a:r>
                        <a:rPr sz="1400"/>
                        <a:t>10° のマスでは小さな天体の形が消える（画素は 0.125°）</a:t>
                      </a:r>
                    </a:p>
                  </a:txBody>
                  <a:tcPr>
                    <a:solidFill>
                      <a:srgbClr val="F4F4F4"/>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sz="1700" b="1"/>
              <a:t>Totani は矮小銀河にこの方法を使っていない → ここは本研究で足した部分</a:t>
            </a:r>
          </a:p>
          <a:p>
            <a:r>
              <a:rPr sz="1500" b="0"/>
              <a:t>最良値の求め方（MCMC）・選ぶ光子（UltraClean）・露出の計算は天の川と同じ</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5" name="Picture 4" descr="fig_dwarf_results_irf.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+3.23σ（何も無い空でも 4.40σ）</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1.8</a:t>
            </a:r>
          </a:p>
          <a:p>
            <a:r>
              <a:rPr sz="2400"/>
              <a:t>実測 T = 0.42 → ずれ 1.4σ</a:t>
            </a:r>
          </a:p>
          <a:p>
            <a:r>
              <a:rPr sz="2400"/>
              <a:t>ただし、ここでは J に誤差は無いとしていた</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1.8</a:t>
            </a:r>
          </a:p>
          <a:p>
            <a:pPr lvl="1"/>
            <a:r>
              <a:rPr sz="2000"/>
              <a:t>誤差あり：E[T] = Σ w_i pred_i 10^δ_i / √Σ w_i²  ← δ でばらつく</a:t>
            </a:r>
          </a:p>
          <a:p>
            <a:r>
              <a:rPr sz="2400"/>
              <a:t>実測 T にも測定の揺れ s がある（s = 1、または空で測った 1.19）</a:t>
            </a:r>
          </a:p>
          <a:p>
            <a:r>
              <a:rPr sz="2400"/>
              <a:t>暗黒物質ありで、実測 0.42 以下になる確率</a:t>
            </a:r>
          </a:p>
          <a:p>
            <a:pPr lvl="1"/>
            <a:r>
              <a:rPr sz="2000"/>
              <a:t>p = （δ について平均）Φ( (0.42 − E[T]) / s )</a:t>
            </a:r>
          </a:p>
          <a:p>
            <a:r>
              <a:rPr sz="2400"/>
              <a:t>p を σ に直したもの =「ずれ」</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1.4〜5σ に広がる。実測 0.4σ ± 1.19。ずれ 1.4σ</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1.8、ずれ 1.4σ（s = 1.19 なら 1.2σ）</a:t>
            </a:r>
          </a:p>
          <a:p>
            <a:pPr lvl="1"/>
            <a:r>
              <a:rPr sz="2000"/>
              <a:t>J の誤差あり：期待 2.6（68% で 1.4–5）、ずれ 1.5σ（1.4σ）</a:t>
            </a:r>
          </a:p>
          <a:p>
            <a:r>
              <a:rPr sz="2400"/>
              <a:t>天の川側の局所密度を 0.3〜0.6 GeV/cm³ で動かしても</a:t>
            </a:r>
          </a:p>
          <a:p>
            <a:pPr lvl="1"/>
            <a:r>
              <a:rPr sz="2000"/>
              <a:t>ずれは較正後 0.7〜2.2σ</a:t>
            </a:r>
          </a:p>
          <a:p>
            <a:r>
              <a:rPr sz="2400"/>
              <a:t>→ 暗黒物質と矛盾はしないが、確認もできない（判定できない。ずれ 1.4σ）</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sz="2400"/>
              <a:t>14〜15σ：天の川のハロー超過の強さ</a:t>
            </a:r>
          </a:p>
          <a:p>
            <a:pPr lvl="1"/>
            <a:r>
              <a:rPr sz="2000"/>
              <a:t>17.6σ を、何も無い空でのばらつき 1.2〜1.3 で割ったもの</a:t>
            </a:r>
          </a:p>
          <a:p>
            <a:pPr lvl="1"/>
            <a:r>
              <a:rPr sz="2000"/>
              <a:t>「天の川に、背景では説明しにくい何かがある」</a:t>
            </a:r>
          </a:p>
          <a:p>
            <a:r>
              <a:rPr sz="2400"/>
              <a:t>1.4σ：矮小銀河での「予測と実測のずれ」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17.6σ、較正後 14〜15σ。Totani の同じ形は 14σ）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1.4σ → 判定できない</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1.2〜1.3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243</TotalTime>
  <Words>9427</Words>
  <Application>Microsoft Office PowerPoint</Application>
  <PresentationFormat>Widescreen</PresentationFormat>
  <Paragraphs>715</Paragraphs>
  <Slides>50</Slides>
  <Notes>50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50</vt:i4>
      </vt:variant>
    </vt:vector>
  </HeadingPairs>
  <TitlesOfParts>
    <vt:vector size="54" baseType="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背景の成分①〜⑥：何が、どうやってガンマ線を出すか</vt:lpstr>
      <vt:lpstr>成分⑦：ハロー（探しているもの）</vt:lpstr>
      <vt:lpstr>ここからやること：係数 9 個を決めるだけ</vt:lpstr>
      <vt:lpstr>尤度と MCMC の役割分担</vt:lpstr>
      <vt:lpstr>手法③：有意度 σ の出し方</vt:lpstr>
      <vt:lpstr>手法④：MCMC（最良値と誤差）</vt:lpstr>
      <vt:lpstr>MCMC をたとえで見る：霧の山を歩く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結果：Totani の超過を再現</vt:lpstr>
      <vt:lpstr>ハローの形 3 通り：一番合う形も Totani と同じ</vt:lpstr>
      <vt:lpstr>点検で直したこと①：露出マップを公式の方法で作り直した</vt:lpstr>
      <vt:lpstr>問題：ハローと ICS が見分けにくい（縮退）</vt:lpstr>
      <vt:lpstr>なぜ ICS とハローは形が似ているのか</vt:lpstr>
      <vt:lpstr>等方背景が小さく出る理由：なだらかな光の分け方が決まらない</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どのエネルギーで較正するか：割る数は 1.2〜1.3</vt:lpstr>
      <vt:lpstr>ここまでのまとめ</vt:lpstr>
      <vt:lpstr>矮小銀河で確かめる</vt:lpstr>
      <vt:lpstr>矮小銀河：天の川の方法から変えた点</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2026-10-05T03:38:11Z</dcterms:modified>
</cp:coreProperties>
</file>