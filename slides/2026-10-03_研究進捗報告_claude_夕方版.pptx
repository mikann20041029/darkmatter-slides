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57"/>
    <p:sldId id="316" r:id="rId58"/>
    <p:sldId id="264" r:id="rId20"/>
    <p:sldId id="310" r:id="rId21"/>
    <p:sldId id="311" r:id="rId22"/>
    <p:sldId id="265" r:id="rId23"/>
    <p:sldId id="266" r:id="rId24"/>
    <p:sldId id="267" r:id="rId25"/>
    <p:sldId id="268" r:id="rId26"/>
    <p:sldId id="269" r:id="rId27"/>
    <p:sldId id="313" r:id="rId55"/>
    <p:sldId id="271" r:id="rId28"/>
    <p:sldId id="272" r:id="rId29"/>
    <p:sldId id="314" r:id="rId56"/>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1.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44.xml"/><Relationship Id="rId42" Type="http://schemas.openxmlformats.org/officeDocument/2006/relationships/slide" Target="slides/slide45.xml"/><Relationship Id="rId43" Type="http://schemas.openxmlformats.org/officeDocument/2006/relationships/slide" Target="slides/slide46.xml"/><Relationship Id="rId44" Type="http://schemas.openxmlformats.org/officeDocument/2006/relationships/slide" Target="slides/slide47.xml"/><Relationship Id="rId45" Type="http://schemas.openxmlformats.org/officeDocument/2006/relationships/slide" Target="slides/slide48.xml"/><Relationship Id="rId46" Type="http://schemas.openxmlformats.org/officeDocument/2006/relationships/slide" Target="slides/slide49.xml"/><Relationship Id="rId47" Type="http://schemas.openxmlformats.org/officeDocument/2006/relationships/slide" Target="slides/slide50.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9.xml"/><Relationship Id="rId56" Type="http://schemas.openxmlformats.org/officeDocument/2006/relationships/slide" Target="slides/slide32.xml"/><Relationship Id="rId57" Type="http://schemas.openxmlformats.org/officeDocument/2006/relationships/slide" Target="slides/slide19.xml"/><Relationship Id="rId5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10:09.262" v="81"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picChg chg="add del mod">
          <ac:chgData name="202304239" userId="ab1adf7a-b8eb-4038-b404-de23e20d8a3a" providerId="ADAL" clId="{6C0E59ED-D716-49AF-B2FA-B94E7B8E5A8C}" dt="2026-10-03T06:10:09.262" v="81" actId="478"/>
          <ac:picMkLst>
            <pc:docMk/>
            <pc:sldMk cId="0" sldId="300"/>
            <ac:picMk id="5" creationId="{4206F3F6-6980-B027-0044-AE735E4075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9.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0.png"/><Relationship Id="rId4"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6"/>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4"/>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r>
              <a:rPr sz="600" b="0"/>
              <a:t/>
            </a:r>
          </a:p>
          <a:p>
            <a:r>
              <a:rPr sz="1600" b="1"/>
              <a:t>20.8 GeV の Δln L（本研究 / Totani）</a:t>
            </a:r>
          </a:p>
          <a:p>
            <a:r>
              <a:rPr sz="1400" b="0"/>
              <a:t>2 乗　 154 / 102</a:t>
            </a:r>
          </a:p>
          <a:p>
            <a:r>
              <a:rPr sz="1400" b="0"/>
              <a:t>2.5 乗 136 / 93</a:t>
            </a:r>
          </a:p>
          <a:p>
            <a:r>
              <a:rPr sz="1400" b="0"/>
              <a:t>1 乗　 111 / 73</a:t>
            </a:r>
          </a:p>
          <a:p>
            <a:r>
              <a:rPr sz="600" b="0"/>
              <a:t/>
            </a:r>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r>
              <a:rPr sz="600" b="0"/>
              <a:t/>
            </a:r>
          </a:p>
          <a:p>
            <a:r>
              <a:rPr sz="1600" b="1"/>
              <a:t>前：自作の近似（Totani と違う）</a:t>
            </a:r>
          </a:p>
          <a:p>
            <a:r>
              <a:rPr sz="1400" b="0"/>
              <a:t>角度による感度を大ざっぱな式で近似</a:t>
            </a:r>
          </a:p>
          <a:p>
            <a:r>
              <a:rPr sz="1400" b="0"/>
              <a:t>地球の近くを見た時間を除いていなかった</a:t>
            </a:r>
          </a:p>
          <a:p>
            <a:r>
              <a:rPr sz="600" b="0"/>
              <a:t/>
            </a:r>
          </a:p>
          <a:p>
            <a:r>
              <a:rPr sz="1600" b="1"/>
              <a:t>今：公式の較正表 + 観測時間（gtltcube と同じ考え方）</a:t>
            </a:r>
          </a:p>
          <a:p>
            <a:r>
              <a:rPr sz="1400" b="0"/>
              <a:t>Fermi 公式の有効面積（UltraClean）</a:t>
            </a:r>
          </a:p>
          <a:p>
            <a:r>
              <a:rPr sz="1400" b="0"/>
              <a:t>天頂角 100° 以上の時間を除く（光子と同じ条件）</a:t>
            </a:r>
          </a:p>
          <a:p>
            <a:r>
              <a:rPr sz="600" b="0"/>
              <a:t/>
            </a:r>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gridCol w="1737360"/>
                <a:gridCol w="1737360"/>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tr>
              <a:tr h="411480">
                <a:tc>
                  <a:txBody>
                    <a:bodyPr/>
                    <a:lstStyle/>
                    <a:p>
                      <a:r>
                        <a:rPr sz="1500" b="0"/>
                        <a:t>強さ</a:t>
                      </a:r>
                    </a:p>
                  </a:txBody>
                  <a:tcPr/>
                </a:tc>
                <a:tc>
                  <a:txBody>
                    <a:bodyPr/>
                    <a:lstStyle/>
                    <a:p>
                      <a:r>
                        <a:rPr sz="1500" b="0"/>
                        <a:t>19.0σ</a:t>
                      </a:r>
                    </a:p>
                  </a:txBody>
                  <a:tcPr/>
                </a:tc>
                <a:tc>
                  <a:txBody>
                    <a:bodyPr/>
                    <a:lstStyle/>
                    <a:p>
                      <a:r>
                        <a:rPr sz="1500" b="1"/>
                        <a:t>17.6σ</a:t>
                      </a:r>
                    </a:p>
                  </a:txBody>
                  <a:tcPr/>
                </a:tc>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tr>
              <a:tr h="411480">
                <a:tc>
                  <a:txBody>
                    <a:bodyPr/>
                    <a:lstStyle/>
                    <a:p>
                      <a:r>
                        <a:rPr sz="1500" b="0"/>
                        <a:t>較正後</a:t>
                      </a:r>
                    </a:p>
                  </a:txBody>
                  <a:tcPr/>
                </a:tc>
                <a:tc>
                  <a:txBody>
                    <a:bodyPr/>
                    <a:lstStyle/>
                    <a:p>
                      <a:r>
                        <a:rPr sz="1500" b="0"/>
                        <a:t>15〜16σ</a:t>
                      </a:r>
                    </a:p>
                  </a:txBody>
                  <a:tcPr/>
                </a:tc>
                <a:tc>
                  <a:txBody>
                    <a:bodyPr/>
                    <a:lstStyle/>
                    <a:p>
                      <a:r>
                        <a:rPr sz="1500" b="1"/>
                        <a:t>14〜15σ</a:t>
                      </a:r>
                    </a:p>
                  </a:txBody>
                  <a:tcPr/>
                </a:tc>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5.9σ、実測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5" name="Picture 4" descr="fig_null_variance_local.png"/>
          <p:cNvPicPr>
            <a:picLocks noChangeAspect="1"/>
          </p:cNvPicPr>
          <p:nvPr/>
        </p:nvPicPr>
        <p:blipFill>
          <a:blip r:embed="rId4"/>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r>
              <a:rPr sz="800" b="0"/>
              <a:t/>
            </a:r>
          </a:p>
          <a:p>
            <a:r>
              <a:rPr sz="1600" b="1"/>
              <a:t>ビン 1（1.5 GeV）を外す理由</a:t>
            </a:r>
          </a:p>
          <a:p>
            <a:r>
              <a:rPr sz="1400" b="0"/>
              <a:t>望遠鏡のぼやけが一番大きい → 背景の型紙のずれがそのまま出て、揺れが 2.2 に跳ねる</a:t>
            </a:r>
          </a:p>
          <a:p>
            <a:r>
              <a:rPr sz="800" b="0"/>
              <a:t/>
            </a:r>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gridCol w="1371600"/>
                <a:gridCol w="1828800"/>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gridCol w="2651760"/>
                <a:gridCol w="3108960"/>
                <a:gridCol w="3291840"/>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4"/>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2026-10-03T06:10:17Z</dcterms:modified>
</cp:coreProperties>
</file>