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3"/>
  </p:notesMasterIdLst>
  <p:sldIdLst>
    <p:sldId id="256" r:id="rId2"/>
    <p:sldId id="257" r:id="rId3"/>
    <p:sldId id="258" r:id="rId4"/>
    <p:sldId id="259" r:id="rId5"/>
    <p:sldId id="312" r:id="rId6"/>
    <p:sldId id="307" r:id="rId7"/>
    <p:sldId id="308" r:id="rId8"/>
    <p:sldId id="294" r:id="rId9"/>
    <p:sldId id="261" r:id="rId10"/>
    <p:sldId id="262" r:id="rId11"/>
    <p:sldId id="295" r:id="rId12"/>
    <p:sldId id="296" r:id="rId13"/>
    <p:sldId id="297" r:id="rId14"/>
    <p:sldId id="298" r:id="rId15"/>
    <p:sldId id="309" r:id="rId16"/>
    <p:sldId id="299" r:id="rId17"/>
    <p:sldId id="300" r:id="rId18"/>
    <p:sldId id="317" r:id="rId19"/>
    <p:sldId id="263" r:id="rId20"/>
    <p:sldId id="315" r:id="rId21"/>
    <p:sldId id="316" r:id="rId22"/>
    <p:sldId id="264" r:id="rId23"/>
    <p:sldId id="310" r:id="rId24"/>
    <p:sldId id="311" r:id="rId25"/>
    <p:sldId id="265" r:id="rId26"/>
    <p:sldId id="266" r:id="rId27"/>
    <p:sldId id="267" r:id="rId28"/>
    <p:sldId id="268" r:id="rId29"/>
    <p:sldId id="269" r:id="rId30"/>
    <p:sldId id="313" r:id="rId31"/>
    <p:sldId id="271" r:id="rId32"/>
    <p:sldId id="272" r:id="rId33"/>
    <p:sldId id="314" r:id="rId34"/>
    <p:sldId id="273" r:id="rId35"/>
    <p:sldId id="274" r:id="rId36"/>
    <p:sldId id="275" r:id="rId37"/>
    <p:sldId id="276" r:id="rId38"/>
    <p:sldId id="277" r:id="rId39"/>
    <p:sldId id="278" r:id="rId40"/>
    <p:sldId id="279" r:id="rId41"/>
    <p:sldId id="280" r:id="rId42"/>
    <p:sldId id="281" r:id="rId43"/>
    <p:sldId id="282" r:id="rId44"/>
    <p:sldId id="283" r:id="rId45"/>
    <p:sldId id="284" r:id="rId46"/>
    <p:sldId id="285" r:id="rId47"/>
    <p:sldId id="286" r:id="rId48"/>
    <p:sldId id="287" r:id="rId49"/>
    <p:sldId id="288" r:id="rId50"/>
    <p:sldId id="289" r:id="rId51"/>
    <p:sldId id="290"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287" autoAdjust="0"/>
    <p:restoredTop sz="65628" autoAdjust="0"/>
  </p:normalViewPr>
  <p:slideViewPr>
    <p:cSldViewPr snapToGrid="0" showGuides="1">
      <p:cViewPr varScale="1">
        <p:scale>
          <a:sx n="56" d="100"/>
          <a:sy n="56" d="100"/>
        </p:scale>
        <p:origin x="58" y="240"/>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microsoft.com/office/2016/11/relationships/changesInfo" Target="changesInfos/changesInfo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custSel addSld delSld modSld">
      <pc:chgData name="202304239" userId="ab1adf7a-b8eb-4038-b404-de23e20d8a3a" providerId="ADAL" clId="{6C0E59ED-D716-49AF-B2FA-B94E7B8E5A8C}" dt="2026-10-05T03:58:25.976" v="186" actId="680"/>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modSp mod">
        <pc:chgData name="202304239" userId="ab1adf7a-b8eb-4038-b404-de23e20d8a3a" providerId="ADAL" clId="{6C0E59ED-D716-49AF-B2FA-B94E7B8E5A8C}" dt="2026-10-05T03:49:46.800" v="146" actId="20577"/>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
        <pc:chgData name="202304239" userId="ab1adf7a-b8eb-4038-b404-de23e20d8a3a" providerId="ADAL" clId="{6C0E59ED-D716-49AF-B2FA-B94E7B8E5A8C}" dt="2026-10-03T06:08:02.273" v="75" actId="22"/>
        <pc:sldMkLst>
          <pc:docMk/>
          <pc:sldMk cId="0" sldId="297"/>
        </pc:sldMkLst>
        <pc:picChg chg="add">
          <ac:chgData name="202304239" userId="ab1adf7a-b8eb-4038-b404-de23e20d8a3a" providerId="ADAL" clId="{6C0E59ED-D716-49AF-B2FA-B94E7B8E5A8C}" dt="2026-10-03T06:08:02.273" v="75" actId="22"/>
          <ac:picMkLst>
            <pc:docMk/>
            <pc:sldMk cId="0" sldId="297"/>
            <ac:picMk id="5" creationId="{A90FDE7D-1E04-5388-2EF9-2BF6180BCFE4}"/>
          </ac:picMkLst>
        </pc:picChg>
      </pc:sldChg>
      <pc:sldChg chg="addSp modSp mod">
        <pc:chgData name="202304239" userId="ab1adf7a-b8eb-4038-b404-de23e20d8a3a" providerId="ADAL" clId="{6C0E59ED-D716-49AF-B2FA-B94E7B8E5A8C}" dt="2026-10-03T06:10:08.014" v="80" actId="27614"/>
        <pc:sldMkLst>
          <pc:docMk/>
          <pc:sldMk cId="0" sldId="299"/>
        </pc:sldMkLst>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new">
        <pc:chgData name="202304239" userId="ab1adf7a-b8eb-4038-b404-de23e20d8a3a" providerId="ADAL" clId="{6C0E59ED-D716-49AF-B2FA-B94E7B8E5A8C}" dt="2026-10-05T03:58:25.976" v="186" actId="680"/>
        <pc:sldMkLst>
          <pc:docMk/>
          <pc:sldMk cId="714849090" sldId="317"/>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コード: code/compute_exposure_map_irf.py。FT2 (30 秒ごとの衛星の向き・天頂の向き・観測時間) 779 週分から、画素ごと・入射角 cosθ ごとの観測時間 (livetime cube、公式ツール gtltcube と同じもの) を足し、公式の有効面積の表 (CALDB aeff_P8R3_ULTRACLEAN_V2_FB、FRONT+BACK) を掛けた。品質フラグ DATA_QUAL&gt;0 かつ LAT_CONFIG==1 の時間だけ使い、その画素の天頂角が 100° 以上の時間は除いた (光子の選び方と同じ)。残る近似: 有効面積の方位角依存と、時間あたりの効率補正は入れていない (どちらも数 % 以下)。</a:t>
            </a:r>
          </a:p>
          <a:p>
            <a:r>
              <a:t>Totani (2025) §2.1 は露出を公式ツールで 0.125° で作っている。今回の作り直しで Totani の方法に近づいた。</a:t>
            </a:r>
          </a:p>
          <a:p>
            <a:r>
              <a:t>結果: results/mcmc_allbins_gasICS_v20t_irf。Bin5 18.3σ、Bin6 17.6σ。</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marL="457200" lvl="1" indent="0">
              <a:buNone/>
            </a:pPr>
            <a:r>
              <a:rPr sz="2000"/>
              <a:t>Loop I、フェルミバブル、ハロー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73258" y="1371599"/>
            <a:ext cx="11045483" cy="5121275"/>
          </a:xfrm>
        </p:spPr>
        <p:txBody>
          <a:bodyPr>
            <a:normAutofit lnSpcReduction="10000"/>
          </a:bodyPr>
          <a:lstStyle/>
          <a:p>
            <a:r>
              <a:rPr sz="2600"/>
              <a:t>予測 ＝ f₁ × 型₁ ＋ f₂ × 型₂ ＋ … ＋ f₉ × 型₉</a:t>
            </a:r>
          </a:p>
          <a:p>
            <a:pPr marL="457200" lvl="1" indent="0">
              <a:buNone/>
            </a:pPr>
            <a:r>
              <a:rPr sz="2200"/>
              <a:t>型は固定。動かすのは係数</a:t>
            </a:r>
            <a:endParaRPr lang="en-US" sz="2200"/>
          </a:p>
          <a:p>
            <a:pPr lvl="1"/>
            <a:endParaRPr sz="2200"/>
          </a:p>
          <a:p>
            <a:r>
              <a:rPr sz="2600"/>
              <a:t>尤度：その係数 9 個が「どれだけ良いか」の点数</a:t>
            </a:r>
            <a:r>
              <a:rPr lang="ja-JP" altLang="en-US" sz="2600" b="1"/>
              <a:t>みたいなもの</a:t>
            </a:r>
            <a:endParaRPr lang="en-US" sz="2600" b="1"/>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pPr marL="0" indent="0">
              <a:buNone/>
            </a:pPr>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a:t>
            </a:r>
            <a:r>
              <a:rPr lang="ja-JP" altLang="en-US" sz="2000"/>
              <a:t>も</a:t>
            </a:r>
            <a:r>
              <a:rPr sz="2000"/>
              <a:t>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a:t>
            </a:r>
            <a:r>
              <a:rPr lang="ja-JP" altLang="en-US" sz="3000"/>
              <a:t>をわかりやすいたとえで説明→</a:t>
            </a:r>
            <a:r>
              <a:rPr sz="3000"/>
              <a:t>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3988887" y="2724089"/>
            <a:ext cx="4214225" cy="140982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148490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17.6σ（Totani の同じ形 ρ² は約 14σ）。山の位置も一致。何も無い空で較正すると 14〜15σ（緑）</a:t>
            </a:r>
          </a:p>
          <a:p>
            <a:r>
              <a:rPr sz="2000"/>
              <a:t>緑の幅 = 割る数 1.19〜1.26 の違い（較正に使うエネルギーの選び方。27 枚目）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ハローの形 3 通り：一番合う形も Totani と同じ</a:t>
            </a:r>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endParaRPr sz="1300" b="0"/>
          </a:p>
          <a:p>
            <a:r>
              <a:rPr sz="1600" b="1"/>
              <a:t>20.8 GeV の Δln L（本研究 / Totani）</a:t>
            </a:r>
          </a:p>
          <a:p>
            <a:r>
              <a:rPr sz="1400" b="0"/>
              <a:t>2 乗　 154 / 102</a:t>
            </a:r>
          </a:p>
          <a:p>
            <a:r>
              <a:rPr sz="1400" b="0"/>
              <a:t>2.5 乗 136 / 93</a:t>
            </a:r>
          </a:p>
          <a:p>
            <a:r>
              <a:rPr sz="1400" b="0"/>
              <a:t>1 乗　 111 / 73</a:t>
            </a:r>
          </a:p>
          <a:p>
            <a:endParaRPr sz="1400" b="0"/>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点検で直したこと①：露出マップを公式の方法で作り直した</a:t>
            </a:r>
          </a:p>
        </p:txBody>
      </p:sp>
      <p:sp>
        <p:nvSpPr>
          <p:cNvPr id="3" name="TextBox 2"/>
          <p:cNvSpPr txBox="1"/>
          <p:nvPr/>
        </p:nvSpPr>
        <p:spPr>
          <a:xfrm>
            <a:off x="548640" y="1325880"/>
            <a:ext cx="5852160" cy="4480560"/>
          </a:xfrm>
          <a:prstGeom prst="rect">
            <a:avLst/>
          </a:prstGeom>
          <a:noFill/>
        </p:spPr>
        <p:txBody>
          <a:bodyPr wrap="square">
            <a:spAutoFit/>
          </a:bodyPr>
          <a:lstStyle/>
          <a:p>
            <a:r>
              <a:rPr sz="1700" b="1"/>
              <a:t>露出 = 望遠鏡が各方向をどれだけ見たか</a:t>
            </a:r>
          </a:p>
          <a:p>
            <a:r>
              <a:rPr sz="1400" b="0"/>
              <a:t>全成分の「光子の数の予測」に掛かる</a:t>
            </a:r>
          </a:p>
          <a:p>
            <a:endParaRPr sz="1400" b="0"/>
          </a:p>
          <a:p>
            <a:r>
              <a:rPr sz="1600" b="1"/>
              <a:t>前：自作の近似（Totani と違う）</a:t>
            </a:r>
          </a:p>
          <a:p>
            <a:r>
              <a:rPr sz="1400" b="0"/>
              <a:t>角度による感度を大ざっぱな式で近似</a:t>
            </a:r>
          </a:p>
          <a:p>
            <a:r>
              <a:rPr sz="1400" b="0"/>
              <a:t>地球の近くを見た時間を除いていなかった</a:t>
            </a:r>
          </a:p>
          <a:p>
            <a:endParaRPr sz="1400" b="0"/>
          </a:p>
          <a:p>
            <a:r>
              <a:rPr sz="1600" b="1"/>
              <a:t>今：公式の較正表 + 観測時間（gtltcube と同じ考え方）</a:t>
            </a:r>
          </a:p>
          <a:p>
            <a:r>
              <a:rPr sz="1400" b="0"/>
              <a:t>Fermi 公式の有効面積（UltraClean）</a:t>
            </a:r>
          </a:p>
          <a:p>
            <a:r>
              <a:rPr sz="1400" b="0"/>
              <a:t>天頂角 100° 以上の時間を除く（光子と同じ条件）</a:t>
            </a:r>
          </a:p>
          <a:p>
            <a:endParaRPr sz="1400" b="0"/>
          </a:p>
          <a:p>
            <a:r>
              <a:rPr sz="1500" b="1"/>
              <a:t>場所によって形が 0.79〜1.05 倍ずれていた</a:t>
            </a:r>
          </a:p>
        </p:txBody>
      </p:sp>
      <p:graphicFrame>
        <p:nvGraphicFramePr>
          <p:cNvPr id="4" name="Table 3"/>
          <p:cNvGraphicFramePr>
            <a:graphicFrameLocks noGrp="1"/>
          </p:cNvGraphicFramePr>
          <p:nvPr/>
        </p:nvGraphicFramePr>
        <p:xfrm>
          <a:off x="6583680" y="1463040"/>
          <a:ext cx="5212080" cy="164592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411480">
                <a:tc>
                  <a:txBody>
                    <a:bodyPr/>
                    <a:lstStyle/>
                    <a:p>
                      <a:r>
                        <a:rPr sz="1500" b="1"/>
                        <a:t>20.8 GeV（ρ²）</a:t>
                      </a:r>
                    </a:p>
                  </a:txBody>
                  <a:tcPr/>
                </a:tc>
                <a:tc>
                  <a:txBody>
                    <a:bodyPr/>
                    <a:lstStyle/>
                    <a:p>
                      <a:r>
                        <a:rPr sz="1500" b="1"/>
                        <a:t>前</a:t>
                      </a:r>
                    </a:p>
                  </a:txBody>
                  <a:tcPr/>
                </a:tc>
                <a:tc>
                  <a:txBody>
                    <a:bodyPr/>
                    <a:lstStyle/>
                    <a:p>
                      <a:r>
                        <a:rPr sz="1500" b="1"/>
                        <a:t>今</a:t>
                      </a:r>
                    </a:p>
                  </a:txBody>
                  <a:tcPr/>
                </a:tc>
                <a:extLst>
                  <a:ext uri="{0D108BD9-81ED-4DB2-BD59-A6C34878D82A}">
                    <a16:rowId xmlns:a16="http://schemas.microsoft.com/office/drawing/2014/main" val="10000"/>
                  </a:ext>
                </a:extLst>
              </a:tr>
              <a:tr h="411480">
                <a:tc>
                  <a:txBody>
                    <a:bodyPr/>
                    <a:lstStyle/>
                    <a:p>
                      <a:r>
                        <a:rPr sz="1500" b="0"/>
                        <a:t>強さ</a:t>
                      </a:r>
                    </a:p>
                  </a:txBody>
                  <a:tcPr/>
                </a:tc>
                <a:tc>
                  <a:txBody>
                    <a:bodyPr/>
                    <a:lstStyle/>
                    <a:p>
                      <a:r>
                        <a:rPr sz="1500" b="0"/>
                        <a:t>19.0σ</a:t>
                      </a:r>
                    </a:p>
                  </a:txBody>
                  <a:tcPr/>
                </a:tc>
                <a:tc>
                  <a:txBody>
                    <a:bodyPr/>
                    <a:lstStyle/>
                    <a:p>
                      <a:r>
                        <a:rPr sz="1500" b="1"/>
                        <a:t>17.6σ</a:t>
                      </a:r>
                    </a:p>
                  </a:txBody>
                  <a:tcPr/>
                </a:tc>
                <a:extLst>
                  <a:ext uri="{0D108BD9-81ED-4DB2-BD59-A6C34878D82A}">
                    <a16:rowId xmlns:a16="http://schemas.microsoft.com/office/drawing/2014/main" val="10001"/>
                  </a:ext>
                </a:extLst>
              </a:tr>
              <a:tr h="411480">
                <a:tc>
                  <a:txBody>
                    <a:bodyPr/>
                    <a:lstStyle/>
                    <a:p>
                      <a:r>
                        <a:rPr sz="1500" b="0"/>
                        <a:t>Totani（14.3σ）との比</a:t>
                      </a:r>
                    </a:p>
                  </a:txBody>
                  <a:tcPr/>
                </a:tc>
                <a:tc>
                  <a:txBody>
                    <a:bodyPr/>
                    <a:lstStyle/>
                    <a:p>
                      <a:r>
                        <a:rPr sz="1500" b="0"/>
                        <a:t>1.33 倍</a:t>
                      </a:r>
                    </a:p>
                  </a:txBody>
                  <a:tcPr/>
                </a:tc>
                <a:tc>
                  <a:txBody>
                    <a:bodyPr/>
                    <a:lstStyle/>
                    <a:p>
                      <a:r>
                        <a:rPr sz="1500" b="1"/>
                        <a:t>1.23 倍</a:t>
                      </a:r>
                    </a:p>
                  </a:txBody>
                  <a:tcPr/>
                </a:tc>
                <a:extLst>
                  <a:ext uri="{0D108BD9-81ED-4DB2-BD59-A6C34878D82A}">
                    <a16:rowId xmlns:a16="http://schemas.microsoft.com/office/drawing/2014/main" val="10002"/>
                  </a:ext>
                </a:extLst>
              </a:tr>
              <a:tr h="411480">
                <a:tc>
                  <a:txBody>
                    <a:bodyPr/>
                    <a:lstStyle/>
                    <a:p>
                      <a:r>
                        <a:rPr sz="1500" b="0"/>
                        <a:t>較正後</a:t>
                      </a:r>
                    </a:p>
                  </a:txBody>
                  <a:tcPr/>
                </a:tc>
                <a:tc>
                  <a:txBody>
                    <a:bodyPr/>
                    <a:lstStyle/>
                    <a:p>
                      <a:r>
                        <a:rPr sz="1500" b="0"/>
                        <a:t>15〜16σ</a:t>
                      </a:r>
                    </a:p>
                  </a:txBody>
                  <a:tcPr/>
                </a:tc>
                <a:tc>
                  <a:txBody>
                    <a:bodyPr/>
                    <a:lstStyle/>
                    <a:p>
                      <a:r>
                        <a:rPr sz="1500" b="1"/>
                        <a:t>14〜15σ</a:t>
                      </a:r>
                    </a:p>
                  </a:txBody>
                  <a:tcPr/>
                </a:tc>
                <a:extLst>
                  <a:ext uri="{0D108BD9-81ED-4DB2-BD59-A6C34878D82A}">
                    <a16:rowId xmlns:a16="http://schemas.microsoft.com/office/drawing/2014/main" val="10003"/>
                  </a:ext>
                </a:extLst>
              </a:tr>
            </a:tbl>
          </a:graphicData>
        </a:graphic>
      </p:graphicFrame>
      <p:sp>
        <p:nvSpPr>
          <p:cNvPr id="5" name="TextBox 4"/>
          <p:cNvSpPr txBox="1"/>
          <p:nvPr/>
        </p:nvSpPr>
        <p:spPr>
          <a:xfrm>
            <a:off x="6583680" y="3429000"/>
            <a:ext cx="5212080" cy="1463040"/>
          </a:xfrm>
          <a:prstGeom prst="rect">
            <a:avLst/>
          </a:prstGeom>
          <a:noFill/>
        </p:spPr>
        <p:txBody>
          <a:bodyPr wrap="square">
            <a:spAutoFit/>
          </a:bodyPr>
          <a:lstStyle/>
          <a:p>
            <a:r>
              <a:rPr sz="1600" b="1"/>
              <a:t>→ Totani との差の一部は、露出の近似が原因だった</a:t>
            </a:r>
          </a:p>
          <a:p>
            <a:r>
              <a:rPr sz="1400"/>
              <a:t>山の位置・形・合うハローの形の順番は変わらない</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1.43 → 0.61（20.8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17.6σ → 4.6σ に落ちる</a:t>
            </a:r>
          </a:p>
          <a:p>
            <a:pPr lvl="1"/>
            <a:r>
              <a:rPr sz="2000"/>
              <a:t>ハローは、本当は ICS やバブルの間違いでは？</a:t>
            </a:r>
          </a:p>
          <a:p>
            <a:r>
              <a:rPr sz="2400"/>
              <a:t>② 何も無い空でも、最大 4.4σ が出る</a:t>
            </a:r>
          </a:p>
          <a:p>
            <a:pPr lvl="1"/>
            <a:r>
              <a:rPr sz="2000"/>
              <a:t>σ をそのまま信じてよいのか？</a:t>
            </a:r>
          </a:p>
          <a:p>
            <a:r>
              <a:rPr sz="2400"/>
              <a:t>→ 次から、1 つずつ調べた結果</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53% がバブル領域（面積は 35%）に集中</a:t>
            </a:r>
          </a:p>
          <a:p>
            <a:r>
              <a:rPr sz="2200"/>
              <a:t>手がかりの減り方だけで予測すると 5.8σ、実測 4.6σ</a:t>
            </a:r>
          </a:p>
          <a:p>
            <a:r>
              <a:rPr sz="2200"/>
              <a:t>同じ形の領域を横にずらして外すと 13.3〜15.0σ</a:t>
            </a:r>
          </a:p>
          <a:p>
            <a:r>
              <a:rPr sz="2200"/>
              <a:t>→ 17.6 → 4.6σ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2.1 倍明るければ、ハローの改善の 93% を ICS が説明</a:t>
            </a:r>
          </a:p>
          <a:p>
            <a:r>
              <a:rPr sz="2200"/>
              <a:t>ICS の計算の近似（等方近似）を直しても 1.1〜1.3 倍</a:t>
            </a:r>
          </a:p>
          <a:p>
            <a:pPr lvl="1"/>
            <a:r>
              <a:rPr sz="1800"/>
              <a:t>しかも外側のほうが大きくなる → 2.1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endParaRPr sz="1500" b="0"/>
          </a:p>
          <a:p>
            <a:r>
              <a:rPr sz="1600" b="1"/>
              <a:t>ビン 1（1.5 GeV）を外す理由</a:t>
            </a:r>
          </a:p>
          <a:p>
            <a:r>
              <a:rPr sz="1400" b="0"/>
              <a:t>望遠鏡のぼやけが一番大きい → 背景の型紙のずれがそのまま出て、揺れが 2.2 に跳ねる</a:t>
            </a:r>
          </a:p>
          <a:p>
            <a:endParaRPr sz="1400" b="0"/>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extLst>
                  <a:ext uri="{0D108BD9-81ED-4DB2-BD59-A6C34878D82A}">
                    <a16:rowId xmlns:a16="http://schemas.microsoft.com/office/drawing/2014/main" val="10001"/>
                  </a:ext>
                </a:extLst>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extLst>
                  <a:ext uri="{0D108BD9-81ED-4DB2-BD59-A6C34878D82A}">
                    <a16:rowId xmlns:a16="http://schemas.microsoft.com/office/drawing/2014/main" val="10002"/>
                  </a:ext>
                </a:extLst>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extLst>
                  <a:ext uri="{0D108BD9-81ED-4DB2-BD59-A6C34878D82A}">
                    <a16:rowId xmlns:a16="http://schemas.microsoft.com/office/drawing/2014/main" val="10003"/>
                  </a:ext>
                </a:extLst>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extLst>
                  <a:ext uri="{0D108BD9-81ED-4DB2-BD59-A6C34878D82A}">
                    <a16:rowId xmlns:a16="http://schemas.microsoft.com/office/drawing/2014/main" val="10004"/>
                  </a:ext>
                </a:extLst>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1945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+3.23σ（何も無い空でも 4.40σ）</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263</TotalTime>
  <Words>9466</Words>
  <Application>Microsoft Office PowerPoint</Application>
  <PresentationFormat>Widescreen</PresentationFormat>
  <Paragraphs>718</Paragraphs>
  <Slides>51</Slides>
  <Notes>50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51</vt:i4>
      </vt:variant>
    </vt:vector>
  </HeadingPairs>
  <TitlesOfParts>
    <vt:vector size="55" baseType="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PowerPoint Presentation</vt:lpstr>
      <vt:lpstr>結果：Totani の超過を再現</vt:lpstr>
      <vt:lpstr>ハローの形 3 通り：一番合う形も Totani と同じ</vt:lpstr>
      <vt:lpstr>点検で直したこと①：露出マップを公式の方法で作り直した</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どのエネルギーで較正するか：割る数は 1.2〜1.3</vt:lpstr>
      <vt:lpstr>ここまでのまとめ</vt:lpstr>
      <vt:lpstr>矮小銀河で確かめる</vt:lpstr>
      <vt:lpstr>矮小銀河：天の川の方法から変えた点</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2026-10-05T03:58:36Z</dcterms:modified>
</cp:coreProperties>
</file>