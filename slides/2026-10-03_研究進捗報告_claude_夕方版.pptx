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317" r:id="rId19"/>
    <p:sldId id="263" r:id="rId20"/>
    <p:sldId id="315" r:id="rId21"/>
    <p:sldId id="264" r:id="rId22"/>
    <p:sldId id="310" r:id="rId23"/>
    <p:sldId id="311" r:id="rId24"/>
    <p:sldId id="265" r:id="rId25"/>
    <p:sldId id="266" r:id="rId26"/>
    <p:sldId id="267" r:id="rId27"/>
    <p:sldId id="268" r:id="rId28"/>
    <p:sldId id="269" r:id="rId29"/>
    <p:sldId id="313" r:id="rId30"/>
    <p:sldId id="271" r:id="rId31"/>
    <p:sldId id="272" r:id="rId32"/>
    <p:sldId id="314" r:id="rId33"/>
    <p:sldId id="273" r:id="rId34"/>
    <p:sldId id="274" r:id="rId35"/>
    <p:sldId id="275" r:id="rId36"/>
    <p:sldId id="276" r:id="rId37"/>
    <p:sldId id="277" r:id="rId38"/>
    <p:sldId id="278" r:id="rId39"/>
    <p:sldId id="279" r:id="rId40"/>
    <p:sldId id="280" r:id="rId41"/>
    <p:sldId id="281" r:id="rId42"/>
    <p:sldId id="282" r:id="rId43"/>
    <p:sldId id="283" r:id="rId44"/>
    <p:sldId id="284" r:id="rId45"/>
    <p:sldId id="285" r:id="rId46"/>
    <p:sldId id="286" r:id="rId47"/>
    <p:sldId id="287" r:id="rId48"/>
    <p:sldId id="288" r:id="rId49"/>
    <p:sldId id="289" r:id="rId50"/>
    <p:sldId id="290"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287" autoAdjust="0"/>
    <p:restoredTop sz="87565" autoAdjust="0"/>
  </p:normalViewPr>
  <p:slideViewPr>
    <p:cSldViewPr snapToGrid="0" showGuides="1">
      <p:cViewPr varScale="1">
        <p:scale>
          <a:sx n="82" d="100"/>
          <a:sy n="82" d="100"/>
        </p:scale>
        <p:origin x="96" y="19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pc:chgData name="202304239" userId="ab1adf7a-b8eb-4038-b404-de23e20d8a3a" providerId="ADAL" clId="{6C0E59ED-D716-49AF-B2FA-B94E7B8E5A8C}" dt="2026-10-05T04:15:43.044" v="352" actId="4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3:49:46.800" v="146" actId="20577"/>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pc:chgData name="202304239" userId="ab1adf7a-b8eb-4038-b404-de23e20d8a3a" providerId="ADAL" clId="{6C0E59ED-D716-49AF-B2FA-B94E7B8E5A8C}" dt="2026-10-05T04:12:40.901" v="325" actId="1076"/>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09:16.613" v="294" actId="207"/>
          <ac:spMkLst>
            <pc:docMk/>
            <pc:sldMk cId="714849090" sldId="317"/>
            <ac:spMk id="11" creationId="{54EEC75A-A1BF-4B87-31AF-F8D21C7F155D}"/>
          </ac:spMkLst>
        </pc:spChg>
        <pc:spChg chg="add mod">
          <ac:chgData name="202304239" userId="ab1adf7a-b8eb-4038-b404-de23e20d8a3a" providerId="ADAL" clId="{6C0E59ED-D716-49AF-B2FA-B94E7B8E5A8C}" dt="2026-10-05T04:11:23.115" v="298" actId="14100"/>
          <ac:spMkLst>
            <pc:docMk/>
            <pc:sldMk cId="714849090" sldId="317"/>
            <ac:spMk id="13" creationId="{E198F735-7ED1-C6E3-B5DD-7E35C7F9775E}"/>
          </ac:spMkLst>
        </pc:spChg>
        <pc:spChg chg="add mod">
          <ac:chgData name="202304239" userId="ab1adf7a-b8eb-4038-b404-de23e20d8a3a" providerId="ADAL" clId="{6C0E59ED-D716-49AF-B2FA-B94E7B8E5A8C}" dt="2026-10-05T04:11:46.285" v="302"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2:40.901" v="325" actId="1076"/>
          <ac:spMkLst>
            <pc:docMk/>
            <pc:sldMk cId="714849090" sldId="317"/>
            <ac:spMk id="17" creationId="{DF60EA9B-3568-50AE-F318-5AEA0A94F1C2}"/>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pPr marL="0" indent="0">
              <a:buNone/>
            </a:pPr>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a:t>
            </a:r>
            <a:r>
              <a:rPr lang="ja-JP" altLang="en-US" sz="2000"/>
              <a:t>も</a:t>
            </a:r>
            <a:r>
              <a:rPr sz="2000"/>
              <a:t>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sz="1500" b="1"/>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sz="1500" b="1"/>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sz="1500" b="1"/>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198F735-7ED1-C6E3-B5DD-7E35C7F9775E}"/>
              </a:ext>
            </a:extLst>
          </p:cNvPr>
          <p:cNvSpPr txBox="1"/>
          <p:nvPr/>
        </p:nvSpPr>
        <p:spPr>
          <a:xfrm>
            <a:off x="502920" y="3902173"/>
            <a:ext cx="7941284" cy="369332"/>
          </a:xfrm>
          <a:prstGeom prst="rect">
            <a:avLst/>
          </a:prstGeom>
          <a:noFill/>
        </p:spPr>
        <p:txBody>
          <a:bodyPr wrap="square">
            <a:spAutoFit/>
          </a:bodyPr>
          <a:lstStyle/>
          <a:p>
            <a:r>
              <a:rPr lang="en-US" sz="1800" b="1" i="0">
                <a:solidFill>
                  <a:schemeClr val="tx1"/>
                </a:solidFill>
                <a:effectLst/>
                <a:latin typeface="+mn-lt"/>
              </a:rPr>
              <a:t>Δln L ＝ ln L（9 変数・ハローあり） − ln L（8 変数・ハローなし）</a:t>
            </a:r>
            <a:endParaRPr lang="en-US"/>
          </a:p>
        </p:txBody>
      </p:sp>
      <p:sp>
        <p:nvSpPr>
          <p:cNvPr id="15" name="TextBox 14">
            <a:extLst>
              <a:ext uri="{FF2B5EF4-FFF2-40B4-BE49-F238E27FC236}">
                <a16:creationId xmlns:a16="http://schemas.microsoft.com/office/drawing/2014/main" id="{23677353-82B3-89C2-CBEC-1909E56DA99B}"/>
              </a:ext>
            </a:extLst>
          </p:cNvPr>
          <p:cNvSpPr txBox="1"/>
          <p:nvPr/>
        </p:nvSpPr>
        <p:spPr>
          <a:xfrm>
            <a:off x="502920" y="4669624"/>
            <a:ext cx="10165235" cy="646331"/>
          </a:xfrm>
          <a:prstGeom prst="rect">
            <a:avLst/>
          </a:prstGeom>
          <a:noFill/>
        </p:spPr>
        <p:txBody>
          <a:bodyPr wrap="square">
            <a:spAutoFit/>
          </a:bodyPr>
          <a:lstStyle/>
          <a:p>
            <a:pPr marL="342900" lvl="0" indent="-342900" algn="l">
              <a:buFont typeface="Arial" panose="020B0604020202020204" pitchFamily="34" charset="0"/>
              <a:buChar char="•"/>
            </a:pPr>
            <a:r>
              <a:rPr lang="en-US" sz="1800" b="1" i="0">
                <a:solidFill>
                  <a:schemeClr val="tx1"/>
                </a:solidFill>
                <a:effectLst/>
                <a:latin typeface="+mn-lt"/>
              </a:rPr>
              <a:t>差が大きい</a:t>
            </a:r>
            <a:r>
              <a:rPr lang="en-US" sz="1800" b="0" i="0">
                <a:solidFill>
                  <a:schemeClr val="tx1"/>
                </a:solidFill>
                <a:effectLst/>
                <a:latin typeface="+mn-lt"/>
              </a:rPr>
              <a:t> → ハローありの方が、ずっと観測に近い → ハローが必要 → σ が大きい</a:t>
            </a:r>
          </a:p>
          <a:p>
            <a:pPr marL="342900" lvl="0" indent="-342900" algn="l">
              <a:buFont typeface="Arial" panose="020B0604020202020204" pitchFamily="34" charset="0"/>
              <a:buChar char="•"/>
            </a:pPr>
            <a:r>
              <a:rPr lang="en-US" sz="1800" b="1" i="0">
                <a:solidFill>
                  <a:schemeClr val="tx1"/>
                </a:solidFill>
                <a:effectLst/>
                <a:latin typeface="+mn-lt"/>
              </a:rPr>
              <a:t>差がほぼ 0</a:t>
            </a:r>
            <a:r>
              <a:rPr lang="en-US" sz="1800" b="0" i="0">
                <a:solidFill>
                  <a:schemeClr val="tx1"/>
                </a:solidFill>
                <a:effectLst/>
                <a:latin typeface="+mn-lt"/>
              </a:rPr>
              <a:t> → ハローを足しても近さが変わらない → ハローは要らない</a:t>
            </a:r>
            <a:endParaRPr lang="en-US" sz="975" b="0" i="0">
              <a:solidFill>
                <a:srgbClr val="BFBFBF"/>
              </a:solidFill>
              <a:effectLst/>
              <a:latin typeface="-apple-system"/>
            </a:endParaRPr>
          </a:p>
        </p:txBody>
      </p:sp>
      <p:sp>
        <p:nvSpPr>
          <p:cNvPr id="17" name="TextBox 16">
            <a:extLst>
              <a:ext uri="{FF2B5EF4-FFF2-40B4-BE49-F238E27FC236}">
                <a16:creationId xmlns:a16="http://schemas.microsoft.com/office/drawing/2014/main" id="{DF60EA9B-3568-50AE-F318-5AEA0A94F1C2}"/>
              </a:ext>
            </a:extLst>
          </p:cNvPr>
          <p:cNvSpPr txBox="1"/>
          <p:nvPr/>
        </p:nvSpPr>
        <p:spPr>
          <a:xfrm>
            <a:off x="467929" y="5649289"/>
            <a:ext cx="7019419" cy="369332"/>
          </a:xfrm>
          <a:prstGeom prst="rect">
            <a:avLst/>
          </a:prstGeom>
          <a:noFill/>
        </p:spPr>
        <p:txBody>
          <a:bodyPr wrap="square">
            <a:spAutoFit/>
          </a:bodyPr>
          <a:lstStyle/>
          <a:p>
            <a:r>
              <a:rPr lang="ja-JP" altLang="en-US" sz="1800" b="0" i="0">
                <a:solidFill>
                  <a:schemeClr val="tx1"/>
                </a:solidFill>
                <a:effectLst/>
                <a:latin typeface="+mn-lt"/>
              </a:rPr>
              <a:t>→</a:t>
            </a:r>
            <a:r>
              <a:rPr lang="en-US" sz="1800" b="0" i="0">
                <a:solidFill>
                  <a:schemeClr val="tx1"/>
                </a:solidFill>
                <a:effectLst/>
                <a:latin typeface="+mn-lt"/>
              </a:rPr>
              <a:t>20.8 GeV では差が 154 で、σ ＝ √(2 × 154) ≈ </a:t>
            </a:r>
            <a:r>
              <a:rPr lang="en-US" sz="1800" b="1" i="0">
                <a:solidFill>
                  <a:schemeClr val="tx1"/>
                </a:solidFill>
                <a:effectLst/>
                <a:latin typeface="+mn-lt"/>
              </a:rPr>
              <a:t>17.6σ</a:t>
            </a:r>
            <a:r>
              <a:rPr lang="ja-JP" altLang="en-US" sz="1800" b="1" i="0">
                <a:solidFill>
                  <a:schemeClr val="tx1"/>
                </a:solidFill>
                <a:effectLst/>
                <a:latin typeface="+mn-lt"/>
              </a:rPr>
              <a:t>だった！</a:t>
            </a:r>
            <a:endParaRPr lang="en-US"/>
          </a:p>
        </p:txBody>
      </p:sp>
    </p:spTree>
    <p:extLst>
      <p:ext uri="{BB962C8B-B14F-4D97-AF65-F5344CB8AC3E}">
        <p14:creationId xmlns:p14="http://schemas.microsoft.com/office/powerpoint/2010/main" val="7148490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707886"/>
          </a:xfrm>
          <a:prstGeom prst="rect">
            <a:avLst/>
          </a:prstGeom>
          <a:noFill/>
        </p:spPr>
        <p:txBody>
          <a:bodyPr wrap="square">
            <a:spAutoFit/>
          </a:bodyPr>
          <a:lstStyle/>
          <a:p>
            <a:r>
              <a:rPr sz="2000"/>
              <a:t>20.8 GeV で 17.6σ（Totani の同じ形 ρ² は約 14σ）。山の位置も一致。</a:t>
            </a:r>
          </a:p>
          <a:p>
            <a:r>
              <a:rPr sz="2000"/>
              <a:t>緑の幅 = 割る数 1.19〜1.26 の違い</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499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271</TotalTime>
  <Words>9322</Words>
  <Application>Microsoft Office PowerPoint</Application>
  <PresentationFormat>Widescreen</PresentationFormat>
  <Paragraphs>694</Paragraphs>
  <Slides>50</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50</vt:i4>
      </vt:variant>
    </vt:vector>
  </HeadingPairs>
  <TitlesOfParts>
    <vt:vector size="55"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PowerPoint Presentation</vt:lpstr>
      <vt:lpstr>結果：Totani の超過を再現</vt:lpstr>
      <vt:lpstr>ハローの形 3 通り：一番合う形も Totani と同じ</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2026-10-05T04:15:54Z</dcterms:modified>
</cp:coreProperties>
</file>