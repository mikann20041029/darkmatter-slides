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57"/>
    <p:sldId id="264" r:id="rId20"/>
    <p:sldId id="310" r:id="rId21"/>
    <p:sldId id="311" r:id="rId22"/>
    <p:sldId id="265" r:id="rId23"/>
    <p:sldId id="266" r:id="rId24"/>
    <p:sldId id="267" r:id="rId25"/>
    <p:sldId id="268" r:id="rId26"/>
    <p:sldId id="269" r:id="rId27"/>
    <p:sldId id="313" r:id="rId55"/>
    <p:sldId id="271" r:id="rId28"/>
    <p:sldId id="272" r:id="rId29"/>
    <p:sldId id="314" r:id="rId56"/>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7.xml"/><Relationship Id="rId56" Type="http://schemas.openxmlformats.org/officeDocument/2006/relationships/slide" Target="slides/slide30.xml"/><Relationship Id="rId57" Type="http://schemas.openxmlformats.org/officeDocument/2006/relationships/slide" Target="slides/slide4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6:10:09.262" v="81" actId="478"/>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spChg chg="del">
          <ac:chgData name="202304239" userId="ab1adf7a-b8eb-4038-b404-de23e20d8a3a" providerId="ADAL" clId="{6C0E59ED-D716-49AF-B2FA-B94E7B8E5A8C}" dt="2026-10-03T04:15:36.651" v="66" actId="478"/>
          <ac:spMkLst>
            <pc:docMk/>
            <pc:sldMk cId="0" sldId="296"/>
            <ac:spMk id="8" creationId="{F85CD606-E3CE-F314-B3EE-F3D7028115CB}"/>
          </ac:spMkLst>
        </pc:spChg>
        <pc:picChg chg="add del mod">
          <ac:chgData name="202304239" userId="ab1adf7a-b8eb-4038-b404-de23e20d8a3a" providerId="ADAL" clId="{6C0E59ED-D716-49AF-B2FA-B94E7B8E5A8C}" dt="2026-10-03T04:16:25.221" v="69" actId="478"/>
          <ac:picMkLst>
            <pc:docMk/>
            <pc:sldMk cId="0" sldId="296"/>
            <ac:picMk id="5" creationId="{9F1A482B-9BF6-EF3C-C1F0-DE13BF60C225}"/>
          </ac:picMkLst>
        </pc:pic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picChg chg="add del mod">
          <ac:chgData name="202304239" userId="ab1adf7a-b8eb-4038-b404-de23e20d8a3a" providerId="ADAL" clId="{6C0E59ED-D716-49AF-B2FA-B94E7B8E5A8C}" dt="2026-10-03T06:10:09.262" v="81" actId="478"/>
          <ac:picMkLst>
            <pc:docMk/>
            <pc:sldMk cId="0" sldId="300"/>
            <ac:picMk id="5" creationId="{4206F3F6-6980-B027-0044-AE735E407525}"/>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は矮小銀河 2 kpc、M31 200 kpc で切る。ハローの倍率の数字は天体どうしで比べられない (型紙を ROI 平均 1 にそろえているため)。比べてよいのは有意度。</a:t>
            </a:r>
          </a:p>
          <a:p>
            <a:r>
              <a:t>尤度を 0.125° の画素で組むのは、20° 角の ROI では 10° のマスが 4 個しか取れないため。天の川は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1.48</a:t>
            </a:r>
          </a:p>
          <a:p>
            <a:r>
              <a:rPr sz="1800"/>
              <a:t>足あとの広がり → 誤差</a:t>
            </a:r>
          </a:p>
          <a:p>
            <a:pPr lvl="1"/>
            <a:r>
              <a:rPr sz="1500"/>
              <a:t>最初の 2000 歩（ふもとから登っている途中）は捨て、残りの下から 16%〜84%</a:t>
            </a:r>
          </a:p>
          <a:p>
            <a:pPr lvl="1"/>
            <a:r>
              <a:rPr sz="1500"/>
              <a:t>20.8 GeV：1.40〜1.56</a:t>
            </a:r>
          </a:p>
          <a:p>
            <a:r>
              <a:rPr sz="1800"/>
              <a:t>有意度：ハローあり・なしの山を別々に歩く</a:t>
            </a:r>
          </a:p>
          <a:p>
            <a:pPr lvl="1"/>
            <a:r>
              <a:rPr sz="1500"/>
              <a:t>それぞれの一番高い足あとの高さの差 Δln L → σ = √(2Δln L)</a:t>
            </a:r>
          </a:p>
          <a:p>
            <a:pPr lvl="1"/>
            <a:r>
              <a:rPr sz="1500"/>
              <a:t>20.8 GeV：19.0σ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1" name="Picture 10" descr="fig_significance_calib.png"/>
          <p:cNvPicPr>
            <a:picLocks noChangeAspect="1"/>
          </p:cNvPicPr>
          <p:nvPr/>
        </p:nvPicPr>
        <p:blipFill>
          <a:blip r:embed="rId4"/>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の同じ形 ρ² は約 14σ）。山の位置も一致。何も無い空で較正すると 15〜16σ（緑）</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15〜16σ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19.0σ → 17.8σ（約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19.0σ を較正すると 19.0 ÷ (1.2〜1.3) ≈ 15〜16σ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5" name="Picture 4" descr="fig_null_variance_local.png"/>
          <p:cNvPicPr>
            <a:picLocks noChangeAspect="1"/>
          </p:cNvPicPr>
          <p:nvPr/>
        </p:nvPicPr>
        <p:blipFill>
          <a:blip r:embed="rId4"/>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r>
              <a:rPr sz="800" b="0"/>
              <a:t/>
            </a:r>
          </a:p>
          <a:p>
            <a:r>
              <a:rPr sz="1600" b="1"/>
              <a:t>ビン 1（1.5 GeV）を外す理由</a:t>
            </a:r>
          </a:p>
          <a:p>
            <a:r>
              <a:rPr sz="1400" b="0"/>
              <a:t>望遠鏡のぼやけが一番大きい → 背景の型紙のずれがそのまま出て、揺れが 2.2 に跳ねる</a:t>
            </a:r>
          </a:p>
          <a:p>
            <a:r>
              <a:rPr sz="800" b="0"/>
              <a:t/>
            </a:r>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gridCol w="1371600"/>
                <a:gridCol w="1828800"/>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19.0σ ÷ 揺れ</a:t>
                      </a:r>
                    </a:p>
                  </a:txBody>
                  <a:tcPr>
                    <a:solidFill>
                      <a:srgbClr val="404040"/>
                    </a:solidFill>
                  </a:tcPr>
                </a:tc>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16.0σ</a:t>
                      </a:r>
                    </a:p>
                  </a:txBody>
                  <a:tcPr>
                    <a:solidFill>
                      <a:srgbClr val="DDEEDD"/>
                    </a:solidFill>
                  </a:tcPr>
                </a:tc>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15.1σ</a:t>
                      </a:r>
                    </a:p>
                  </a:txBody>
                  <a:tcPr>
                    <a:solidFill>
                      <a:srgbClr val="DDEEDD"/>
                    </a:solidFill>
                  </a:tcPr>
                </a:tc>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16.2σ</a:t>
                      </a:r>
                    </a:p>
                  </a:txBody>
                  <a:tcPr>
                    <a:solidFill>
                      <a:srgbClr val="F4F4F4"/>
                    </a:solidFill>
                  </a:tcPr>
                </a:tc>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18.1σ</a:t>
                      </a:r>
                    </a:p>
                  </a:txBody>
                  <a:tcPr>
                    <a:solidFill>
                      <a:srgbClr val="F4F4F4"/>
                    </a:solidFill>
                  </a:tcPr>
                </a:tc>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14.4σ</a:t>
                      </a:r>
                    </a:p>
                  </a:txBody>
                  <a:tcPr>
                    <a:solidFill>
                      <a:srgbClr val="F4F4F4"/>
                    </a:solidFill>
                  </a:tcPr>
                </a:tc>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15〜16σ</a:t>
            </a:r>
          </a:p>
          <a:p>
            <a:r>
              <a:rPr sz="1400" b="0"/>
              <a:t>緑の 2 行が両端。どれを選んでも 14〜18σ</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15〜16σ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gridCol w="2651760"/>
                <a:gridCol w="3108960"/>
                <a:gridCol w="3291840"/>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0.125° の画素</a:t>
                      </a:r>
                    </a:p>
                  </a:txBody>
                  <a:tcPr>
                    <a:solidFill>
                      <a:srgbClr val="F4F4F4"/>
                    </a:solidFill>
                  </a:tcPr>
                </a:tc>
                <a:tc>
                  <a:txBody>
                    <a:bodyPr/>
                    <a:lstStyle/>
                    <a:p>
                      <a:r>
                        <a:rPr sz="1400"/>
                        <a:t>10° のマスでは小さな天体の形が消える</a:t>
                      </a:r>
                    </a:p>
                  </a:txBody>
                  <a:tcPr>
                    <a:solidFill>
                      <a:srgbClr val="F4F4F4"/>
                    </a:solidFill>
                  </a:tcPr>
                </a:tc>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3"/>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つの数字の違い：15〜16σ と 1.3σ</a:t>
            </a:r>
          </a:p>
        </p:txBody>
      </p:sp>
      <p:sp>
        <p:nvSpPr>
          <p:cNvPr id="3" name="Content Placeholder 2"/>
          <p:cNvSpPr>
            <a:spLocks noGrp="1"/>
          </p:cNvSpPr>
          <p:nvPr>
            <p:ph idx="1"/>
          </p:nvPr>
        </p:nvSpPr>
        <p:spPr>
          <a:xfrm>
            <a:off x="841248" y="1463040"/>
            <a:ext cx="10515600" cy="4937760"/>
          </a:xfrm>
        </p:spPr>
        <p:txBody>
          <a:bodyPr/>
          <a:lstStyle/>
          <a:p>
            <a:r>
              <a:rPr sz="2400"/>
              <a:t>15〜16σ：天の川のハロー超過の強さ</a:t>
            </a:r>
          </a:p>
          <a:p>
            <a:pPr lvl="1"/>
            <a:r>
              <a:rPr sz="2000"/>
              <a:t>19.0σ を、何も無い空でのばらつき 1.2〜1.3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15〜16σ）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ハローの形 3 通り：一番合う形も Totani と同じ</a:t>
            </a:r>
          </a:p>
        </p:txBody>
      </p:sp>
      <p:pic>
        <p:nvPicPr>
          <p:cNvPr id="3" name="Picture 2" descr="fig_rho_compare.png"/>
          <p:cNvPicPr>
            <a:picLocks noChangeAspect="1"/>
          </p:cNvPicPr>
          <p:nvPr/>
        </p:nvPicPr>
        <p:blipFill>
          <a:blip r:embed="rId2"/>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r>
              <a:rPr sz="600" b="0"/>
              <a:t/>
            </a:r>
          </a:p>
          <a:p>
            <a:r>
              <a:rPr sz="1600" b="1"/>
              <a:t>20.8 GeV の Δln L（本研究 / Totani）</a:t>
            </a:r>
          </a:p>
          <a:p>
            <a:r>
              <a:rPr sz="1400" b="0"/>
              <a:t>2 乗　 180 / 102</a:t>
            </a:r>
          </a:p>
          <a:p>
            <a:r>
              <a:rPr sz="1400" b="0"/>
              <a:t>2.5 乗 161 / 93</a:t>
            </a:r>
          </a:p>
          <a:p>
            <a:r>
              <a:rPr sz="1400" b="0"/>
              <a:t>1 乗　 127 / 73</a:t>
            </a:r>
          </a:p>
          <a:p>
            <a:r>
              <a:rPr sz="600" b="0"/>
              <a:t/>
            </a:r>
          </a:p>
          <a:p>
            <a:r>
              <a:rPr sz="1500" b="1"/>
              <a:t>合う順番（2 乗 ＞ 2.5 乗 ＞ 1 乗）は同じ</a:t>
            </a:r>
          </a:p>
          <a:p>
            <a:r>
              <a:rPr sz="1300" b="0"/>
              <a:t>3 つとも Totani の約 1.75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240</TotalTime>
  <Words>7135</Words>
  <Application>Microsoft Office PowerPoint</Application>
  <PresentationFormat>Widescreen</PresentationFormat>
  <Paragraphs>566</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2026-10-03T06:10:17Z</dcterms:modified>
</cp:coreProperties>
</file>