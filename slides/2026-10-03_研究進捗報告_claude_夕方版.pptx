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8"/>
  </p:notesMasterIdLst>
  <p:sldIdLst>
    <p:sldId id="256" r:id="rId2"/>
    <p:sldId id="257" r:id="rId3"/>
    <p:sldId id="258" r:id="rId4"/>
    <p:sldId id="259" r:id="rId5"/>
    <p:sldId id="312" r:id="rId6"/>
    <p:sldId id="307" r:id="rId7"/>
    <p:sldId id="308" r:id="rId8"/>
    <p:sldId id="294" r:id="rId9"/>
    <p:sldId id="261" r:id="rId10"/>
    <p:sldId id="262" r:id="rId11"/>
    <p:sldId id="295" r:id="rId12"/>
    <p:sldId id="296" r:id="rId13"/>
    <p:sldId id="297" r:id="rId14"/>
    <p:sldId id="298" r:id="rId15"/>
    <p:sldId id="309" r:id="rId16"/>
    <p:sldId id="299" r:id="rId17"/>
    <p:sldId id="300" r:id="rId18"/>
    <p:sldId id="263" r:id="rId19"/>
    <p:sldId id="315" r:id="rId57"/>
    <p:sldId id="316" r:id="rId58"/>
    <p:sldId id="264" r:id="rId20"/>
    <p:sldId id="310" r:id="rId21"/>
    <p:sldId id="311" r:id="rId22"/>
    <p:sldId id="265" r:id="rId23"/>
    <p:sldId id="266" r:id="rId24"/>
    <p:sldId id="267" r:id="rId25"/>
    <p:sldId id="268" r:id="rId26"/>
    <p:sldId id="269" r:id="rId27"/>
    <p:sldId id="313" r:id="rId55"/>
    <p:sldId id="271" r:id="rId28"/>
    <p:sldId id="272" r:id="rId29"/>
    <p:sldId id="314" r:id="rId56"/>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8631C4B-C2FB-4DFF-B7D9-28DD25A7F289}" v="1" dt="2026-10-03T03:36:53.52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45" autoAdjust="0"/>
    <p:restoredTop sz="94660"/>
  </p:normalViewPr>
  <p:slideViewPr>
    <p:cSldViewPr snapToGrid="0" showGuides="1">
      <p:cViewPr varScale="1">
        <p:scale>
          <a:sx n="95" d="100"/>
          <a:sy n="95" d="100"/>
        </p:scale>
        <p:origin x="206" y="67"/>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21.xml"/><Relationship Id="rId21" Type="http://schemas.openxmlformats.org/officeDocument/2006/relationships/slide" Target="slides/slide22.xml"/><Relationship Id="rId22" Type="http://schemas.openxmlformats.org/officeDocument/2006/relationships/slide" Target="slides/slide23.xml"/><Relationship Id="rId23" Type="http://schemas.openxmlformats.org/officeDocument/2006/relationships/slide" Target="slides/slide24.xml"/><Relationship Id="rId24" Type="http://schemas.openxmlformats.org/officeDocument/2006/relationships/slide" Target="slides/slide25.xml"/><Relationship Id="rId25" Type="http://schemas.openxmlformats.org/officeDocument/2006/relationships/slide" Target="slides/slide26.xml"/><Relationship Id="rId26" Type="http://schemas.openxmlformats.org/officeDocument/2006/relationships/slide" Target="slides/slide27.xml"/><Relationship Id="rId27" Type="http://schemas.openxmlformats.org/officeDocument/2006/relationships/slide" Target="slides/slide28.xml"/><Relationship Id="rId28" Type="http://schemas.openxmlformats.org/officeDocument/2006/relationships/slide" Target="slides/slide30.xml"/><Relationship Id="rId29" Type="http://schemas.openxmlformats.org/officeDocument/2006/relationships/slide" Target="slides/slide31.xml"/><Relationship Id="rId30" Type="http://schemas.openxmlformats.org/officeDocument/2006/relationships/slide" Target="slides/slide33.xml"/><Relationship Id="rId31" Type="http://schemas.openxmlformats.org/officeDocument/2006/relationships/slide" Target="slides/slide34.xml"/><Relationship Id="rId32" Type="http://schemas.openxmlformats.org/officeDocument/2006/relationships/slide" Target="slides/slide35.xml"/><Relationship Id="rId33" Type="http://schemas.openxmlformats.org/officeDocument/2006/relationships/slide" Target="slides/slide36.xml"/><Relationship Id="rId34" Type="http://schemas.openxmlformats.org/officeDocument/2006/relationships/slide" Target="slides/slide37.xml"/><Relationship Id="rId35" Type="http://schemas.openxmlformats.org/officeDocument/2006/relationships/slide" Target="slides/slide38.xml"/><Relationship Id="rId36" Type="http://schemas.openxmlformats.org/officeDocument/2006/relationships/slide" Target="slides/slide39.xml"/><Relationship Id="rId37" Type="http://schemas.openxmlformats.org/officeDocument/2006/relationships/slide" Target="slides/slide40.xml"/><Relationship Id="rId38" Type="http://schemas.openxmlformats.org/officeDocument/2006/relationships/slide" Target="slides/slide41.xml"/><Relationship Id="rId39" Type="http://schemas.openxmlformats.org/officeDocument/2006/relationships/slide" Target="slides/slide42.xml"/><Relationship Id="rId40" Type="http://schemas.openxmlformats.org/officeDocument/2006/relationships/slide" Target="slides/slide43.xml"/><Relationship Id="rId41" Type="http://schemas.openxmlformats.org/officeDocument/2006/relationships/slide" Target="slides/slide44.xml"/><Relationship Id="rId42" Type="http://schemas.openxmlformats.org/officeDocument/2006/relationships/slide" Target="slides/slide45.xml"/><Relationship Id="rId43" Type="http://schemas.openxmlformats.org/officeDocument/2006/relationships/slide" Target="slides/slide46.xml"/><Relationship Id="rId44" Type="http://schemas.openxmlformats.org/officeDocument/2006/relationships/slide" Target="slides/slide47.xml"/><Relationship Id="rId45" Type="http://schemas.openxmlformats.org/officeDocument/2006/relationships/slide" Target="slides/slide48.xml"/><Relationship Id="rId46" Type="http://schemas.openxmlformats.org/officeDocument/2006/relationships/slide" Target="slides/slide49.xml"/><Relationship Id="rId47" Type="http://schemas.openxmlformats.org/officeDocument/2006/relationships/slide" Target="slides/slide50.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53" Type="http://schemas.microsoft.com/office/2016/11/relationships/changesInfo" Target="changesInfos/changesInfo1.xml"/><Relationship Id="rId54" Type="http://schemas.microsoft.com/office/2015/10/relationships/revisionInfo" Target="revisionInfo.xml"/><Relationship Id="rId55" Type="http://schemas.openxmlformats.org/officeDocument/2006/relationships/slide" Target="slides/slide29.xml"/><Relationship Id="rId56" Type="http://schemas.openxmlformats.org/officeDocument/2006/relationships/slide" Target="slides/slide32.xml"/><Relationship Id="rId57" Type="http://schemas.openxmlformats.org/officeDocument/2006/relationships/slide" Target="slides/slide19.xml"/><Relationship Id="rId58" Type="http://schemas.openxmlformats.org/officeDocument/2006/relationships/slide" Target="slides/slide2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custSel delSld modSld">
      <pc:chgData name="202304239" userId="ab1adf7a-b8eb-4038-b404-de23e20d8a3a" providerId="ADAL" clId="{6C0E59ED-D716-49AF-B2FA-B94E7B8E5A8C}" dt="2026-10-03T06:10:09.262" v="81" actId="478"/>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pc:chgData name="202304239" userId="ab1adf7a-b8eb-4038-b404-de23e20d8a3a" providerId="ADAL" clId="{6C0E59ED-D716-49AF-B2FA-B94E7B8E5A8C}" dt="2026-10-02T01:13:59.581" v="0"/>
        <pc:sldMkLst>
          <pc:docMk/>
          <pc:sldMk cId="0" sldId="259"/>
        </pc:sldMkLst>
        <pc:spChg chg="mod">
          <ac:chgData name="202304239" userId="ab1adf7a-b8eb-4038-b404-de23e20d8a3a" providerId="ADAL" clId="{6C0E59ED-D716-49AF-B2FA-B94E7B8E5A8C}" dt="2026-10-02T01:13:59.581" v="0"/>
          <ac:spMkLst>
            <pc:docMk/>
            <pc:sldMk cId="0" sldId="259"/>
            <ac:spMk id="3" creationId="{00000000-0000-0000-0000-000000000000}"/>
          </ac:spMkLst>
        </pc:spChg>
      </pc:sldChg>
      <pc:sldChg chg="delSp del mod">
        <pc:chgData name="202304239" userId="ab1adf7a-b8eb-4038-b404-de23e20d8a3a" providerId="ADAL" clId="{6C0E59ED-D716-49AF-B2FA-B94E7B8E5A8C}" dt="2026-10-03T03:37:35.283" v="54" actId="47"/>
        <pc:sldMkLst>
          <pc:docMk/>
          <pc:sldMk cId="0" sldId="260"/>
        </pc:sldMkLst>
        <pc:picChg chg="del">
          <ac:chgData name="202304239" userId="ab1adf7a-b8eb-4038-b404-de23e20d8a3a" providerId="ADAL" clId="{6C0E59ED-D716-49AF-B2FA-B94E7B8E5A8C}" dt="2026-10-03T03:36:34.391" v="30" actId="478"/>
          <ac:picMkLst>
            <pc:docMk/>
            <pc:sldMk cId="0" sldId="260"/>
            <ac:picMk id="6" creationId="{00000000-0000-0000-0000-000000000000}"/>
          </ac:picMkLst>
        </pc:picChg>
      </pc:sldChg>
      <pc:sldChg chg="addSp modSp mod">
        <pc:chgData name="202304239" userId="ab1adf7a-b8eb-4038-b404-de23e20d8a3a" providerId="ADAL" clId="{6C0E59ED-D716-49AF-B2FA-B94E7B8E5A8C}" dt="2026-10-03T04:13:39.011" v="59" actId="27614"/>
        <pc:sldMkLst>
          <pc:docMk/>
          <pc:sldMk cId="0" sldId="295"/>
        </pc:sldMkLst>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spChg chg="del">
          <ac:chgData name="202304239" userId="ab1adf7a-b8eb-4038-b404-de23e20d8a3a" providerId="ADAL" clId="{6C0E59ED-D716-49AF-B2FA-B94E7B8E5A8C}" dt="2026-10-03T04:15:36.651" v="66" actId="478"/>
          <ac:spMkLst>
            <pc:docMk/>
            <pc:sldMk cId="0" sldId="296"/>
            <ac:spMk id="8" creationId="{F85CD606-E3CE-F314-B3EE-F3D7028115CB}"/>
          </ac:spMkLst>
        </pc:spChg>
        <pc:picChg chg="add del mod">
          <ac:chgData name="202304239" userId="ab1adf7a-b8eb-4038-b404-de23e20d8a3a" providerId="ADAL" clId="{6C0E59ED-D716-49AF-B2FA-B94E7B8E5A8C}" dt="2026-10-03T04:16:25.221" v="69" actId="478"/>
          <ac:picMkLst>
            <pc:docMk/>
            <pc:sldMk cId="0" sldId="296"/>
            <ac:picMk id="5" creationId="{9F1A482B-9BF6-EF3C-C1F0-DE13BF60C225}"/>
          </ac:picMkLst>
        </pc:pic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
        <pc:chgData name="202304239" userId="ab1adf7a-b8eb-4038-b404-de23e20d8a3a" providerId="ADAL" clId="{6C0E59ED-D716-49AF-B2FA-B94E7B8E5A8C}" dt="2026-10-03T06:08:02.273" v="75" actId="22"/>
        <pc:sldMkLst>
          <pc:docMk/>
          <pc:sldMk cId="0" sldId="297"/>
        </pc:sldMkLst>
        <pc:picChg chg="add">
          <ac:chgData name="202304239" userId="ab1adf7a-b8eb-4038-b404-de23e20d8a3a" providerId="ADAL" clId="{6C0E59ED-D716-49AF-B2FA-B94E7B8E5A8C}" dt="2026-10-03T06:08:02.273" v="75" actId="22"/>
          <ac:picMkLst>
            <pc:docMk/>
            <pc:sldMk cId="0" sldId="297"/>
            <ac:picMk id="5" creationId="{A90FDE7D-1E04-5388-2EF9-2BF6180BCFE4}"/>
          </ac:picMkLst>
        </pc:picChg>
      </pc:sldChg>
      <pc:sldChg chg="addSp modSp mod">
        <pc:chgData name="202304239" userId="ab1adf7a-b8eb-4038-b404-de23e20d8a3a" providerId="ADAL" clId="{6C0E59ED-D716-49AF-B2FA-B94E7B8E5A8C}" dt="2026-10-03T06:10:08.014" v="80" actId="27614"/>
        <pc:sldMkLst>
          <pc:docMk/>
          <pc:sldMk cId="0" sldId="299"/>
        </pc:sldMkLst>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picChg chg="add del mod">
          <ac:chgData name="202304239" userId="ab1adf7a-b8eb-4038-b404-de23e20d8a3a" providerId="ADAL" clId="{6C0E59ED-D716-49AF-B2FA-B94E7B8E5A8C}" dt="2026-10-03T06:10:09.262" v="81" actId="478"/>
          <ac:picMkLst>
            <pc:docMk/>
            <pc:sldMk cId="0" sldId="300"/>
            <ac:picMk id="5" creationId="{4206F3F6-6980-B027-0044-AE735E407525}"/>
          </ac:picMkLst>
        </pc:picChg>
      </pc:sldChg>
      <pc:sldChg chg="modSp mod">
        <pc:chgData name="202304239" userId="ab1adf7a-b8eb-4038-b404-de23e20d8a3a" providerId="ADAL" clId="{6C0E59ED-D716-49AF-B2FA-B94E7B8E5A8C}" dt="2026-10-03T03:37:06.765" v="53" actId="20577"/>
        <pc:sldMkLst>
          <pc:docMk/>
          <pc:sldMk cId="0" sldId="308"/>
        </pc:sldMkLst>
        <pc:spChg chg="mod">
          <ac:chgData name="202304239" userId="ab1adf7a-b8eb-4038-b404-de23e20d8a3a" providerId="ADAL" clId="{6C0E59ED-D716-49AF-B2FA-B94E7B8E5A8C}" dt="2026-10-03T03:37:06.765" v="53" actId="20577"/>
          <ac:spMkLst>
            <pc:docMk/>
            <pc:sldMk cId="0" sldId="308"/>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コード: code/compute_exposure_map_irf.py。FT2 (30 秒ごとの衛星の向き・天頂の向き・観測時間) 779 週分から、画素ごと・入射角 cosθ ごとの観測時間 (livetime cube、公式ツール gtltcube と同じもの) を足し、公式の有効面積の表 (CALDB aeff_P8R3_ULTRACLEAN_V2_FB、FRONT+BACK) を掛けた。品質フラグ DATA_QUAL&gt;0 かつ LAT_CONFIG==1 の時間だけ使い、その画素の天頂角が 100° 以上の時間は除いた (光子の選び方と同じ)。残る近似: 有効面積の方位角依存と、時間あたりの効率補正は入れていない (どちらも数 % 以下)。</a:t>
            </a:r>
          </a:p>
          <a:p>
            <a:r>
              <a:t>Totani (2025) §2.1 は露出を公式ツールで 0.125° で作っている。今回の作り直しで Totani の方法に近づいた。</a:t>
            </a:r>
          </a:p>
          <a:p>
            <a:r>
              <a:t>結果: results/mcmc_allbins_gasICS_v20t_irf。Bin5 18.3σ、Bin6 17.6σ。</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4.png"/><Relationship Id="rId4" Type="http://schemas.openxmlformats.org/officeDocument/2006/relationships/image" Target="../media/image21.png"/><Relationship Id="rId5" Type="http://schemas.openxmlformats.org/officeDocument/2006/relationships/image" Target="../media/image24.png"/><Relationship Id="rId6"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3.png"/><Relationship Id="rId3" Type="http://schemas.openxmlformats.org/officeDocument/2006/relationships/notesSlide" Target="../notesSlides/notesSlide49.xml"/><Relationship Id="rId4" Type="http://schemas.openxmlformats.org/officeDocument/2006/relationships/image" Target="../media/image2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 Id="rId3" Type="http://schemas.openxmlformats.org/officeDocument/2006/relationships/image" Target="../media/image18.png"/><Relationship Id="rId4" Type="http://schemas.openxmlformats.org/officeDocument/2006/relationships/image" Target="../media/image22.png"/><Relationship Id="rId5" Type="http://schemas.openxmlformats.org/officeDocument/2006/relationships/image" Target="../media/image2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 Id="rId3" Type="http://schemas.openxmlformats.org/officeDocument/2006/relationships/image" Target="../media/image19.png"/><Relationship Id="rId4" Type="http://schemas.openxmlformats.org/officeDocument/2006/relationships/image" Target="../media/image2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 Id="rId3" Type="http://schemas.openxmlformats.org/officeDocument/2006/relationships/image" Target="../media/image20.png"/><Relationship Id="rId4" Type="http://schemas.openxmlformats.org/officeDocument/2006/relationships/image" Target="../media/image2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lvl="1"/>
            <a:r>
              <a:rPr sz="2000"/>
              <a:t>Loop I（2 枚）、フェルミバブル（正・負）、ハロー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背景の成分①〜⑥：何が、どうやってガンマ線を出すか</a:t>
            </a:r>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48640" y="1371600"/>
            <a:ext cx="10789920" cy="4297680"/>
          </a:xfrm>
        </p:spPr>
        <p:txBody>
          <a:bodyPr>
            <a:normAutofit fontScale="92500" lnSpcReduction="10000"/>
          </a:bodyPr>
          <a:lstStyle/>
          <a:p>
            <a:r>
              <a:rPr sz="2600"/>
              <a:t>予測 ＝ f₁ × 型紙₁ ＋ f₂ × 型紙₂ ＋ … ＋ f₉ × 型紙₉</a:t>
            </a:r>
          </a:p>
          <a:p>
            <a:pPr lvl="1"/>
            <a:r>
              <a:rPr sz="2200"/>
              <a:t>型紙は固定。動かすのは係数（倍率）9 個だけ</a:t>
            </a:r>
          </a:p>
          <a:p>
            <a:r>
              <a:rPr sz="2600"/>
              <a:t>尤度：その係数 9 個が「どれだけ良いか」の点数</a:t>
            </a:r>
            <a:endParaRPr lang="en-US" sz="2600"/>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点数が上がる方へは必ず進み、下がる方へもたまに進む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をたとえで見る：霧の山を歩く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3988887" y="2724089"/>
            <a:ext cx="4214225" cy="140982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6"/>
          <a:stretch>
            <a:fillRect/>
          </a:stretch>
        </p:blipFill>
        <p:spPr>
          <a:xfrm>
            <a:off x="2148840" y="1188720"/>
            <a:ext cx="6105832" cy="420624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17.6σ（Totani の同じ形 ρ² は約 14σ）。山の位置も一致。何も無い空で較正すると 14〜15σ（緑）</a:t>
            </a:r>
          </a:p>
          <a:p>
            <a:r>
              <a:rPr sz="2000"/>
              <a:t>緑の幅 = 割る数 1.19〜1.26 の違い（較正に使うエネルギーの選び方。27 枚目）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ハローの形 3 通り：一番合う形も Totani と同じ</a:t>
            </a:r>
          </a:p>
        </p:txBody>
      </p:sp>
      <p:pic>
        <p:nvPicPr>
          <p:cNvPr id="6" name="Picture 5" descr="fig_rho_compare.png"/>
          <p:cNvPicPr>
            <a:picLocks noChangeAspect="1"/>
          </p:cNvPicPr>
          <p:nvPr/>
        </p:nvPicPr>
        <p:blipFill>
          <a:blip r:embed="rId4"/>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r>
              <a:rPr sz="600" b="0"/>
              <a:t/>
            </a:r>
          </a:p>
          <a:p>
            <a:r>
              <a:rPr sz="1600" b="1"/>
              <a:t>20.8 GeV の Δln L（本研究 / Totani）</a:t>
            </a:r>
          </a:p>
          <a:p>
            <a:r>
              <a:rPr sz="1400" b="0"/>
              <a:t>2 乗　 154 / 102</a:t>
            </a:r>
          </a:p>
          <a:p>
            <a:r>
              <a:rPr sz="1400" b="0"/>
              <a:t>2.5 乗 136 / 93</a:t>
            </a:r>
          </a:p>
          <a:p>
            <a:r>
              <a:rPr sz="1400" b="0"/>
              <a:t>1 乗　 111 / 73</a:t>
            </a:r>
          </a:p>
          <a:p>
            <a:r>
              <a:rPr sz="600" b="0"/>
              <a:t/>
            </a:r>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点検で直したこと①：露出マップを公式の方法で作り直した</a:t>
            </a:r>
          </a:p>
        </p:txBody>
      </p:sp>
      <p:sp>
        <p:nvSpPr>
          <p:cNvPr id="3" name="TextBox 2"/>
          <p:cNvSpPr txBox="1"/>
          <p:nvPr/>
        </p:nvSpPr>
        <p:spPr>
          <a:xfrm>
            <a:off x="548640" y="1325880"/>
            <a:ext cx="5852160" cy="4480560"/>
          </a:xfrm>
          <a:prstGeom prst="rect">
            <a:avLst/>
          </a:prstGeom>
          <a:noFill/>
        </p:spPr>
        <p:txBody>
          <a:bodyPr wrap="square">
            <a:spAutoFit/>
          </a:bodyPr>
          <a:lstStyle/>
          <a:p>
            <a:r>
              <a:rPr sz="1700" b="1"/>
              <a:t>露出 = 望遠鏡が各方向をどれだけ見たか</a:t>
            </a:r>
          </a:p>
          <a:p>
            <a:r>
              <a:rPr sz="1400" b="0"/>
              <a:t>全成分の「光子の数の予測」に掛かる</a:t>
            </a:r>
          </a:p>
          <a:p>
            <a:r>
              <a:rPr sz="600" b="0"/>
              <a:t/>
            </a:r>
          </a:p>
          <a:p>
            <a:r>
              <a:rPr sz="1600" b="1"/>
              <a:t>前：自作の近似（Totani と違う）</a:t>
            </a:r>
          </a:p>
          <a:p>
            <a:r>
              <a:rPr sz="1400" b="0"/>
              <a:t>角度による感度を大ざっぱな式で近似</a:t>
            </a:r>
          </a:p>
          <a:p>
            <a:r>
              <a:rPr sz="1400" b="0"/>
              <a:t>地球の近くを見た時間を除いていなかった</a:t>
            </a:r>
          </a:p>
          <a:p>
            <a:r>
              <a:rPr sz="600" b="0"/>
              <a:t/>
            </a:r>
          </a:p>
          <a:p>
            <a:r>
              <a:rPr sz="1600" b="1"/>
              <a:t>今：公式の較正表 + 観測時間（gtltcube と同じ考え方）</a:t>
            </a:r>
          </a:p>
          <a:p>
            <a:r>
              <a:rPr sz="1400" b="0"/>
              <a:t>Fermi 公式の有効面積（UltraClean）</a:t>
            </a:r>
          </a:p>
          <a:p>
            <a:r>
              <a:rPr sz="1400" b="0"/>
              <a:t>天頂角 100° 以上の時間を除く（光子と同じ条件）</a:t>
            </a:r>
          </a:p>
          <a:p>
            <a:r>
              <a:rPr sz="600" b="0"/>
              <a:t/>
            </a:r>
          </a:p>
          <a:p>
            <a:r>
              <a:rPr sz="1500" b="1"/>
              <a:t>場所によって形が 0.79〜1.05 倍ずれていた</a:t>
            </a:r>
          </a:p>
        </p:txBody>
      </p:sp>
      <p:graphicFrame>
        <p:nvGraphicFramePr>
          <p:cNvPr id="4" name="Table 3"/>
          <p:cNvGraphicFramePr>
            <a:graphicFrameLocks noGrp="1"/>
          </p:cNvGraphicFramePr>
          <p:nvPr/>
        </p:nvGraphicFramePr>
        <p:xfrm>
          <a:off x="6583680" y="1463040"/>
          <a:ext cx="5212080" cy="1645920"/>
        </p:xfrm>
        <a:graphic>
          <a:graphicData uri="http://schemas.openxmlformats.org/drawingml/2006/table">
            <a:tbl>
              <a:tblPr firstRow="1" bandRow="1">
                <a:tableStyleId>{5C22544A-7EE6-4342-B048-85BDC9FD1C3A}</a:tableStyleId>
              </a:tblPr>
              <a:tblGrid>
                <a:gridCol w="1737360"/>
                <a:gridCol w="1737360"/>
                <a:gridCol w="1737360"/>
              </a:tblGrid>
              <a:tr h="411480">
                <a:tc>
                  <a:txBody>
                    <a:bodyPr/>
                    <a:lstStyle/>
                    <a:p>
                      <a:r>
                        <a:rPr sz="1500" b="1"/>
                        <a:t>20.8 GeV（ρ²）</a:t>
                      </a:r>
                    </a:p>
                  </a:txBody>
                  <a:tcPr/>
                </a:tc>
                <a:tc>
                  <a:txBody>
                    <a:bodyPr/>
                    <a:lstStyle/>
                    <a:p>
                      <a:r>
                        <a:rPr sz="1500" b="1"/>
                        <a:t>前</a:t>
                      </a:r>
                    </a:p>
                  </a:txBody>
                  <a:tcPr/>
                </a:tc>
                <a:tc>
                  <a:txBody>
                    <a:bodyPr/>
                    <a:lstStyle/>
                    <a:p>
                      <a:r>
                        <a:rPr sz="1500" b="1"/>
                        <a:t>今</a:t>
                      </a:r>
                    </a:p>
                  </a:txBody>
                  <a:tcPr/>
                </a:tc>
              </a:tr>
              <a:tr h="411480">
                <a:tc>
                  <a:txBody>
                    <a:bodyPr/>
                    <a:lstStyle/>
                    <a:p>
                      <a:r>
                        <a:rPr sz="1500" b="0"/>
                        <a:t>強さ</a:t>
                      </a:r>
                    </a:p>
                  </a:txBody>
                  <a:tcPr/>
                </a:tc>
                <a:tc>
                  <a:txBody>
                    <a:bodyPr/>
                    <a:lstStyle/>
                    <a:p>
                      <a:r>
                        <a:rPr sz="1500" b="0"/>
                        <a:t>19.0σ</a:t>
                      </a:r>
                    </a:p>
                  </a:txBody>
                  <a:tcPr/>
                </a:tc>
                <a:tc>
                  <a:txBody>
                    <a:bodyPr/>
                    <a:lstStyle/>
                    <a:p>
                      <a:r>
                        <a:rPr sz="1500" b="1"/>
                        <a:t>17.6σ</a:t>
                      </a:r>
                    </a:p>
                  </a:txBody>
                  <a:tcPr/>
                </a:tc>
              </a:tr>
              <a:tr h="411480">
                <a:tc>
                  <a:txBody>
                    <a:bodyPr/>
                    <a:lstStyle/>
                    <a:p>
                      <a:r>
                        <a:rPr sz="1500" b="0"/>
                        <a:t>Totani（14.3σ）との比</a:t>
                      </a:r>
                    </a:p>
                  </a:txBody>
                  <a:tcPr/>
                </a:tc>
                <a:tc>
                  <a:txBody>
                    <a:bodyPr/>
                    <a:lstStyle/>
                    <a:p>
                      <a:r>
                        <a:rPr sz="1500" b="0"/>
                        <a:t>1.33 倍</a:t>
                      </a:r>
                    </a:p>
                  </a:txBody>
                  <a:tcPr/>
                </a:tc>
                <a:tc>
                  <a:txBody>
                    <a:bodyPr/>
                    <a:lstStyle/>
                    <a:p>
                      <a:r>
                        <a:rPr sz="1500" b="1"/>
                        <a:t>1.23 倍</a:t>
                      </a:r>
                    </a:p>
                  </a:txBody>
                  <a:tcPr/>
                </a:tc>
              </a:tr>
              <a:tr h="411480">
                <a:tc>
                  <a:txBody>
                    <a:bodyPr/>
                    <a:lstStyle/>
                    <a:p>
                      <a:r>
                        <a:rPr sz="1500" b="0"/>
                        <a:t>較正後</a:t>
                      </a:r>
                    </a:p>
                  </a:txBody>
                  <a:tcPr/>
                </a:tc>
                <a:tc>
                  <a:txBody>
                    <a:bodyPr/>
                    <a:lstStyle/>
                    <a:p>
                      <a:r>
                        <a:rPr sz="1500" b="0"/>
                        <a:t>15〜16σ</a:t>
                      </a:r>
                    </a:p>
                  </a:txBody>
                  <a:tcPr/>
                </a:tc>
                <a:tc>
                  <a:txBody>
                    <a:bodyPr/>
                    <a:lstStyle/>
                    <a:p>
                      <a:r>
                        <a:rPr sz="1500" b="1"/>
                        <a:t>14〜15σ</a:t>
                      </a:r>
                    </a:p>
                  </a:txBody>
                  <a:tcPr/>
                </a:tc>
              </a:tr>
            </a:tbl>
          </a:graphicData>
        </a:graphic>
      </p:graphicFrame>
      <p:sp>
        <p:nvSpPr>
          <p:cNvPr id="5" name="TextBox 4"/>
          <p:cNvSpPr txBox="1"/>
          <p:nvPr/>
        </p:nvSpPr>
        <p:spPr>
          <a:xfrm>
            <a:off x="6583680" y="3429000"/>
            <a:ext cx="5212080" cy="1463040"/>
          </a:xfrm>
          <a:prstGeom prst="rect">
            <a:avLst/>
          </a:prstGeom>
          <a:noFill/>
        </p:spPr>
        <p:txBody>
          <a:bodyPr wrap="square">
            <a:spAutoFit/>
          </a:bodyPr>
          <a:lstStyle/>
          <a:p>
            <a:r>
              <a:rPr sz="1600" b="1"/>
              <a:t>→ Totani との差の一部は、露出の近似が原因だった</a:t>
            </a:r>
          </a:p>
          <a:p>
            <a:r>
              <a:rPr sz="1400"/>
              <a:t>山の位置・形・合うハローの形の順番は変わらない</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1.43 → 0.61（20.8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17.6σ → 4.6σ に落ちる</a:t>
            </a:r>
          </a:p>
          <a:p>
            <a:pPr lvl="1"/>
            <a:r>
              <a:rPr sz="2000"/>
              <a:t>ハローは、本当は ICS やバブルの間違いでは？</a:t>
            </a:r>
          </a:p>
          <a:p>
            <a:r>
              <a:rPr sz="2400"/>
              <a:t>② 何も無い空でも、最大 4.4σ が出る</a:t>
            </a:r>
          </a:p>
          <a:p>
            <a:pPr lvl="1"/>
            <a:r>
              <a:rPr sz="2000"/>
              <a:t>σ をそのまま信じてよいのか？</a:t>
            </a:r>
          </a:p>
          <a:p>
            <a:r>
              <a:rPr sz="2400"/>
              <a:t>→ 次から、1 つずつ調べた結果</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53% がバブル領域（面積は 35%）に集中</a:t>
            </a:r>
          </a:p>
          <a:p>
            <a:r>
              <a:rPr sz="2200"/>
              <a:t>手がかりの減り方だけで予測すると 5.8σ、実測 4.6σ</a:t>
            </a:r>
          </a:p>
          <a:p>
            <a:r>
              <a:rPr sz="2200"/>
              <a:t>同じ形の領域を横にずらして外すと 13.3〜15.0σ</a:t>
            </a:r>
          </a:p>
          <a:p>
            <a:r>
              <a:rPr sz="2200"/>
              <a:t>→ 17.6 → 4.6σ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2.1 倍明るければ、ハローの改善の 93% を ICS が説明</a:t>
            </a:r>
          </a:p>
          <a:p>
            <a:r>
              <a:rPr sz="2200"/>
              <a:t>ICS の計算の近似（等方近似）を直しても 1.1〜1.3 倍</a:t>
            </a:r>
          </a:p>
          <a:p>
            <a:pPr lvl="1"/>
            <a:r>
              <a:rPr sz="1800"/>
              <a:t>しかも外側のほうが大きくなる → 2.1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5"/>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r>
              <a:rPr sz="800" b="0"/>
              <a:t/>
            </a:r>
          </a:p>
          <a:p>
            <a:r>
              <a:rPr sz="1600" b="1"/>
              <a:t>ビン 1（1.5 GeV）を外す理由</a:t>
            </a:r>
          </a:p>
          <a:p>
            <a:r>
              <a:rPr sz="1400" b="0"/>
              <a:t>望遠鏡のぼやけが一番大きい → 背景の型紙のずれがそのまま出て、揺れが 2.2 に跳ねる</a:t>
            </a:r>
          </a:p>
          <a:p>
            <a:r>
              <a:rPr sz="800" b="0"/>
              <a:t/>
            </a:r>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gridCol w="1371600"/>
                <a:gridCol w="1828800"/>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194560"/>
        </p:xfrm>
        <a:graphic>
          <a:graphicData uri="http://schemas.openxmlformats.org/drawingml/2006/table">
            <a:tbl>
              <a:tblPr firstRow="1" bandRow="1">
                <a:tableStyleId>{5C22544A-7EE6-4342-B048-85BDC9FD1C3A}</a:tableStyleId>
              </a:tblPr>
              <a:tblGrid>
                <a:gridCol w="2286000"/>
                <a:gridCol w="2651760"/>
                <a:gridCol w="3108960"/>
                <a:gridCol w="3291840"/>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1° のセル</a:t>
                      </a:r>
                    </a:p>
                  </a:txBody>
                  <a:tcPr>
                    <a:solidFill>
                      <a:srgbClr val="F4F4F4"/>
                    </a:solidFill>
                  </a:tcPr>
                </a:tc>
                <a:tc>
                  <a:txBody>
                    <a:bodyPr/>
                    <a:lstStyle/>
                    <a:p>
                      <a:r>
                        <a:rPr sz="1400"/>
                        <a:t>10° のマスでは小さな天体の形が消える（画素は 0.125°）</a:t>
                      </a:r>
                    </a:p>
                  </a:txBody>
                  <a:tcPr>
                    <a:solidFill>
                      <a:srgbClr val="F4F4F4"/>
                    </a:solidFill>
                  </a:tcPr>
                </a:tc>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4"/>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+3.23σ（何も無い空でも 4.40σ）</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1.8</a:t>
            </a:r>
          </a:p>
          <a:p>
            <a:r>
              <a:rPr sz="2400"/>
              <a:t>実測 T = 0.42 → ずれ 1.4σ</a:t>
            </a:r>
          </a:p>
          <a:p>
            <a:r>
              <a:rPr sz="2400"/>
              <a:t>ただし、ここでは J に誤差は無いとしていた</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1.8</a:t>
            </a:r>
          </a:p>
          <a:p>
            <a:pPr lvl="1"/>
            <a:r>
              <a:rPr sz="2000"/>
              <a:t>誤差あり：E[T] = Σ w_i pred_i 10^δ_i / √Σ w_i²  ← δ でばらつく</a:t>
            </a:r>
          </a:p>
          <a:p>
            <a:r>
              <a:rPr sz="2400"/>
              <a:t>実測 T にも測定の揺れ s がある（s = 1、または空で測った 1.19）</a:t>
            </a:r>
          </a:p>
          <a:p>
            <a:r>
              <a:rPr sz="2400"/>
              <a:t>暗黒物質ありで、実測 0.42 以下になる確率</a:t>
            </a:r>
          </a:p>
          <a:p>
            <a:pPr lvl="1"/>
            <a:r>
              <a:rPr sz="2000"/>
              <a:t>p = （δ について平均）Φ( (0.42 − E[T]) / s )</a:t>
            </a:r>
          </a:p>
          <a:p>
            <a:r>
              <a:rPr sz="2400"/>
              <a:t>p を σ に直したもの =「ずれ」</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4"/>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1.4〜5σ に広がる。実測 0.4σ ± 1.19。ずれ 1.4σ</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1.8、ずれ 1.4σ（s = 1.19 なら 1.2σ）</a:t>
            </a:r>
          </a:p>
          <a:p>
            <a:pPr lvl="1"/>
            <a:r>
              <a:rPr sz="2000"/>
              <a:t>J の誤差あり：期待 2.6（68% で 1.4–5）、ずれ 1.5σ（1.4σ）</a:t>
            </a:r>
          </a:p>
          <a:p>
            <a:r>
              <a:rPr sz="2400"/>
              <a:t>天の川側の局所密度を 0.3〜0.6 GeV/cm³ で動かしても</a:t>
            </a:r>
          </a:p>
          <a:p>
            <a:pPr lvl="1"/>
            <a:r>
              <a:rPr sz="2000"/>
              <a:t>ずれは較正後 0.7〜2.2σ</a:t>
            </a:r>
          </a:p>
          <a:p>
            <a:r>
              <a:rPr sz="2400"/>
              <a:t>→ 暗黒物質と矛盾はしないが、確認もできない（判定できない。ずれ 1.4σ）</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1.4σ：矮小銀河での「予測と実測のずれ」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1.4σ → 判定できない</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240</TotalTime>
  <Words>7135</Words>
  <Application>Microsoft Office PowerPoint</Application>
  <PresentationFormat>Widescreen</PresentationFormat>
  <Paragraphs>566</Paragraphs>
  <Slides>46</Slides>
  <Notes>46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46</vt:i4>
      </vt:variant>
    </vt:vector>
  </HeadingPairs>
  <TitlesOfParts>
    <vt:vector size="50" baseType="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背景の成分①〜⑥：何が、どうやってガンマ線を出すか</vt:lpstr>
      <vt:lpstr>成分⑦：ハロー（探しているもの）</vt:lpstr>
      <vt:lpstr>ここからやること：係数 9 個を決めるだけ</vt:lpstr>
      <vt:lpstr>尤度と MCMC の役割分担</vt:lpstr>
      <vt:lpstr>手法③：有意度 σ の出し方</vt:lpstr>
      <vt:lpstr>手法④：MCMC（最良値と誤差）</vt:lpstr>
      <vt:lpstr>MCMC をたとえで見る：霧の山を歩く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ここまでのまとめ</vt:lpstr>
      <vt:lpstr>矮小銀河で確かめる</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つの数字の違い：15σ と 1.3σ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2026-10-03T06:10:17Z</dcterms:modified>
</cp:coreProperties>
</file>