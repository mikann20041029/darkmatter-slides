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316" r:id="rId58"/>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8.xml"/><Relationship Id="rId56" Type="http://schemas.openxmlformats.org/officeDocument/2006/relationships/slide" Target="slides/slide31.xml"/><Relationship Id="rId57" Type="http://schemas.openxmlformats.org/officeDocument/2006/relationships/slide" Target="slides/slide19.xml"/><Relationship Id="rId58"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以前は「天の川と同じ解析をした」と書いていたが誤り。何も無い空は矮小銀河用の解析 (範囲 20°、成分 5 つ、0.125° 画素の尤度)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は矮小銀河 2 kpc、M31 200 kpc で切る。ハローの倍率の数字は天体どうしで比べられない (型紙を ROI 平均 1 にそろえているため)。比べてよいのは有意度。</a:t>
            </a:r>
          </a:p>
          <a:p>
            <a:r>
              <a:t>尤度を 0.125° の画素で組むのは、20° 角の ROI では 10° のマスが 4 個しか取れないため。天の川は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 Id="rId4"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6"/>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4"/>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154 / 102</a:t>
            </a:r>
          </a:p>
          <a:p>
            <a:r>
              <a:rPr sz="1400" b="0"/>
              <a:t>2.5 乗 136 / 93</a:t>
            </a:r>
          </a:p>
          <a:p>
            <a:r>
              <a:rPr sz="1400" b="0"/>
              <a:t>1 乗　 111 / 73</a:t>
            </a:r>
          </a:p>
          <a:p>
            <a:r>
              <a:rPr sz="600" b="0"/>
              <a:t/>
            </a:r>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5.9σ、実測 4.6σ</a:t>
            </a:r>
          </a:p>
          <a:p>
            <a:r>
              <a:rPr sz="2200"/>
              <a:t>同じ形の領域を横にずらして外すと 13.3〜15.0σ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4"/>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r>
              <a:rPr sz="600" b="0"/>
              <a:t/>
            </a:r>
          </a:p>
          <a:p>
            <a:r>
              <a:rPr sz="1600" b="1"/>
              <a:t>前：自作の近似（Totani と違う）</a:t>
            </a:r>
          </a:p>
          <a:p>
            <a:r>
              <a:rPr sz="1400" b="0"/>
              <a:t>角度による感度を大ざっぱな式で近似</a:t>
            </a:r>
          </a:p>
          <a:p>
            <a:r>
              <a:rPr sz="1400" b="0"/>
              <a:t>地球の近くを見た時間を除いていなかった</a:t>
            </a:r>
          </a:p>
          <a:p>
            <a:r>
              <a:rPr sz="600" b="0"/>
              <a:t/>
            </a:r>
          </a:p>
          <a:p>
            <a:r>
              <a:rPr sz="1600" b="1"/>
              <a:t>今：公式の較正表 + 観測時間（gtltcube と同じ考え方）</a:t>
            </a:r>
          </a:p>
          <a:p>
            <a:r>
              <a:rPr sz="1400" b="0"/>
              <a:t>Fermi 公式の有効面積（UltraClean）</a:t>
            </a:r>
          </a:p>
          <a:p>
            <a:r>
              <a:rPr sz="1400" b="0"/>
              <a:t>天頂角 100° 以上の時間を除く（光子と同じ条件）</a:t>
            </a:r>
          </a:p>
          <a:p>
            <a:r>
              <a:rPr sz="600" b="0"/>
              <a:t/>
            </a:r>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gridCol w="1737360"/>
                <a:gridCol w="1737360"/>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tr>
              <a:tr h="411480">
                <a:tc>
                  <a:txBody>
                    <a:bodyPr/>
                    <a:lstStyle/>
                    <a:p>
                      <a:r>
                        <a:rPr sz="1500" b="0"/>
                        <a:t>強さ</a:t>
                      </a:r>
                    </a:p>
                  </a:txBody>
                  <a:tcPr/>
                </a:tc>
                <a:tc>
                  <a:txBody>
                    <a:bodyPr/>
                    <a:lstStyle/>
                    <a:p>
                      <a:r>
                        <a:rPr sz="1500" b="0"/>
                        <a:t>19.0σ</a:t>
                      </a:r>
                    </a:p>
                  </a:txBody>
                  <a:tcPr/>
                </a:tc>
                <a:tc>
                  <a:txBody>
                    <a:bodyPr/>
                    <a:lstStyle/>
                    <a:p>
                      <a:r>
                        <a:rPr sz="1500" b="1"/>
                        <a:t>17.6σ</a:t>
                      </a:r>
                    </a:p>
                  </a:txBody>
                  <a:tcPr/>
                </a:tc>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tr>
              <a:tr h="411480">
                <a:tc>
                  <a:txBody>
                    <a:bodyPr/>
                    <a:lstStyle/>
                    <a:p>
                      <a:r>
                        <a:rPr sz="1500" b="0"/>
                        <a:t>較正後</a:t>
                      </a:r>
                    </a:p>
                  </a:txBody>
                  <a:tcPr/>
                </a:tc>
                <a:tc>
                  <a:txBody>
                    <a:bodyPr/>
                    <a:lstStyle/>
                    <a:p>
                      <a:r>
                        <a:rPr sz="1500" b="0"/>
                        <a:t>15〜16σ</a:t>
                      </a:r>
                    </a:p>
                  </a:txBody>
                  <a:tcPr/>
                </a:tc>
                <a:tc>
                  <a:txBody>
                    <a:bodyPr/>
                    <a:lstStyle/>
                    <a:p>
                      <a:r>
                        <a:rPr sz="1500" b="1"/>
                        <a:t>14〜15σ</a:t>
                      </a:r>
                    </a:p>
                  </a:txBody>
                  <a:tcPr/>
                </a:tc>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