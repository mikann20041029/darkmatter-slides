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8"/>
  </p:notesMasterIdLst>
  <p:sldIdLst>
    <p:sldId id="256" r:id="rId2"/>
    <p:sldId id="257" r:id="rId3"/>
    <p:sldId id="258" r:id="rId4"/>
    <p:sldId id="259" r:id="rId5"/>
    <p:sldId id="312" r:id="rId6"/>
    <p:sldId id="307" r:id="rId7"/>
    <p:sldId id="308" r:id="rId8"/>
    <p:sldId id="294" r:id="rId9"/>
    <p:sldId id="261" r:id="rId10"/>
    <p:sldId id="262" r:id="rId11"/>
    <p:sldId id="295" r:id="rId12"/>
    <p:sldId id="296" r:id="rId13"/>
    <p:sldId id="297" r:id="rId14"/>
    <p:sldId id="298" r:id="rId15"/>
    <p:sldId id="309" r:id="rId16"/>
    <p:sldId id="299" r:id="rId17"/>
    <p:sldId id="300" r:id="rId18"/>
    <p:sldId id="263" r:id="rId19"/>
    <p:sldId id="264" r:id="rId20"/>
    <p:sldId id="310" r:id="rId21"/>
    <p:sldId id="311" r:id="rId22"/>
    <p:sldId id="265" r:id="rId23"/>
    <p:sldId id="266" r:id="rId24"/>
    <p:sldId id="267" r:id="rId25"/>
    <p:sldId id="268" r:id="rId26"/>
    <p:sldId id="269"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8631C4B-C2FB-4DFF-B7D9-28DD25A7F289}" v="1" dt="2026-10-03T03:36:53.52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445" autoAdjust="0"/>
    <p:restoredTop sz="94660"/>
  </p:normalViewPr>
  <p:slideViewPr>
    <p:cSldViewPr snapToGrid="0" showGuides="1">
      <p:cViewPr varScale="1">
        <p:scale>
          <a:sx n="95" d="100"/>
          <a:sy n="95" d="100"/>
        </p:scale>
        <p:origin x="206" y="67"/>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microsoft.com/office/2016/11/relationships/changesInfo" Target="changesInfos/changesInfo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custSel delSld modSld">
      <pc:chgData name="202304239" userId="ab1adf7a-b8eb-4038-b404-de23e20d8a3a" providerId="ADAL" clId="{6C0E59ED-D716-49AF-B2FA-B94E7B8E5A8C}" dt="2026-10-03T04:13:39.011" v="59" actId="27614"/>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pc:chgData name="202304239" userId="ab1adf7a-b8eb-4038-b404-de23e20d8a3a" providerId="ADAL" clId="{6C0E59ED-D716-49AF-B2FA-B94E7B8E5A8C}" dt="2026-10-02T01:13:59.581" v="0"/>
        <pc:sldMkLst>
          <pc:docMk/>
          <pc:sldMk cId="0" sldId="259"/>
        </pc:sldMkLst>
        <pc:spChg chg="mod">
          <ac:chgData name="202304239" userId="ab1adf7a-b8eb-4038-b404-de23e20d8a3a" providerId="ADAL" clId="{6C0E59ED-D716-49AF-B2FA-B94E7B8E5A8C}" dt="2026-10-02T01:13:59.581" v="0"/>
          <ac:spMkLst>
            <pc:docMk/>
            <pc:sldMk cId="0" sldId="259"/>
            <ac:spMk id="3" creationId="{00000000-0000-0000-0000-000000000000}"/>
          </ac:spMkLst>
        </pc:spChg>
      </pc:sldChg>
      <pc:sldChg chg="delSp del mod">
        <pc:chgData name="202304239" userId="ab1adf7a-b8eb-4038-b404-de23e20d8a3a" providerId="ADAL" clId="{6C0E59ED-D716-49AF-B2FA-B94E7B8E5A8C}" dt="2026-10-03T03:37:35.283" v="54" actId="47"/>
        <pc:sldMkLst>
          <pc:docMk/>
          <pc:sldMk cId="0" sldId="260"/>
        </pc:sldMkLst>
        <pc:picChg chg="del">
          <ac:chgData name="202304239" userId="ab1adf7a-b8eb-4038-b404-de23e20d8a3a" providerId="ADAL" clId="{6C0E59ED-D716-49AF-B2FA-B94E7B8E5A8C}" dt="2026-10-03T03:36:34.391" v="30" actId="478"/>
          <ac:picMkLst>
            <pc:docMk/>
            <pc:sldMk cId="0" sldId="260"/>
            <ac:picMk id="6" creationId="{00000000-0000-0000-0000-000000000000}"/>
          </ac:picMkLst>
        </pc:picChg>
      </pc:sldChg>
      <pc:sldChg chg="addSp modSp mod">
        <pc:chgData name="202304239" userId="ab1adf7a-b8eb-4038-b404-de23e20d8a3a" providerId="ADAL" clId="{6C0E59ED-D716-49AF-B2FA-B94E7B8E5A8C}" dt="2026-10-03T04:13:39.011" v="59" actId="27614"/>
        <pc:sldMkLst>
          <pc:docMk/>
          <pc:sldMk cId="0" sldId="295"/>
        </pc:sldMkLst>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modSp mod">
        <pc:chgData name="202304239" userId="ab1adf7a-b8eb-4038-b404-de23e20d8a3a" providerId="ADAL" clId="{6C0E59ED-D716-49AF-B2FA-B94E7B8E5A8C}" dt="2026-10-03T03:37:06.765" v="53" actId="20577"/>
        <pc:sldMkLst>
          <pc:docMk/>
          <pc:sldMk cId="0" sldId="308"/>
        </pc:sldMkLst>
        <pc:spChg chg="mod">
          <ac:chgData name="202304239" userId="ab1adf7a-b8eb-4038-b404-de23e20d8a3a" providerId="ADAL" clId="{6C0E59ED-D716-49AF-B2FA-B94E7B8E5A8C}" dt="2026-10-03T03:37:06.765" v="53" actId="20577"/>
          <ac:spMkLst>
            <pc:docMk/>
            <pc:sldMk cId="0" sldId="308"/>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を示しており、本文の 13–19σ はそれを σ = √(2Δln L) で σ に直した値。Totani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0.42)、自己相関時間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0.6 以下、有意度の差 0.28σ 以下。確認のためだけで、結果には使っていない。</a:t>
            </a:r>
          </a:p>
          <a:p>
            <a:r>
              <a:t>長さの目安: 自己相関時間 τ (何歩離れたら前の場所を忘れるか) の 50 倍以上が推奨。20.8 GeV で τ ≈ 650 歩なので 3 万歩以上が理想だが、6000 歩。</a:t>
            </a:r>
          </a:p>
          <a:p>
            <a:r>
              <a:t>数字は本人 PC で、Totani と同じやり方で出した値 (10/3、results/mcmc_allbins_gasICS_v20t/)。</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1.40〜1.56)。最良値 1.48 と有意度 19.0σ (本人 PC)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青が本研究 (10/3、本人 PC で Totani と同じやり方 = MCMC で最良値。results/mcmc_allbins_gasICS_v20t/)、赤が Totani Fig. 9。</a:t>
            </a:r>
          </a:p>
          <a:p>
            <a:r>
              <a:t>緑は青を 1.26 で割ったもの。1.26 = 何も無い空 23 か所で同じ解析をしたときの σ のばらつき (本当は 1 になるはず)。薄い緑の帯は 1.26 の 95% 区間 (1.14–1.39) で割った範囲。20.8 GeV で 15.1σ (13.7–16.7σ)。</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1.26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 予測フラックス ÷ 各天体の測定誤差。</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15σ は「ハローがあるか」の強さ、1.3σ は「天の川と矮小銀河が食い違うか」の強さ。</a:t>
            </a:r>
          </a:p>
          <a:p>
            <a:r>
              <a:t>どちらも Wilks の定理だけに頼らず、何も無い空で較正した値 (1.26)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lvl="1"/>
            <a:r>
              <a:rPr sz="2000"/>
              <a:t>Loop I（2 枚）、フェルミバブル（正・負）、ハロー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背景の成分①〜⑥：何が、どうやってガンマ線を出すか</a:t>
            </a:r>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48640" y="1371600"/>
            <a:ext cx="10789920" cy="4297680"/>
          </a:xfrm>
        </p:spPr>
        <p:txBody>
          <a:bodyPr>
            <a:normAutofit fontScale="92500" lnSpcReduction="10000"/>
          </a:bodyPr>
          <a:lstStyle/>
          <a:p>
            <a:r>
              <a:rPr sz="2600"/>
              <a:t>予測 ＝ f₁ × 型紙₁ ＋ f₂ × 型紙₂ ＋ … ＋ f₉ × 型紙₉</a:t>
            </a:r>
          </a:p>
          <a:p>
            <a:pPr lvl="1"/>
            <a:r>
              <a:rPr sz="2200"/>
              <a:t>型紙は固定。動かすのは係数（倍率）9 個だけ</a:t>
            </a:r>
          </a:p>
          <a:p>
            <a:r>
              <a:rPr sz="2600"/>
              <a:t>尤度：その係数 9 個が「どれだけ良いか」の点数</a:t>
            </a:r>
            <a:endParaRPr lang="en-US" sz="2600"/>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点数が上がる方へは必ず進み、下がる方へもたまに進む</a:t>
            </a:r>
          </a:p>
          <a:p>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の 13–19σ も同じ）</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をたとえで見る：霧の山を歩く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548640" y="1371600"/>
            <a:ext cx="5669280" cy="4297680"/>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1.48</a:t>
            </a:r>
          </a:p>
          <a:p>
            <a:r>
              <a:rPr sz="1800"/>
              <a:t>足あとの広がり → 誤差</a:t>
            </a:r>
          </a:p>
          <a:p>
            <a:pPr lvl="1"/>
            <a:r>
              <a:rPr sz="1500"/>
              <a:t>最初の 2000 歩（ふもとから登っている途中）は捨て、残りの下から 16%〜84%</a:t>
            </a:r>
          </a:p>
          <a:p>
            <a:pPr lvl="1"/>
            <a:r>
              <a:rPr sz="1500"/>
              <a:t>20.8 GeV：1.40〜1.56</a:t>
            </a:r>
          </a:p>
          <a:p>
            <a:r>
              <a:rPr sz="1800"/>
              <a:t>有意度：ハローあり・なしの山を別々に歩く</a:t>
            </a:r>
          </a:p>
          <a:p>
            <a:pPr lvl="1"/>
            <a:r>
              <a:rPr sz="1500"/>
              <a:t>それぞれの一番高い足あとの高さの差 Δln L → σ = √(2Δln L)</a:t>
            </a:r>
          </a:p>
          <a:p>
            <a:pPr lvl="1"/>
            <a:r>
              <a:rPr sz="1500"/>
              <a:t>20.8 GeV：19.0σ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0" name="Picture 9"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20.8 GeV で 19.0σ（Totani は 13–19σ）。山の位置も一致。何も無い空で較正すると約 15σ（緑）</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6035040"/>
            <a:ext cx="6093372" cy="923330"/>
          </a:xfrm>
          <a:prstGeom prst="rect">
            <a:avLst/>
          </a:prstGeom>
          <a:noFill/>
        </p:spPr>
        <p:txBody>
          <a:bodyPr wrap="square">
            <a:spAutoFit/>
          </a:bodyPr>
          <a:lstStyle/>
          <a:p>
            <a:r>
              <a:rPr lang="en-US" sz="1400" b="1"/>
              <a:t>Reference:</a:t>
            </a:r>
            <a:r>
              <a:rPr lang="en-US" sz="1400"/>
              <a:t> T. Totani (2025), arXiv:2507.07209 Fig. 9</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1.39 → 0.48（20.8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19.0σ → 5.0σ に落ちる</a:t>
            </a:r>
          </a:p>
          <a:p>
            <a:pPr lvl="1"/>
            <a:r>
              <a:rPr sz="2000"/>
              <a:t>ハローは、本当は ICS やバブルの間違いでは？</a:t>
            </a:r>
          </a:p>
          <a:p>
            <a:r>
              <a:rPr sz="2400"/>
              <a:t>② 何も無い空でも、最大 4.5σ が出る</a:t>
            </a:r>
          </a:p>
          <a:p>
            <a:pPr lvl="1"/>
            <a:r>
              <a:rPr sz="2000"/>
              <a:t>σ をそのまま信じてよいのか？</a:t>
            </a:r>
          </a:p>
          <a:p>
            <a:r>
              <a:rPr sz="2400"/>
              <a:t>→ 次から、1 つずつ調べた結果</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54% がバブル領域（面積は 34%）に集中</a:t>
            </a:r>
          </a:p>
          <a:p>
            <a:r>
              <a:rPr sz="2200"/>
              <a:t>手がかりの減り方だけで予測すると 6.4σ、実測 5.0σ</a:t>
            </a:r>
          </a:p>
          <a:p>
            <a:r>
              <a:rPr sz="2200"/>
              <a:t>同じ形の領域を横にずらして外すと 15〜16σ</a:t>
            </a:r>
          </a:p>
          <a:p>
            <a:r>
              <a:rPr sz="2200"/>
              <a:t>→ 19 → 5σ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2.3 倍明るければ、ハローの改善の 92% を ICS が説明</a:t>
            </a:r>
          </a:p>
          <a:p>
            <a:r>
              <a:rPr sz="2200"/>
              <a:t>ICS の計算の近似（等方近似）を直しても 1.1〜1.3 倍</a:t>
            </a:r>
          </a:p>
          <a:p>
            <a:pPr lvl="1"/>
            <a:r>
              <a:rPr sz="1800"/>
              <a:t>しかも外側のほうが大きくなる → 2.3 倍には届かない</a:t>
            </a:r>
          </a:p>
          <a:p>
            <a:r>
              <a:rPr sz="2200"/>
              <a:t>ICS を 3 種類に分けて、それぞれ自由に動かしても</a:t>
            </a:r>
          </a:p>
          <a:p>
            <a:pPr lvl="1"/>
            <a:r>
              <a:rPr sz="1800"/>
              <a:t>19.0σ → 17.8σ（約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か所で、天の川と同じ解析をした</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実際のばらつき：1.26（95% 区間 1.14–1.39）</a:t>
            </a:r>
          </a:p>
          <a:p>
            <a:pPr lvl="1"/>
            <a:r>
              <a:rPr sz="1800"/>
              <a:t>σ は 1.26 倍大きく出ている</a:t>
            </a:r>
          </a:p>
          <a:p>
            <a:r>
              <a:rPr sz="2200"/>
              <a:t>19.0σ を較正すると 19.0 ÷ 1.26 ≈ 15σ（13.7–16.7σ）</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3" name="Picture 2" descr="fig_null_variance.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どのエネルギーでもばらつきは 1 より大きい（光子が十分ある範囲）</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1.26 倍の過大評価 → 較正すると約 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3" name="Picture 2" descr="fig_dwarf_results.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+3.46σ（何も無い空でも 4.50σ）</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1.77</a:t>
            </a:r>
          </a:p>
          <a:p>
            <a:r>
              <a:rPr sz="2400"/>
              <a:t>実測 T = 0.39 → ずれ 1.4σ</a:t>
            </a:r>
          </a:p>
          <a:p>
            <a:r>
              <a:rPr sz="2400"/>
              <a:t>ただし、ここでは J に誤差は無いとしていた</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1.77</a:t>
            </a:r>
          </a:p>
          <a:p>
            <a:pPr lvl="1"/>
            <a:r>
              <a:rPr sz="2000"/>
              <a:t>誤差あり：E[T] = Σ w_i pred_i 10^δ_i / √Σ w_i²  ← δ でばらつく</a:t>
            </a:r>
          </a:p>
          <a:p>
            <a:r>
              <a:rPr sz="2400"/>
              <a:t>実測 T にも測定の揺れ s がある（s = 1、または空で測った 1.26）</a:t>
            </a:r>
          </a:p>
          <a:p>
            <a:r>
              <a:rPr sz="2400"/>
              <a:t>暗黒物質ありで、実測 0.39 以下になる確率</a:t>
            </a:r>
          </a:p>
          <a:p>
            <a:pPr lvl="1"/>
            <a:r>
              <a:rPr sz="2000"/>
              <a:t>p = （δ について平均）Φ( (0.39 − E[T]) / s )</a:t>
            </a:r>
          </a:p>
          <a:p>
            <a:r>
              <a:rPr sz="2400"/>
              <a:t>p を σ に直したもの =「ずれ」</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5" name="Picture 4" descr="fig_dwarf_J_uncertainty_totani.png"/>
          <p:cNvPicPr>
            <a:picLocks noChangeAspect="1"/>
          </p:cNvPicPr>
          <p:nvPr/>
        </p:nvPicPr>
        <p:blipFill>
          <a:blip r:embed="rId3"/>
          <a:srcRect/>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1.4〜5.1σ に広がる。実測 0.4σ ± 1.26。ずれ 1.3σ</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1.77、ずれ 1.4σ（s = 1.26 なら 1.1σ）</a:t>
            </a:r>
          </a:p>
          <a:p>
            <a:pPr lvl="1"/>
            <a:r>
              <a:rPr sz="2000"/>
              <a:t>J の誤差あり：期待 2.5（68% で 1.4–5.1）、ずれ 1.5σ（1.3σ）</a:t>
            </a:r>
          </a:p>
          <a:p>
            <a:r>
              <a:rPr sz="2400"/>
              <a:t>天の川側の局所密度を 0.3〜0.6 GeV/cm³ で動かしても</a:t>
            </a:r>
          </a:p>
          <a:p>
            <a:pPr lvl="1"/>
            <a:r>
              <a:rPr sz="2000"/>
              <a:t>ずれは較正後 2.4σ 以下</a:t>
            </a:r>
          </a:p>
          <a:p>
            <a:r>
              <a:rPr sz="2400"/>
              <a:t>→ 暗黒物質と矛盾はしないが、確認もできない（判定できない）</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つの数字の違い：15σ と 1.3σ</a:t>
            </a:r>
          </a:p>
        </p:txBody>
      </p:sp>
      <p:sp>
        <p:nvSpPr>
          <p:cNvPr id="3" name="Content Placeholder 2"/>
          <p:cNvSpPr>
            <a:spLocks noGrp="1"/>
          </p:cNvSpPr>
          <p:nvPr>
            <p:ph idx="1"/>
          </p:nvPr>
        </p:nvSpPr>
        <p:spPr>
          <a:xfrm>
            <a:off x="841248" y="1463040"/>
            <a:ext cx="10515600" cy="4937760"/>
          </a:xfrm>
        </p:spPr>
        <p:txBody>
          <a:bodyPr/>
          <a:lstStyle/>
          <a:p>
            <a:r>
              <a:rPr sz="2400"/>
              <a:t>約 15σ：天の川のハロー超過の強さ</a:t>
            </a:r>
          </a:p>
          <a:p>
            <a:pPr lvl="1"/>
            <a:r>
              <a:rPr sz="2000"/>
              <a:t>19.0σ を、何も無い空でのばらつき 1.26 で割ったもの</a:t>
            </a:r>
          </a:p>
          <a:p>
            <a:pPr lvl="1"/>
            <a:r>
              <a:rPr sz="2000"/>
              <a:t>「天の川に、背景では説明しにくい何かがある」</a:t>
            </a:r>
          </a:p>
          <a:p>
            <a:r>
              <a:rPr sz="2400"/>
              <a:t>1.3σ：矮小銀河での「予測と実測のずれ」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19.0σ、較正後 約 15σ）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1.3σ → 判定できない</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1.26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235</TotalTime>
  <Words>6678</Words>
  <Application>Microsoft Office PowerPoint</Application>
  <PresentationFormat>Widescreen</PresentationFormat>
  <Paragraphs>553</Paragraphs>
  <Slides>46</Slides>
  <Notes>46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46</vt:i4>
      </vt:variant>
    </vt:vector>
  </HeadingPairs>
  <TitlesOfParts>
    <vt:vector size="50" baseType="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背景の成分①〜⑥：何が、どうやってガンマ線を出すか</vt:lpstr>
      <vt:lpstr>成分⑦：ハロー（探しているもの）</vt:lpstr>
      <vt:lpstr>ここからやること：係数 9 個を決めるだけ</vt:lpstr>
      <vt:lpstr>尤度と MCMC の役割分担</vt:lpstr>
      <vt:lpstr>手法③：有意度 σ の出し方</vt:lpstr>
      <vt:lpstr>手法④：MCMC（最良値と誤差）</vt:lpstr>
      <vt:lpstr>MCMC をたとえで見る：霧の山を歩く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結果：Totani の超過を再現</vt:lpstr>
      <vt:lpstr>問題：ハローと ICS が見分けにくい（縮退）</vt:lpstr>
      <vt:lpstr>なぜ ICS とハローは形が似ているのか</vt:lpstr>
      <vt:lpstr>等方背景が小さく出る理由：なだらかな光の分け方が決まらない</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ここまでのまとめ</vt:lpstr>
      <vt:lpstr>矮小銀河で確かめる</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つの数字の違い：15σ と 1.3σ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2026-10-03T04:13:46Z</dcterms:modified>
</cp:coreProperties>
</file>