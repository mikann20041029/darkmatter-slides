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4"/>
  </p:notesMasterIdLst>
  <p:sldIdLst>
    <p:sldId id="256" r:id="rId2"/>
    <p:sldId id="257" r:id="rId3"/>
    <p:sldId id="258" r:id="rId4"/>
    <p:sldId id="259" r:id="rId5"/>
    <p:sldId id="301" r:id="rId6"/>
    <p:sldId id="302" r:id="rId7"/>
    <p:sldId id="303" r:id="rId8"/>
    <p:sldId id="304" r:id="rId9"/>
    <p:sldId id="305" r:id="rId10"/>
    <p:sldId id="306" r:id="rId11"/>
    <p:sldId id="307" r:id="rId12"/>
    <p:sldId id="308" r:id="rId13"/>
    <p:sldId id="260" r:id="rId14"/>
    <p:sldId id="294" r:id="rId15"/>
    <p:sldId id="261" r:id="rId16"/>
    <p:sldId id="262" r:id="rId17"/>
    <p:sldId id="295" r:id="rId18"/>
    <p:sldId id="296" r:id="rId19"/>
    <p:sldId id="297" r:id="rId20"/>
    <p:sldId id="298" r:id="rId21"/>
    <p:sldId id="309" r:id="rId22"/>
    <p:sldId id="299" r:id="rId23"/>
    <p:sldId id="300" r:id="rId24"/>
    <p:sldId id="263" r:id="rId25"/>
    <p:sldId id="264" r:id="rId26"/>
    <p:sldId id="310" r:id="rId27"/>
    <p:sldId id="311" r:id="rId28"/>
    <p:sldId id="265" r:id="rId29"/>
    <p:sldId id="266" r:id="rId30"/>
    <p:sldId id="267" r:id="rId31"/>
    <p:sldId id="268" r:id="rId32"/>
    <p:sldId id="269" r:id="rId33"/>
    <p:sldId id="271" r:id="rId34"/>
    <p:sldId id="272" r:id="rId35"/>
    <p:sldId id="273" r:id="rId36"/>
    <p:sldId id="274" r:id="rId37"/>
    <p:sldId id="275" r:id="rId38"/>
    <p:sldId id="276" r:id="rId39"/>
    <p:sldId id="277" r:id="rId40"/>
    <p:sldId id="278" r:id="rId41"/>
    <p:sldId id="279" r:id="rId42"/>
    <p:sldId id="280" r:id="rId43"/>
    <p:sldId id="281" r:id="rId44"/>
    <p:sldId id="282" r:id="rId45"/>
    <p:sldId id="283" r:id="rId46"/>
    <p:sldId id="284" r:id="rId47"/>
    <p:sldId id="285" r:id="rId48"/>
    <p:sldId id="286" r:id="rId49"/>
    <p:sldId id="287" r:id="rId50"/>
    <p:sldId id="288" r:id="rId51"/>
    <p:sldId id="289" r:id="rId52"/>
    <p:sldId id="290"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57" d="100"/>
          <a:sy n="57" d="100"/>
        </p:scale>
        <p:origin x="77" y="89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modSld">
      <pc:chgData name="202304239" userId="ab1adf7a-b8eb-4038-b404-de23e20d8a3a" providerId="ADAL" clId="{6C0E59ED-D716-49AF-B2FA-B94E7B8E5A8C}" dt="2026-10-03T03:37:06.765" v="53"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mod">
        <pc:chgData name="202304239" userId="ab1adf7a-b8eb-4038-b404-de23e20d8a3a" providerId="ADAL" clId="{6C0E59ED-D716-49AF-B2FA-B94E7B8E5A8C}" dt="2026-10-03T03:36:34.391" v="30" actId="478"/>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Totani (2025) §2.2 と同じく MCMC (emcee) で行い、歩いた中で ln L が最大の点を最良値とする。</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を示しており、本文の 13–19σ はそれを σ = √(2Δln L) で σ に直した値。Totani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(653〜659 行)。コードは code/mcmc_fit_all_bins.py (Totani 方式の修正 cloud_reports/2026-10-02_totani_bestfit.patch を当てた後の行番号)。</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(630 行、立ち入り禁止のチェック)、log_likelihood (647〜650 行、高度計)、log_probability (653 行、両方を足す)。コードは code/mcmc_fit_all_bins.py (Totani 方式の修正 cloud_reports/2026-10-02_totani_bestfit.patch を当てた後の行番号)。</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(877〜878 行)。メトロポリスの判定そのものは emcee の中にある。コードは code/mcmc_fit_all_bins.py (Totani 方式の修正 cloud_reports/2026-10-02_totani_bestfit.patch を当てた後の行番号)。</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(868 行)、32 人で歩かせる emcee.EnsembleSampler (877 行)。コードは code/mcmc_fit_all_bins.py (Totani 方式の修正 cloud_reports/2026-10-02_totani_bestfit.patch を当てた後の行番号)。</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数字はクラウドの計算機で、Totani と同じやり方で出した値 (cloud_reports/2026-10-02_totani_mode/)。</a:t>
            </a:r>
          </a:p>
          <a:p>
            <a:r>
              <a:t>スクショ候補: 一番高い足あとを探す行 (879〜880 行)、誤差の 16〜84% (926 行)、有意度 (910 行)。コードは code/mcmc_fit_all_bins.py (Totani 方式の修正 cloud_reports/2026-10-02_totani_bestfit.patch を当てた後の行番号)。</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1.42〜1.58)。最良値 1.51 と有意度 19.5σ は捨てる歩数によらず同じ。400 歩のときの誤差は 1.43〜1.61。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(10/2 に Totani と同じやり方 = MCMC で最良値、で計算し直した。クラウドの計算機)、赤が Totani Fig. 9。本人 PC での確定値は後日。</a:t>
            </a:r>
          </a:p>
          <a:p>
            <a:r>
              <a:t>ただしこの 19.5σ は Wilks の定理を信じた「名目の値」。後で較正する。</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1.4〜1.6 倍でほぼ平ら (最良値)。ハローを入れると、ハローが効くビンでだけへこむ。</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6.6σ と実測 5.0σ の残りの差は、バブル外でハローの倍率が 0.77 倍と低いことで説明できる。この内外の差は約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はクラウドの計算機で、Totani と同じやり方で比べた値 (どちらも同じ条件なので、差で言う)。Totani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成分①：等方背景</a:t>
            </a:r>
          </a:p>
        </p:txBody>
      </p:sp>
      <p:sp>
        <p:nvSpPr>
          <p:cNvPr id="3" name="Content Placeholder 2"/>
          <p:cNvSpPr>
            <a:spLocks noGrp="1"/>
          </p:cNvSpPr>
          <p:nvPr>
            <p:ph idx="1"/>
          </p:nvPr>
        </p:nvSpPr>
        <p:spPr>
          <a:xfrm>
            <a:off x="548640" y="1371600"/>
            <a:ext cx="6400800" cy="4297680"/>
          </a:xfrm>
        </p:spPr>
        <p:txBody>
          <a:bodyPr/>
          <a:lstStyle/>
          <a:p>
            <a:r>
              <a:rPr sz="1800"/>
              <a:t>空のどの方向からも、同じ明るさで来るガンマ線</a:t>
            </a:r>
          </a:p>
          <a:p>
            <a:r>
              <a:rPr sz="1800"/>
              <a:t>出どころ：天の川の外の遠い銀河（ブレーザーなど）</a:t>
            </a:r>
          </a:p>
          <a:p>
            <a:pPr lvl="1"/>
            <a:r>
              <a:rPr sz="1500"/>
              <a:t>一つ一つは見分けられないほど暗い光が、たくさん重なったもの</a:t>
            </a:r>
          </a:p>
          <a:p>
            <a:r>
              <a:rPr sz="1800"/>
              <a:t>型紙：空全体で一様（どこも同じ明るさ）</a:t>
            </a:r>
          </a:p>
          <a:p>
            <a:r>
              <a:rPr sz="1800"/>
              <a:t>倍率：0 以上</a:t>
            </a:r>
          </a:p>
          <a:p>
            <a:pPr lvl="1"/>
            <a:r>
              <a:rPr sz="1500"/>
              <a:t>最初の値は E²dN/dE = 10⁻⁴ MeV cm⁻² s⁻¹ sr⁻¹ 相当</a:t>
            </a:r>
          </a:p>
          <a:p>
            <a:r>
              <a:rPr sz="1800"/>
              <a:t>注意：Loop I の殻 1 と形がほぼ同じで、区別しにくい</a:t>
            </a:r>
          </a:p>
        </p:txBody>
      </p:sp>
      <p:pic>
        <p:nvPicPr>
          <p:cNvPr id="4" name="Picture 3" descr="template_iso_counts.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成分②：ガス（π⁰ 崩壊＋制動放射）</a:t>
            </a:r>
          </a:p>
        </p:txBody>
      </p:sp>
      <p:sp>
        <p:nvSpPr>
          <p:cNvPr id="3" name="Content Placeholder 2"/>
          <p:cNvSpPr>
            <a:spLocks noGrp="1"/>
          </p:cNvSpPr>
          <p:nvPr>
            <p:ph idx="1"/>
          </p:nvPr>
        </p:nvSpPr>
        <p:spPr>
          <a:xfrm>
            <a:off x="548640" y="1371600"/>
            <a:ext cx="6400800" cy="4297680"/>
          </a:xfrm>
        </p:spPr>
        <p:txBody>
          <a:bodyPr/>
          <a:lstStyle/>
          <a:p>
            <a:r>
              <a:rPr sz="1800"/>
              <a:t>宇宙線が、星と星の間のガス（主に水素）にぶつかって出すガンマ線</a:t>
            </a:r>
          </a:p>
          <a:p>
            <a:r>
              <a:rPr sz="1800"/>
              <a:t>π⁰ 崩壊</a:t>
            </a:r>
          </a:p>
          <a:p>
            <a:pPr lvl="1"/>
            <a:r>
              <a:rPr sz="1500"/>
              <a:t>宇宙線の陽子が水素の原子核にぶつかる → π⁰ という粒子ができる → すぐ光子 2 個に壊れる</a:t>
            </a:r>
          </a:p>
          <a:p>
            <a:r>
              <a:rPr sz="1800"/>
              <a:t>制動放射</a:t>
            </a:r>
          </a:p>
          <a:p>
            <a:pPr lvl="1"/>
            <a:r>
              <a:rPr sz="1500"/>
              <a:t>宇宙線の電子がガスのそばを通るときに曲げられ、ブレーキがかかって光を出す</a:t>
            </a:r>
          </a:p>
          <a:p>
            <a:r>
              <a:rPr sz="1800"/>
              <a:t>型紙：GALPROP で計算。2 つの比は GALPROP の値に固定して 1 枚</a:t>
            </a:r>
          </a:p>
          <a:p>
            <a:pPr lvl="1"/>
            <a:r>
              <a:rPr sz="1500"/>
              <a:t>ガスの多い銀河面の近くと、ガス雲の模様が明るい</a:t>
            </a:r>
          </a:p>
          <a:p>
            <a:r>
              <a:rPr sz="1800"/>
              <a:t>倍率：0 以上、最初は 1</a:t>
            </a:r>
          </a:p>
        </p:txBody>
      </p:sp>
      <p:pic>
        <p:nvPicPr>
          <p:cNvPr id="4" name="Picture 3" descr="template_gas.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GALPROP v54</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成分③：ICS（逆コンプトン散乱）</a:t>
            </a:r>
          </a:p>
        </p:txBody>
      </p:sp>
      <p:sp>
        <p:nvSpPr>
          <p:cNvPr id="3" name="Content Placeholder 2"/>
          <p:cNvSpPr>
            <a:spLocks noGrp="1"/>
          </p:cNvSpPr>
          <p:nvPr>
            <p:ph idx="1"/>
          </p:nvPr>
        </p:nvSpPr>
        <p:spPr>
          <a:xfrm>
            <a:off x="548640" y="1371600"/>
            <a:ext cx="6400800" cy="4297680"/>
          </a:xfrm>
        </p:spPr>
        <p:txBody>
          <a:bodyPr/>
          <a:lstStyle/>
          <a:p>
            <a:r>
              <a:rPr sz="1800"/>
              <a:t>宇宙線の電子が、まわりの光にぶつかってガンマ線に変える</a:t>
            </a:r>
          </a:p>
          <a:p>
            <a:pPr lvl="1"/>
            <a:r>
              <a:rPr sz="1500"/>
              <a:t>ぶつかる光：星の光、ちりが出す赤外線、宇宙背景放射</a:t>
            </a:r>
          </a:p>
          <a:p>
            <a:r>
              <a:rPr sz="1800"/>
              <a:t>たとえ：速いボール（電子）が軽いピンポン玉（光）をはね飛ばす</a:t>
            </a:r>
          </a:p>
          <a:p>
            <a:pPr lvl="1"/>
            <a:r>
              <a:rPr sz="1500"/>
              <a:t>はね飛ばされたピンポン玉がガンマ線になる</a:t>
            </a:r>
          </a:p>
          <a:p>
            <a:r>
              <a:rPr sz="1800"/>
              <a:t>星の光は銀河の中心ほど多い</a:t>
            </a:r>
          </a:p>
          <a:p>
            <a:pPr lvl="1"/>
            <a:r>
              <a:rPr sz="1500"/>
              <a:t>→ 形は、銀河面と中心付近が明るく、なめらかに広がる</a:t>
            </a:r>
          </a:p>
          <a:p>
            <a:r>
              <a:rPr sz="1800"/>
              <a:t>型紙：GALPROP で計算</a:t>
            </a:r>
          </a:p>
          <a:p>
            <a:r>
              <a:rPr sz="1800"/>
              <a:t>倍率：0 以上、最初は 1</a:t>
            </a:r>
          </a:p>
          <a:p>
            <a:r>
              <a:rPr sz="1800"/>
              <a:t>ハローと形が似ている（縮退の原因）</a:t>
            </a:r>
          </a:p>
        </p:txBody>
      </p:sp>
      <p:pic>
        <p:nvPicPr>
          <p:cNvPr id="4" name="Picture 3" descr="template_ics.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GALPROP v54</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成分④：点源</a:t>
            </a:r>
          </a:p>
        </p:txBody>
      </p:sp>
      <p:sp>
        <p:nvSpPr>
          <p:cNvPr id="3" name="Content Placeholder 2"/>
          <p:cNvSpPr>
            <a:spLocks noGrp="1"/>
          </p:cNvSpPr>
          <p:nvPr>
            <p:ph idx="1"/>
          </p:nvPr>
        </p:nvSpPr>
        <p:spPr>
          <a:xfrm>
            <a:off x="548640" y="1371600"/>
            <a:ext cx="6400800" cy="4297680"/>
          </a:xfrm>
        </p:spPr>
        <p:txBody>
          <a:bodyPr/>
          <a:lstStyle/>
          <a:p>
            <a:r>
              <a:rPr sz="1800"/>
              <a:t>一つ一つ位置が分かっている天体</a:t>
            </a:r>
          </a:p>
          <a:p>
            <a:pPr lvl="1"/>
            <a:r>
              <a:rPr sz="1500"/>
              <a:t>パルサー（回転する中性子星）、ブレーザー（遠い銀河の中心）など</a:t>
            </a:r>
          </a:p>
          <a:p>
            <a:r>
              <a:rPr sz="1800"/>
              <a:t>型紙：Fermi-LAT の天体カタログ（4FGL-DR4）から作る</a:t>
            </a:r>
          </a:p>
          <a:p>
            <a:pPr lvl="1"/>
            <a:r>
              <a:rPr sz="1500"/>
              <a:t>位置と、カタログに書かれた明るさのエネルギー変化</a:t>
            </a:r>
          </a:p>
          <a:p>
            <a:pPr lvl="1"/>
            <a:r>
              <a:rPr sz="1500"/>
              <a:t>望遠鏡のぼやけ（PSF）で点を広げる。ぼやけはエネルギーで変わる</a:t>
            </a:r>
          </a:p>
          <a:p>
            <a:r>
              <a:rPr sz="1800"/>
              <a:t>全部の点源をまとめて 1 枚、倍率 1 個</a:t>
            </a:r>
          </a:p>
          <a:p>
            <a:r>
              <a:rPr sz="1800"/>
              <a:t>倍率：0 以上、最初は 1</a:t>
            </a:r>
          </a:p>
          <a:p>
            <a:r>
              <a:rPr sz="1800"/>
              <a:t>大きく広がった天体（拡張源）は解析から外す</a:t>
            </a:r>
          </a:p>
          <a:p>
            <a:pPr lvl="1"/>
            <a:r>
              <a:rPr sz="1500"/>
              <a:t>長半径の 2 倍の円（地図の白い丸）</a:t>
            </a:r>
          </a:p>
        </p:txBody>
      </p:sp>
      <p:pic>
        <p:nvPicPr>
          <p:cNvPr id="4" name="Picture 3" descr="template_ps.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成分⑤：Loop I</a:t>
            </a:r>
          </a:p>
        </p:txBody>
      </p:sp>
      <p:sp>
        <p:nvSpPr>
          <p:cNvPr id="3" name="Content Placeholder 2"/>
          <p:cNvSpPr>
            <a:spLocks noGrp="1"/>
          </p:cNvSpPr>
          <p:nvPr>
            <p:ph idx="1"/>
          </p:nvPr>
        </p:nvSpPr>
        <p:spPr>
          <a:xfrm>
            <a:off x="548640" y="1371600"/>
            <a:ext cx="6400800" cy="4297680"/>
          </a:xfrm>
        </p:spPr>
        <p:txBody>
          <a:bodyPr/>
          <a:lstStyle/>
          <a:p>
            <a:r>
              <a:rPr sz="1800"/>
              <a:t>電波で見える、空の 100° 以上に広がる巨大な輪っか</a:t>
            </a:r>
          </a:p>
          <a:p>
            <a:pPr lvl="1"/>
            <a:r>
              <a:rPr sz="1500"/>
              <a:t>ガンマ線でも見えている</a:t>
            </a:r>
          </a:p>
          <a:p>
            <a:r>
              <a:rPr sz="1800"/>
              <a:t>正体は未確定</a:t>
            </a:r>
          </a:p>
          <a:p>
            <a:pPr lvl="1"/>
            <a:r>
              <a:rPr sz="1500"/>
              <a:t>近くの超新星の残骸か、銀河中心から吹き出したものか</a:t>
            </a:r>
          </a:p>
          <a:p>
            <a:r>
              <a:rPr sz="1800"/>
              <a:t>型紙：近くの超新星の残骸とみなした形</a:t>
            </a:r>
          </a:p>
          <a:p>
            <a:pPr lvl="1"/>
            <a:r>
              <a:rPr sz="1500"/>
              <a:t>半径 50〜100 pc の殻 2 つが、一様に光る</a:t>
            </a:r>
          </a:p>
          <a:p>
            <a:pPr lvl="1"/>
            <a:r>
              <a:rPr sz="1500"/>
              <a:t>殻の位置と大きさは Fermi-LAT チームの値</a:t>
            </a:r>
          </a:p>
          <a:p>
            <a:r>
              <a:rPr sz="1800"/>
              <a:t>2 つの殻に、別々の倍率（0 以上、最初は 0）</a:t>
            </a:r>
          </a:p>
        </p:txBody>
      </p:sp>
      <p:pic>
        <p:nvPicPr>
          <p:cNvPr id="4" name="Picture 3" descr="template_loopI_a.png"/>
          <p:cNvPicPr>
            <a:picLocks noChangeAspect="1"/>
          </p:cNvPicPr>
          <p:nvPr/>
        </p:nvPicPr>
        <p:blipFill>
          <a:blip r:embed="rId3"/>
          <a:stretch>
            <a:fillRect/>
          </a:stretch>
        </p:blipFill>
        <p:spPr>
          <a:xfrm>
            <a:off x="7086600" y="1828800"/>
            <a:ext cx="2468880" cy="2563837"/>
          </a:xfrm>
          <a:prstGeom prst="rect">
            <a:avLst/>
          </a:prstGeom>
        </p:spPr>
      </p:pic>
      <p:pic>
        <p:nvPicPr>
          <p:cNvPr id="5" name="Picture 4" descr="template_loopI_b.png"/>
          <p:cNvPicPr>
            <a:picLocks noChangeAspect="1"/>
          </p:cNvPicPr>
          <p:nvPr/>
        </p:nvPicPr>
        <p:blipFill>
          <a:blip r:embed="rId4"/>
          <a:stretch>
            <a:fillRect/>
          </a:stretch>
        </p:blipFill>
        <p:spPr>
          <a:xfrm>
            <a:off x="9601200" y="1828800"/>
            <a:ext cx="2468880" cy="2563837"/>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(殻の値は Fermi-LAT チームの論文)</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成分⑥：フェルミバブル（正・負）</a:t>
            </a:r>
          </a:p>
        </p:txBody>
      </p:sp>
      <p:sp>
        <p:nvSpPr>
          <p:cNvPr id="3" name="Content Placeholder 2"/>
          <p:cNvSpPr>
            <a:spLocks noGrp="1"/>
          </p:cNvSpPr>
          <p:nvPr>
            <p:ph idx="1"/>
          </p:nvPr>
        </p:nvSpPr>
        <p:spPr>
          <a:xfrm>
            <a:off x="548640" y="1371600"/>
            <a:ext cx="6400800" cy="4297680"/>
          </a:xfrm>
        </p:spPr>
        <p:txBody>
          <a:bodyPr/>
          <a:lstStyle/>
          <a:p>
            <a:r>
              <a:rPr sz="1800"/>
              <a:t>銀河中心の上下に、それぞれ約 50° 広がる巨大な泡</a:t>
            </a:r>
          </a:p>
          <a:p>
            <a:pPr lvl="1"/>
            <a:r>
              <a:rPr sz="1500"/>
              <a:t>過去の銀河中心の活動（ブラックホールや爆発的な星形成）の名残と考えられている</a:t>
            </a:r>
          </a:p>
          <a:p>
            <a:r>
              <a:rPr sz="1800"/>
              <a:t>型紙はデータから作る（Totani §3.1）</a:t>
            </a:r>
          </a:p>
          <a:p>
            <a:pPr lvl="1"/>
            <a:r>
              <a:rPr sz="1500"/>
              <a:t>まず平らな泡の形で当てはめ、残った光（4.3 GeV）を 1° でぼかす</a:t>
            </a:r>
          </a:p>
          <a:p>
            <a:pPr lvl="1"/>
            <a:r>
              <a:rPr sz="1500"/>
              <a:t>残りが正の所 → 正の型紙（バブル本体）</a:t>
            </a:r>
          </a:p>
          <a:p>
            <a:pPr lvl="1"/>
            <a:r>
              <a:rPr sz="1500"/>
              <a:t>残りが負の所 → 負の型紙（GALPROP とデータのずれの補正）</a:t>
            </a:r>
          </a:p>
          <a:p>
            <a:r>
              <a:rPr sz="1800"/>
              <a:t>倍率：正は 0 以上、負は符号自由。最初は 0</a:t>
            </a:r>
          </a:p>
        </p:txBody>
      </p:sp>
      <p:pic>
        <p:nvPicPr>
          <p:cNvPr id="4" name="Picture 3" descr="template_fb.png"/>
          <p:cNvPicPr>
            <a:picLocks noChangeAspect="1"/>
          </p:cNvPicPr>
          <p:nvPr/>
        </p:nvPicPr>
        <p:blipFill>
          <a:blip r:embed="rId3"/>
          <a:stretch>
            <a:fillRect/>
          </a:stretch>
        </p:blipFill>
        <p:spPr>
          <a:xfrm>
            <a:off x="7086600" y="1828800"/>
            <a:ext cx="2468880" cy="2563837"/>
          </a:xfrm>
          <a:prstGeom prst="rect">
            <a:avLst/>
          </a:prstGeom>
        </p:spPr>
      </p:pic>
      <p:pic>
        <p:nvPicPr>
          <p:cNvPr id="5" name="Picture 4" descr="template_fb_neg.png"/>
          <p:cNvPicPr>
            <a:picLocks noChangeAspect="1"/>
          </p:cNvPicPr>
          <p:nvPr/>
        </p:nvPicPr>
        <p:blipFill>
          <a:blip r:embed="rId4"/>
          <a:stretch>
            <a:fillRect/>
          </a:stretch>
        </p:blipFill>
        <p:spPr>
          <a:xfrm>
            <a:off x="9601200" y="1828800"/>
            <a:ext cx="2468880" cy="2563837"/>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§3.1</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r>
              <a:rPr sz="2400"/>
              <a:t>光子の数はポアソン分布でばらつく</a:t>
            </a:r>
          </a:p>
          <a:p>
            <a:r>
              <a:rPr sz="2400"/>
              <a:t>尤度：ln L = Σ_i [ C_obs,i ln C_exp,i − C_exp,i ]</a:t>
            </a:r>
          </a:p>
          <a:p>
            <a:pPr lvl="1"/>
            <a:r>
              <a:rPr sz="2000"/>
              <a:t>C_obs：観測した光子数、C_exp：予測した光子数</a:t>
            </a:r>
          </a:p>
          <a:p>
            <a:pPr lvl="1"/>
            <a:r>
              <a:rPr sz="2000"/>
              <a:t>i：10° × 10° のセル（空をマス目に分ける）</a:t>
            </a:r>
          </a:p>
          <a:p>
            <a:r>
              <a:rPr sz="2400"/>
              <a:t>ln L が最大になる倍率 f を探す（最尤推定）</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の 13–19σ も同じ）</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548640" y="1371600"/>
            <a:ext cx="5669280" cy="4297680"/>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1.51</a:t>
            </a:r>
          </a:p>
          <a:p>
            <a:r>
              <a:rPr sz="1800"/>
              <a:t>足あとの広がり → 誤差</a:t>
            </a:r>
          </a:p>
          <a:p>
            <a:pPr lvl="1"/>
            <a:r>
              <a:rPr sz="1500"/>
              <a:t>最初の 2000 歩（ふもとから登っている途中）は捨て、残りの下から 16%〜84%</a:t>
            </a:r>
          </a:p>
          <a:p>
            <a:pPr lvl="1"/>
            <a:r>
              <a:rPr sz="1500"/>
              <a:t>20.8 GeV：1.42〜1.58</a:t>
            </a:r>
          </a:p>
          <a:p>
            <a:r>
              <a:rPr sz="1800"/>
              <a:t>有意度：ハローあり・なしの山を別々に歩く</a:t>
            </a:r>
          </a:p>
          <a:p>
            <a:pPr lvl="1"/>
            <a:r>
              <a:rPr sz="1500"/>
              <a:t>それぞれの一番高い足あとの高さの差 Δln L → σ = √(2Δln L)</a:t>
            </a:r>
          </a:p>
          <a:p>
            <a:pPr lvl="1"/>
            <a:r>
              <a:rPr sz="1500"/>
              <a:t>20.8 GeV：19.5σ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9" name="Picture 8" descr="significance_spectrum.png"/>
          <p:cNvPicPr>
            <a:picLocks noChangeAspect="1"/>
          </p:cNvPicPr>
          <p:nvPr/>
        </p:nvPicPr>
        <p:blipFill>
          <a:blip r:embed="rId3"/>
          <a:srcRect/>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19.5σ（Totani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2.74 倍、ICS 2.75 倍</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5" name="Picture 4" descr="fig_ics_norm_totani.png"/>
          <p:cNvPicPr>
            <a:picLocks noChangeAspect="1"/>
          </p:cNvPicPr>
          <p:nvPr/>
        </p:nvPicPr>
        <p:blipFill>
          <a:blip r:embed="rId3"/>
          <a:srcRect/>
          <a:stretch>
            <a:fillRect/>
          </a:stretch>
        </p:blipFill>
        <p:spPr>
          <a:xfrm>
            <a:off x="6309360" y="1737360"/>
            <a:ext cx="5669280" cy="389763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19.5σ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6.6σ、実測 5.0σ</a:t>
            </a:r>
          </a:p>
          <a:p>
            <a:r>
              <a:rPr sz="2200"/>
              <a:t>同じ形の領域を横にずらして外すと 15〜16σ</a:t>
            </a:r>
          </a:p>
          <a:p>
            <a:r>
              <a:rPr sz="2200"/>
              <a:t>→ 19 → 5σ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19.5σ → 18.4σ（約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19.5σ を較正すると 19.5 ÷ 1.26 ≈ 15σ（14.0–17.0σ）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3"/>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19.5σ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19.5σ、較正後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229</TotalTime>
  <Words>6981</Words>
  <Application>Microsoft Office PowerPoint</Application>
  <PresentationFormat>Widescreen</PresentationFormat>
  <Paragraphs>602</Paragraphs>
  <Slides>52</Slides>
  <Notes>51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52</vt:i4>
      </vt:variant>
    </vt:vector>
  </HeadingPairs>
  <TitlesOfParts>
    <vt:vector size="56" baseType="lpstr">
      <vt:lpstr>Aptos</vt:lpstr>
      <vt:lpstr>Aptos Display</vt:lpstr>
      <vt:lpstr>Arial</vt:lpstr>
      <vt:lpstr>Office Theme</vt:lpstr>
      <vt:lpstr>PowerPoint Presentation</vt:lpstr>
      <vt:lpstr>卒業研究の目的</vt:lpstr>
      <vt:lpstr>光子を数える</vt:lpstr>
      <vt:lpstr>手法①：テンプレートフィット</vt:lpstr>
      <vt:lpstr>成分①：等方背景</vt:lpstr>
      <vt:lpstr>成分②：ガス（π⁰ 崩壊＋制動放射）</vt:lpstr>
      <vt:lpstr>成分③：ICS（逆コンプトン散乱）</vt:lpstr>
      <vt:lpstr>成分④：点源</vt:lpstr>
      <vt:lpstr>成分⑤：Loop I</vt:lpstr>
      <vt:lpstr>成分⑥：フェルミバブル（正・負）</vt:lpstr>
      <vt:lpstr>成分⑦：ハロー（探しているもの）</vt:lpstr>
      <vt:lpstr>ここからやること：係数 9 個を決めるだけ</vt:lpstr>
      <vt:lpstr>手法②：尤度（どれだけ合っているか）</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2026-10-03T03:37:11Z</dcterms:modified>
</cp:coreProperties>
</file>