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7"/>
  </p:notesMasterIdLst>
  <p:sldIdLst>
    <p:sldId id="256" r:id="rId2"/>
    <p:sldId id="257" r:id="rId3"/>
    <p:sldId id="258" r:id="rId4"/>
    <p:sldId id="259" r:id="rId5"/>
    <p:sldId id="260" r:id="rId6"/>
    <p:sldId id="294" r:id="rId47"/>
    <p:sldId id="261" r:id="rId7"/>
    <p:sldId id="262" r:id="rId8"/>
    <p:sldId id="295" r:id="rId48"/>
    <p:sldId id="296" r:id="rId49"/>
    <p:sldId id="297" r:id="rId50"/>
    <p:sldId id="298" r:id="rId51"/>
    <p:sldId id="299" r:id="rId52"/>
    <p:sldId id="300" r:id="rId53"/>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C18A6C4-2C47-4DAD-A1DF-DD0206B853E7}" v="2" dt="2026-10-02T01:15:06.37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45" autoAdjust="0"/>
    <p:restoredTop sz="94660"/>
  </p:normalViewPr>
  <p:slideViewPr>
    <p:cSldViewPr snapToGrid="0" showGuides="1">
      <p:cViewPr varScale="1">
        <p:scale>
          <a:sx n="95" d="100"/>
          <a:sy n="95" d="100"/>
        </p:scale>
        <p:origin x="206" y="67"/>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12.xml"/><Relationship Id="rId10" Type="http://schemas.openxmlformats.org/officeDocument/2006/relationships/slide" Target="slides/slide13.xml"/><Relationship Id="rId11" Type="http://schemas.openxmlformats.org/officeDocument/2006/relationships/slide" Target="slides/slide14.xml"/><Relationship Id="rId12" Type="http://schemas.openxmlformats.org/officeDocument/2006/relationships/slide" Target="slides/slide15.xml"/><Relationship Id="rId13" Type="http://schemas.openxmlformats.org/officeDocument/2006/relationships/slide" Target="slides/slide16.xml"/><Relationship Id="rId14" Type="http://schemas.openxmlformats.org/officeDocument/2006/relationships/slide" Target="slides/slide17.xml"/><Relationship Id="rId15" Type="http://schemas.openxmlformats.org/officeDocument/2006/relationships/slide" Target="slides/slide18.xml"/><Relationship Id="rId16" Type="http://schemas.openxmlformats.org/officeDocument/2006/relationships/slide" Target="slides/slide19.xml"/><Relationship Id="rId17" Type="http://schemas.openxmlformats.org/officeDocument/2006/relationships/slide" Target="slides/slide20.xml"/><Relationship Id="rId18" Type="http://schemas.openxmlformats.org/officeDocument/2006/relationships/slide" Target="slides/slide21.xml"/><Relationship Id="rId19" Type="http://schemas.openxmlformats.org/officeDocument/2006/relationships/slide" Target="slides/slide22.xml"/><Relationship Id="rId20" Type="http://schemas.openxmlformats.org/officeDocument/2006/relationships/slide" Target="slides/slide23.xml"/><Relationship Id="rId21" Type="http://schemas.openxmlformats.org/officeDocument/2006/relationships/slide" Target="slides/slide24.xml"/><Relationship Id="rId22" Type="http://schemas.openxmlformats.org/officeDocument/2006/relationships/slide" Target="slides/slide25.xml"/><Relationship Id="rId23" Type="http://schemas.openxmlformats.org/officeDocument/2006/relationships/slide" Target="slides/slide26.xml"/><Relationship Id="rId24" Type="http://schemas.openxmlformats.org/officeDocument/2006/relationships/slide" Target="slides/slide27.xml"/><Relationship Id="rId25" Type="http://schemas.openxmlformats.org/officeDocument/2006/relationships/slide" Target="slides/slide28.xml"/><Relationship Id="rId26" Type="http://schemas.openxmlformats.org/officeDocument/2006/relationships/slide" Target="slides/slide29.xml"/><Relationship Id="rId27" Type="http://schemas.openxmlformats.org/officeDocument/2006/relationships/slide" Target="slides/slide30.xml"/><Relationship Id="rId28" Type="http://schemas.openxmlformats.org/officeDocument/2006/relationships/slide" Target="slides/slide31.xml"/><Relationship Id="rId29" Type="http://schemas.openxmlformats.org/officeDocument/2006/relationships/slide" Target="slides/slide32.xml"/><Relationship Id="rId30" Type="http://schemas.openxmlformats.org/officeDocument/2006/relationships/slide" Target="slides/slide33.xml"/><Relationship Id="rId31" Type="http://schemas.openxmlformats.org/officeDocument/2006/relationships/slide" Target="slides/slide34.xml"/><Relationship Id="rId32" Type="http://schemas.openxmlformats.org/officeDocument/2006/relationships/slide" Target="slides/slide35.xml"/><Relationship Id="rId33" Type="http://schemas.openxmlformats.org/officeDocument/2006/relationships/slide" Target="slides/slide36.xml"/><Relationship Id="rId34" Type="http://schemas.openxmlformats.org/officeDocument/2006/relationships/slide" Target="slides/slide37.xml"/><Relationship Id="rId35" Type="http://schemas.openxmlformats.org/officeDocument/2006/relationships/slide" Target="slides/slide38.xml"/><Relationship Id="rId36" Type="http://schemas.openxmlformats.org/officeDocument/2006/relationships/slide" Target="slides/slide39.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42" Type="http://schemas.microsoft.com/office/2016/11/relationships/changesInfo" Target="changesInfos/changesInfo1.xml"/><Relationship Id="rId43" Type="http://schemas.microsoft.com/office/2015/10/relationships/revisionInfo" Target="revisionInfo.xml"/><Relationship Id="rId47" Type="http://schemas.openxmlformats.org/officeDocument/2006/relationships/slide" Target="slides/slide6.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51" Type="http://schemas.openxmlformats.org/officeDocument/2006/relationships/slide" Target="slides/slide43.xml"/><Relationship Id="rId52" Type="http://schemas.openxmlformats.org/officeDocument/2006/relationships/slide" Target="slides/slide44.xml"/><Relationship Id="rId53" Type="http://schemas.openxmlformats.org/officeDocument/2006/relationships/slide" Target="slides/slide4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modSld">
      <pc:chgData name="202304239" userId="ab1adf7a-b8eb-4038-b404-de23e20d8a3a" providerId="ADAL" clId="{6C0E59ED-D716-49AF-B2FA-B94E7B8E5A8C}" dt="2026-10-02T01:41:32.636" v="29" actId="20577"/>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pc:chgData name="202304239" userId="ab1adf7a-b8eb-4038-b404-de23e20d8a3a" providerId="ADAL" clId="{6C0E59ED-D716-49AF-B2FA-B94E7B8E5A8C}" dt="2026-10-02T01:13:59.581" v="0"/>
        <pc:sldMkLst>
          <pc:docMk/>
          <pc:sldMk cId="0" sldId="259"/>
        </pc:sldMkLst>
        <pc:spChg chg="mod">
          <ac:chgData name="202304239" userId="ab1adf7a-b8eb-4038-b404-de23e20d8a3a" providerId="ADAL" clId="{6C0E59ED-D716-49AF-B2FA-B94E7B8E5A8C}" dt="2026-10-02T01:13:59.581" v="0"/>
          <ac:spMkLst>
            <pc:docMk/>
            <pc:sldMk cId="0" sldId="259"/>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ポアソン分布: 平均 λ のとき、n 個来る確率は λ^n e^(−λ) / n!。その対数を全セルで足したものが ln L (n に依存する定数 ln n! は省略)。</a:t>
            </a:r>
          </a:p>
          <a:p>
            <a:r>
              <a:t>銀河面を除いた有効なセルは 120 個。セルを 10° と大きくとるのは、望遠鏡のぼやけ (PSF) よりずっと大きく、PSF の畳み込みを省略できるため (Totani と同じ)。</a:t>
            </a:r>
          </a:p>
          <a:p>
            <a:r>
              <a:t>最大化は Totani (2025) §2.2 と同じく MCMC (emcee) で行い、歩いた中で ln L が最大の点を最良値とする。</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青が本研究 (10/2 に Totani と同じやり方 = MCMC で最良値、で計算し直した。クラウドの計算機)、赤が Totani Fig. 9。本人 PC での確定値は後日。</a:t>
            </a:r>
          </a:p>
          <a:p>
            <a:r>
              <a:t>ただしこの 19.5σ は Wilks の定理を信じた「名目の値」。後で較正する。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ICS の倍率 (GALPROP の予測の何倍か)。ハローなしでは全エネルギーで約 1.4〜1.6 倍でほぼ平ら (最良値)。ハローを入れると、ハローが効くビンでだけへこむ。</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a:p>
            <a:r>
              <a:t>③ 同じ設定で計算し直しても一致しなかった。</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6.6σ と実測 5.0σ の残りの差は、バブル外でハローの倍率が 0.77 倍と低いことで説明できる。この内外の差は約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種類の光を電子がはね上げたもの。19.5σ と 18.4σ はクラウドの計算機で、Totani と同じやり方で比べた値 (どちらも同じ条件なので、差で言う)。Totani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結果ファイルに「どの状態のコードで計算したか」の記録が無かった。</a:t>
            </a:r>
          </a:p>
          <a:p>
            <a:r>
              <a:t>10/1 に同じ計算を 2 回して、テンプレート・尤度・全パラメータが一致することを確認。</a:t>
            </a:r>
          </a:p>
          <a:p>
            <a:r>
              <a:t>有意度は 19.1σ → 19.0σ でほぼ同じ。10/2 に最良値の求め方を Totani と同じ (MCMC) に直して計算し直し、19.5σ (クラウド)。全 13 ビンで差は 1σ 未満。</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 予測フラックス ÷ 各天体の測定誤差。</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15σ は「ハローがあるか」の強さ、1.3σ は「天の川と矮小銀河が食い違うか」の強さ。</a:t>
            </a:r>
          </a:p>
          <a:p>
            <a:r>
              <a:t>どちらも Wilks の定理だけに頼らず、何も無い空で較正した値 (1.26)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(653〜659 行)。コードは code/mcmc_fit_all_bins.py (Totani 方式の修正 cloud_reports/2026-10-02_totani_bestfit.patch を当てた後の行番号)。</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(630 行、立ち入り禁止のチェック)、log_likelihood (647〜650 行、高度計)、log_probability (653 行、両方を足す)。コードは code/mcmc_fit_all_bins.py (Totani 方式の修正 cloud_reports/2026-10-02_totani_bestfit.patch を当てた後の行番号)。</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(877〜878 行)。メトロポリスの判定そのものは emcee の中にある。コードは code/mcmc_fit_all_bins.py (Totani 方式の修正 cloud_reports/2026-10-02_totani_bestfit.patch を当てた後の行番号)。</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(868 行)、32 人で歩かせる emcee.EnsembleSampler (877 行)。コードは code/mcmc_fit_all_bins.py (Totani 方式の修正 cloud_reports/2026-10-02_totani_bestfit.patch を当てた後の行番号)。</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0.6 以下、有意度の差 0.28σ 以下。確認のためだけで、結果には使っていない。</a:t>
            </a:r>
          </a:p>
          <a:p>
            <a:r>
              <a:t>長さの目安: 自己相関時間 τ (何歩離れたら前の場所を忘れるか) の 50 倍以上が推奨。20.8 GeV で τ ≈ 650 歩なので 3 万歩以上が理想だが、6000 歩。</a:t>
            </a:r>
          </a:p>
          <a:p>
            <a:r>
              <a:t>数字はクラウドの計算機で、Totani と同じやり方で出した値 (cloud_reports/2026-10-02_totani_mode/)。</a:t>
            </a:r>
          </a:p>
          <a:p>
            <a:r>
              <a:t>スクショ候補: 一番高い足あとを探す行 (879〜880 行)、誤差の 16〜84% (926 行)、有意度 (910 行)。コードは code/mcmc_fit_all_bins.py (Totani 方式の修正 cloud_reports/2026-10-02_totani_bestfit.patch を当てた後の行番号)。</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2.png"/><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 Id="rId3" Type="http://schemas.openxmlformats.org/officeDocument/2006/relationships/image" Target="../media/image6.png"/><Relationship Id="rId4" Type="http://schemas.openxmlformats.org/officeDocument/2006/relationships/image" Target="../media/image1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4"/>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lvl="1"/>
            <a:r>
              <a:rPr sz="2000"/>
              <a:t>Loop I（2 枚）、フェルミバブル（正・負）、ハロー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手法②：尤度（どれだけ合っているか）</a:t>
            </a:r>
          </a:p>
        </p:txBody>
      </p:sp>
      <p:sp>
        <p:nvSpPr>
          <p:cNvPr id="3" name="Content Placeholder 2"/>
          <p:cNvSpPr>
            <a:spLocks noGrp="1"/>
          </p:cNvSpPr>
          <p:nvPr>
            <p:ph idx="1"/>
          </p:nvPr>
        </p:nvSpPr>
        <p:spPr>
          <a:xfrm>
            <a:off x="841248" y="1463040"/>
            <a:ext cx="10515600" cy="4114800"/>
          </a:xfrm>
        </p:spPr>
        <p:txBody>
          <a:bodyPr/>
          <a:lstStyle/>
          <a:p>
            <a:r>
              <a:rPr sz="2400"/>
              <a:t>光子の数はポアソン分布でばらつく</a:t>
            </a:r>
          </a:p>
          <a:p>
            <a:r>
              <a:rPr sz="2400"/>
              <a:t>尤度：ln L = Σ_i [ C_obs,i ln C_exp,i − C_exp,i ]</a:t>
            </a:r>
          </a:p>
          <a:p>
            <a:pPr lvl="1"/>
            <a:r>
              <a:rPr sz="2000"/>
              <a:t>C_obs：観測した光子数、C_exp：予測した光子数</a:t>
            </a:r>
          </a:p>
          <a:p>
            <a:pPr lvl="1"/>
            <a:r>
              <a:rPr sz="2000"/>
              <a:t>i：10° × 10° のセル（空をマス目に分ける）</a:t>
            </a:r>
          </a:p>
          <a:p>
            <a:r>
              <a:rPr sz="2400"/>
              <a:t>ln L が最大になる倍率 f を探す（最尤推定）</a:t>
            </a:r>
          </a:p>
        </p:txBody>
      </p:sp>
      <p:pic>
        <p:nvPicPr>
          <p:cNvPr id="6" name="Picture 5" descr="fig_bin6_before_after_totani.png"/>
          <p:cNvPicPr>
            <a:picLocks noChangeAspect="1"/>
          </p:cNvPicPr>
          <p:nvPr/>
        </p:nvPicPr>
        <p:blipFill>
          <a:blip r:embed="rId4"/>
          <a:srcRect/>
          <a:stretch>
            <a:fillRect/>
          </a:stretch>
        </p:blipFill>
        <p:spPr>
          <a:xfrm>
            <a:off x="2551565" y="3749403"/>
            <a:ext cx="5751094" cy="3014367"/>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pPr/>
            <a:r>
              <a:rPr sz="2400"/>
              <a:t>尤度 ＝ 点数をつける係（たとえ：高度計）</a:t>
            </a:r>
          </a:p>
          <a:p>
            <a:pPr lvl="1"/>
            <a:r>
              <a:rPr sz="2000"/>
              <a:t>倍率の組（f_gas, f_ics, …, f_halo）を入れると、予測と観測の合い具合 ln L を返す</a:t>
            </a:r>
          </a:p>
          <a:p>
            <a:pPr/>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点数が上がる方へは必ず進み、下がる方へもたまに進む</a:t>
            </a:r>
          </a:p>
          <a:p>
            <a:pPr/>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9" name="Picture 8" descr="significance_spectrum.png"/>
          <p:cNvPicPr>
            <a:picLocks noChangeAspect="1"/>
          </p:cNvPicPr>
          <p:nvPr/>
        </p:nvPicPr>
        <p:blipFill>
          <a:blip r:embed="rId4"/>
          <a:srcRect/>
          <a:stretch>
            <a:fillRect/>
          </a:stretch>
        </p:blipFill>
        <p:spPr>
          <a:xfrm>
            <a:off x="2377440" y="1234440"/>
            <a:ext cx="5334000" cy="416052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19.5σ（Totani は 13–19σ）。山の位置も一致</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2.74 倍、ICS 2.75 倍</a:t>
            </a:r>
          </a:p>
          <a:p>
            <a:r>
              <a:rPr sz="2200"/>
              <a:t>違いは「銀河中心の方向に集まっているか」だけ</a:t>
            </a:r>
          </a:p>
          <a:p>
            <a:r>
              <a:rPr sz="2200"/>
              <a:t>ハローを入れると、その分 ICS が暗くなる</a:t>
            </a:r>
          </a:p>
          <a:p>
            <a:pPr lvl="1"/>
            <a:r>
              <a:rPr sz="1800"/>
              <a:t>ICS の倍率 1.39 → 0.48（20.8 GeV）</a:t>
            </a:r>
          </a:p>
        </p:txBody>
      </p:sp>
      <p:pic>
        <p:nvPicPr>
          <p:cNvPr id="5" name="Picture 4" descr="fig_ics_norm_totani.png"/>
          <p:cNvPicPr>
            <a:picLocks noChangeAspect="1"/>
          </p:cNvPicPr>
          <p:nvPr/>
        </p:nvPicPr>
        <p:blipFill>
          <a:blip r:embed="rId4"/>
          <a:srcRect/>
          <a:stretch>
            <a:fillRect/>
          </a:stretch>
        </p:blipFill>
        <p:spPr>
          <a:xfrm>
            <a:off x="6309360" y="1737360"/>
            <a:ext cx="5669280" cy="389763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縮退が引き起こした 3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19.5σ → 5.0σ に落ちる</a:t>
            </a:r>
          </a:p>
          <a:p>
            <a:pPr lvl="1"/>
            <a:r>
              <a:rPr sz="2000"/>
              <a:t>ハローは、本当は ICS やバブルの間違いでは？</a:t>
            </a:r>
          </a:p>
          <a:p>
            <a:r>
              <a:rPr sz="2400"/>
              <a:t>② 何も無い空でも、最大 4.5σ が出る</a:t>
            </a:r>
          </a:p>
          <a:p>
            <a:pPr lvl="1"/>
            <a:r>
              <a:rPr sz="2000"/>
              <a:t>σ をそのまま信じてよいのか？</a:t>
            </a:r>
          </a:p>
          <a:p>
            <a:r>
              <a:rPr sz="2400"/>
              <a:t>③ 7/23 に出した 19.1σ が再現できない</a:t>
            </a:r>
          </a:p>
          <a:p>
            <a:pPr lvl="1"/>
            <a:r>
              <a:rPr sz="2000"/>
              <a:t>結果そのものを信じてよいのか？</a:t>
            </a:r>
          </a:p>
          <a:p>
            <a:r>
              <a:rPr sz="2400"/>
              <a:t>→ 次から、1 つずつ調べた結果</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54% がバブル領域（面積は 34%）に集中</a:t>
            </a:r>
          </a:p>
          <a:p>
            <a:r>
              <a:rPr sz="2200"/>
              <a:t>手がかりの減り方だけで予測すると 6.6σ、実測 5.0σ</a:t>
            </a:r>
          </a:p>
          <a:p>
            <a:r>
              <a:rPr sz="2200"/>
              <a:t>同じ形の領域を横にずらして外すと 15〜16σ</a:t>
            </a:r>
          </a:p>
          <a:p>
            <a:r>
              <a:rPr sz="2200"/>
              <a:t>→ 19 → 5σ は「手がかりを捨てた」から。汚染の証拠ではない</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2.3 倍明るければ、ハローの改善の 92% を ICS が説明</a:t>
            </a:r>
          </a:p>
          <a:p>
            <a:r>
              <a:rPr sz="2200"/>
              <a:t>ICS の計算の近似（等方近似）を直しても 1.1〜1.3 倍</a:t>
            </a:r>
          </a:p>
          <a:p>
            <a:pPr lvl="1"/>
            <a:r>
              <a:rPr sz="1800"/>
              <a:t>しかも外側のほうが大きくなる → 2.3 倍には届かない</a:t>
            </a:r>
          </a:p>
          <a:p>
            <a:r>
              <a:rPr sz="2200"/>
              <a:t>ICS を 3 種類に分けて、それぞれ自由に動かしても</a:t>
            </a:r>
          </a:p>
          <a:p>
            <a:pPr lvl="1"/>
            <a:r>
              <a:rPr sz="1800"/>
              <a:t>19.5σ → 18.4σ（約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か所で、天の川と同じ解析をした</a:t>
            </a:r>
          </a:p>
          <a:p>
            <a:r>
              <a:rPr sz="2200"/>
              <a:t>本物の信号が無ければ、σ は「平均 0、ばらつき 1」になるはず</a:t>
            </a:r>
          </a:p>
          <a:p>
            <a:pPr lvl="1"/>
            <a:r>
              <a:rPr sz="1800"/>
              <a:t>Wilks の定理が成り立っていれば</a:t>
            </a:r>
          </a:p>
          <a:p>
            <a:r>
              <a:rPr sz="2200"/>
              <a:t>実際のばらつき：1.26（95% 区間 1.14–1.39）</a:t>
            </a:r>
          </a:p>
          <a:p>
            <a:pPr lvl="1"/>
            <a:r>
              <a:rPr sz="1800"/>
              <a:t>σ は 1.26 倍大きく出ている</a:t>
            </a:r>
          </a:p>
          <a:p>
            <a:r>
              <a:rPr sz="2200"/>
              <a:t>19.5σ を較正すると 19.5 ÷ 1.26 ≈ 15σ（14.0–17.0σ）</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3" name="Picture 2" descr="fig_null_variance.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どのエネルギーでもばらつきは 1 より大きい（光子が十分ある範囲）</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③ を調べる：19.1σ が再現できない理由</a:t>
            </a:r>
          </a:p>
        </p:txBody>
      </p:sp>
      <p:sp>
        <p:nvSpPr>
          <p:cNvPr id="3" name="Content Placeholder 2"/>
          <p:cNvSpPr>
            <a:spLocks noGrp="1"/>
          </p:cNvSpPr>
          <p:nvPr>
            <p:ph idx="1"/>
          </p:nvPr>
        </p:nvSpPr>
        <p:spPr>
          <a:xfrm>
            <a:off x="841248" y="1463040"/>
            <a:ext cx="10515600" cy="4937760"/>
          </a:xfrm>
        </p:spPr>
        <p:txBody>
          <a:bodyPr/>
          <a:lstStyle/>
          <a:p>
            <a:r>
              <a:rPr sz="2400"/>
              <a:t>7/23 の計算の直後にコードを直していて、当時の状態が残っていなかった</a:t>
            </a:r>
          </a:p>
          <a:p>
            <a:r>
              <a:rPr sz="2400"/>
              <a:t>今のコードは、何度計算しても同じ答えになる（10/1 に確認）</a:t>
            </a:r>
          </a:p>
          <a:p>
            <a:r>
              <a:rPr sz="2400"/>
              <a:t>結果ファイルに、コードの版と設定を自動で記録するようにした</a:t>
            </a:r>
          </a:p>
          <a:p>
            <a:r>
              <a:rPr sz="2400"/>
              <a:t>→ 10/2 に Totani と同じやり方で計算し直し、主結果は 19.5σ</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1.26 倍の過大評価 → 較正すると約 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3" name="Picture 2" descr="fig_dwarf_results.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+3.46σ（何も無い空でも 4.50σ）</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1.77</a:t>
            </a:r>
          </a:p>
          <a:p>
            <a:r>
              <a:rPr sz="2400"/>
              <a:t>実測 T = 0.39 → ずれ 1.4σ</a:t>
            </a:r>
          </a:p>
          <a:p>
            <a:r>
              <a:rPr sz="2400"/>
              <a:t>ただし、ここでは J に誤差は無いとしていた</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1.77</a:t>
            </a:r>
          </a:p>
          <a:p>
            <a:pPr lvl="1"/>
            <a:r>
              <a:rPr sz="2000"/>
              <a:t>誤差あり：E[T] = Σ w_i pred_i 10^δ_i / √Σ w_i²  ← δ でばらつく</a:t>
            </a:r>
          </a:p>
          <a:p>
            <a:r>
              <a:rPr sz="2400"/>
              <a:t>実測 T にも測定の揺れ s がある（s = 1、または空で測った 1.26）</a:t>
            </a:r>
          </a:p>
          <a:p>
            <a:r>
              <a:rPr sz="2400"/>
              <a:t>暗黒物質ありで、実測 0.39 以下になる確率</a:t>
            </a:r>
          </a:p>
          <a:p>
            <a:pPr lvl="1"/>
            <a:r>
              <a:rPr sz="2000"/>
              <a:t>p = （δ について平均）Φ( (0.39 − E[T]) / s )</a:t>
            </a:r>
          </a:p>
          <a:p>
            <a:r>
              <a:rPr sz="2400"/>
              <a:t>p を σ に直したもの =「ずれ」</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5" name="Picture 4" descr="fig_dwarf_J_uncertainty_totani.png"/>
          <p:cNvPicPr>
            <a:picLocks noChangeAspect="1"/>
          </p:cNvPicPr>
          <p:nvPr/>
        </p:nvPicPr>
        <p:blipFill>
          <a:blip r:embed="rId4"/>
          <a:srcRect/>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1.4〜5.1σ に広がる。実測 0.4σ ± 1.26。ずれ 1.3σ</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1.77、ずれ 1.4σ（s = 1.26 なら 1.1σ）</a:t>
            </a:r>
          </a:p>
          <a:p>
            <a:pPr lvl="1"/>
            <a:r>
              <a:rPr sz="2000"/>
              <a:t>J の誤差あり：期待 2.5（68% で 1.4–5.1）、ずれ 1.5σ（1.3σ）</a:t>
            </a:r>
          </a:p>
          <a:p>
            <a:r>
              <a:rPr sz="2400"/>
              <a:t>天の川側の局所密度を 0.3〜0.6 GeV/cm³ で動かしても</a:t>
            </a:r>
          </a:p>
          <a:p>
            <a:pPr lvl="1"/>
            <a:r>
              <a:rPr sz="2000"/>
              <a:t>ずれは較正後 2.4σ 以下</a:t>
            </a:r>
          </a:p>
          <a:p>
            <a:r>
              <a:rPr sz="2400"/>
              <a:t>→ 暗黒物質と矛盾はしないが、確認もできない（判定できない）</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つの数字の違い：15σ と 1.3σ</a:t>
            </a:r>
          </a:p>
        </p:txBody>
      </p:sp>
      <p:sp>
        <p:nvSpPr>
          <p:cNvPr id="3" name="Content Placeholder 2"/>
          <p:cNvSpPr>
            <a:spLocks noGrp="1"/>
          </p:cNvSpPr>
          <p:nvPr>
            <p:ph idx="1"/>
          </p:nvPr>
        </p:nvSpPr>
        <p:spPr>
          <a:xfrm>
            <a:off x="841248" y="1463040"/>
            <a:ext cx="10515600" cy="4937760"/>
          </a:xfrm>
        </p:spPr>
        <p:txBody>
          <a:bodyPr/>
          <a:lstStyle/>
          <a:p>
            <a:r>
              <a:rPr sz="2400"/>
              <a:t>約 15σ：天の川のハロー超過の強さ</a:t>
            </a:r>
          </a:p>
          <a:p>
            <a:pPr lvl="1"/>
            <a:r>
              <a:rPr sz="2000"/>
              <a:t>19.5σ を、何も無い空でのばらつき 1.26 で割ったもの</a:t>
            </a:r>
          </a:p>
          <a:p>
            <a:pPr lvl="1"/>
            <a:r>
              <a:rPr sz="2000"/>
              <a:t>「天の川に、背景では説明しにくい何かがある」</a:t>
            </a:r>
          </a:p>
          <a:p>
            <a:r>
              <a:rPr sz="2400"/>
              <a:t>1.3σ：矮小銀河での「予測と実測のずれ」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19.5σ、較正後 約 15σ）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1.3σ → 判定できない</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1.26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MCMC をたとえで見る：霧の山を歩く</a:t>
            </a:r>
          </a:p>
        </p:txBody>
      </p:sp>
      <p:sp>
        <p:nvSpPr>
          <p:cNvPr id="3" name="Content Placeholder 2"/>
          <p:cNvSpPr>
            <a:spLocks noGrp="1"/>
          </p:cNvSpPr>
          <p:nvPr>
            <p:ph idx="1"/>
          </p:nvPr>
        </p:nvSpPr>
        <p:spPr>
          <a:xfrm>
            <a:off x="548640" y="1371600"/>
            <a:ext cx="5669280" cy="4297680"/>
          </a:xfrm>
        </p:spPr>
        <p:txBody>
          <a:bodyPr/>
          <a:lstStyle/>
          <a:p>
            <a:pPr/>
            <a:r>
              <a:rPr sz="1800"/>
              <a:t>山の上の「場所」 → 倍率の組 θ</a:t>
            </a:r>
          </a:p>
          <a:p>
            <a:pPr lvl="1"/>
            <a:r>
              <a:rPr sz="1500"/>
              <a:t>θ = (f_iso, f_gas, f_ics, …, f_halo)。9 個あるので 9 次元の山</a:t>
            </a:r>
          </a:p>
          <a:p>
            <a:pPr/>
            <a:r>
              <a:rPr sz="1800"/>
              <a:t>その場所の「高さ」 → 点数（事後分布）</a:t>
            </a:r>
          </a:p>
          <a:p>
            <a:pPr/>
            <a:r>
              <a:rPr sz="1800"/>
              <a:t>「高度計」 → 尤度の計算（手法② の ln L）</a:t>
            </a:r>
          </a:p>
          <a:p>
            <a:pPr/>
            <a:r>
              <a:rPr sz="1800"/>
              <a:t>「立ち入り禁止の場所」 → 事前分布</a:t>
            </a:r>
          </a:p>
          <a:p>
            <a:pPr lvl="1"/>
            <a:r>
              <a:rPr sz="1500"/>
              <a:t>例：ガスや ICS の倍率は負にならない</a:t>
            </a:r>
          </a:p>
          <a:p>
            <a:pPr/>
            <a:r>
              <a:rPr sz="1800"/>
              <a:t>「歩く人」 → 歩行者（walker）。今回は 32 人</a:t>
            </a:r>
          </a:p>
          <a:p>
            <a:pPr/>
            <a:r>
              <a:rPr sz="1800"/>
              <a:t>「足あとの記録」 → チェーン（サンプル）</a:t>
            </a:r>
          </a:p>
          <a:p>
            <a:pPr/>
            <a:r>
              <a:rPr sz="1800"/>
              <a:t>「一番高い足あと」 → 最良値</a:t>
            </a:r>
          </a:p>
          <a:p>
            <a:pPr/>
            <a:r>
              <a:rPr sz="1800"/>
              <a:t>「足あとの広がり」 → 誤差</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548640" y="1371600"/>
            <a:ext cx="5669280" cy="4297680"/>
          </a:xfrm>
        </p:spPr>
        <p:txBody>
          <a:bodyPr/>
          <a:lstStyle/>
          <a:p>
            <a:pPr/>
            <a:r>
              <a:rPr sz="1800"/>
              <a:t>P(θ | D) = L(D | θ) × π(θ) ÷ P(D)</a:t>
            </a:r>
          </a:p>
          <a:p>
            <a:pPr/>
            <a:r>
              <a:rPr sz="1800"/>
              <a:t>P(θ | D)：場所 θ の「高さ」（＝点数）</a:t>
            </a:r>
          </a:p>
          <a:p>
            <a:pPr lvl="1"/>
            <a:r>
              <a:rPr sz="1500"/>
              <a:t>データ D を見た後で、θ がどれくらいもっともらしいか</a:t>
            </a:r>
          </a:p>
          <a:p>
            <a:pPr/>
            <a:r>
              <a:rPr sz="1800"/>
              <a:t>L(D | θ)：「高度計」の読み（尤度）</a:t>
            </a:r>
          </a:p>
          <a:p>
            <a:pPr lvl="1"/>
            <a:r>
              <a:rPr sz="1500"/>
              <a:t>倍率が θ のとき、観測した光子の地図 D がどれくらい出やすいか</a:t>
            </a:r>
          </a:p>
          <a:p>
            <a:pPr/>
            <a:r>
              <a:rPr sz="1800"/>
              <a:t>π(θ)：入ってよい場所か（事前分布）</a:t>
            </a:r>
          </a:p>
          <a:p>
            <a:pPr lvl="1"/>
            <a:r>
              <a:rPr sz="1500"/>
              <a:t>入れる場所は全部同じ値、立ち入り禁止なら 0</a:t>
            </a:r>
          </a:p>
          <a:p>
            <a:pPr/>
            <a:r>
              <a:rPr sz="1800"/>
              <a:t>P(D)：海抜の基準。どの場所でも同じ数</a:t>
            </a:r>
          </a:p>
          <a:p>
            <a:pPr lvl="1"/>
            <a:r>
              <a:rPr sz="1500"/>
              <a:t>「どちらが高いか」を比べるだけなら消える → 計算しなくてよい</a:t>
            </a:r>
          </a:p>
          <a:p>
            <a:pPr/>
            <a:r>
              <a:rPr sz="1800"/>
              <a:t>計算では対数で：ln(高さ) = ln L + ln π</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pPr/>
            <a:r>
              <a:rPr sz="1800"/>
              <a:t>1. 今いる場所 θ から、少しずれた場所 θ′ に足を出す</a:t>
            </a:r>
          </a:p>
          <a:p>
            <a:pPr lvl="1"/>
            <a:r>
              <a:rPr sz="1500"/>
              <a:t>どれだけずらすかは乱数で決める</a:t>
            </a:r>
          </a:p>
          <a:p>
            <a:pPr/>
            <a:r>
              <a:rPr sz="1800"/>
              <a:t>2. 高度計で両方を読み、比 r = 高さ(θ′) ÷ 高さ(θ)</a:t>
            </a:r>
          </a:p>
          <a:p>
            <a:pPr/>
            <a:r>
              <a:rPr sz="1800"/>
              <a:t>3. r ≥ 1（上り）なら、必ず θ′ に移る</a:t>
            </a:r>
          </a:p>
          <a:p>
            <a:pPr/>
            <a:r>
              <a:rPr sz="1800"/>
              <a:t>4. r &lt; 1（下り）なら、確率 r で移る</a:t>
            </a:r>
          </a:p>
          <a:p>
            <a:pPr lvl="1"/>
            <a:r>
              <a:rPr sz="1500"/>
              <a:t>0〜1 の乱数を引き、r より小さければ移る</a:t>
            </a:r>
          </a:p>
          <a:p>
            <a:pPr/>
            <a:r>
              <a:rPr sz="1800"/>
              <a:t>5. 移っても移らなくても、今いる場所を足あとに記録</a:t>
            </a:r>
          </a:p>
          <a:p>
            <a:pPr/>
            <a:r>
              <a:rPr sz="1800"/>
              <a:t>6. 1〜5 を何千回もくり返す</a:t>
            </a:r>
          </a:p>
          <a:p>
            <a:pPr/>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2"/>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pPr/>
            <a:r>
              <a:rPr sz="1800"/>
              <a:t>1 人だと、細長い山で迷いやすい</a:t>
            </a:r>
          </a:p>
          <a:p>
            <a:pPr lvl="1"/>
            <a:r>
              <a:rPr sz="1500"/>
              <a:t>例：ガスと ICS の縮退。片方を上げて片方を下げても高さがほぼ同じ</a:t>
            </a:r>
          </a:p>
          <a:p>
            <a:pPr/>
            <a:r>
              <a:rPr sz="1800"/>
              <a:t>そこで 32 人が同時に歩き、仲間の位置を見て一歩を決める</a:t>
            </a:r>
          </a:p>
          <a:p>
            <a:pPr/>
            <a:r>
              <a:rPr sz="1800"/>
              <a:t>一歩の出し方（ストレッチ移動）</a:t>
            </a:r>
          </a:p>
          <a:p>
            <a:pPr lvl="1"/>
            <a:r>
              <a:rPr sz="1500"/>
              <a:t>自分 X_k から、ランダムに選んだ仲間 X_j への線を引く</a:t>
            </a:r>
          </a:p>
          <a:p>
            <a:pPr lvl="1"/>
            <a:r>
              <a:rPr sz="1500"/>
              <a:t>その線の上で、Z 倍（1/2〜2 の乱数）伸ばした点に足を出す</a:t>
            </a:r>
          </a:p>
          <a:p>
            <a:pPr lvl="1"/>
            <a:r>
              <a:rPr sz="1500"/>
              <a:t>Y = X_j + Z (X_k − X_j)</a:t>
            </a:r>
          </a:p>
          <a:p>
            <a:pPr/>
            <a:r>
              <a:rPr sz="1800"/>
              <a:t>移るかどうかは ② と同じ考え（Z⁸ を掛けて補正）</a:t>
            </a:r>
          </a:p>
          <a:p>
            <a:pPr/>
            <a:r>
              <a:rPr sz="1800"/>
              <a:t>出発点：全員、Totani と同じ初期値の近く。6000 歩</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pPr/>
            <a:r>
              <a:rPr sz="1800"/>
              <a:t>一番高い足あと → 最良の倍率（Totani と同じ）</a:t>
            </a:r>
          </a:p>
          <a:p>
            <a:pPr lvl="1"/>
            <a:r>
              <a:rPr sz="1500"/>
              <a:t>20.8 GeV：ハローの倍率 1.51</a:t>
            </a:r>
          </a:p>
          <a:p>
            <a:pPr/>
            <a:r>
              <a:rPr sz="1800"/>
              <a:t>足あとの広がり → 誤差</a:t>
            </a:r>
          </a:p>
          <a:p>
            <a:pPr lvl="1"/>
            <a:r>
              <a:rPr sz="1500"/>
              <a:t>最初の 400 歩は捨て、下から 16%〜84% の範囲</a:t>
            </a:r>
          </a:p>
          <a:p>
            <a:pPr lvl="1"/>
            <a:r>
              <a:rPr sz="1500"/>
              <a:t>20.8 GeV：1.43〜1.61</a:t>
            </a:r>
          </a:p>
          <a:p>
            <a:pPr/>
            <a:r>
              <a:rPr sz="1800"/>
              <a:t>有意度：ハローあり・なしの山を別々に歩く</a:t>
            </a:r>
          </a:p>
          <a:p>
            <a:pPr lvl="1"/>
            <a:r>
              <a:rPr sz="1500"/>
              <a:t>それぞれの一番高い足あとの高さの差 Δln L → σ = √(2Δln L)</a:t>
            </a:r>
          </a:p>
          <a:p>
            <a:pPr lvl="1"/>
            <a:r>
              <a:rPr sz="1500"/>
              <a:t>20.8 GeV：19.5σ</a:t>
            </a:r>
          </a:p>
          <a:p>
            <a:pPr/>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198</TotalTime>
  <Words>3822</Words>
  <Application>Microsoft Office PowerPoint</Application>
  <PresentationFormat>Widescreen</PresentationFormat>
  <Paragraphs>350</Paragraphs>
  <Slides>35</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Aptos</vt:lpstr>
      <vt:lpstr>Aptos Display</vt:lpstr>
      <vt:lpstr>Arial</vt:lpstr>
      <vt:lpstr>Office Theme</vt:lpstr>
      <vt:lpstr>PowerPoint Presentation</vt:lpstr>
      <vt:lpstr>卒業研究の目的</vt:lpstr>
      <vt:lpstr>光子を数える</vt:lpstr>
      <vt:lpstr>手法①：テンプレートフィット</vt:lpstr>
      <vt:lpstr>手法②：尤度（どれだけ合っているか）</vt:lpstr>
      <vt:lpstr>手法③：有意度 σ の出し方</vt:lpstr>
      <vt:lpstr>手法④：MCMC（誤差の見積もり）</vt:lpstr>
      <vt:lpstr>結果：Totani の超過を再現</vt:lpstr>
      <vt:lpstr>問題：ハローと ICS が見分けにくい（縮退）</vt:lpstr>
      <vt:lpstr>縮退が引き起こした 3 つの疑問</vt:lpstr>
      <vt:lpstr>① を調べる：手がかりはどこにあるか</vt:lpstr>
      <vt:lpstr>① を調べる：ICS が犯人なら</vt:lpstr>
      <vt:lpstr>② を調べる：σ を信じてよいか</vt:lpstr>
      <vt:lpstr>② の結果：エネルギーごとのばらつき</vt:lpstr>
      <vt:lpstr>③ を調べる：19.1σ が再現できない理由</vt:lpstr>
      <vt:lpstr>ここまでのまとめ</vt:lpstr>
      <vt:lpstr>矮小銀河で確かめる</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つの数字の違い：15σ と 1.3σ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2026-10-02T01:41:33Z</dcterms:modified>
</cp:coreProperties>
</file>