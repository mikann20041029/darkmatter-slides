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91" r:id="rId44"/>
    <p:sldId id="292" r:id="rId45"/>
    <p:sldId id="293" r:id="rId46"/>
    <p:sldId id="294" r:id="rId47"/>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8.xml"/><Relationship Id="rId45" Type="http://schemas.openxmlformats.org/officeDocument/2006/relationships/slide" Target="slides/slide9.xml"/><Relationship Id="rId46" Type="http://schemas.openxmlformats.org/officeDocument/2006/relationships/slide" Target="slides/slide10.xml"/><Relationship Id="rId47"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a:p>
            <a:r>
              <a:t>最尤値の探し方: 本研究は勾配法 (L-BFGS-B)。Totani は MCMC で探している。同じ方法で比べた差は 0.006σ (MCMC の後のスライド)。</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a:p>
            <a:r>
              <a:t>注意: Totani は MCMC で最尤値も求めているが、本研究では最尤値は勾配法で求め、MCMC は誤差の見積もりだけに使っている。同じ方法で比べた差は 0.006σ。</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 「データを見る前の考え (事前分布)」を「データの当てはまり (尤度)」で更新すると「データを見た後の考え (事後分布)」になる。</a:t>
            </a:r>
          </a:p>
          <a:p>
            <a:r>
              <a:t>事前分布は一様: 倍率の符号の制約 (ハローとバブル負以外は 0 以上) と、|f| ≤ 10⁶ の広い制限だけ。だから事後分布の形は尤度の形とほぼ同じ。</a:t>
            </a:r>
          </a:p>
          <a:p>
            <a:r>
              <a:t>P(D) (証拠) は全部の θ について足し合わせた値で、計算がとても大変。でも MCMC では「2 つの点の比」しか使わないので、割り算で消えて計算しなくてよい。</a:t>
            </a:r>
          </a:p>
          <a:p>
            <a:r>
              <a:t>たとえ: 9 次元の山の地形図を全部描くのは無理なので、山の上を歩き回って「よく通った場所 = 高い場所」を記録する。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③ がポイント: 上り坂 (もっともらしさが上がる) には必ず進み、下り坂にも r の確率で進む。いつも上るだけだと山頂 (最尤推定) で止まってしまい、誤差が分からない。</a:t>
            </a:r>
          </a:p>
          <a:p>
            <a:r>
              <a:t>このルールで歩くと、長い目で見て「各点にいる時間の割合」が事後分布 P(θ | D) に比例するようになる (詳細つり合い)。</a:t>
            </a:r>
          </a:p>
          <a:p>
            <a:r>
              <a:t>図は説明用のおもちゃの例 (実データではない): 1 つの倍率 f の事後分布を平均 1.48・幅 0.075 の山と仮定して 3000 歩。わざと山から離れた 1.2 から出発させたので、最初の 200 歩は山にたどり着くまでの途中 → 捨てる (バーンイン)。残りのヒストグラムが本当の分布 (点線) と重なる。</a:t>
            </a:r>
          </a:p>
          <a:p>
            <a:r>
              <a:t>図は slides/figs/plot_mcmc_toy.py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ストレッチ移動 (Goodman &amp; Weare 2010): 自分 X_k と、他の歩行者 X_j を結ぶ直線の上で、Z 倍だけ伸ばしたり縮めたりした点を候補にする。他の歩行者の散らばり方を使うので、細長い山 (パラメータ同士が強く相関している、例えばガスと ICS の縮退) でも効率よく歩ける。</a:t>
            </a:r>
          </a:p>
          <a:p>
            <a:r>
              <a:t>Z⁸ の 8 は「パラメータの数 9 − 1」。直線上で伸び縮みさせた分の補正。Z の範囲 1/2〜2 は emcee の既定値 (a = 2)。</a:t>
            </a:r>
          </a:p>
          <a:p>
            <a:r>
              <a:t>68% 区間 = 記録したサンプルの下から 16% と 84% の値。</a:t>
            </a:r>
          </a:p>
          <a:p>
            <a:r>
              <a:t>自己相関時間 τ: 何歩離れたら前の位置を「忘れる」か。50τ 以上は emcee の推奨。足りない場合は最大 6000 歩まで自動で延ばしたが、それでも届かないビンが多い。</a:t>
            </a:r>
          </a:p>
          <a:p>
            <a:r>
              <a:t>数字は results/mcmc_allbins_gasICS_v20r_rerun/mcmc_bin06.json から。</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§2.2: "the best-fit values and statistical errors of the fitting parameters f_l are obtained by maximizing the likelihood function using the MCMC method"。</a:t>
            </a:r>
          </a:p>
          <a:p>
            <a:r>
              <a:t>勾配法を使う理由: MCMC はランダムに歩くので、ちょうど頂上の点を踏むとは限らない。坂を登る方法のほうが頂上を正確に求められる。実際、勾配法のほうが ln L がわずかに高かった (ハローありで +0.20)。</a:t>
            </a:r>
          </a:p>
          <a:p>
            <a:r>
              <a:t>比較はクラウドの計算機 (x86_64) で、同じ型紙・同じ 10° セル尤度・同じ制約。Totani の初期値 (点源・GALPROP = 1、等方 = E²dN/dE 1e-4、他 = 0) から emcee 32 歩行者 × 6000 歩。本人 PC の 19.00σ との差は計算機の違いによるもので、比較は同じ環境どうし。</a:t>
            </a:r>
          </a:p>
          <a:p>
            <a:r>
              <a:t>記録: cloud_reports/2026-10-02_totani_style_mcmc_check.md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5" name="Picture 4">
            <a:extLst>
              <a:ext uri="{FF2B5EF4-FFF2-40B4-BE49-F238E27FC236}">
                <a16:creationId xmlns:a16="http://schemas.microsoft.com/office/drawing/2014/main" id="{B2B30F14-F3FD-3F53-EC7E-3A869D50EC03}"/>
              </a:ext>
            </a:extLst>
          </p:cNvPr>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5" name="Picture 4">
            <a:extLst>
              <a:ext uri="{FF2B5EF4-FFF2-40B4-BE49-F238E27FC236}">
                <a16:creationId xmlns:a16="http://schemas.microsoft.com/office/drawing/2014/main" id="{1322290E-F674-5B31-CE05-04E65EC1C03F}"/>
              </a:ext>
            </a:extLst>
          </p:cNvPr>
          <p:cNvPicPr>
            <a:picLocks noChangeAspect="1"/>
          </p:cNvPicPr>
          <p:nvPr/>
        </p:nvPicPr>
        <p:blipFill>
          <a:blip r:embed="rId3"/>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r>
              <a:rPr sz="2400"/>
              <a:t>最尤の 1 点だけでなく、倍率 f が「どれくらいの範囲にありうるか」を知りたい</a:t>
            </a:r>
          </a:p>
          <a:p>
            <a:r>
              <a:rPr sz="2400"/>
              <a:t>MCMC：尤度に比例する確率で、パラメータの空間を歩き回る</a:t>
            </a:r>
          </a:p>
          <a:p>
            <a:pPr lvl="1"/>
            <a:r>
              <a:rPr sz="2000"/>
              <a:t>歩いた跡の分布 = パラメータの事後分布 → 誤差棒</a:t>
            </a:r>
          </a:p>
          <a:p>
            <a:r>
              <a:rPr sz="2400"/>
              <a:t>emcee を使用：32 本の歩行者、最初の 400 歩は捨てる</a:t>
            </a:r>
          </a:p>
          <a:p>
            <a:pPr lvl="1"/>
            <a:r>
              <a:rPr sz="2000"/>
              <a:t>自己相関時間の 50 倍以上の長さがあるか確認</a:t>
            </a:r>
          </a:p>
          <a:p>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の中身①：何を求めているか</a:t>
            </a:r>
          </a:p>
        </p:txBody>
      </p:sp>
      <p:sp>
        <p:nvSpPr>
          <p:cNvPr id="3" name="Content Placeholder 2"/>
          <p:cNvSpPr>
            <a:spLocks noGrp="1"/>
          </p:cNvSpPr>
          <p:nvPr>
            <p:ph idx="1"/>
          </p:nvPr>
        </p:nvSpPr>
        <p:spPr>
          <a:xfrm>
            <a:off x="841248" y="1463040"/>
            <a:ext cx="10515600" cy="4114800"/>
          </a:xfrm>
        </p:spPr>
        <p:txBody>
          <a:bodyPr/>
          <a:lstStyle/>
          <a:p>
            <a:pPr/>
            <a:r>
              <a:rPr sz="2200"/>
              <a:t>知りたいもの：データ D を見たあと、倍率 θ = (f₁, …, f₉) がどの値をとりうるか</a:t>
            </a:r>
          </a:p>
          <a:p>
            <a:pPr/>
            <a:r>
              <a:rPr sz="2200"/>
              <a:t>ベイズの定理：P(θ | D) = L(D | θ) π(θ) / P(D)</a:t>
            </a:r>
          </a:p>
          <a:p>
            <a:pPr lvl="1"/>
            <a:r>
              <a:rPr sz="1800"/>
              <a:t>P(θ | D)：事後分布（データを見た後の、θ のもっともらしさ）</a:t>
            </a:r>
          </a:p>
          <a:p>
            <a:pPr lvl="1"/>
            <a:r>
              <a:rPr sz="1800"/>
              <a:t>L(D | θ)：尤度（手法② の L）　π(θ)：事前分布（今回は一様）</a:t>
            </a:r>
          </a:p>
          <a:p>
            <a:pPr lvl="1"/>
            <a:r>
              <a:rPr sz="1800"/>
              <a:t>P(D)：θ によらない定数 → 計算しなくてよい</a:t>
            </a:r>
          </a:p>
          <a:p>
            <a:pPr/>
            <a:r>
              <a:rPr sz="2200"/>
              <a:t>つまり P(θ | D) ∝ L(D | θ) × π(θ)</a:t>
            </a:r>
          </a:p>
          <a:p>
            <a:pPr/>
            <a:r>
              <a:rPr sz="2200"/>
              <a:t>ただし θ は 9 次元。1 次元を 100 点に区切っても 100⁹ = 10¹⁸ 通り → 全部は計算できない</a:t>
            </a:r>
          </a:p>
          <a:p>
            <a:pPr/>
            <a:r>
              <a:rPr sz="2200"/>
              <a:t>→ 事後分布から「サンプルを取り出す」方法が MCMC</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の中身②：歩き方（メトロポリス法）</a:t>
            </a:r>
          </a:p>
        </p:txBody>
      </p:sp>
      <p:sp>
        <p:nvSpPr>
          <p:cNvPr id="3" name="Content Placeholder 2"/>
          <p:cNvSpPr>
            <a:spLocks noGrp="1"/>
          </p:cNvSpPr>
          <p:nvPr>
            <p:ph idx="1"/>
          </p:nvPr>
        </p:nvSpPr>
        <p:spPr>
          <a:xfrm>
            <a:off x="841248" y="1463040"/>
            <a:ext cx="5394960" cy="4114800"/>
          </a:xfrm>
        </p:spPr>
        <p:txBody>
          <a:bodyPr/>
          <a:lstStyle/>
          <a:p>
            <a:pPr/>
            <a:r>
              <a:rPr sz="2000"/>
              <a:t>① 今の点 θ から、少しずらした候補 θ′ を作る</a:t>
            </a:r>
          </a:p>
          <a:p>
            <a:pPr/>
            <a:r>
              <a:rPr sz="2000"/>
              <a:t>② 比 r = P(θ′ | D) / P(θ | D) を計算</a:t>
            </a:r>
          </a:p>
          <a:p>
            <a:pPr lvl="1"/>
            <a:r>
              <a:rPr sz="1600"/>
              <a:t>P(D) は分母分子で消える</a:t>
            </a:r>
          </a:p>
          <a:p>
            <a:pPr/>
            <a:r>
              <a:rPr sz="2000"/>
              <a:t>③ r ≥ 1 なら移る。r &lt; 1 なら確率 r で移る</a:t>
            </a:r>
          </a:p>
          <a:p>
            <a:pPr lvl="1"/>
            <a:r>
              <a:rPr sz="1600"/>
              <a:t>移らなければ、同じ点をもう一度記録</a:t>
            </a:r>
          </a:p>
          <a:p>
            <a:pPr/>
            <a:r>
              <a:rPr sz="2000"/>
              <a:t>④ ①〜③ を何千回もくり返す</a:t>
            </a:r>
          </a:p>
          <a:p>
            <a:pPr/>
            <a:r>
              <a:rPr sz="2000"/>
              <a:t>歩いた跡のヒストグラム = 事後分布</a:t>
            </a:r>
          </a:p>
          <a:p>
            <a:pPr lvl="1"/>
            <a:r>
              <a:rPr sz="1600"/>
              <a:t>下がる方向にも確率的に進むので、山の広がり（誤差）まで分かる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9" name="Picture 8" descr="fig_mcmc_toy.png"/>
          <p:cNvPicPr>
            <a:picLocks noChangeAspect="1"/>
          </p:cNvPicPr>
          <p:nvPr/>
        </p:nvPicPr>
        <p:blipFill>
          <a:blip r:embed="rId3"/>
          <a:stretch>
            <a:fillRect/>
          </a:stretch>
        </p:blipFill>
        <p:spPr>
          <a:xfrm>
            <a:off x="6309360" y="1828800"/>
            <a:ext cx="5669280" cy="22677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の中身③：今回の設定（emcee）</a:t>
            </a:r>
          </a:p>
        </p:txBody>
      </p:sp>
      <p:sp>
        <p:nvSpPr>
          <p:cNvPr id="3" name="Content Placeholder 2"/>
          <p:cNvSpPr>
            <a:spLocks noGrp="1"/>
          </p:cNvSpPr>
          <p:nvPr>
            <p:ph idx="1"/>
          </p:nvPr>
        </p:nvSpPr>
        <p:spPr>
          <a:xfrm>
            <a:off x="841248" y="1463040"/>
            <a:ext cx="10515600" cy="4114800"/>
          </a:xfrm>
        </p:spPr>
        <p:txBody>
          <a:bodyPr/>
          <a:lstStyle/>
          <a:p>
            <a:pPr/>
            <a:r>
              <a:rPr sz="2000"/>
              <a:t>32 人の歩行者が同時に歩く。次の一歩は、他の歩行者の位置を使って決める</a:t>
            </a:r>
          </a:p>
          <a:p>
            <a:pPr lvl="1"/>
            <a:r>
              <a:rPr sz="1600"/>
              <a:t>候補：Y = X_j + Z (X_k − X_j)（X_k：自分、X_j：ランダムに選んだ他の歩行者）</a:t>
            </a:r>
          </a:p>
          <a:p>
            <a:pPr lvl="1"/>
            <a:r>
              <a:rPr sz="1600"/>
              <a:t>Z は 1/2〜2 の乱数（確率 ∝ 1/√Z）、移る確率 = min(1, Z⁸ P(Y | D) / P(X_k | D))</a:t>
            </a:r>
          </a:p>
          <a:p>
            <a:pPr/>
            <a:r>
              <a:rPr sz="2000"/>
              <a:t>出発点：最尤推定の点のすぐ近く。最初の 400 歩は捨て、5 歩ごとに記録</a:t>
            </a:r>
          </a:p>
          <a:p>
            <a:pPr/>
            <a:r>
              <a:rPr sz="2000"/>
              <a:t>結果の例（20.8 GeV）：ハローの倍率 f_halo = 1.48（68% 区間 1.40–1.55）</a:t>
            </a:r>
          </a:p>
          <a:p>
            <a:pPr/>
            <a:r>
              <a:rPr sz="2000"/>
              <a:t>注意：推奨の長さ（自己相関時間 τ の 50 倍）に届かないビンが多い</a:t>
            </a:r>
          </a:p>
          <a:p>
            <a:pPr lvl="1"/>
            <a:r>
              <a:rPr sz="1600"/>
              <a:t>20.8 GeV で τ ≈ 127 歩、記録した長さ 5600 歩 &lt; 50τ。13 ビン中 2 ビンだけ到達</a:t>
            </a:r>
          </a:p>
          <a:p>
            <a:pPr lvl="1"/>
            <a:r>
              <a:rPr sz="1600"/>
              <a:t>→ 誤差棒は目安。有意度 σ は Δln L から出すので影響しない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3"/>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13〜16σ（予測とも一致）</a:t>
            </a:r>
          </a:p>
          <a:p>
            <a:r>
              <a:rPr sz="2200"/>
              <a:t>→ 19 → 5σ は「手がかりを捨てた」から。汚染の証拠ではない</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主結果を 19.0σ（10/1 の再計算）に統一</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1.73</a:t>
            </a:r>
          </a:p>
          <a:p>
            <a:r>
              <a:rPr sz="2400"/>
              <a:t>実測 T = 0.39 → ずれ 1.3σ</a:t>
            </a:r>
          </a:p>
          <a:p>
            <a:r>
              <a:rPr sz="2400"/>
              <a:t>ただし、ここでは J に誤差は無いとしていた</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1.73</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1.73、ずれ 1.3σ（s = 1.26 なら 1.1σ）</a:t>
            </a:r>
          </a:p>
          <a:p>
            <a:pPr lvl="1"/>
            <a:r>
              <a:rPr sz="2000"/>
              <a:t>J の誤差あり：期待 2.4（68% で 1.3–5.0）、ずれ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最尤値の求め方：Totani との違い</a:t>
            </a:r>
          </a:p>
        </p:txBody>
      </p:sp>
      <p:sp>
        <p:nvSpPr>
          <p:cNvPr id="3" name="Content Placeholder 2"/>
          <p:cNvSpPr>
            <a:spLocks noGrp="1"/>
          </p:cNvSpPr>
          <p:nvPr>
            <p:ph idx="1"/>
          </p:nvPr>
        </p:nvSpPr>
        <p:spPr>
          <a:xfrm>
            <a:off x="841248" y="1463040"/>
            <a:ext cx="10515600" cy="4114800"/>
          </a:xfrm>
        </p:spPr>
        <p:txBody>
          <a:bodyPr/>
          <a:lstStyle/>
          <a:p>
            <a:pPr/>
            <a:r>
              <a:rPr sz="2200"/>
              <a:t>Totani：MCMC 1 つで、最尤値（歩いた中で ln L が最大の点）と誤差の両方を出す</a:t>
            </a:r>
          </a:p>
          <a:p>
            <a:pPr/>
            <a:r>
              <a:rPr sz="2200"/>
              <a:t>本研究：最尤値は勾配法（L-BFGS-B）、誤差は MCMC（emcee）</a:t>
            </a:r>
          </a:p>
          <a:p>
            <a:pPr lvl="1"/>
            <a:r>
              <a:rPr sz="1800"/>
              <a:t>求めているもの（ln L が最大になる f）は同じ。探し方だけが違う</a:t>
            </a:r>
          </a:p>
          <a:p>
            <a:pPr/>
            <a:r>
              <a:rPr sz="2200"/>
              <a:t>同じ型紙・同じ尤度で両方を計算して比べた（20.8 GeV）</a:t>
            </a:r>
          </a:p>
          <a:p>
            <a:pPr lvl="1"/>
            <a:r>
              <a:rPr sz="1800"/>
              <a:t>勾配法：19.215σ　／　Totani と同じ MCMC：19.209σ　→ 差 0.006σ</a:t>
            </a:r>
          </a:p>
          <a:p>
            <a:pPr lvl="1"/>
            <a:r>
              <a:rPr sz="1800"/>
              <a:t>ハローの倍率：1.478 ／ 1.457</a:t>
            </a:r>
          </a:p>
          <a:p>
            <a:pPr/>
            <a:r>
              <a:rPr sz="2200"/>
              <a:t>→ 方法の違いは結果に影響しない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