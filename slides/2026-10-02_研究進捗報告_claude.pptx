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301" r:id="rId46"/>
    <p:sldId id="302" r:id="rId45"/>
    <p:sldId id="303" r:id="rId44"/>
    <p:sldId id="304" r:id="rId54"/>
    <p:sldId id="305" r:id="rId55"/>
    <p:sldId id="306" r:id="rId56"/>
    <p:sldId id="307" r:id="rId57"/>
    <p:sldId id="308" r:id="rId58"/>
    <p:sldId id="260" r:id="rId6"/>
    <p:sldId id="294" r:id="rId47"/>
    <p:sldId id="261" r:id="rId7"/>
    <p:sldId id="262" r:id="rId8"/>
    <p:sldId id="295" r:id="rId48"/>
    <p:sldId id="296" r:id="rId49"/>
    <p:sldId id="297" r:id="rId50"/>
    <p:sldId id="298" r:id="rId51"/>
    <p:sldId id="309" r:id="rId59"/>
    <p:sldId id="299" r:id="rId52"/>
    <p:sldId id="300" r:id="rId53"/>
    <p:sldId id="263" r:id="rId9"/>
    <p:sldId id="264" r:id="rId10"/>
    <p:sldId id="265" r:id="rId11"/>
    <p:sldId id="266" r:id="rId12"/>
    <p:sldId id="267" r:id="rId13"/>
    <p:sldId id="268" r:id="rId14"/>
    <p:sldId id="269" r:id="rId15"/>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13.xml"/><Relationship Id="rId7" Type="http://schemas.openxmlformats.org/officeDocument/2006/relationships/slide" Target="slides/slide15.xml"/><Relationship Id="rId8" Type="http://schemas.openxmlformats.org/officeDocument/2006/relationships/slide" Target="slides/slide16.xml"/><Relationship Id="rId9" Type="http://schemas.openxmlformats.org/officeDocument/2006/relationships/slide" Target="slides/slide24.xml"/><Relationship Id="rId10" Type="http://schemas.openxmlformats.org/officeDocument/2006/relationships/slide" Target="slides/slide25.xml"/><Relationship Id="rId11" Type="http://schemas.openxmlformats.org/officeDocument/2006/relationships/slide" Target="slides/slide26.xml"/><Relationship Id="rId12" Type="http://schemas.openxmlformats.org/officeDocument/2006/relationships/slide" Target="slides/slide27.xml"/><Relationship Id="rId13" Type="http://schemas.openxmlformats.org/officeDocument/2006/relationships/slide" Target="slides/slide28.xml"/><Relationship Id="rId14" Type="http://schemas.openxmlformats.org/officeDocument/2006/relationships/slide" Target="slides/slide29.xml"/><Relationship Id="rId15" Type="http://schemas.openxmlformats.org/officeDocument/2006/relationships/slide" Target="slides/slide30.xml"/><Relationship Id="rId17" Type="http://schemas.openxmlformats.org/officeDocument/2006/relationships/slide" Target="slides/slide31.xml"/><Relationship Id="rId18" Type="http://schemas.openxmlformats.org/officeDocument/2006/relationships/slide" Target="slides/slide32.xml"/><Relationship Id="rId19" Type="http://schemas.openxmlformats.org/officeDocument/2006/relationships/slide" Target="slides/slide33.xml"/><Relationship Id="rId20" Type="http://schemas.openxmlformats.org/officeDocument/2006/relationships/slide" Target="slides/slide34.xml"/><Relationship Id="rId21" Type="http://schemas.openxmlformats.org/officeDocument/2006/relationships/slide" Target="slides/slide35.xml"/><Relationship Id="rId22" Type="http://schemas.openxmlformats.org/officeDocument/2006/relationships/slide" Target="slides/slide36.xml"/><Relationship Id="rId23" Type="http://schemas.openxmlformats.org/officeDocument/2006/relationships/slide" Target="slides/slide37.xml"/><Relationship Id="rId24" Type="http://schemas.openxmlformats.org/officeDocument/2006/relationships/slide" Target="slides/slide38.xml"/><Relationship Id="rId25" Type="http://schemas.openxmlformats.org/officeDocument/2006/relationships/slide" Target="slides/slide39.xml"/><Relationship Id="rId26" Type="http://schemas.openxmlformats.org/officeDocument/2006/relationships/slide" Target="slides/slide40.xml"/><Relationship Id="rId27" Type="http://schemas.openxmlformats.org/officeDocument/2006/relationships/slide" Target="slides/slide41.xml"/><Relationship Id="rId28" Type="http://schemas.openxmlformats.org/officeDocument/2006/relationships/slide" Target="slides/slide42.xml"/><Relationship Id="rId29" Type="http://schemas.openxmlformats.org/officeDocument/2006/relationships/slide" Target="slides/slide43.xml"/><Relationship Id="rId30" Type="http://schemas.openxmlformats.org/officeDocument/2006/relationships/slide" Target="slides/slide44.xml"/><Relationship Id="rId31" Type="http://schemas.openxmlformats.org/officeDocument/2006/relationships/slide" Target="slides/slide45.xml"/><Relationship Id="rId32" Type="http://schemas.openxmlformats.org/officeDocument/2006/relationships/slide" Target="slides/slide46.xml"/><Relationship Id="rId33" Type="http://schemas.openxmlformats.org/officeDocument/2006/relationships/slide" Target="slides/slide47.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7.xml"/><Relationship Id="rId45" Type="http://schemas.openxmlformats.org/officeDocument/2006/relationships/slide" Target="slides/slide6.xml"/><Relationship Id="rId46" Type="http://schemas.openxmlformats.org/officeDocument/2006/relationships/slide" Target="slides/slide5.xml"/><Relationship Id="rId47" Type="http://schemas.openxmlformats.org/officeDocument/2006/relationships/slide" Target="slides/slide14.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1.42〜1.58)。最良値 1.51 と有意度 19.5σ は捨てる歩数によらず同じ。400 歩のときの誤差は 1.43〜1.61。</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4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4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pPr/>
            <a:r>
              <a:rPr sz="1800"/>
              <a:t>空のどの方向からも、同じ明るさで来るガンマ線</a:t>
            </a:r>
          </a:p>
          <a:p>
            <a:pPr/>
            <a:r>
              <a:rPr sz="1800"/>
              <a:t>出どころ：天の川の外の遠い銀河（ブレーザーなど）</a:t>
            </a:r>
          </a:p>
          <a:p>
            <a:pPr lvl="1"/>
            <a:r>
              <a:rPr sz="1500"/>
              <a:t>一つ一つは見分けられないほど暗い光が、たくさん重なったもの</a:t>
            </a:r>
          </a:p>
          <a:p>
            <a:pPr/>
            <a:r>
              <a:rPr sz="1800"/>
              <a:t>型紙：空全体で一様（どこも同じ明るさ）</a:t>
            </a:r>
          </a:p>
          <a:p>
            <a:pPr/>
            <a:r>
              <a:rPr sz="1800"/>
              <a:t>倍率：0 以上</a:t>
            </a:r>
          </a:p>
          <a:p>
            <a:pPr lvl="1"/>
            <a:r>
              <a:rPr sz="1500"/>
              <a:t>最初の値は E²dN/dE = 10⁻⁴ MeV cm⁻² s⁻¹ sr⁻¹ 相当</a:t>
            </a:r>
          </a:p>
          <a:p>
            <a:pPr/>
            <a:r>
              <a:rPr sz="1800"/>
              <a:t>注意：Loop I の殻 1 と形がほぼ同じで、区別しにくい</a:t>
            </a:r>
          </a:p>
        </p:txBody>
      </p:sp>
      <p:pic>
        <p:nvPicPr>
          <p:cNvPr id="4" name="Picture 3" descr="template_iso_count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pPr/>
            <a:r>
              <a:rPr sz="1800"/>
              <a:t>宇宙線が、星と星の間のガス（主に水素）にぶつかって出すガンマ線</a:t>
            </a:r>
          </a:p>
          <a:p>
            <a:pPr/>
            <a:r>
              <a:rPr sz="1800"/>
              <a:t>π⁰ 崩壊</a:t>
            </a:r>
          </a:p>
          <a:p>
            <a:pPr lvl="1"/>
            <a:r>
              <a:rPr sz="1500"/>
              <a:t>宇宙線の陽子が水素の原子核にぶつかる → π⁰ という粒子ができる → すぐ光子 2 個に壊れる</a:t>
            </a:r>
          </a:p>
          <a:p>
            <a:pPr/>
            <a:r>
              <a:rPr sz="1800"/>
              <a:t>制動放射</a:t>
            </a:r>
          </a:p>
          <a:p>
            <a:pPr lvl="1"/>
            <a:r>
              <a:rPr sz="1500"/>
              <a:t>宇宙線の電子がガスのそばを通るときに曲げられ、ブレーキがかかって光を出す</a:t>
            </a:r>
          </a:p>
          <a:p>
            <a:pPr/>
            <a:r>
              <a:rPr sz="1800"/>
              <a:t>型紙：GALPROP で計算。2 つの比は GALPROP の値に固定して 1 枚</a:t>
            </a:r>
          </a:p>
          <a:p>
            <a:pPr lvl="1"/>
            <a:r>
              <a:rPr sz="1500"/>
              <a:t>ガスの多い銀河面の近くと、ガス雲の模様が明るい</a:t>
            </a:r>
          </a:p>
          <a:p>
            <a:pPr/>
            <a:r>
              <a:rPr sz="1800"/>
              <a:t>倍率：0 以上、最初は 1</a:t>
            </a:r>
          </a:p>
        </p:txBody>
      </p:sp>
      <p:pic>
        <p:nvPicPr>
          <p:cNvPr id="4" name="Picture 3" descr="template_ga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pPr/>
            <a:r>
              <a:rPr sz="1800"/>
              <a:t>宇宙線の電子が、まわりの光にぶつかってガンマ線に変える</a:t>
            </a:r>
          </a:p>
          <a:p>
            <a:pPr lvl="1"/>
            <a:r>
              <a:rPr sz="1500"/>
              <a:t>ぶつかる光：星の光、ちりが出す赤外線、宇宙背景放射</a:t>
            </a:r>
          </a:p>
          <a:p>
            <a:pPr/>
            <a:r>
              <a:rPr sz="1800"/>
              <a:t>たとえ：速いボール（電子）が軽いピンポン玉（光）をはね飛ばす</a:t>
            </a:r>
          </a:p>
          <a:p>
            <a:pPr lvl="1"/>
            <a:r>
              <a:rPr sz="1500"/>
              <a:t>はね飛ばされたピンポン玉がガンマ線になる</a:t>
            </a:r>
          </a:p>
          <a:p>
            <a:pPr/>
            <a:r>
              <a:rPr sz="1800"/>
              <a:t>星の光は銀河の中心ほど多い</a:t>
            </a:r>
          </a:p>
          <a:p>
            <a:pPr lvl="1"/>
            <a:r>
              <a:rPr sz="1500"/>
              <a:t>→ 形は、銀河面と中心付近が明るく、なめらかに広がる</a:t>
            </a:r>
          </a:p>
          <a:p>
            <a:pPr/>
            <a:r>
              <a:rPr sz="1800"/>
              <a:t>型紙：GALPROP で計算</a:t>
            </a:r>
          </a:p>
          <a:p>
            <a:pPr/>
            <a:r>
              <a:rPr sz="1800"/>
              <a:t>倍率：0 以上、最初は 1</a:t>
            </a:r>
          </a:p>
          <a:p>
            <a:pPr/>
            <a:r>
              <a:rPr sz="1800"/>
              <a:t>ハローと形が似ている（縮退の原因）</a:t>
            </a:r>
          </a:p>
        </p:txBody>
      </p:sp>
      <p:pic>
        <p:nvPicPr>
          <p:cNvPr id="4" name="Picture 3" descr="template_ic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pPr/>
            <a:r>
              <a:rPr sz="1800"/>
              <a:t>一つ一つ位置が分かっている天体</a:t>
            </a:r>
          </a:p>
          <a:p>
            <a:pPr lvl="1"/>
            <a:r>
              <a:rPr sz="1500"/>
              <a:t>パルサー（回転する中性子星）、ブレーザー（遠い銀河の中心）など</a:t>
            </a:r>
          </a:p>
          <a:p>
            <a:pPr/>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pPr/>
            <a:r>
              <a:rPr sz="1800"/>
              <a:t>全部の点源をまとめて 1 枚、倍率 1 個</a:t>
            </a:r>
          </a:p>
          <a:p>
            <a:pPr/>
            <a:r>
              <a:rPr sz="1800"/>
              <a:t>倍率：0 以上、最初は 1</a:t>
            </a:r>
          </a:p>
          <a:p>
            <a:pPr/>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pPr/>
            <a:r>
              <a:rPr sz="1800"/>
              <a:t>電波で見える、空の 100° 以上に広がる巨大な輪っか</a:t>
            </a:r>
          </a:p>
          <a:p>
            <a:pPr lvl="1"/>
            <a:r>
              <a:rPr sz="1500"/>
              <a:t>ガンマ線でも見えている</a:t>
            </a:r>
          </a:p>
          <a:p>
            <a:pPr/>
            <a:r>
              <a:rPr sz="1800"/>
              <a:t>正体は未確定</a:t>
            </a:r>
          </a:p>
          <a:p>
            <a:pPr lvl="1"/>
            <a:r>
              <a:rPr sz="1500"/>
              <a:t>近くの超新星の残骸か、銀河中心から吹き出したものか</a:t>
            </a:r>
          </a:p>
          <a:p>
            <a:pPr/>
            <a:r>
              <a:rPr sz="1800"/>
              <a:t>型紙：近くの超新星の残骸とみなした形</a:t>
            </a:r>
          </a:p>
          <a:p>
            <a:pPr lvl="1"/>
            <a:r>
              <a:rPr sz="1500"/>
              <a:t>半径 50〜100 pc の殻 2 つが、一様に光る</a:t>
            </a:r>
          </a:p>
          <a:p>
            <a:pPr lvl="1"/>
            <a:r>
              <a:rPr sz="1500"/>
              <a:t>殻の位置と大きさは Fermi-LAT チームの値</a:t>
            </a:r>
          </a:p>
          <a:p>
            <a:pPr/>
            <a:r>
              <a:rPr sz="1800"/>
              <a:t>2 つの殻に、別々の倍率（0 以上、最初は 0）</a:t>
            </a:r>
          </a:p>
        </p:txBody>
      </p:sp>
      <p:pic>
        <p:nvPicPr>
          <p:cNvPr id="4" name="Picture 3" descr="template_loopI_a.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pPr/>
            <a:r>
              <a:rPr sz="1800"/>
              <a:t>銀河中心の上下に、それぞれ約 50° 広がる巨大な泡</a:t>
            </a:r>
          </a:p>
          <a:p>
            <a:pPr lvl="1"/>
            <a:r>
              <a:rPr sz="1500"/>
              <a:t>過去の銀河中心の活動（ブラックホールや爆発的な星形成）の名残と考えられている</a:t>
            </a:r>
          </a:p>
          <a:p>
            <a:pPr/>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pPr/>
            <a:r>
              <a:rPr sz="1800"/>
              <a:t>倍率：正は 0 以上、負は符号自由。最初は 0</a:t>
            </a:r>
          </a:p>
        </p:txBody>
      </p:sp>
      <p:pic>
        <p:nvPicPr>
          <p:cNvPr id="4" name="Picture 3" descr="template_fb.png"/>
          <p:cNvPicPr>
            <a:picLocks noChangeAspect="1"/>
          </p:cNvPicPr>
          <p:nvPr/>
        </p:nvPicPr>
        <p:blipFill>
          <a:blip r:embed="rId2"/>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3"/>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pPr/>
            <a:r>
              <a:rPr sz="1800"/>
              <a:t>暗黒物質の粒子どうしがぶつかって消え（対消滅）、ガンマ線を出す</a:t>
            </a:r>
          </a:p>
          <a:p>
            <a:pPr/>
            <a:r>
              <a:rPr sz="1800"/>
              <a:t>明るさ ∝ 密度の 2 乗（粒子が 2 つ要るため）</a:t>
            </a:r>
          </a:p>
          <a:p>
            <a:pPr lvl="1"/>
            <a:r>
              <a:rPr sz="1500"/>
              <a:t>それを視線方向に足し合わせたもの = J ファクター</a:t>
            </a:r>
          </a:p>
          <a:p>
            <a:pPr/>
            <a:r>
              <a:rPr sz="1800"/>
              <a:t>密度の形：NFW（Via Lactea II のシミュレーション）</a:t>
            </a:r>
          </a:p>
          <a:p>
            <a:pPr lvl="1"/>
            <a:r>
              <a:rPr sz="1500"/>
              <a:t>rs = 21 kpc、太陽の位置で 0.42 GeV/cm³</a:t>
            </a:r>
          </a:p>
          <a:p>
            <a:pPr/>
            <a:r>
              <a:rPr sz="1800"/>
              <a:t>形：銀河中心に向かって明るく、なめらかに広がる</a:t>
            </a:r>
          </a:p>
          <a:p>
            <a:pPr/>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2"/>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lstStyle/>
          <a:p>
            <a:pPr/>
            <a:r>
              <a:rPr sz="2600"/>
              <a:t>予測 ＝ f₁ × 型紙₁ ＋ f₂ × 型紙₂ ＋ … ＋ f₉ × 型紙₉</a:t>
            </a:r>
          </a:p>
          <a:p>
            <a:pPr lvl="1"/>
            <a:r>
              <a:rPr sz="2200"/>
              <a:t>型紙は固定。動かすのは係数（倍率）9 個だけ</a:t>
            </a:r>
          </a:p>
          <a:p>
            <a:pPr/>
            <a:r>
              <a:rPr sz="2600"/>
              <a:t>尤度：その係数 9 個が「どれだけ良いか」の点数</a:t>
            </a:r>
          </a:p>
          <a:p>
            <a:pPr/>
            <a:r>
              <a:rPr sz="2600"/>
              <a:t>MCMC：良い係数 9 個を探す方法</a:t>
            </a:r>
          </a:p>
          <a:p>
            <a:pPr/>
            <a:r>
              <a:rPr sz="2600"/>
              <a:t>最良値：見つかった一番良い係数 9 個</a:t>
            </a:r>
          </a:p>
          <a:p>
            <a:pPr/>
            <a:r>
              <a:rPr sz="2600"/>
              <a:t>誤差：その係数が「どこまでずれても十分良いか」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pPr/>
            <a:r>
              <a:rPr sz="2400"/>
              <a:t>尤度 ＝ 点数をつける係（たとえ：高度計）</a:t>
            </a:r>
          </a:p>
          <a:p>
            <a:pPr lvl="1"/>
            <a:r>
              <a:rPr sz="2000"/>
              <a:t>倍率の組（f_gas, f_ics, …, f_halo）を入れると、予測と観測の合い具合 ln L を返す</a:t>
            </a:r>
          </a:p>
          <a:p>
            <a:pPr/>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pPr/>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pPr/>
            <a:r>
              <a:rPr sz="1800"/>
              <a:t>山の上の「場所」 → 倍率の組 θ</a:t>
            </a:r>
          </a:p>
          <a:p>
            <a:pPr lvl="1"/>
            <a:r>
              <a:rPr sz="1500"/>
              <a:t>θ = (f_iso, f_gas, f_ics, …, f_halo)。9 個あるので 9 次元の山</a:t>
            </a:r>
          </a:p>
          <a:p>
            <a:pPr/>
            <a:r>
              <a:rPr sz="1800"/>
              <a:t>その場所の「高さ」 → 点数（事後分布）</a:t>
            </a:r>
          </a:p>
          <a:p>
            <a:pPr/>
            <a:r>
              <a:rPr sz="1800"/>
              <a:t>「高度計」 → 尤度の計算（手法② の ln L）</a:t>
            </a:r>
          </a:p>
          <a:p>
            <a:pPr/>
            <a:r>
              <a:rPr sz="1800"/>
              <a:t>「立ち入り禁止の場所」 → 事前分布</a:t>
            </a:r>
          </a:p>
          <a:p>
            <a:pPr lvl="1"/>
            <a:r>
              <a:rPr sz="1500"/>
              <a:t>例：ガスや ICS の倍率は負にならない</a:t>
            </a:r>
          </a:p>
          <a:p>
            <a:pPr/>
            <a:r>
              <a:rPr sz="1800"/>
              <a:t>「歩く人」 → 歩行者（walker）。今回は 32 人</a:t>
            </a:r>
          </a:p>
          <a:p>
            <a:pPr/>
            <a:r>
              <a:rPr sz="1800"/>
              <a:t>「足あとの記録」 → チェーン（サンプル）</a:t>
            </a:r>
          </a:p>
          <a:p>
            <a:pPr/>
            <a:r>
              <a:rPr sz="1800"/>
              <a:t>「一番高い足あと」 → 最良値</a:t>
            </a:r>
          </a:p>
          <a:p>
            <a:pPr/>
            <a:r>
              <a:rPr sz="1800"/>
              <a:t>「足あとの広がり」 → 誤差</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pPr/>
            <a:r>
              <a:rPr sz="1800"/>
              <a:t>P(θ | D) = L(D | θ) × π(θ) ÷ P(D)</a:t>
            </a:r>
          </a:p>
          <a:p>
            <a:pPr/>
            <a:r>
              <a:rPr sz="1800"/>
              <a:t>P(θ | D)：場所 θ の「高さ」（＝点数）</a:t>
            </a:r>
          </a:p>
          <a:p>
            <a:pPr lvl="1"/>
            <a:r>
              <a:rPr sz="1500"/>
              <a:t>データ D を見た後で、θ がどれくらいもっともらしいか</a:t>
            </a:r>
          </a:p>
          <a:p>
            <a:pPr/>
            <a:r>
              <a:rPr sz="1800"/>
              <a:t>L(D | θ)：「高度計」の読み（尤度）</a:t>
            </a:r>
          </a:p>
          <a:p>
            <a:pPr lvl="1"/>
            <a:r>
              <a:rPr sz="1500"/>
              <a:t>倍率が θ のとき、観測した光子の地図 D がどれくらい出やすいか</a:t>
            </a:r>
          </a:p>
          <a:p>
            <a:pPr/>
            <a:r>
              <a:rPr sz="1800"/>
              <a:t>π(θ)：入ってよい場所か（事前分布）</a:t>
            </a:r>
          </a:p>
          <a:p>
            <a:pPr lvl="1"/>
            <a:r>
              <a:rPr sz="1500"/>
              <a:t>入れる場所は全部同じ値、立ち入り禁止なら 0</a:t>
            </a:r>
          </a:p>
          <a:p>
            <a:pPr/>
            <a:r>
              <a:rPr sz="1800"/>
              <a:t>P(D)：海抜の基準。どの場所でも同じ数</a:t>
            </a:r>
          </a:p>
          <a:p>
            <a:pPr lvl="1"/>
            <a:r>
              <a:rPr sz="1500"/>
              <a:t>「どちらが高いか」を比べるだけなら消える → 計算しなくてよい</a:t>
            </a:r>
          </a:p>
          <a:p>
            <a:pPr/>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pPr/>
            <a:r>
              <a:rPr sz="1800"/>
              <a:t>1. 今いる場所 θ から、少しずれた場所 θ′ に足を出す</a:t>
            </a:r>
          </a:p>
          <a:p>
            <a:pPr lvl="1"/>
            <a:r>
              <a:rPr sz="1500"/>
              <a:t>どれだけずらすかは乱数で決める</a:t>
            </a:r>
          </a:p>
          <a:p>
            <a:pPr/>
            <a:r>
              <a:rPr sz="1800"/>
              <a:t>2. 高度計で両方を読み、比 r = 高さ(θ′) ÷ 高さ(θ)</a:t>
            </a:r>
          </a:p>
          <a:p>
            <a:pPr/>
            <a:r>
              <a:rPr sz="1800"/>
              <a:t>3. r ≥ 1（上り）なら、必ず θ′ に移る</a:t>
            </a:r>
          </a:p>
          <a:p>
            <a:pPr/>
            <a:r>
              <a:rPr sz="1800"/>
              <a:t>4. r &lt; 1（下り）なら、確率 r で移る</a:t>
            </a:r>
          </a:p>
          <a:p>
            <a:pPr lvl="1"/>
            <a:r>
              <a:rPr sz="1500"/>
              <a:t>0〜1 の乱数を引き、r より小さければ移る</a:t>
            </a:r>
          </a:p>
          <a:p>
            <a:pPr/>
            <a:r>
              <a:rPr sz="1800"/>
              <a:t>5. 移っても移らなくても、今いる場所を足あとに記録</a:t>
            </a:r>
          </a:p>
          <a:p>
            <a:pPr/>
            <a:r>
              <a:rPr sz="1800"/>
              <a:t>6. 1〜5 を何千回もくり返す</a:t>
            </a:r>
          </a:p>
          <a:p>
            <a:pPr/>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2"/>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pPr/>
            <a:r>
              <a:rPr sz="2000"/>
              <a:t>メトロポリス法（1953）：一番基本。少しずらして、比 r で移るか決める（②）</a:t>
            </a:r>
          </a:p>
          <a:p>
            <a:pPr/>
            <a:r>
              <a:rPr sz="2000"/>
              <a:t>ギブス法：倍率を 1 個ずつ順番に動かす</a:t>
            </a:r>
          </a:p>
          <a:p>
            <a:pPr/>
            <a:r>
              <a:rPr sz="2000"/>
              <a:t>ハミルトニアン MC：坂の傾きを使って、ボールを転がすように大きく動く</a:t>
            </a:r>
          </a:p>
          <a:p>
            <a:pPr/>
            <a:r>
              <a:rPr sz="2000"/>
              <a:t>アンサンブル法（2010）：何人も同時に歩き、仲間の位置で一歩を決める（④）</a:t>
            </a:r>
          </a:p>
          <a:p>
            <a:pPr lvl="1"/>
            <a:r>
              <a:rPr sz="1600"/>
              <a:t>Python の道具 emcee がこれ。本研究はこれを使った</a:t>
            </a:r>
          </a:p>
          <a:p>
            <a:pPr/>
            <a:r>
              <a:rPr sz="2000"/>
              <a:t>似ているが別物：焼きなまし法</a:t>
            </a:r>
          </a:p>
          <a:p>
            <a:pPr lvl="1"/>
            <a:r>
              <a:rPr sz="1600"/>
              <a:t>下りに進む確率をだんだん小さくして、頂上だけを探す。誤差は出ない</a:t>
            </a:r>
          </a:p>
          <a:p>
            <a:pPr/>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pPr/>
            <a:r>
              <a:rPr sz="1600"/>
              <a:t>1 人だと、細長い山で迷いやすい</a:t>
            </a:r>
          </a:p>
          <a:p>
            <a:pPr lvl="1"/>
            <a:r>
              <a:rPr sz="1400"/>
              <a:t>例：ガスと ICS の縮退。片方を上げて片方を下げても高さがほぼ同じ</a:t>
            </a:r>
          </a:p>
          <a:p>
            <a:pPr/>
            <a:r>
              <a:rPr sz="1600"/>
              <a:t>そこで 32 人が同時に歩き、仲間の位置を見て一歩を決める</a:t>
            </a:r>
          </a:p>
          <a:p>
            <a:pPr/>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pPr/>
            <a:r>
              <a:rPr sz="1600"/>
              <a:t>移るかどうかは ② と同じ考え（Z⁸ を掛けて補正）</a:t>
            </a:r>
          </a:p>
          <a:p>
            <a:pPr/>
            <a:r>
              <a:rPr sz="1600"/>
              <a:t>出発点：全員、Totani と同じ初期値の近く。6000 歩</a:t>
            </a:r>
          </a:p>
          <a:p>
            <a:pPr/>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pPr/>
            <a:r>
              <a:rPr sz="1800"/>
              <a:t>一番高い足あと → 最良の倍率（Totani と同じ）</a:t>
            </a:r>
          </a:p>
          <a:p>
            <a:pPr lvl="1"/>
            <a:r>
              <a:rPr sz="1500"/>
              <a:t>20.8 GeV：ハローの倍率 1.51</a:t>
            </a:r>
          </a:p>
          <a:p>
            <a:pPr/>
            <a:r>
              <a:rPr sz="1800"/>
              <a:t>足あとの広がり → 誤差</a:t>
            </a:r>
          </a:p>
          <a:p>
            <a:pPr lvl="1"/>
            <a:r>
              <a:rPr sz="1500"/>
              <a:t>最初の 2000 歩（ふもとから登っている途中）は捨て、残りの下から 16%〜84%</a:t>
            </a:r>
          </a:p>
          <a:p>
            <a:pPr lvl="1"/>
            <a:r>
              <a:rPr sz="1500"/>
              <a:t>20.8 GeV：1.42〜1.58</a:t>
            </a:r>
          </a:p>
          <a:p>
            <a:pPr/>
            <a:r>
              <a:rPr sz="1800"/>
              <a:t>有意度：ハローあり・なしの山を別々に歩く</a:t>
            </a:r>
          </a:p>
          <a:p>
            <a:pPr lvl="1"/>
            <a:r>
              <a:rPr sz="1500"/>
              <a:t>それぞれの一番高い足あとの高さの差 Δln L → σ = √(2Δln L)</a:t>
            </a:r>
          </a:p>
          <a:p>
            <a:pPr lvl="1"/>
            <a:r>
              <a:rPr sz="1500"/>
              <a:t>20.8 GeV：19.5σ</a:t>
            </a:r>
          </a:p>
          <a:p>
            <a:pPr/>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a:p>
            <a:pPr/>
            <a:r>
              <a:rPr sz="1800"/>
              <a:t>たとえ：部屋の電球（ICS）と探している光（ハロー）が、写真ではほぼ同じ形 → 余った明るさがどちらのものか決めにくい</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a:p>
            <a:pPr/>
            <a:r>
              <a:rPr sz="2000"/>
              <a:t>たとえ：写真の真ん中を隠すと、2 つの光を見分けるヒントが減って自信が下がる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