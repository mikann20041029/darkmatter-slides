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256" r:id="rId2"/>
    <p:sldId id="257" r:id="rId3"/>
    <p:sldId id="258" r:id="rId4"/>
    <p:sldId id="259" r:id="rId5"/>
    <p:sldId id="260" r:id="rId6"/>
    <p:sldId id="294" r:id="rId47"/>
    <p:sldId id="261" r:id="rId7"/>
    <p:sldId id="262" r:id="rId8"/>
    <p:sldId id="291" r:id="rId44"/>
    <p:sldId id="292" r:id="rId45"/>
    <p:sldId id="293" r:id="rId46"/>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18A6C4-2C47-4DAD-A1DF-DD0206B853E7}" v="2" dt="2026-10-02T01:15:06.3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95" d="100"/>
          <a:sy n="95" d="100"/>
        </p:scale>
        <p:origin x="206" y="67"/>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8.xml"/><Relationship Id="rId45" Type="http://schemas.openxmlformats.org/officeDocument/2006/relationships/slide" Target="slides/slide9.xml"/><Relationship Id="rId46" Type="http://schemas.openxmlformats.org/officeDocument/2006/relationships/slide" Target="slides/slide10.xml"/><Relationship Id="rId47" Type="http://schemas.openxmlformats.org/officeDocument/2006/relationships/slide" Target="slides/slide3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modSld">
      <pc:chgData name="202304239" userId="ab1adf7a-b8eb-4038-b404-de23e20d8a3a" providerId="ADAL" clId="{6C0E59ED-D716-49AF-B2FA-B94E7B8E5A8C}" dt="2026-10-02T01:41:32.636" v="2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Totani (2025) §2.2 と同じく MCMC (emcee) で行い、歩いた中で ln L が最大の点を最良値とする。</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(10/2 に Totani と同じやり方 = MCMC で最良値、で計算し直した。クラウドの計算機)、赤が Totani Fig. 9。本人 PC での確定値は後日。</a:t>
            </a:r>
          </a:p>
          <a:p>
            <a:r>
              <a:t>ただしこの 19.5σ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1.4〜1.6 倍でほぼ平ら (最良値)。ハローを入れると、ハローが効くビンでだけへこむ。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6.6σ と実測 5.0σ の残りの差は、バブル外でハローの倍率が 0.77 倍と低いことで説明できる。この内外の差は約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はクラウドの計算機で、Totani と同じやり方で比べた値 (どちらも同じ条件なので、差で言う)。Totani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でほぼ同じ。10/2 に最良値の求め方を Totani と同じ (MCMC) に直して計算し直し、19.5σ (クラウド)。全 13 ビンで差は 1σ 未満。</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ベイズの定理: 「データを見る前の考え (事前分布)」を「データの当てはまり (尤度)」で更新すると「データを見た後の考え (事後分布)」になる。</a:t>
            </a:r>
          </a:p>
          <a:p>
            <a:r>
              <a:t>事前分布は一様: 倍率の符号の制約 (ハローとバブル負以外は 0 以上) と、|f| ≤ 10⁶ の広い制限だけ。だから事後分布の形は尤度の形とほぼ同じ。</a:t>
            </a:r>
          </a:p>
          <a:p>
            <a:r>
              <a:t>P(D) (証拠) は全部の θ について足し合わせた値で、計算がとても大変。でも MCMC では「2 つの点の比」しか使わないので、割り算で消えて計算しなくてよい。</a:t>
            </a:r>
          </a:p>
          <a:p>
            <a:r>
              <a:t>たとえ: 9 次元の山の地形図を全部描くのは無理なので、山の上を歩き回って「よく通った場所 = 高い場所」を記録する。</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③ がポイント: 上り坂 (もっともらしさが上がる) には必ず進み、下り坂にも r の確率で進む。いつも上るだけだと山頂 (最尤推定) で止まってしまい、誤差が分からない。</a:t>
            </a:r>
          </a:p>
          <a:p>
            <a:r>
              <a:t>このルールで歩くと、長い目で見て「各点にいる時間の割合」が事後分布 P(θ | D) に比例するようになる (詳細つり合い)。</a:t>
            </a:r>
          </a:p>
          <a:p>
            <a:r>
              <a:t>図は説明用のおもちゃの例 (実データではない): 1 つの倍率 f の事後分布を平均 1.48・幅 0.075 の山と仮定して 3000 歩。わざと山から離れた 1.2 から出発させたので、最初の 200 歩は山にたどり着くまでの途中 → 捨てる (バーンイン)。残りのヒストグラムが本当の分布 (点線) と重なる。</a:t>
            </a:r>
          </a:p>
          <a:p>
            <a:r>
              <a:t>図は slides/figs/plot_mcmc_toy.py で作った。</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ストレッチ移動 (Goodman &amp; Weare 2010): 自分 X_k と、他の歩行者 X_j を結ぶ直線の上で、Z 倍だけ伸ばしたり縮めたりした点を候補にする。他の歩行者の散らばり方を使うので、細長い山 (パラメータ同士が強く相関している、例えばガスと ICS の縮退) でも効率よく歩ける。</a:t>
            </a:r>
          </a:p>
          <a:p>
            <a:r>
              <a:t>Z⁸ の 8 は「パラメータの数 9 − 1」。直線上で伸び縮みさせた分の補正。Z の範囲 1/2〜2 は emcee の既定値 (a = 2)。</a:t>
            </a:r>
          </a:p>
          <a:p>
            <a:r>
              <a:t>68% 区間 = 記録したサンプルの下から 16% と 84% の値。</a:t>
            </a:r>
          </a:p>
          <a:p>
            <a:r>
              <a:t>自己相関時間 τ: 何歩離れたら前の位置を「忘れる」か。50τ 以上は emcee の推奨。足りない場合は最大 6000 歩まで自動で延ばしたが、それでも届かないビンが多い。</a:t>
            </a:r>
          </a:p>
          <a:p>
            <a:r>
              <a:t>数字は 10/2 に Totani と同じやり方で計算し直した結果 (クラウド、cloud_reports/2026-10-02_totani_mode/)。最良値が頂上に届いているかは、勾配法で頂上を求めて確認した (13 ビンすべてで ln L の差 0.6 以下、有意度の差 0.28σ 以下。確認のためだけで、結果には使っていない)。</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10/2/2026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4"/>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pic>
        <p:nvPicPr>
          <p:cNvPr id="6" name="Picture 5" descr="fig_bin6_before_after_totani.png"/>
          <p:cNvPicPr>
            <a:picLocks noChangeAspect="1"/>
          </p:cNvPicPr>
          <p:nvPr/>
        </p:nvPicPr>
        <p:blipFill>
          <a:blip r:embed="rId4"/>
          <a:srcRect/>
          <a:stretch>
            <a:fillRect/>
          </a:stretch>
        </p:blipFill>
        <p:spPr>
          <a:xfrm>
            <a:off x="2551565" y="3749403"/>
            <a:ext cx="5751094" cy="30143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MCMC の中身①：何を求めているか</a:t>
            </a:r>
          </a:p>
        </p:txBody>
      </p:sp>
      <p:sp>
        <p:nvSpPr>
          <p:cNvPr id="3" name="Content Placeholder 2"/>
          <p:cNvSpPr>
            <a:spLocks noGrp="1"/>
          </p:cNvSpPr>
          <p:nvPr>
            <p:ph idx="1"/>
          </p:nvPr>
        </p:nvSpPr>
        <p:spPr>
          <a:xfrm>
            <a:off x="841248" y="1463040"/>
            <a:ext cx="10515600" cy="4114800"/>
          </a:xfrm>
        </p:spPr>
        <p:txBody>
          <a:bodyPr/>
          <a:lstStyle/>
          <a:p>
            <a:pPr/>
            <a:r>
              <a:rPr sz="2200"/>
              <a:t>知りたいもの：データ D を見たあと、倍率 θ = (f₁, …, f₉) がどの値をとりうるか</a:t>
            </a:r>
          </a:p>
          <a:p>
            <a:pPr/>
            <a:r>
              <a:rPr sz="2200"/>
              <a:t>ベイズの定理：P(θ | D) = L(D | θ) π(θ) / P(D)</a:t>
            </a:r>
          </a:p>
          <a:p>
            <a:pPr lvl="1"/>
            <a:r>
              <a:rPr sz="1800"/>
              <a:t>P(θ | D)：事後分布（データを見た後の、θ のもっともらしさ）</a:t>
            </a:r>
          </a:p>
          <a:p>
            <a:pPr lvl="1"/>
            <a:r>
              <a:rPr sz="1800"/>
              <a:t>L(D | θ)：尤度（手法② の L）　π(θ)：事前分布（今回は一様）</a:t>
            </a:r>
          </a:p>
          <a:p>
            <a:pPr lvl="1"/>
            <a:r>
              <a:rPr sz="1800"/>
              <a:t>P(D)：θ によらない定数 → 計算しなくてよい</a:t>
            </a:r>
          </a:p>
          <a:p>
            <a:pPr/>
            <a:r>
              <a:rPr sz="2200"/>
              <a:t>つまり P(θ | D) ∝ L(D | θ) × π(θ)</a:t>
            </a:r>
          </a:p>
          <a:p>
            <a:pPr/>
            <a:r>
              <a:rPr sz="2200"/>
              <a:t>ただし θ は 9 次元。1 次元を 100 点に区切っても 100⁹ = 10¹⁸ 通り → 全部は計算できない</a:t>
            </a:r>
          </a:p>
          <a:p>
            <a:pPr/>
            <a:r>
              <a:rPr sz="2200"/>
              <a:t>→ 事後分布から「サンプルを取り出す」方法が MCMC</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MCMC の中身②：歩き方（メトロポリス法）</a:t>
            </a:r>
          </a:p>
        </p:txBody>
      </p:sp>
      <p:sp>
        <p:nvSpPr>
          <p:cNvPr id="3" name="Content Placeholder 2"/>
          <p:cNvSpPr>
            <a:spLocks noGrp="1"/>
          </p:cNvSpPr>
          <p:nvPr>
            <p:ph idx="1"/>
          </p:nvPr>
        </p:nvSpPr>
        <p:spPr>
          <a:xfrm>
            <a:off x="841248" y="1463040"/>
            <a:ext cx="5394960" cy="4114800"/>
          </a:xfrm>
        </p:spPr>
        <p:txBody>
          <a:bodyPr/>
          <a:lstStyle/>
          <a:p>
            <a:pPr/>
            <a:r>
              <a:rPr sz="2000"/>
              <a:t>① 今の点 θ から、少しずらした候補 θ′ を作る</a:t>
            </a:r>
          </a:p>
          <a:p>
            <a:pPr/>
            <a:r>
              <a:rPr sz="2000"/>
              <a:t>② 比 r = P(θ′ | D) / P(θ | D) を計算</a:t>
            </a:r>
          </a:p>
          <a:p>
            <a:pPr lvl="1"/>
            <a:r>
              <a:rPr sz="1600"/>
              <a:t>P(D) は分母分子で消える</a:t>
            </a:r>
          </a:p>
          <a:p>
            <a:pPr/>
            <a:r>
              <a:rPr sz="2000"/>
              <a:t>③ r ≥ 1 なら移る。r &lt; 1 なら確率 r で移る</a:t>
            </a:r>
          </a:p>
          <a:p>
            <a:pPr lvl="1"/>
            <a:r>
              <a:rPr sz="1600"/>
              <a:t>移らなければ、同じ点をもう一度記録</a:t>
            </a:r>
          </a:p>
          <a:p>
            <a:pPr/>
            <a:r>
              <a:rPr sz="2000"/>
              <a:t>④ ①〜③ を何千回もくり返す</a:t>
            </a:r>
          </a:p>
          <a:p>
            <a:pPr/>
            <a:r>
              <a:rPr sz="2000"/>
              <a:t>歩いた跡のヒストグラム = 事後分布</a:t>
            </a:r>
          </a:p>
          <a:p>
            <a:pPr lvl="1"/>
            <a:r>
              <a:rPr sz="1600"/>
              <a:t>下がる方向にも確率的に進むので、山の広がり（誤差）まで分かる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9" name="Picture 8" descr="fig_mcmc_toy.png"/>
          <p:cNvPicPr>
            <a:picLocks noChangeAspect="1"/>
          </p:cNvPicPr>
          <p:nvPr/>
        </p:nvPicPr>
        <p:blipFill>
          <a:blip r:embed="rId3"/>
          <a:stretch>
            <a:fillRect/>
          </a:stretch>
        </p:blipFill>
        <p:spPr>
          <a:xfrm>
            <a:off x="6309360" y="1828800"/>
            <a:ext cx="5669280" cy="226771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MCMC の中身③：今回の設定（emcee）</a:t>
            </a:r>
          </a:p>
        </p:txBody>
      </p:sp>
      <p:sp>
        <p:nvSpPr>
          <p:cNvPr id="3" name="Content Placeholder 2"/>
          <p:cNvSpPr>
            <a:spLocks noGrp="1"/>
          </p:cNvSpPr>
          <p:nvPr>
            <p:ph idx="1"/>
          </p:nvPr>
        </p:nvSpPr>
        <p:spPr>
          <a:xfrm>
            <a:off x="841248" y="1463040"/>
            <a:ext cx="10515600" cy="4114800"/>
          </a:xfrm>
        </p:spPr>
        <p:txBody>
          <a:bodyPr/>
          <a:lstStyle/>
          <a:p>
            <a:pPr/>
            <a:r>
              <a:rPr sz="2000"/>
              <a:t>32 人の歩行者が同時に歩く。次の一歩は、他の歩行者の位置を使って決める</a:t>
            </a:r>
          </a:p>
          <a:p>
            <a:pPr lvl="1"/>
            <a:r>
              <a:rPr sz="1600"/>
              <a:t>候補：Y = X_j + Z (X_k − X_j)（X_k：自分、X_j：ランダムに選んだ他の歩行者）</a:t>
            </a:r>
          </a:p>
          <a:p>
            <a:pPr lvl="1"/>
            <a:r>
              <a:rPr sz="1600"/>
              <a:t>Z は 1/2〜2 の乱数（確率 ∝ 1/√Z）、移る確率 = min(1, Z⁸ P(Y | D) / P(X_k | D))</a:t>
            </a:r>
          </a:p>
          <a:p>
            <a:pPr/>
            <a:r>
              <a:rPr sz="2000"/>
              <a:t>出発点：Totani と同じ初期値。6000 歩歩き、尤度が最大の点を最良値にする</a:t>
            </a:r>
          </a:p>
          <a:p>
            <a:pPr/>
            <a:r>
              <a:rPr sz="2000"/>
              <a:t>結果の例（20.8 GeV）：ハローの倍率 f_halo = 1.51（68% 区間 1.43–1.61）</a:t>
            </a:r>
          </a:p>
          <a:p>
            <a:pPr/>
            <a:r>
              <a:rPr sz="2000"/>
              <a:t>注意：推奨の長さ（自己相関時間 τ の 50 倍）に届かないビンが多い</a:t>
            </a:r>
          </a:p>
          <a:p>
            <a:pPr lvl="1"/>
            <a:r>
              <a:rPr sz="1600"/>
              <a:t>20.8 GeV で τ ≈ 650 歩、6000 歩 &lt; 50τ</a:t>
            </a:r>
          </a:p>
          <a:p>
            <a:pPr lvl="1"/>
            <a:r>
              <a:rPr sz="1600"/>
              <a:t>→ 誤差棒は目安。ただし最良値は尤度の頂上に届いている（頂上との差は ln L で 0.6 以下）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9" name="Picture 8" descr="significance_spectrum.png"/>
          <p:cNvPicPr>
            <a:picLocks noChangeAspect="1"/>
          </p:cNvPicPr>
          <p:nvPr/>
        </p:nvPicPr>
        <p:blipFill>
          <a:blip r:embed="rId4"/>
          <a:srcRect/>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19.5σ（Totani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ICS の倍率 1.39 → 0.48（20.8 GeV）</a:t>
            </a:r>
          </a:p>
        </p:txBody>
      </p:sp>
      <p:pic>
        <p:nvPicPr>
          <p:cNvPr id="5" name="Picture 4" descr="fig_ics_norm_totani.png"/>
          <p:cNvPicPr>
            <a:picLocks noChangeAspect="1"/>
          </p:cNvPicPr>
          <p:nvPr/>
        </p:nvPicPr>
        <p:blipFill>
          <a:blip r:embed="rId4"/>
          <a:srcRect/>
          <a:stretch>
            <a:fillRect/>
          </a:stretch>
        </p:blipFill>
        <p:spPr>
          <a:xfrm>
            <a:off x="6309360" y="1737360"/>
            <a:ext cx="5669280" cy="38976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19.5σ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③ 7/23 に出した 19.1σ が再現できない</a:t>
            </a:r>
          </a:p>
          <a:p>
            <a:pPr lvl="1"/>
            <a:r>
              <a:rPr sz="2000"/>
              <a:t>結果そのものを信じてよいのか？</a:t>
            </a:r>
          </a:p>
          <a:p>
            <a:r>
              <a:rPr sz="2400"/>
              <a:t>→ 次から、1 つずつ調べた結果</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6.6σ、実測 5.0σ</a:t>
            </a:r>
          </a:p>
          <a:p>
            <a:r>
              <a:rPr sz="2200"/>
              <a:t>同じ形の領域を横にずらして外すと 15〜16σ</a:t>
            </a:r>
          </a:p>
          <a:p>
            <a:r>
              <a:rPr sz="2200"/>
              <a:t>→ 19 → 5σ は「手がかりを捨てた」から。汚染の証拠ではない</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19.5σ を較正すると 19.5 ÷ 1.26 ≈ 15σ（14.0–17.0σ）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r>
              <a:rPr sz="2400"/>
              <a:t>7/23 の計算の直後にコードを直していて、当時の状態が残っていなかった</a:t>
            </a:r>
          </a:p>
          <a:p>
            <a:r>
              <a:rPr sz="2400"/>
              <a:t>今のコードは、何度計算しても同じ答えになる（10/1 に確認）</a:t>
            </a:r>
          </a:p>
          <a:p>
            <a:r>
              <a:rPr sz="2400"/>
              <a:t>結果ファイルに、コードの版と設定を自動で記録するようにした</a:t>
            </a:r>
          </a:p>
          <a:p>
            <a:r>
              <a:rPr sz="2400"/>
              <a:t>→ 10/2 に Totani と同じやり方で計算し直し、主結果は 19.5σ</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4"/>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19.5σ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19.5σ、較正後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pPr/>
            <a:r>
              <a:rPr sz="2400"/>
              <a:t>尤度 ＝ 点数をつける係（たとえ：高度計）</a:t>
            </a:r>
          </a:p>
          <a:p>
            <a:pPr lvl="1"/>
            <a:r>
              <a:rPr sz="2000"/>
              <a:t>倍率の組（f_gas, f_ics, …, f_halo）を入れると、予測と観測の合い具合 ln L を返す</a:t>
            </a:r>
          </a:p>
          <a:p>
            <a:pPr/>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pPr/>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TotalTime>
  <Words>3822</Words>
  <Application>Microsoft Office PowerPoint</Application>
  <PresentationFormat>Widescreen</PresentationFormat>
  <Paragraphs>350</Paragraphs>
  <Slides>35</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Aptos Display</vt:lpstr>
      <vt:lpstr>Arial</vt:lpstr>
      <vt:lpstr>Office Theme</vt:lpstr>
      <vt:lpstr>PowerPoint Presentation</vt:lpstr>
      <vt:lpstr>卒業研究の目的</vt:lpstr>
      <vt:lpstr>光子を数える</vt:lpstr>
      <vt:lpstr>手法①：テンプレートフィット</vt:lpstr>
      <vt:lpstr>手法②：尤度（どれだけ合っているか）</vt:lpstr>
      <vt:lpstr>手法③：有意度 σ の出し方</vt:lpstr>
      <vt:lpstr>手法④：MCMC（誤差の見積もり）</vt:lpstr>
      <vt:lpstr>結果：Totani の超過を再現</vt:lpstr>
      <vt:lpstr>問題：ハローと ICS が見分けにくい（縮退）</vt:lpstr>
      <vt:lpstr>縮退が引き起こした 3 つの疑問</vt:lpstr>
      <vt:lpstr>① を調べる：手がかりはどこにあるか</vt:lpstr>
      <vt:lpstr>① を調べる：ICS が犯人なら</vt:lpstr>
      <vt:lpstr>② を調べる：σ を信じてよいか</vt:lpstr>
      <vt:lpstr>② の結果：エネルギーごとのばらつき</vt:lpstr>
      <vt:lpstr>③ を調べる：19.1σ が再現できない理由</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2026-10-02T01:41:33Z</dcterms:modified>
</cp:coreProperties>
</file>