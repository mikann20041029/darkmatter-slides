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57" r:id="rId3"/>
    <p:sldId id="258" r:id="rId4"/>
    <p:sldId id="259" r:id="rId5"/>
    <p:sldId id="301" r:id="rId46"/>
    <p:sldId id="302" r:id="rId45"/>
    <p:sldId id="303" r:id="rId44"/>
    <p:sldId id="304" r:id="rId54"/>
    <p:sldId id="305" r:id="rId55"/>
    <p:sldId id="306" r:id="rId56"/>
    <p:sldId id="307" r:id="rId57"/>
    <p:sldId id="308" r:id="rId58"/>
    <p:sldId id="260" r:id="rId6"/>
    <p:sldId id="294" r:id="rId47"/>
    <p:sldId id="261" r:id="rId7"/>
    <p:sldId id="262" r:id="rId8"/>
    <p:sldId id="295" r:id="rId48"/>
    <p:sldId id="296" r:id="rId49"/>
    <p:sldId id="297" r:id="rId50"/>
    <p:sldId id="298" r:id="rId51"/>
    <p:sldId id="309" r:id="rId59"/>
    <p:sldId id="299" r:id="rId52"/>
    <p:sldId id="300" r:id="rId53"/>
    <p:sldId id="263" r:id="rId9"/>
    <p:sldId id="264" r:id="rId10"/>
    <p:sldId id="265" r:id="rId11"/>
    <p:sldId id="266" r:id="rId12"/>
    <p:sldId id="267" r:id="rId13"/>
    <p:sldId id="268" r:id="rId14"/>
    <p:sldId id="269" r:id="rId15"/>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18A6C4-2C47-4DAD-A1DF-DD0206B853E7}" v="2" dt="2026-10-02T01:15:06.3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13.xml"/><Relationship Id="rId7" Type="http://schemas.openxmlformats.org/officeDocument/2006/relationships/slide" Target="slides/slide15.xml"/><Relationship Id="rId8" Type="http://schemas.openxmlformats.org/officeDocument/2006/relationships/slide" Target="slides/slide16.xml"/><Relationship Id="rId9" Type="http://schemas.openxmlformats.org/officeDocument/2006/relationships/slide" Target="slides/slide24.xml"/><Relationship Id="rId10" Type="http://schemas.openxmlformats.org/officeDocument/2006/relationships/slide" Target="slides/slide25.xml"/><Relationship Id="rId11" Type="http://schemas.openxmlformats.org/officeDocument/2006/relationships/slide" Target="slides/slide26.xml"/><Relationship Id="rId12" Type="http://schemas.openxmlformats.org/officeDocument/2006/relationships/slide" Target="slides/slide27.xml"/><Relationship Id="rId13" Type="http://schemas.openxmlformats.org/officeDocument/2006/relationships/slide" Target="slides/slide28.xml"/><Relationship Id="rId14" Type="http://schemas.openxmlformats.org/officeDocument/2006/relationships/slide" Target="slides/slide29.xml"/><Relationship Id="rId15" Type="http://schemas.openxmlformats.org/officeDocument/2006/relationships/slide" Target="slides/slide30.xml"/><Relationship Id="rId17" Type="http://schemas.openxmlformats.org/officeDocument/2006/relationships/slide" Target="slides/slide31.xml"/><Relationship Id="rId18" Type="http://schemas.openxmlformats.org/officeDocument/2006/relationships/slide" Target="slides/slide32.xml"/><Relationship Id="rId19" Type="http://schemas.openxmlformats.org/officeDocument/2006/relationships/slide" Target="slides/slide33.xml"/><Relationship Id="rId20" Type="http://schemas.openxmlformats.org/officeDocument/2006/relationships/slide" Target="slides/slide34.xml"/><Relationship Id="rId21" Type="http://schemas.openxmlformats.org/officeDocument/2006/relationships/slide" Target="slides/slide35.xml"/><Relationship Id="rId22" Type="http://schemas.openxmlformats.org/officeDocument/2006/relationships/slide" Target="slides/slide36.xml"/><Relationship Id="rId23" Type="http://schemas.openxmlformats.org/officeDocument/2006/relationships/slide" Target="slides/slide37.xml"/><Relationship Id="rId24" Type="http://schemas.openxmlformats.org/officeDocument/2006/relationships/slide" Target="slides/slide38.xml"/><Relationship Id="rId25" Type="http://schemas.openxmlformats.org/officeDocument/2006/relationships/slide" Target="slides/slide39.xml"/><Relationship Id="rId26" Type="http://schemas.openxmlformats.org/officeDocument/2006/relationships/slide" Target="slides/slide40.xml"/><Relationship Id="rId27" Type="http://schemas.openxmlformats.org/officeDocument/2006/relationships/slide" Target="slides/slide41.xml"/><Relationship Id="rId28" Type="http://schemas.openxmlformats.org/officeDocument/2006/relationships/slide" Target="slides/slide42.xml"/><Relationship Id="rId29" Type="http://schemas.openxmlformats.org/officeDocument/2006/relationships/slide" Target="slides/slide43.xml"/><Relationship Id="rId30" Type="http://schemas.openxmlformats.org/officeDocument/2006/relationships/slide" Target="slides/slide44.xml"/><Relationship Id="rId31" Type="http://schemas.openxmlformats.org/officeDocument/2006/relationships/slide" Target="slides/slide45.xml"/><Relationship Id="rId32" Type="http://schemas.openxmlformats.org/officeDocument/2006/relationships/slide" Target="slides/slide46.xml"/><Relationship Id="rId33" Type="http://schemas.openxmlformats.org/officeDocument/2006/relationships/slide" Target="slides/slide47.xml"/><Relationship Id="rId34" Type="http://schemas.openxmlformats.org/officeDocument/2006/relationships/slide" Target="slides/slide48.xml"/><Relationship Id="rId35" Type="http://schemas.openxmlformats.org/officeDocument/2006/relationships/slide" Target="slides/slide49.xml"/><Relationship Id="rId36" Type="http://schemas.openxmlformats.org/officeDocument/2006/relationships/slide" Target="slides/slide50.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4" Type="http://schemas.openxmlformats.org/officeDocument/2006/relationships/slide" Target="slides/slide7.xml"/><Relationship Id="rId45" Type="http://schemas.openxmlformats.org/officeDocument/2006/relationships/slide" Target="slides/slide6.xml"/><Relationship Id="rId46" Type="http://schemas.openxmlformats.org/officeDocument/2006/relationships/slide" Target="slides/slide5.xml"/><Relationship Id="rId47" Type="http://schemas.openxmlformats.org/officeDocument/2006/relationships/slide" Target="slides/slide14.xml"/><Relationship Id="rId48" Type="http://schemas.openxmlformats.org/officeDocument/2006/relationships/slide" Target="slides/slide17.xml"/><Relationship Id="rId49" Type="http://schemas.openxmlformats.org/officeDocument/2006/relationships/slide" Target="slides/slide18.xml"/><Relationship Id="rId50" Type="http://schemas.openxmlformats.org/officeDocument/2006/relationships/slide" Target="slides/slide19.xml"/><Relationship Id="rId51" Type="http://schemas.openxmlformats.org/officeDocument/2006/relationships/slide" Target="slides/slide20.xml"/><Relationship Id="rId52" Type="http://schemas.openxmlformats.org/officeDocument/2006/relationships/slide" Target="slides/slide22.xml"/><Relationship Id="rId53" Type="http://schemas.openxmlformats.org/officeDocument/2006/relationships/slide" Target="slides/slide23.xml"/><Relationship Id="rId54" Type="http://schemas.openxmlformats.org/officeDocument/2006/relationships/slide" Target="slides/slide8.xml"/><Relationship Id="rId55" Type="http://schemas.openxmlformats.org/officeDocument/2006/relationships/slide" Target="slides/slide9.xml"/><Relationship Id="rId56" Type="http://schemas.openxmlformats.org/officeDocument/2006/relationships/slide" Target="slides/slide10.xml"/><Relationship Id="rId57" Type="http://schemas.openxmlformats.org/officeDocument/2006/relationships/slide" Target="slides/slide11.xml"/><Relationship Id="rId58" Type="http://schemas.openxmlformats.org/officeDocument/2006/relationships/slide" Target="slides/slide12.xml"/><Relationship Id="rId59"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modSld">
      <pc:chgData name="202304239" userId="ab1adf7a-b8eb-4038-b404-de23e20d8a3a" providerId="ADAL" clId="{6C0E59ED-D716-49AF-B2FA-B94E7B8E5A8C}" dt="2026-10-02T01:41:32.636" v="29"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ポアソン分布: 平均 λ のとき、n 個来る確率は λ^n e^(−λ) / n!。その対数を全セルで足したものが ln L (n に依存する定数 ln n! は省略)。</a:t>
            </a:r>
          </a:p>
          <a:p>
            <a:r>
              <a:t>銀河面を除いた有効なセルは 120 個。セルを 10° と大きくとるのは、望遠鏡のぼやけ (PSF) よりずっと大きく、PSF の畳み込みを省略できるため (Totani と同じ)。</a:t>
            </a:r>
          </a:p>
          <a:p>
            <a:r>
              <a:t>最大化は Totani (2025) §2.2 と同じく MCMC (emcee) で行い、歩いた中で ln L が最大の点を最良値とする。</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を示しており、本文の 13–19σ はそれを σ = √(2Δln L) で σ に直した値。Totani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(10/2 に Totani と同じやり方 = MCMC で最良値、で計算し直した。クラウドの計算機)、赤が Totani Fig. 9。本人 PC での確定値は後日。</a:t>
            </a:r>
          </a:p>
          <a:p>
            <a:r>
              <a:t>ただしこの 19.5σ は Wilks の定理を信じた「名目の値」。後で較正する。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1.4〜1.6 倍でほぼ平ら (最良値)。ハローを入れると、ハローが効くビンでだけへこむ。</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6.6σ と実測 5.0σ の残りの差は、バブル外でハローの倍率が 0.77 倍と低いことで説明できる。この内外の差は約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はクラウドの計算機で、Totani と同じやり方で比べた値 (どちらも同じ条件なので、差で言う)。Totani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(653〜659 行)。コードは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(630 行、立ち入り禁止のチェック)、log_likelihood (647〜650 行、高度計)、log_probability (653 行、両方を足す)。コードは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(877〜878 行)。メトロポリスの判定そのものは emcee の中にある。コードは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(868 行)、32 人で歩かせる emcee.EnsembleSampler (877 行)。コードは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数字はクラウドの計算機で、Totani と同じやり方で出した値 (cloud_reports/2026-10-02_totani_mode/)。</a:t>
            </a:r>
          </a:p>
          <a:p>
            <a:r>
              <a:t>スクショ候補: 一番高い足あとを探す行 (879〜880 行)、誤差の 16〜84% (926 行)、有意度 (910 行)。コードは code/mcmc_fit_all_bins.py (Totani 方式の修正 cloud_reports/2026-10-02_totani_bestfit.patch を当てた後の行番号)。</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400 歩は本研究のコードで決めた値 (Totani の論文には書かれていない)。自己相関時間 τ ≈ 650 歩より短いので、誤差を出すには捨てる歩数を増やすほうが安全。最良値と有意度には影響しない。</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歩・400 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4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4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4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6.png"/><Relationship Id="rId4"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4"/>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成分①：等方背景</a:t>
            </a:r>
          </a:p>
        </p:txBody>
      </p:sp>
      <p:sp>
        <p:nvSpPr>
          <p:cNvPr id="3" name="Content Placeholder 2"/>
          <p:cNvSpPr>
            <a:spLocks noGrp="1"/>
          </p:cNvSpPr>
          <p:nvPr>
            <p:ph idx="1"/>
          </p:nvPr>
        </p:nvSpPr>
        <p:spPr>
          <a:xfrm>
            <a:off x="548640" y="1371600"/>
            <a:ext cx="6400800" cy="4297680"/>
          </a:xfrm>
        </p:spPr>
        <p:txBody>
          <a:bodyPr/>
          <a:lstStyle/>
          <a:p>
            <a:pPr/>
            <a:r>
              <a:rPr sz="1800"/>
              <a:t>空のどの方向からも、同じ明るさで来るガンマ線</a:t>
            </a:r>
          </a:p>
          <a:p>
            <a:pPr/>
            <a:r>
              <a:rPr sz="1800"/>
              <a:t>出どころ：天の川の外の遠い銀河（ブレーザーなど）</a:t>
            </a:r>
          </a:p>
          <a:p>
            <a:pPr lvl="1"/>
            <a:r>
              <a:rPr sz="1500"/>
              <a:t>一つ一つは見分けられないほど暗い光が、たくさん重なったもの</a:t>
            </a:r>
          </a:p>
          <a:p>
            <a:pPr/>
            <a:r>
              <a:rPr sz="1800"/>
              <a:t>型紙：空全体で一様（どこも同じ明るさ）</a:t>
            </a:r>
          </a:p>
          <a:p>
            <a:pPr/>
            <a:r>
              <a:rPr sz="1800"/>
              <a:t>倍率：0 以上</a:t>
            </a:r>
          </a:p>
          <a:p>
            <a:pPr lvl="1"/>
            <a:r>
              <a:rPr sz="1500"/>
              <a:t>最初の値は E²dN/dE = 10⁻⁴ MeV cm⁻² s⁻¹ sr⁻¹ 相当</a:t>
            </a:r>
          </a:p>
          <a:p>
            <a:pPr/>
            <a:r>
              <a:rPr sz="1800"/>
              <a:t>注意：Loop I の殻 1 と形がほぼ同じで、区別しにくい</a:t>
            </a:r>
          </a:p>
        </p:txBody>
      </p:sp>
      <p:pic>
        <p:nvPicPr>
          <p:cNvPr id="4" name="Picture 3" descr="template_iso_counts.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成分②：ガス（π⁰ 崩壊＋制動放射）</a:t>
            </a:r>
          </a:p>
        </p:txBody>
      </p:sp>
      <p:sp>
        <p:nvSpPr>
          <p:cNvPr id="3" name="Content Placeholder 2"/>
          <p:cNvSpPr>
            <a:spLocks noGrp="1"/>
          </p:cNvSpPr>
          <p:nvPr>
            <p:ph idx="1"/>
          </p:nvPr>
        </p:nvSpPr>
        <p:spPr>
          <a:xfrm>
            <a:off x="548640" y="1371600"/>
            <a:ext cx="6400800" cy="4297680"/>
          </a:xfrm>
        </p:spPr>
        <p:txBody>
          <a:bodyPr/>
          <a:lstStyle/>
          <a:p>
            <a:pPr/>
            <a:r>
              <a:rPr sz="1800"/>
              <a:t>宇宙線が、星と星の間のガス（主に水素）にぶつかって出すガンマ線</a:t>
            </a:r>
          </a:p>
          <a:p>
            <a:pPr/>
            <a:r>
              <a:rPr sz="1800"/>
              <a:t>π⁰ 崩壊</a:t>
            </a:r>
          </a:p>
          <a:p>
            <a:pPr lvl="1"/>
            <a:r>
              <a:rPr sz="1500"/>
              <a:t>宇宙線の陽子が水素の原子核にぶつかる → π⁰ という粒子ができる → すぐ光子 2 個に壊れる</a:t>
            </a:r>
          </a:p>
          <a:p>
            <a:pPr/>
            <a:r>
              <a:rPr sz="1800"/>
              <a:t>制動放射</a:t>
            </a:r>
          </a:p>
          <a:p>
            <a:pPr lvl="1"/>
            <a:r>
              <a:rPr sz="1500"/>
              <a:t>宇宙線の電子がガスのそばを通るときに曲げられ、ブレーキがかかって光を出す</a:t>
            </a:r>
          </a:p>
          <a:p>
            <a:pPr/>
            <a:r>
              <a:rPr sz="1800"/>
              <a:t>型紙：GALPROP で計算。2 つの比は GALPROP の値に固定して 1 枚</a:t>
            </a:r>
          </a:p>
          <a:p>
            <a:pPr lvl="1"/>
            <a:r>
              <a:rPr sz="1500"/>
              <a:t>ガスの多い銀河面の近くと、ガス雲の模様が明るい</a:t>
            </a:r>
          </a:p>
          <a:p>
            <a:pPr/>
            <a:r>
              <a:rPr sz="1800"/>
              <a:t>倍率：0 以上、最初は 1</a:t>
            </a:r>
          </a:p>
        </p:txBody>
      </p:sp>
      <p:pic>
        <p:nvPicPr>
          <p:cNvPr id="4" name="Picture 3" descr="template_gas.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GALPROP v54</a:t>
            </a:r>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成分③：ICS（逆コンプトン散乱）</a:t>
            </a:r>
          </a:p>
        </p:txBody>
      </p:sp>
      <p:sp>
        <p:nvSpPr>
          <p:cNvPr id="3" name="Content Placeholder 2"/>
          <p:cNvSpPr>
            <a:spLocks noGrp="1"/>
          </p:cNvSpPr>
          <p:nvPr>
            <p:ph idx="1"/>
          </p:nvPr>
        </p:nvSpPr>
        <p:spPr>
          <a:xfrm>
            <a:off x="548640" y="1371600"/>
            <a:ext cx="6400800" cy="4297680"/>
          </a:xfrm>
        </p:spPr>
        <p:txBody>
          <a:bodyPr/>
          <a:lstStyle/>
          <a:p>
            <a:pPr/>
            <a:r>
              <a:rPr sz="1800"/>
              <a:t>宇宙線の電子が、まわりの光にぶつかってガンマ線に変える</a:t>
            </a:r>
          </a:p>
          <a:p>
            <a:pPr lvl="1"/>
            <a:r>
              <a:rPr sz="1500"/>
              <a:t>ぶつかる光：星の光、ちりが出す赤外線、宇宙背景放射</a:t>
            </a:r>
          </a:p>
          <a:p>
            <a:pPr/>
            <a:r>
              <a:rPr sz="1800"/>
              <a:t>たとえ：速いボール（電子）が軽いピンポン玉（光）をはね飛ばす</a:t>
            </a:r>
          </a:p>
          <a:p>
            <a:pPr lvl="1"/>
            <a:r>
              <a:rPr sz="1500"/>
              <a:t>はね飛ばされたピンポン玉がガンマ線になる</a:t>
            </a:r>
          </a:p>
          <a:p>
            <a:pPr/>
            <a:r>
              <a:rPr sz="1800"/>
              <a:t>星の光は銀河の中心ほど多い</a:t>
            </a:r>
          </a:p>
          <a:p>
            <a:pPr lvl="1"/>
            <a:r>
              <a:rPr sz="1500"/>
              <a:t>→ 形は、銀河面と中心付近が明るく、なめらかに広がる</a:t>
            </a:r>
          </a:p>
          <a:p>
            <a:pPr/>
            <a:r>
              <a:rPr sz="1800"/>
              <a:t>型紙：GALPROP で計算</a:t>
            </a:r>
          </a:p>
          <a:p>
            <a:pPr/>
            <a:r>
              <a:rPr sz="1800"/>
              <a:t>倍率：0 以上、最初は 1</a:t>
            </a:r>
          </a:p>
          <a:p>
            <a:pPr/>
            <a:r>
              <a:rPr sz="1800"/>
              <a:t>ハローと形が似ている（縮退の原因）</a:t>
            </a:r>
          </a:p>
        </p:txBody>
      </p:sp>
      <p:pic>
        <p:nvPicPr>
          <p:cNvPr id="4" name="Picture 3" descr="template_ics.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GALPROP v54</a:t>
            </a:r>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成分④：点源</a:t>
            </a:r>
          </a:p>
        </p:txBody>
      </p:sp>
      <p:sp>
        <p:nvSpPr>
          <p:cNvPr id="3" name="Content Placeholder 2"/>
          <p:cNvSpPr>
            <a:spLocks noGrp="1"/>
          </p:cNvSpPr>
          <p:nvPr>
            <p:ph idx="1"/>
          </p:nvPr>
        </p:nvSpPr>
        <p:spPr>
          <a:xfrm>
            <a:off x="548640" y="1371600"/>
            <a:ext cx="6400800" cy="4297680"/>
          </a:xfrm>
        </p:spPr>
        <p:txBody>
          <a:bodyPr/>
          <a:lstStyle/>
          <a:p>
            <a:pPr/>
            <a:r>
              <a:rPr sz="1800"/>
              <a:t>一つ一つ位置が分かっている天体</a:t>
            </a:r>
          </a:p>
          <a:p>
            <a:pPr lvl="1"/>
            <a:r>
              <a:rPr sz="1500"/>
              <a:t>パルサー（回転する中性子星）、ブレーザー（遠い銀河の中心）など</a:t>
            </a:r>
          </a:p>
          <a:p>
            <a:pPr/>
            <a:r>
              <a:rPr sz="1800"/>
              <a:t>型紙：Fermi-LAT の天体カタログ（4FGL-DR4）から作る</a:t>
            </a:r>
          </a:p>
          <a:p>
            <a:pPr lvl="1"/>
            <a:r>
              <a:rPr sz="1500"/>
              <a:t>位置と、カタログに書かれた明るさのエネルギー変化</a:t>
            </a:r>
          </a:p>
          <a:p>
            <a:pPr lvl="1"/>
            <a:r>
              <a:rPr sz="1500"/>
              <a:t>望遠鏡のぼやけ（PSF）で点を広げる。ぼやけはエネルギーで変わる</a:t>
            </a:r>
          </a:p>
          <a:p>
            <a:pPr/>
            <a:r>
              <a:rPr sz="1800"/>
              <a:t>全部の点源をまとめて 1 枚、倍率 1 個</a:t>
            </a:r>
          </a:p>
          <a:p>
            <a:pPr/>
            <a:r>
              <a:rPr sz="1800"/>
              <a:t>倍率：0 以上、最初は 1</a:t>
            </a:r>
          </a:p>
          <a:p>
            <a:pPr/>
            <a:r>
              <a:rPr sz="1800"/>
              <a:t>大きく広がった天体（拡張源）は解析から外す</a:t>
            </a:r>
          </a:p>
          <a:p>
            <a:pPr lvl="1"/>
            <a:r>
              <a:rPr sz="1500"/>
              <a:t>長半径の 2 倍の円（地図の白い丸）</a:t>
            </a:r>
          </a:p>
        </p:txBody>
      </p:sp>
      <p:pic>
        <p:nvPicPr>
          <p:cNvPr id="4" name="Picture 3" descr="template_ps.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成分⑤：Loop I</a:t>
            </a:r>
          </a:p>
        </p:txBody>
      </p:sp>
      <p:sp>
        <p:nvSpPr>
          <p:cNvPr id="3" name="Content Placeholder 2"/>
          <p:cNvSpPr>
            <a:spLocks noGrp="1"/>
          </p:cNvSpPr>
          <p:nvPr>
            <p:ph idx="1"/>
          </p:nvPr>
        </p:nvSpPr>
        <p:spPr>
          <a:xfrm>
            <a:off x="548640" y="1371600"/>
            <a:ext cx="6400800" cy="4297680"/>
          </a:xfrm>
        </p:spPr>
        <p:txBody>
          <a:bodyPr/>
          <a:lstStyle/>
          <a:p>
            <a:pPr/>
            <a:r>
              <a:rPr sz="1800"/>
              <a:t>電波で見える、空の 100° 以上に広がる巨大な輪っか</a:t>
            </a:r>
          </a:p>
          <a:p>
            <a:pPr lvl="1"/>
            <a:r>
              <a:rPr sz="1500"/>
              <a:t>ガンマ線でも見えている</a:t>
            </a:r>
          </a:p>
          <a:p>
            <a:pPr/>
            <a:r>
              <a:rPr sz="1800"/>
              <a:t>正体は未確定</a:t>
            </a:r>
          </a:p>
          <a:p>
            <a:pPr lvl="1"/>
            <a:r>
              <a:rPr sz="1500"/>
              <a:t>近くの超新星の残骸か、銀河中心から吹き出したものか</a:t>
            </a:r>
          </a:p>
          <a:p>
            <a:pPr/>
            <a:r>
              <a:rPr sz="1800"/>
              <a:t>型紙：近くの超新星の残骸とみなした形</a:t>
            </a:r>
          </a:p>
          <a:p>
            <a:pPr lvl="1"/>
            <a:r>
              <a:rPr sz="1500"/>
              <a:t>半径 50〜100 pc の殻 2 つが、一様に光る</a:t>
            </a:r>
          </a:p>
          <a:p>
            <a:pPr lvl="1"/>
            <a:r>
              <a:rPr sz="1500"/>
              <a:t>殻の位置と大きさは Fermi-LAT チームの値</a:t>
            </a:r>
          </a:p>
          <a:p>
            <a:pPr/>
            <a:r>
              <a:rPr sz="1800"/>
              <a:t>2 つの殻に、別々の倍率（0 以上、最初は 0）</a:t>
            </a:r>
          </a:p>
        </p:txBody>
      </p:sp>
      <p:pic>
        <p:nvPicPr>
          <p:cNvPr id="4" name="Picture 3" descr="template_loopI_a.png"/>
          <p:cNvPicPr>
            <a:picLocks noChangeAspect="1"/>
          </p:cNvPicPr>
          <p:nvPr/>
        </p:nvPicPr>
        <p:blipFill>
          <a:blip r:embed="rId2"/>
          <a:stretch>
            <a:fillRect/>
          </a:stretch>
        </p:blipFill>
        <p:spPr>
          <a:xfrm>
            <a:off x="7086600" y="1828800"/>
            <a:ext cx="2468880" cy="2563837"/>
          </a:xfrm>
          <a:prstGeom prst="rect">
            <a:avLst/>
          </a:prstGeom>
        </p:spPr>
      </p:pic>
      <p:pic>
        <p:nvPicPr>
          <p:cNvPr id="5" name="Picture 4" descr="template_loopI_b.png"/>
          <p:cNvPicPr>
            <a:picLocks noChangeAspect="1"/>
          </p:cNvPicPr>
          <p:nvPr/>
        </p:nvPicPr>
        <p:blipFill>
          <a:blip r:embed="rId3"/>
          <a:stretch>
            <a:fillRect/>
          </a:stretch>
        </p:blipFill>
        <p:spPr>
          <a:xfrm>
            <a:off x="9601200" y="1828800"/>
            <a:ext cx="2468880" cy="2563837"/>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(殻の値は Fermi-LAT チームの論文)</a:t>
            </a:r>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成分⑥：フェルミバブル（正・負）</a:t>
            </a:r>
          </a:p>
        </p:txBody>
      </p:sp>
      <p:sp>
        <p:nvSpPr>
          <p:cNvPr id="3" name="Content Placeholder 2"/>
          <p:cNvSpPr>
            <a:spLocks noGrp="1"/>
          </p:cNvSpPr>
          <p:nvPr>
            <p:ph idx="1"/>
          </p:nvPr>
        </p:nvSpPr>
        <p:spPr>
          <a:xfrm>
            <a:off x="548640" y="1371600"/>
            <a:ext cx="6400800" cy="4297680"/>
          </a:xfrm>
        </p:spPr>
        <p:txBody>
          <a:bodyPr/>
          <a:lstStyle/>
          <a:p>
            <a:pPr/>
            <a:r>
              <a:rPr sz="1800"/>
              <a:t>銀河中心の上下に、それぞれ約 50° 広がる巨大な泡</a:t>
            </a:r>
          </a:p>
          <a:p>
            <a:pPr lvl="1"/>
            <a:r>
              <a:rPr sz="1500"/>
              <a:t>過去の銀河中心の活動（ブラックホールや爆発的な星形成）の名残と考えられている</a:t>
            </a:r>
          </a:p>
          <a:p>
            <a:pPr/>
            <a:r>
              <a:rPr sz="1800"/>
              <a:t>型紙はデータから作る（Totani §3.1）</a:t>
            </a:r>
          </a:p>
          <a:p>
            <a:pPr lvl="1"/>
            <a:r>
              <a:rPr sz="1500"/>
              <a:t>まず平らな泡の形で当てはめ、残った光（4.3 GeV）を 1° でぼかす</a:t>
            </a:r>
          </a:p>
          <a:p>
            <a:pPr lvl="1"/>
            <a:r>
              <a:rPr sz="1500"/>
              <a:t>残りが正の所 → 正の型紙（バブル本体）</a:t>
            </a:r>
          </a:p>
          <a:p>
            <a:pPr lvl="1"/>
            <a:r>
              <a:rPr sz="1500"/>
              <a:t>残りが負の所 → 負の型紙（GALPROP とデータのずれの補正）</a:t>
            </a:r>
          </a:p>
          <a:p>
            <a:pPr/>
            <a:r>
              <a:rPr sz="1800"/>
              <a:t>倍率：正は 0 以上、負は符号自由。最初は 0</a:t>
            </a:r>
          </a:p>
        </p:txBody>
      </p:sp>
      <p:pic>
        <p:nvPicPr>
          <p:cNvPr id="4" name="Picture 3" descr="template_fb.png"/>
          <p:cNvPicPr>
            <a:picLocks noChangeAspect="1"/>
          </p:cNvPicPr>
          <p:nvPr/>
        </p:nvPicPr>
        <p:blipFill>
          <a:blip r:embed="rId2"/>
          <a:stretch>
            <a:fillRect/>
          </a:stretch>
        </p:blipFill>
        <p:spPr>
          <a:xfrm>
            <a:off x="7086600" y="1828800"/>
            <a:ext cx="2468880" cy="2563837"/>
          </a:xfrm>
          <a:prstGeom prst="rect">
            <a:avLst/>
          </a:prstGeom>
        </p:spPr>
      </p:pic>
      <p:pic>
        <p:nvPicPr>
          <p:cNvPr id="5" name="Picture 4" descr="template_fb_neg.png"/>
          <p:cNvPicPr>
            <a:picLocks noChangeAspect="1"/>
          </p:cNvPicPr>
          <p:nvPr/>
        </p:nvPicPr>
        <p:blipFill>
          <a:blip r:embed="rId3"/>
          <a:stretch>
            <a:fillRect/>
          </a:stretch>
        </p:blipFill>
        <p:spPr>
          <a:xfrm>
            <a:off x="9601200" y="1828800"/>
            <a:ext cx="2468880" cy="2563837"/>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§3.1</a:t>
            </a:r>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pPr/>
            <a:r>
              <a:rPr sz="1800"/>
              <a:t>暗黒物質の粒子どうしがぶつかって消え（対消滅）、ガンマ線を出す</a:t>
            </a:r>
          </a:p>
          <a:p>
            <a:pPr/>
            <a:r>
              <a:rPr sz="1800"/>
              <a:t>明るさ ∝ 密度の 2 乗（粒子が 2 つ要るため）</a:t>
            </a:r>
          </a:p>
          <a:p>
            <a:pPr lvl="1"/>
            <a:r>
              <a:rPr sz="1500"/>
              <a:t>それを視線方向に足し合わせたもの = J ファクター</a:t>
            </a:r>
          </a:p>
          <a:p>
            <a:pPr/>
            <a:r>
              <a:rPr sz="1800"/>
              <a:t>密度の形：NFW（Via Lactea II のシミュレーション）</a:t>
            </a:r>
          </a:p>
          <a:p>
            <a:pPr lvl="1"/>
            <a:r>
              <a:rPr sz="1500"/>
              <a:t>rs = 21 kpc、太陽の位置で 0.42 GeV/cm³</a:t>
            </a:r>
          </a:p>
          <a:p>
            <a:pPr/>
            <a:r>
              <a:rPr sz="1800"/>
              <a:t>形：銀河中心に向かって明るく、なめらかに広がる</a:t>
            </a:r>
          </a:p>
          <a:p>
            <a:pPr/>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lstStyle/>
          <a:p>
            <a:pPr/>
            <a:r>
              <a:rPr sz="2600"/>
              <a:t>予測 ＝ f₁ × 型紙₁ ＋ f₂ × 型紙₂ ＋ … ＋ f₉ × 型紙₉</a:t>
            </a:r>
          </a:p>
          <a:p>
            <a:pPr lvl="1"/>
            <a:r>
              <a:rPr sz="2200"/>
              <a:t>型紙は固定。動かすのは係数（倍率）9 個だけ</a:t>
            </a:r>
          </a:p>
          <a:p>
            <a:pPr/>
            <a:r>
              <a:rPr sz="2600"/>
              <a:t>尤度：その係数 9 個が「どれだけ良いか」の点数</a:t>
            </a:r>
          </a:p>
          <a:p>
            <a:pPr/>
            <a:r>
              <a:rPr sz="2600"/>
              <a:t>MCMC：良い係数 9 個を探す方法</a:t>
            </a:r>
          </a:p>
          <a:p>
            <a:pPr/>
            <a:r>
              <a:rPr sz="2600"/>
              <a:t>最良値：見つかった一番良い係数 9 個</a:t>
            </a:r>
          </a:p>
          <a:p>
            <a:pPr/>
            <a:r>
              <a:rPr sz="2600"/>
              <a:t>誤差：その係数が「どこまでずれても十分良いか」</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手法②：尤度（どれだけ合っているか）</a:t>
            </a:r>
          </a:p>
        </p:txBody>
      </p:sp>
      <p:sp>
        <p:nvSpPr>
          <p:cNvPr id="3" name="Content Placeholder 2"/>
          <p:cNvSpPr>
            <a:spLocks noGrp="1"/>
          </p:cNvSpPr>
          <p:nvPr>
            <p:ph idx="1"/>
          </p:nvPr>
        </p:nvSpPr>
        <p:spPr>
          <a:xfrm>
            <a:off x="841248" y="1463040"/>
            <a:ext cx="10515600" cy="4114800"/>
          </a:xfrm>
        </p:spPr>
        <p:txBody>
          <a:bodyPr/>
          <a:lstStyle/>
          <a:p>
            <a:r>
              <a:rPr sz="2400"/>
              <a:t>光子の数はポアソン分布でばらつく</a:t>
            </a:r>
          </a:p>
          <a:p>
            <a:r>
              <a:rPr sz="2400"/>
              <a:t>尤度：ln L = Σ_i [ C_obs,i ln C_exp,i − C_exp,i ]</a:t>
            </a:r>
          </a:p>
          <a:p>
            <a:pPr lvl="1"/>
            <a:r>
              <a:rPr sz="2000"/>
              <a:t>C_obs：観測した光子数、C_exp：予測した光子数</a:t>
            </a:r>
          </a:p>
          <a:p>
            <a:pPr lvl="1"/>
            <a:r>
              <a:rPr sz="2000"/>
              <a:t>i：10° × 10° のセル（空をマス目に分ける）</a:t>
            </a:r>
          </a:p>
          <a:p>
            <a:r>
              <a:rPr sz="2400"/>
              <a:t>ln L が最大になる倍率 f を探す（最尤推定）</a:t>
            </a:r>
          </a:p>
        </p:txBody>
      </p:sp>
      <p:pic>
        <p:nvPicPr>
          <p:cNvPr id="6" name="Picture 5" descr="fig_bin6_before_after_totani.png"/>
          <p:cNvPicPr>
            <a:picLocks noChangeAspect="1"/>
          </p:cNvPicPr>
          <p:nvPr/>
        </p:nvPicPr>
        <p:blipFill>
          <a:blip r:embed="rId4"/>
          <a:srcRect/>
          <a:stretch>
            <a:fillRect/>
          </a:stretch>
        </p:blipFill>
        <p:spPr>
          <a:xfrm>
            <a:off x="2551565" y="3749403"/>
            <a:ext cx="5751094" cy="301436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pPr/>
            <a:r>
              <a:rPr sz="2400"/>
              <a:t>尤度 ＝ 点数をつける係（たとえ：高度計）</a:t>
            </a:r>
          </a:p>
          <a:p>
            <a:pPr lvl="1"/>
            <a:r>
              <a:rPr sz="2000"/>
              <a:t>倍率の組（f_gas, f_ics, …, f_halo）を入れると、予測と観測の合い具合 ln L を返す</a:t>
            </a:r>
          </a:p>
          <a:p>
            <a:pPr/>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pPr/>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の 13–19σ も同じ）</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pPr/>
            <a:r>
              <a:rPr sz="1800"/>
              <a:t>山の上の「場所」 → 倍率の組 θ</a:t>
            </a:r>
          </a:p>
          <a:p>
            <a:pPr lvl="1"/>
            <a:r>
              <a:rPr sz="1500"/>
              <a:t>θ = (f_iso, f_gas, f_ics, …, f_halo)。9 個あるので 9 次元の山</a:t>
            </a:r>
          </a:p>
          <a:p>
            <a:pPr/>
            <a:r>
              <a:rPr sz="1800"/>
              <a:t>その場所の「高さ」 → 点数（事後分布）</a:t>
            </a:r>
          </a:p>
          <a:p>
            <a:pPr/>
            <a:r>
              <a:rPr sz="1800"/>
              <a:t>「高度計」 → 尤度の計算（手法② の ln L）</a:t>
            </a:r>
          </a:p>
          <a:p>
            <a:pPr/>
            <a:r>
              <a:rPr sz="1800"/>
              <a:t>「立ち入り禁止の場所」 → 事前分布</a:t>
            </a:r>
          </a:p>
          <a:p>
            <a:pPr lvl="1"/>
            <a:r>
              <a:rPr sz="1500"/>
              <a:t>例：ガスや ICS の倍率は負にならない</a:t>
            </a:r>
          </a:p>
          <a:p>
            <a:pPr/>
            <a:r>
              <a:rPr sz="1800"/>
              <a:t>「歩く人」 → 歩行者（walker）。今回は 32 人</a:t>
            </a:r>
          </a:p>
          <a:p>
            <a:pPr/>
            <a:r>
              <a:rPr sz="1800"/>
              <a:t>「足あとの記録」 → チェーン（サンプル）</a:t>
            </a:r>
          </a:p>
          <a:p>
            <a:pPr/>
            <a:r>
              <a:rPr sz="1800"/>
              <a:t>「一番高い足あと」 → 最良値</a:t>
            </a:r>
          </a:p>
          <a:p>
            <a:pPr/>
            <a:r>
              <a:rPr sz="1800"/>
              <a:t>「足あとの広がり」 → 誤差</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548640" y="1371600"/>
            <a:ext cx="5669280" cy="4297680"/>
          </a:xfrm>
        </p:spPr>
        <p:txBody>
          <a:bodyPr/>
          <a:lstStyle/>
          <a:p>
            <a:pPr/>
            <a:r>
              <a:rPr sz="1800"/>
              <a:t>P(θ | D) = L(D | θ) × π(θ) ÷ P(D)</a:t>
            </a:r>
          </a:p>
          <a:p>
            <a:pPr/>
            <a:r>
              <a:rPr sz="1800"/>
              <a:t>P(θ | D)：場所 θ の「高さ」（＝点数）</a:t>
            </a:r>
          </a:p>
          <a:p>
            <a:pPr lvl="1"/>
            <a:r>
              <a:rPr sz="1500"/>
              <a:t>データ D を見た後で、θ がどれくらいもっともらしいか</a:t>
            </a:r>
          </a:p>
          <a:p>
            <a:pPr/>
            <a:r>
              <a:rPr sz="1800"/>
              <a:t>L(D | θ)：「高度計」の読み（尤度）</a:t>
            </a:r>
          </a:p>
          <a:p>
            <a:pPr lvl="1"/>
            <a:r>
              <a:rPr sz="1500"/>
              <a:t>倍率が θ のとき、観測した光子の地図 D がどれくらい出やすいか</a:t>
            </a:r>
          </a:p>
          <a:p>
            <a:pPr/>
            <a:r>
              <a:rPr sz="1800"/>
              <a:t>π(θ)：入ってよい場所か（事前分布）</a:t>
            </a:r>
          </a:p>
          <a:p>
            <a:pPr lvl="1"/>
            <a:r>
              <a:rPr sz="1500"/>
              <a:t>入れる場所は全部同じ値、立ち入り禁止なら 0</a:t>
            </a:r>
          </a:p>
          <a:p>
            <a:pPr/>
            <a:r>
              <a:rPr sz="1800"/>
              <a:t>P(D)：海抜の基準。どの場所でも同じ数</a:t>
            </a:r>
          </a:p>
          <a:p>
            <a:pPr lvl="1"/>
            <a:r>
              <a:rPr sz="1500"/>
              <a:t>「どちらが高いか」を比べるだけなら消える → 計算しなくてよい</a:t>
            </a:r>
          </a:p>
          <a:p>
            <a:pPr/>
            <a:r>
              <a:rPr sz="1800"/>
              <a:t>計算では対数で：ln(高さ) = ln L + ln π</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pPr/>
            <a:r>
              <a:rPr sz="1800"/>
              <a:t>1. 今いる場所 θ から、少しずれた場所 θ′ に足を出す</a:t>
            </a:r>
          </a:p>
          <a:p>
            <a:pPr lvl="1"/>
            <a:r>
              <a:rPr sz="1500"/>
              <a:t>どれだけずらすかは乱数で決める</a:t>
            </a:r>
          </a:p>
          <a:p>
            <a:pPr/>
            <a:r>
              <a:rPr sz="1800"/>
              <a:t>2. 高度計で両方を読み、比 r = 高さ(θ′) ÷ 高さ(θ)</a:t>
            </a:r>
          </a:p>
          <a:p>
            <a:pPr/>
            <a:r>
              <a:rPr sz="1800"/>
              <a:t>3. r ≥ 1（上り）なら、必ず θ′ に移る</a:t>
            </a:r>
          </a:p>
          <a:p>
            <a:pPr/>
            <a:r>
              <a:rPr sz="1800"/>
              <a:t>4. r &lt; 1（下り）なら、確率 r で移る</a:t>
            </a:r>
          </a:p>
          <a:p>
            <a:pPr lvl="1"/>
            <a:r>
              <a:rPr sz="1500"/>
              <a:t>0〜1 の乱数を引き、r より小さければ移る</a:t>
            </a:r>
          </a:p>
          <a:p>
            <a:pPr/>
            <a:r>
              <a:rPr sz="1800"/>
              <a:t>5. 移っても移らなくても、今いる場所を足あとに記録</a:t>
            </a:r>
          </a:p>
          <a:p>
            <a:pPr/>
            <a:r>
              <a:rPr sz="1800"/>
              <a:t>6. 1〜5 を何千回もくり返す</a:t>
            </a:r>
          </a:p>
          <a:p>
            <a:pPr/>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2"/>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pPr/>
            <a:r>
              <a:rPr sz="2000"/>
              <a:t>メトロポリス法（1953）：一番基本。少しずらして、比 r で移るか決める（②）</a:t>
            </a:r>
          </a:p>
          <a:p>
            <a:pPr/>
            <a:r>
              <a:rPr sz="2000"/>
              <a:t>ギブス法：倍率を 1 個ずつ順番に動かす</a:t>
            </a:r>
          </a:p>
          <a:p>
            <a:pPr/>
            <a:r>
              <a:rPr sz="2000"/>
              <a:t>ハミルトニアン MC：坂の傾きを使って、ボールを転がすように大きく動く</a:t>
            </a:r>
          </a:p>
          <a:p>
            <a:pPr/>
            <a:r>
              <a:rPr sz="2000"/>
              <a:t>アンサンブル法（2010）：何人も同時に歩き、仲間の位置で一歩を決める（④）</a:t>
            </a:r>
          </a:p>
          <a:p>
            <a:pPr lvl="1"/>
            <a:r>
              <a:rPr sz="1600"/>
              <a:t>Python の道具 emcee がこれ。本研究はこれを使った</a:t>
            </a:r>
          </a:p>
          <a:p>
            <a:pPr/>
            <a:r>
              <a:rPr sz="2000"/>
              <a:t>似ているが別物：焼きなまし法</a:t>
            </a:r>
          </a:p>
          <a:p>
            <a:pPr lvl="1"/>
            <a:r>
              <a:rPr sz="1600"/>
              <a:t>下りに進む確率をだんだん小さくして、頂上だけを探す。誤差は出ない</a:t>
            </a:r>
          </a:p>
          <a:p>
            <a:pPr/>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pPr/>
            <a:r>
              <a:rPr sz="1600"/>
              <a:t>1 人だと、細長い山で迷いやすい</a:t>
            </a:r>
          </a:p>
          <a:p>
            <a:pPr lvl="1"/>
            <a:r>
              <a:rPr sz="1400"/>
              <a:t>例：ガスと ICS の縮退。片方を上げて片方を下げても高さがほぼ同じ</a:t>
            </a:r>
          </a:p>
          <a:p>
            <a:pPr/>
            <a:r>
              <a:rPr sz="1600"/>
              <a:t>そこで 32 人が同時に歩き、仲間の位置を見て一歩を決める</a:t>
            </a:r>
          </a:p>
          <a:p>
            <a:pPr/>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pPr/>
            <a:r>
              <a:rPr sz="1600"/>
              <a:t>移るかどうかは ② と同じ考え（Z⁸ を掛けて補正）</a:t>
            </a:r>
          </a:p>
          <a:p>
            <a:pPr/>
            <a:r>
              <a:rPr sz="1600"/>
              <a:t>出発点：全員、Totani と同じ初期値の近く。6000 歩</a:t>
            </a:r>
          </a:p>
          <a:p>
            <a:pPr/>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pPr/>
            <a:r>
              <a:rPr sz="1800"/>
              <a:t>一番高い足あと → 最良の倍率（Totani と同じ）</a:t>
            </a:r>
          </a:p>
          <a:p>
            <a:pPr lvl="1"/>
            <a:r>
              <a:rPr sz="1500"/>
              <a:t>20.8 GeV：ハローの倍率 1.51</a:t>
            </a:r>
          </a:p>
          <a:p>
            <a:pPr/>
            <a:r>
              <a:rPr sz="1800"/>
              <a:t>足あとの広がり → 誤差</a:t>
            </a:r>
          </a:p>
          <a:p>
            <a:pPr lvl="1"/>
            <a:r>
              <a:rPr sz="1500"/>
              <a:t>最初の 400 歩（ふもとから登っている途中）は捨て、残りの下から 16%〜84%</a:t>
            </a:r>
          </a:p>
          <a:p>
            <a:pPr lvl="1"/>
            <a:r>
              <a:rPr sz="1500"/>
              <a:t>20.8 GeV：1.43〜1.61</a:t>
            </a:r>
          </a:p>
          <a:p>
            <a:pPr/>
            <a:r>
              <a:rPr sz="1800"/>
              <a:t>有意度：ハローあり・なしの山を別々に歩く</a:t>
            </a:r>
          </a:p>
          <a:p>
            <a:pPr lvl="1"/>
            <a:r>
              <a:rPr sz="1500"/>
              <a:t>それぞれの一番高い足あとの高さの差 Δln L → σ = √(2Δln L)</a:t>
            </a:r>
          </a:p>
          <a:p>
            <a:pPr lvl="1"/>
            <a:r>
              <a:rPr sz="1500"/>
              <a:t>20.8 GeV：19.5σ</a:t>
            </a:r>
          </a:p>
          <a:p>
            <a:pPr/>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9" name="Picture 8" descr="significance_spectrum.png"/>
          <p:cNvPicPr>
            <a:picLocks noChangeAspect="1"/>
          </p:cNvPicPr>
          <p:nvPr/>
        </p:nvPicPr>
        <p:blipFill>
          <a:blip r:embed="rId4"/>
          <a:srcRect/>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19.5σ（Totani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2.74 倍、ICS 2.75 倍</a:t>
            </a:r>
          </a:p>
          <a:p>
            <a:r>
              <a:rPr sz="2200"/>
              <a:t>違いは「銀河中心の方向に集まっているか」だけ</a:t>
            </a:r>
          </a:p>
          <a:p>
            <a:r>
              <a:rPr sz="2200"/>
              <a:t>ハローを入れると、その分 ICS が暗くなる</a:t>
            </a:r>
          </a:p>
          <a:p>
            <a:pPr lvl="1"/>
            <a:r>
              <a:rPr sz="1800"/>
              <a:t>ICS の倍率 1.39 → 0.48（20.8 GeV）</a:t>
            </a:r>
          </a:p>
          <a:p>
            <a:pPr/>
            <a:r>
              <a:rPr sz="1800"/>
              <a:t>たとえ：部屋の電球（ICS）と探している光（ハロー）が、写真ではほぼ同じ形 → 余った明るさがどちらのものか決めにくい</a:t>
            </a:r>
          </a:p>
        </p:txBody>
      </p:sp>
      <p:pic>
        <p:nvPicPr>
          <p:cNvPr id="5" name="Picture 4" descr="fig_ics_norm_totani.png"/>
          <p:cNvPicPr>
            <a:picLocks noChangeAspect="1"/>
          </p:cNvPicPr>
          <p:nvPr/>
        </p:nvPicPr>
        <p:blipFill>
          <a:blip r:embed="rId4"/>
          <a:srcRect/>
          <a:stretch>
            <a:fillRect/>
          </a:stretch>
        </p:blipFill>
        <p:spPr>
          <a:xfrm>
            <a:off x="6309360" y="1737360"/>
            <a:ext cx="5669280" cy="389763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19.5σ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6.6σ、実測 5.0σ</a:t>
            </a:r>
          </a:p>
          <a:p>
            <a:r>
              <a:rPr sz="2200"/>
              <a:t>同じ形の領域を横にずらして外すと 15〜16σ</a:t>
            </a:r>
          </a:p>
          <a:p>
            <a:r>
              <a:rPr sz="2200"/>
              <a:t>→ 19 → 5σ は「手がかりを捨てた」から。汚染の証拠ではない</a:t>
            </a:r>
          </a:p>
          <a:p>
            <a:pPr/>
            <a:r>
              <a:rPr sz="2000"/>
              <a:t>たとえ：写真の真ん中を隠すと、2 つの光を見分けるヒントが減って自信が下がる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19.5σ → 18.4σ（約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19.5σ を較正すると 19.5 ÷ 1.26 ≈ 15σ（14.0–17.0σ）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4"/>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19.5σ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19.5σ、較正後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198</TotalTime>
  <Words>3822</Words>
  <Application>Microsoft Office PowerPoint</Application>
  <PresentationFormat>Widescreen</PresentationFormat>
  <Paragraphs>350</Paragraphs>
  <Slides>35</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Aptos Display</vt:lpstr>
      <vt:lpstr>Arial</vt:lpstr>
      <vt:lpstr>Office Theme</vt:lpstr>
      <vt:lpstr>PowerPoint Presentation</vt:lpstr>
      <vt:lpstr>卒業研究の目的</vt:lpstr>
      <vt:lpstr>光子を数える</vt:lpstr>
      <vt:lpstr>手法①：テンプレートフィット</vt:lpstr>
      <vt:lpstr>手法②：尤度（どれだけ合っているか）</vt:lpstr>
      <vt:lpstr>手法③：有意度 σ の出し方</vt:lpstr>
      <vt:lpstr>手法④：MCMC（誤差の見積もり）</vt:lpstr>
      <vt:lpstr>結果：Totani の超過を再現</vt:lpstr>
      <vt:lpstr>問題：ハローと ICS が見分けにくい（縮退）</vt:lpstr>
      <vt:lpstr>縮退が引き起こした 3 つの疑問</vt:lpstr>
      <vt:lpstr>① を調べる：手がかりはどこにあるか</vt:lpstr>
      <vt:lpstr>① を調べる：ICS が犯人なら</vt:lpstr>
      <vt:lpstr>② を調べる：σ を信じてよいか</vt:lpstr>
      <vt:lpstr>② の結果：エネルギーごとのばらつき</vt:lpstr>
      <vt:lpstr>③ を調べる：19.1σ が再現できない理由</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2026-10-02T01:41:33Z</dcterms:modified>
</cp:coreProperties>
</file>