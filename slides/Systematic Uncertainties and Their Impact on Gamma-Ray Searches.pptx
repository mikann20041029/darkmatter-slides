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61"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3" autoAdjust="0"/>
    <p:restoredTop sz="86425" autoAdjust="0"/>
  </p:normalViewPr>
  <p:slideViewPr>
    <p:cSldViewPr snapToGrid="0" showGuides="1">
      <p:cViewPr>
        <p:scale>
          <a:sx n="87" d="100"/>
          <a:sy n="87" d="100"/>
        </p:scale>
        <p:origin x="408"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22BF99-5B3D-49D8-8B63-8312B226C8A9}"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6B7FA1-B67B-44A7-BF92-C5F6DF951A81}" type="slidenum">
              <a:rPr lang="en-US" smtClean="0"/>
              <a:t>‹#›</a:t>
            </a:fld>
            <a:endParaRPr lang="en-US"/>
          </a:p>
        </p:txBody>
      </p:sp>
    </p:spTree>
    <p:extLst>
      <p:ext uri="{BB962C8B-B14F-4D97-AF65-F5344CB8AC3E}">
        <p14:creationId xmlns:p14="http://schemas.microsoft.com/office/powerpoint/2010/main" val="3162568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簡単な概要がこれ</a:t>
            </a:r>
          </a:p>
          <a:p>
            <a:r>
              <a:rPr lang="ja-JP" altLang="en-US"/>
              <a:t>→拮抗する説としてミリ秒パルサーもあるが、最初に</a:t>
            </a:r>
            <a:r>
              <a:rPr lang="en-US" altLang="ja-JP"/>
              <a:t>intro</a:t>
            </a:r>
            <a:r>
              <a:rPr lang="ja-JP" altLang="en-US"/>
              <a:t>で否定！</a:t>
            </a:r>
          </a:p>
          <a:p>
            <a:endParaRPr lang="ja-JP" altLang="en-US"/>
          </a:p>
          <a:p>
            <a:r>
              <a:rPr lang="ja-JP" altLang="en-US"/>
              <a:t>これが僕が知っているガンマ線過剰の原因特定界隈の全体把握</a:t>
            </a:r>
          </a:p>
          <a:p>
            <a:r>
              <a:rPr lang="ja-JP" altLang="en-US"/>
              <a:t>この論文はミリ秒パルサーについて否定的という立場を明らかにしておこうかな</a:t>
            </a:r>
            <a:endParaRPr lang="en-US"/>
          </a:p>
        </p:txBody>
      </p:sp>
      <p:sp>
        <p:nvSpPr>
          <p:cNvPr id="4" name="Slide Number Placeholder 3"/>
          <p:cNvSpPr>
            <a:spLocks noGrp="1"/>
          </p:cNvSpPr>
          <p:nvPr>
            <p:ph type="sldNum" sz="quarter" idx="5"/>
          </p:nvPr>
        </p:nvSpPr>
        <p:spPr/>
        <p:txBody>
          <a:bodyPr/>
          <a:lstStyle/>
          <a:p>
            <a:fld id="{726B7FA1-B67B-44A7-BF92-C5F6DF951A81}" type="slidenum">
              <a:rPr lang="en-US" smtClean="0"/>
              <a:t>2</a:t>
            </a:fld>
            <a:endParaRPr lang="en-US"/>
          </a:p>
        </p:txBody>
      </p:sp>
    </p:spTree>
    <p:extLst>
      <p:ext uri="{BB962C8B-B14F-4D97-AF65-F5344CB8AC3E}">
        <p14:creationId xmlns:p14="http://schemas.microsoft.com/office/powerpoint/2010/main" val="1842926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26B7FA1-B67B-44A7-BF92-C5F6DF951A81}" type="slidenum">
              <a:rPr lang="en-US" smtClean="0"/>
              <a:t>3</a:t>
            </a:fld>
            <a:endParaRPr lang="en-US"/>
          </a:p>
        </p:txBody>
      </p:sp>
    </p:spTree>
    <p:extLst>
      <p:ext uri="{BB962C8B-B14F-4D97-AF65-F5344CB8AC3E}">
        <p14:creationId xmlns:p14="http://schemas.microsoft.com/office/powerpoint/2010/main" val="3651532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①について。</a:t>
            </a:r>
            <a:endParaRPr lang="en-US"/>
          </a:p>
        </p:txBody>
      </p:sp>
      <p:sp>
        <p:nvSpPr>
          <p:cNvPr id="4" name="Slide Number Placeholder 3"/>
          <p:cNvSpPr>
            <a:spLocks noGrp="1"/>
          </p:cNvSpPr>
          <p:nvPr>
            <p:ph type="sldNum" sz="quarter" idx="5"/>
          </p:nvPr>
        </p:nvSpPr>
        <p:spPr/>
        <p:txBody>
          <a:bodyPr/>
          <a:lstStyle/>
          <a:p>
            <a:fld id="{726B7FA1-B67B-44A7-BF92-C5F6DF951A81}" type="slidenum">
              <a:rPr lang="en-US" smtClean="0"/>
              <a:t>5</a:t>
            </a:fld>
            <a:endParaRPr lang="en-US"/>
          </a:p>
        </p:txBody>
      </p:sp>
    </p:spTree>
    <p:extLst>
      <p:ext uri="{BB962C8B-B14F-4D97-AF65-F5344CB8AC3E}">
        <p14:creationId xmlns:p14="http://schemas.microsoft.com/office/powerpoint/2010/main" val="2379594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F8C0-29D6-5A1B-A4C4-AE4BA30868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DE6103-F4FC-6197-1530-6AA78218C0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E8B79E-1957-97B8-76E4-02B7B2AE6CA0}"/>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5" name="Footer Placeholder 4">
            <a:extLst>
              <a:ext uri="{FF2B5EF4-FFF2-40B4-BE49-F238E27FC236}">
                <a16:creationId xmlns:a16="http://schemas.microsoft.com/office/drawing/2014/main" id="{76C874FD-E11E-522F-6224-0AC6AB806A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B0C87F-AB78-138A-ACF3-5B931D04CA19}"/>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884942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B8A2-A8C9-75AC-A788-6C6888CD05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438D06-13BC-3DAD-570D-28C2F04D85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A0236-D30C-AAC2-325A-CC4BC2C1D0B6}"/>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5" name="Footer Placeholder 4">
            <a:extLst>
              <a:ext uri="{FF2B5EF4-FFF2-40B4-BE49-F238E27FC236}">
                <a16:creationId xmlns:a16="http://schemas.microsoft.com/office/drawing/2014/main" id="{50E9B801-43BA-A9EE-4BA5-3D6A7A9081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413EEF-EEEF-3FF5-CA8A-A4CA30E78097}"/>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40602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36E5-A9A9-5040-A166-B8575EB883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F2C8D2-D71C-3B09-E13E-9209DE63D4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8EE143-9AC8-16DA-0FCA-7D6922B18CC5}"/>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5" name="Footer Placeholder 4">
            <a:extLst>
              <a:ext uri="{FF2B5EF4-FFF2-40B4-BE49-F238E27FC236}">
                <a16:creationId xmlns:a16="http://schemas.microsoft.com/office/drawing/2014/main" id="{3BD18811-9760-49F4-051B-F049B4FF96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DB9814-299A-C507-79B6-EF498BFE0B8F}"/>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3474078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C1C80-0222-B194-9DFE-E0F1C8E256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2D7D60-C72F-5968-8731-D98A65AD66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DD18D0-DA07-8083-55A8-183807D6BA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CBE032-F9B0-7FFD-E136-F68C8281F2D3}"/>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6" name="Footer Placeholder 5">
            <a:extLst>
              <a:ext uri="{FF2B5EF4-FFF2-40B4-BE49-F238E27FC236}">
                <a16:creationId xmlns:a16="http://schemas.microsoft.com/office/drawing/2014/main" id="{F369B841-5B68-D109-CC42-A1C922B821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3123EC-5362-77F0-53CF-EED20B4AE439}"/>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4130264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8B96-BCD3-8710-D618-FEC6F6CE63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EE659A-D33C-AFFB-334C-E9FA8ECEC2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340E0E-04A8-23BC-8F06-32460943DD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4BBC16-9365-E079-50A8-40B5F1D18D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0DA928-FBA1-656D-FA0E-7443FF3D08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303BF-3B10-FC4D-2BF1-5D6E027069C8}"/>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8" name="Footer Placeholder 7">
            <a:extLst>
              <a:ext uri="{FF2B5EF4-FFF2-40B4-BE49-F238E27FC236}">
                <a16:creationId xmlns:a16="http://schemas.microsoft.com/office/drawing/2014/main" id="{5228A83E-8453-F0D0-2838-DD99868D14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FA4BE9-91C4-F849-95CF-824FDE9CBB16}"/>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1866532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7A35E-D67E-EBA1-3D49-CAC69701D8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A5FA8A-90D7-38BD-B504-62C71F0B9AC1}"/>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4" name="Footer Placeholder 3">
            <a:extLst>
              <a:ext uri="{FF2B5EF4-FFF2-40B4-BE49-F238E27FC236}">
                <a16:creationId xmlns:a16="http://schemas.microsoft.com/office/drawing/2014/main" id="{A5BE6E45-F71A-FDAB-9007-D3DC744963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B74128-872E-8C06-6AE5-DC7DFDBB2911}"/>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2253332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836D93-63B1-34E0-F461-45EA24CA5F07}"/>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3" name="Footer Placeholder 2">
            <a:extLst>
              <a:ext uri="{FF2B5EF4-FFF2-40B4-BE49-F238E27FC236}">
                <a16:creationId xmlns:a16="http://schemas.microsoft.com/office/drawing/2014/main" id="{F013EB24-EFEB-DDFB-111F-2D526D23BF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270113-04A4-2C9C-C8D8-82C4DBC10E80}"/>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3615762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C2D36-7AB8-70D1-8810-9F96AC1573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8D3BC1-C51E-13D1-2012-7A0B7CED05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791279-57EE-0FB8-9AE8-62C9138FF0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640F41-4879-0352-190B-0A729BF3B208}"/>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6" name="Footer Placeholder 5">
            <a:extLst>
              <a:ext uri="{FF2B5EF4-FFF2-40B4-BE49-F238E27FC236}">
                <a16:creationId xmlns:a16="http://schemas.microsoft.com/office/drawing/2014/main" id="{136D5DE8-8DF0-8E4B-8E93-EE5DF6E543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D733DB-B426-1F81-45B2-136CD6944D82}"/>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1762664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099F-0016-CD9E-74E2-37ECEC33D5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221250-3A22-5557-5358-34D45DB576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78E013-B32E-690B-B7E3-496835AB0C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CA9E1D-6F30-84C3-0D5B-1CF508BCFE6C}"/>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6" name="Footer Placeholder 5">
            <a:extLst>
              <a:ext uri="{FF2B5EF4-FFF2-40B4-BE49-F238E27FC236}">
                <a16:creationId xmlns:a16="http://schemas.microsoft.com/office/drawing/2014/main" id="{ED509CC3-FDF0-8497-1877-7B95A428F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B3B99D-5326-71FE-1E3E-1E33FB86A8FB}"/>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3512085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DE54-3A21-E34C-1030-33AE114B66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551ED-ED13-FC2C-ECBC-A13E7B25AD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2891B5-EBF5-36CE-C24B-6C568C4B74A6}"/>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5" name="Footer Placeholder 4">
            <a:extLst>
              <a:ext uri="{FF2B5EF4-FFF2-40B4-BE49-F238E27FC236}">
                <a16:creationId xmlns:a16="http://schemas.microsoft.com/office/drawing/2014/main" id="{C4983667-9311-9D1E-7EA7-4D84F3B4DC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43BC9E-ADEF-50B4-C578-0921539E4CD7}"/>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3432527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4006D-75CC-2CAA-B985-21532E16B1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7522BD-F933-4F30-C0ED-48A95A07D1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389657-FF37-E0BF-4EEC-509FB6254D5B}"/>
              </a:ext>
            </a:extLst>
          </p:cNvPr>
          <p:cNvSpPr>
            <a:spLocks noGrp="1"/>
          </p:cNvSpPr>
          <p:nvPr>
            <p:ph type="dt" sz="half" idx="10"/>
          </p:nvPr>
        </p:nvSpPr>
        <p:spPr/>
        <p:txBody>
          <a:bodyPr/>
          <a:lstStyle/>
          <a:p>
            <a:fld id="{CB1C5C12-BB1E-4658-85C5-FBF6E0D25080}" type="datetimeFigureOut">
              <a:rPr lang="en-US" smtClean="0"/>
              <a:t>9/26/2026</a:t>
            </a:fld>
            <a:endParaRPr lang="en-US"/>
          </a:p>
        </p:txBody>
      </p:sp>
      <p:sp>
        <p:nvSpPr>
          <p:cNvPr id="5" name="Footer Placeholder 4">
            <a:extLst>
              <a:ext uri="{FF2B5EF4-FFF2-40B4-BE49-F238E27FC236}">
                <a16:creationId xmlns:a16="http://schemas.microsoft.com/office/drawing/2014/main" id="{FB24567B-6533-098A-EC08-A6B0700F97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5A0F65-867C-5AC8-4087-8834A6BE72C5}"/>
              </a:ext>
            </a:extLst>
          </p:cNvPr>
          <p:cNvSpPr>
            <a:spLocks noGrp="1"/>
          </p:cNvSpPr>
          <p:nvPr>
            <p:ph type="sldNum" sz="quarter" idx="12"/>
          </p:nvPr>
        </p:nvSpPr>
        <p:spPr/>
        <p:txBody>
          <a:bodyPr/>
          <a:lstStyle/>
          <a:p>
            <a:fld id="{58444F21-8A10-4DA0-89B1-711CC3E614E0}" type="slidenum">
              <a:rPr lang="en-US" smtClean="0"/>
              <a:t>‹#›</a:t>
            </a:fld>
            <a:endParaRPr lang="en-US"/>
          </a:p>
        </p:txBody>
      </p:sp>
    </p:spTree>
    <p:extLst>
      <p:ext uri="{BB962C8B-B14F-4D97-AF65-F5344CB8AC3E}">
        <p14:creationId xmlns:p14="http://schemas.microsoft.com/office/powerpoint/2010/main" val="251553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F47607-688C-06CD-B8C2-AB44A354C1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7A8643-DEAB-3E9D-C9CD-AB2EE6B5B4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92C61-A809-C583-7896-DFD02A23C3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1C5C12-BB1E-4658-85C5-FBF6E0D25080}" type="datetimeFigureOut">
              <a:rPr lang="en-US" smtClean="0"/>
              <a:t>9/26/2026</a:t>
            </a:fld>
            <a:endParaRPr lang="en-US"/>
          </a:p>
        </p:txBody>
      </p:sp>
      <p:sp>
        <p:nvSpPr>
          <p:cNvPr id="5" name="Footer Placeholder 4">
            <a:extLst>
              <a:ext uri="{FF2B5EF4-FFF2-40B4-BE49-F238E27FC236}">
                <a16:creationId xmlns:a16="http://schemas.microsoft.com/office/drawing/2014/main" id="{C6A00C5A-CB52-B1EA-2F0F-3319216936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45C9EA-2565-1690-270B-D11A120C48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444F21-8A10-4DA0-89B1-711CC3E614E0}" type="slidenum">
              <a:rPr lang="en-US" smtClean="0"/>
              <a:t>‹#›</a:t>
            </a:fld>
            <a:endParaRPr lang="en-US"/>
          </a:p>
        </p:txBody>
      </p:sp>
    </p:spTree>
    <p:extLst>
      <p:ext uri="{BB962C8B-B14F-4D97-AF65-F5344CB8AC3E}">
        <p14:creationId xmlns:p14="http://schemas.microsoft.com/office/powerpoint/2010/main" val="4112322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1452A-0C6B-C564-55E4-F7DED85DF873}"/>
              </a:ext>
            </a:extLst>
          </p:cNvPr>
          <p:cNvSpPr>
            <a:spLocks noGrp="1"/>
          </p:cNvSpPr>
          <p:nvPr>
            <p:ph type="ctrTitle"/>
          </p:nvPr>
        </p:nvSpPr>
        <p:spPr/>
        <p:txBody>
          <a:bodyPr>
            <a:normAutofit fontScale="90000"/>
          </a:bodyPr>
          <a:lstStyle/>
          <a:p>
            <a:r>
              <a:rPr lang="en-US"/>
              <a:t>Systematic Uncertainties and Their Impact on Gamma-Ray Searches for Dark Matter in Dwarf Galaxies</a:t>
            </a:r>
          </a:p>
        </p:txBody>
      </p:sp>
      <p:sp>
        <p:nvSpPr>
          <p:cNvPr id="3" name="Subtitle 2">
            <a:extLst>
              <a:ext uri="{FF2B5EF4-FFF2-40B4-BE49-F238E27FC236}">
                <a16:creationId xmlns:a16="http://schemas.microsoft.com/office/drawing/2014/main" id="{F2F1BC98-DBC4-9784-04BA-1B714AC3157E}"/>
              </a:ext>
            </a:extLst>
          </p:cNvPr>
          <p:cNvSpPr>
            <a:spLocks noGrp="1"/>
          </p:cNvSpPr>
          <p:nvPr>
            <p:ph type="subTitle" idx="1"/>
          </p:nvPr>
        </p:nvSpPr>
        <p:spPr>
          <a:xfrm>
            <a:off x="1452978" y="4574299"/>
            <a:ext cx="9144000" cy="1655762"/>
          </a:xfrm>
        </p:spPr>
        <p:txBody>
          <a:bodyPr/>
          <a:lstStyle/>
          <a:p>
            <a:r>
              <a:rPr lang="ja-JP" altLang="en-US"/>
              <a:t>中村惺一</a:t>
            </a:r>
            <a:endParaRPr lang="en-US"/>
          </a:p>
        </p:txBody>
      </p:sp>
    </p:spTree>
    <p:extLst>
      <p:ext uri="{BB962C8B-B14F-4D97-AF65-F5344CB8AC3E}">
        <p14:creationId xmlns:p14="http://schemas.microsoft.com/office/powerpoint/2010/main" val="534094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peech Bubble: Rectangle 9">
            <a:extLst>
              <a:ext uri="{FF2B5EF4-FFF2-40B4-BE49-F238E27FC236}">
                <a16:creationId xmlns:a16="http://schemas.microsoft.com/office/drawing/2014/main" id="{11C5E1C5-2AF1-917B-4090-E326934E4976}"/>
              </a:ext>
            </a:extLst>
          </p:cNvPr>
          <p:cNvSpPr/>
          <p:nvPr/>
        </p:nvSpPr>
        <p:spPr>
          <a:xfrm>
            <a:off x="296780" y="2735633"/>
            <a:ext cx="11510210" cy="4122367"/>
          </a:xfrm>
          <a:prstGeom prst="wedgeRectCallout">
            <a:avLst>
              <a:gd name="adj1" fmla="val -17115"/>
              <a:gd name="adj2" fmla="val -5657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4F98739-207A-4541-4EFF-5065A0BCD4BE}"/>
              </a:ext>
            </a:extLst>
          </p:cNvPr>
          <p:cNvSpPr txBox="1"/>
          <p:nvPr/>
        </p:nvSpPr>
        <p:spPr>
          <a:xfrm>
            <a:off x="168442" y="1294672"/>
            <a:ext cx="6641432" cy="1200329"/>
          </a:xfrm>
          <a:prstGeom prst="rect">
            <a:avLst/>
          </a:prstGeom>
          <a:noFill/>
        </p:spPr>
        <p:txBody>
          <a:bodyPr wrap="square">
            <a:spAutoFit/>
          </a:bodyPr>
          <a:lstStyle/>
          <a:p>
            <a:pPr marL="0" marR="0" lvl="0" indent="-342900">
              <a:buFont typeface="Arial" panose="020B0604020202020204" pitchFamily="34" charset="0"/>
              <a:buChar char="•"/>
            </a:pPr>
            <a:r>
              <a:rPr lang="en-US">
                <a:effectLst/>
                <a:latin typeface="+mn-lt"/>
              </a:rPr>
              <a:t>Fermi-LATの観測により、銀河中心からWIMP（暗黒物質）の対消滅予想と一致するガンマ線超過が見つかっている。</a:t>
            </a:r>
            <a:endParaRPr lang="en-US"/>
          </a:p>
          <a:p>
            <a:pPr marR="0" lvl="0"/>
            <a:r>
              <a:rPr lang="en-US">
                <a:effectLst/>
                <a:latin typeface="+mn-lt"/>
              </a:rPr>
              <a:t> </a:t>
            </a:r>
          </a:p>
          <a:p>
            <a:pPr marL="0" marR="0" lvl="0" indent="-342900">
              <a:buFont typeface="Arial" panose="020B0604020202020204" pitchFamily="34" charset="0"/>
              <a:buChar char="•"/>
            </a:pPr>
            <a:r>
              <a:rPr lang="en-US">
                <a:effectLst/>
                <a:latin typeface="+mn-lt"/>
              </a:rPr>
              <a:t>ミリ秒パルサー説もあるが、否定的な要素が多い。</a:t>
            </a:r>
            <a:endParaRPr lang="en-US">
              <a:effectLst/>
              <a:latin typeface="Google Sans Text"/>
            </a:endParaRPr>
          </a:p>
        </p:txBody>
      </p:sp>
      <p:sp>
        <p:nvSpPr>
          <p:cNvPr id="7" name="TextBox 6">
            <a:extLst>
              <a:ext uri="{FF2B5EF4-FFF2-40B4-BE49-F238E27FC236}">
                <a16:creationId xmlns:a16="http://schemas.microsoft.com/office/drawing/2014/main" id="{648F66D1-A7FB-A04D-8DB7-04F3910ABC71}"/>
              </a:ext>
            </a:extLst>
          </p:cNvPr>
          <p:cNvSpPr txBox="1"/>
          <p:nvPr/>
        </p:nvSpPr>
        <p:spPr>
          <a:xfrm>
            <a:off x="569495" y="412357"/>
            <a:ext cx="6096000" cy="769441"/>
          </a:xfrm>
          <a:prstGeom prst="rect">
            <a:avLst/>
          </a:prstGeom>
          <a:noFill/>
        </p:spPr>
        <p:txBody>
          <a:bodyPr wrap="square">
            <a:spAutoFit/>
          </a:bodyPr>
          <a:lstStyle/>
          <a:p>
            <a:pPr marR="0" lvl="0"/>
            <a:r>
              <a:rPr lang="ja-JP" altLang="en-US" sz="4400">
                <a:effectLst/>
                <a:latin typeface="+mn-lt"/>
              </a:rPr>
              <a:t>簡単な概要</a:t>
            </a:r>
            <a:endParaRPr lang="en-US" sz="4400">
              <a:effectLst/>
              <a:latin typeface="+mn-lt"/>
            </a:endParaRPr>
          </a:p>
        </p:txBody>
      </p:sp>
      <p:pic>
        <p:nvPicPr>
          <p:cNvPr id="9" name="Picture 8">
            <a:extLst>
              <a:ext uri="{FF2B5EF4-FFF2-40B4-BE49-F238E27FC236}">
                <a16:creationId xmlns:a16="http://schemas.microsoft.com/office/drawing/2014/main" id="{0ADC4CBD-355B-83F3-11BF-F4869C056F29}"/>
              </a:ext>
            </a:extLst>
          </p:cNvPr>
          <p:cNvPicPr>
            <a:picLocks noChangeAspect="1"/>
          </p:cNvPicPr>
          <p:nvPr/>
        </p:nvPicPr>
        <p:blipFill>
          <a:blip r:embed="rId3"/>
          <a:stretch>
            <a:fillRect/>
          </a:stretch>
        </p:blipFill>
        <p:spPr>
          <a:xfrm>
            <a:off x="296780" y="2735633"/>
            <a:ext cx="5197643" cy="1797151"/>
          </a:xfrm>
          <a:prstGeom prst="rect">
            <a:avLst/>
          </a:prstGeom>
        </p:spPr>
      </p:pic>
      <p:pic>
        <p:nvPicPr>
          <p:cNvPr id="12" name="Picture 11">
            <a:extLst>
              <a:ext uri="{FF2B5EF4-FFF2-40B4-BE49-F238E27FC236}">
                <a16:creationId xmlns:a16="http://schemas.microsoft.com/office/drawing/2014/main" id="{2DAC2557-1BF9-6638-013E-F382BBA462BF}"/>
              </a:ext>
            </a:extLst>
          </p:cNvPr>
          <p:cNvPicPr>
            <a:picLocks noChangeAspect="1"/>
          </p:cNvPicPr>
          <p:nvPr/>
        </p:nvPicPr>
        <p:blipFill>
          <a:blip r:embed="rId4"/>
          <a:stretch>
            <a:fillRect/>
          </a:stretch>
        </p:blipFill>
        <p:spPr>
          <a:xfrm>
            <a:off x="385010" y="4800774"/>
            <a:ext cx="5109413" cy="1560450"/>
          </a:xfrm>
          <a:prstGeom prst="rect">
            <a:avLst/>
          </a:prstGeom>
        </p:spPr>
      </p:pic>
      <p:pic>
        <p:nvPicPr>
          <p:cNvPr id="14" name="Picture 13">
            <a:extLst>
              <a:ext uri="{FF2B5EF4-FFF2-40B4-BE49-F238E27FC236}">
                <a16:creationId xmlns:a16="http://schemas.microsoft.com/office/drawing/2014/main" id="{E67316C1-8A89-87C3-BF64-4F537D84AF3E}"/>
              </a:ext>
            </a:extLst>
          </p:cNvPr>
          <p:cNvPicPr>
            <a:picLocks noChangeAspect="1"/>
          </p:cNvPicPr>
          <p:nvPr/>
        </p:nvPicPr>
        <p:blipFill>
          <a:blip r:embed="rId5"/>
          <a:stretch>
            <a:fillRect/>
          </a:stretch>
        </p:blipFill>
        <p:spPr>
          <a:xfrm>
            <a:off x="5582653" y="3634208"/>
            <a:ext cx="6224337" cy="1958510"/>
          </a:xfrm>
          <a:prstGeom prst="rect">
            <a:avLst/>
          </a:prstGeom>
        </p:spPr>
      </p:pic>
    </p:spTree>
    <p:extLst>
      <p:ext uri="{BB962C8B-B14F-4D97-AF65-F5344CB8AC3E}">
        <p14:creationId xmlns:p14="http://schemas.microsoft.com/office/powerpoint/2010/main" val="3964152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5B1E8-5AE6-1196-D9A9-2DAE7B29BC71}"/>
              </a:ext>
            </a:extLst>
          </p:cNvPr>
          <p:cNvSpPr>
            <a:spLocks noGrp="1"/>
          </p:cNvSpPr>
          <p:nvPr>
            <p:ph type="title"/>
          </p:nvPr>
        </p:nvSpPr>
        <p:spPr>
          <a:xfrm>
            <a:off x="236620" y="84388"/>
            <a:ext cx="6966285" cy="669591"/>
          </a:xfrm>
        </p:spPr>
        <p:txBody>
          <a:bodyPr>
            <a:normAutofit/>
          </a:bodyPr>
          <a:lstStyle/>
          <a:p>
            <a:r>
              <a:rPr lang="ja-JP" altLang="en-US" sz="3200" b="1"/>
              <a:t>内容ーなにしたの？</a:t>
            </a:r>
            <a:endParaRPr lang="en-US" sz="3200" b="1"/>
          </a:p>
        </p:txBody>
      </p:sp>
      <p:pic>
        <p:nvPicPr>
          <p:cNvPr id="5" name="Content Placeholder 4">
            <a:extLst>
              <a:ext uri="{FF2B5EF4-FFF2-40B4-BE49-F238E27FC236}">
                <a16:creationId xmlns:a16="http://schemas.microsoft.com/office/drawing/2014/main" id="{56778EAE-B554-01D5-FDFE-EE84CBE484C5}"/>
              </a:ext>
            </a:extLst>
          </p:cNvPr>
          <p:cNvPicPr>
            <a:picLocks noGrp="1" noChangeAspect="1"/>
          </p:cNvPicPr>
          <p:nvPr>
            <p:ph idx="1"/>
          </p:nvPr>
        </p:nvPicPr>
        <p:blipFill>
          <a:blip r:embed="rId3"/>
          <a:stretch>
            <a:fillRect/>
          </a:stretch>
        </p:blipFill>
        <p:spPr>
          <a:xfrm>
            <a:off x="1021771" y="1067082"/>
            <a:ext cx="10515600" cy="1813793"/>
          </a:xfrm>
          <a:prstGeom prst="rect">
            <a:avLst/>
          </a:prstGeom>
        </p:spPr>
      </p:pic>
      <p:sp>
        <p:nvSpPr>
          <p:cNvPr id="7" name="TextBox 6">
            <a:extLst>
              <a:ext uri="{FF2B5EF4-FFF2-40B4-BE49-F238E27FC236}">
                <a16:creationId xmlns:a16="http://schemas.microsoft.com/office/drawing/2014/main" id="{440FA87C-0F66-691D-F3CE-330C8278F63B}"/>
              </a:ext>
            </a:extLst>
          </p:cNvPr>
          <p:cNvSpPr txBox="1"/>
          <p:nvPr/>
        </p:nvSpPr>
        <p:spPr>
          <a:xfrm>
            <a:off x="851189" y="3201615"/>
            <a:ext cx="6096000" cy="1477328"/>
          </a:xfrm>
          <a:prstGeom prst="rect">
            <a:avLst/>
          </a:prstGeom>
          <a:noFill/>
        </p:spPr>
        <p:txBody>
          <a:bodyPr wrap="square">
            <a:spAutoFit/>
          </a:bodyPr>
          <a:lstStyle/>
          <a:p>
            <a:r>
              <a:rPr lang="en-US"/>
              <a:t>星の所属判定</a:t>
            </a:r>
          </a:p>
          <a:p>
            <a:r>
              <a:rPr lang="en-US"/>
              <a:t>未分解の連星</a:t>
            </a:r>
          </a:p>
          <a:p>
            <a:r>
              <a:rPr lang="en-US"/>
              <a:t>平衡状態や球対称性からのズレ</a:t>
            </a:r>
          </a:p>
          <a:p>
            <a:r>
              <a:rPr lang="en-US"/>
              <a:t>および星と暗黒物質の密度プロファイルに関する仮定</a:t>
            </a:r>
          </a:p>
          <a:p>
            <a:r>
              <a:rPr lang="en-US"/>
              <a:t>系統的不確実性</a:t>
            </a:r>
            <a:r>
              <a:rPr lang="ja-JP" altLang="en-US"/>
              <a:t>の</a:t>
            </a:r>
            <a:r>
              <a:rPr lang="en-US"/>
              <a:t>要因をレビューする。</a:t>
            </a:r>
          </a:p>
        </p:txBody>
      </p:sp>
      <p:sp>
        <p:nvSpPr>
          <p:cNvPr id="9" name="TextBox 8">
            <a:extLst>
              <a:ext uri="{FF2B5EF4-FFF2-40B4-BE49-F238E27FC236}">
                <a16:creationId xmlns:a16="http://schemas.microsoft.com/office/drawing/2014/main" id="{BB52C58C-3A58-9DB0-DD50-9F79D251F72C}"/>
              </a:ext>
            </a:extLst>
          </p:cNvPr>
          <p:cNvSpPr txBox="1"/>
          <p:nvPr/>
        </p:nvSpPr>
        <p:spPr>
          <a:xfrm>
            <a:off x="5655253" y="371146"/>
            <a:ext cx="6094268" cy="369332"/>
          </a:xfrm>
          <a:prstGeom prst="rect">
            <a:avLst/>
          </a:prstGeom>
          <a:noFill/>
        </p:spPr>
        <p:txBody>
          <a:bodyPr wrap="square">
            <a:spAutoFit/>
          </a:bodyPr>
          <a:lstStyle/>
          <a:p>
            <a:pPr marR="0" lvl="0"/>
            <a:r>
              <a:rPr lang="ja-JP" altLang="en-US">
                <a:effectLst/>
                <a:latin typeface="Google Sans Text"/>
              </a:rPr>
              <a:t>→不確実性はもっと大きいんじゃないのかと疑った。</a:t>
            </a:r>
            <a:endParaRPr lang="en-US">
              <a:effectLst/>
              <a:latin typeface="Google Sans Text"/>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9B168F33-6AF8-44EF-AD29-2B3ECE2C3E0D}"/>
                  </a:ext>
                </a:extLst>
              </p:cNvPr>
              <p:cNvSpPr txBox="1"/>
              <p:nvPr/>
            </p:nvSpPr>
            <p:spPr>
              <a:xfrm>
                <a:off x="1679431" y="5021273"/>
                <a:ext cx="8833138" cy="646331"/>
              </a:xfrm>
              <a:prstGeom prst="rect">
                <a:avLst/>
              </a:prstGeom>
              <a:noFill/>
            </p:spPr>
            <p:txBody>
              <a:bodyPr wrap="square">
                <a:spAutoFit/>
              </a:bodyPr>
              <a:lstStyle/>
              <a:p>
                <a:r>
                  <a:rPr lang="en-US" b="1">
                    <a:solidFill>
                      <a:srgbClr val="FF0000"/>
                    </a:solidFill>
                    <a:effectLst/>
                  </a:rPr>
                  <a:t>既存研究はこれらを過小評価しており、実際には </a:t>
                </a:r>
                <a14:m>
                  <m:oMath xmlns:m="http://schemas.openxmlformats.org/officeDocument/2006/math">
                    <m:r>
                      <a:rPr lang="en-US" b="1" i="1" smtClean="0">
                        <a:solidFill>
                          <a:srgbClr val="FF0000"/>
                        </a:solidFill>
                      </a:rPr>
                      <m:t>𝚫</m:t>
                    </m:r>
                    <m:func>
                      <m:funcPr>
                        <m:ctrlPr>
                          <a:rPr lang="en-US" b="1" i="1">
                            <a:solidFill>
                              <a:srgbClr val="FF0000"/>
                            </a:solidFill>
                          </a:rPr>
                        </m:ctrlPr>
                      </m:funcPr>
                      <m:fName>
                        <m:sSub>
                          <m:sSubPr>
                            <m:ctrlPr>
                              <a:rPr lang="en-US" b="1" i="0">
                                <a:solidFill>
                                  <a:srgbClr val="FF0000"/>
                                </a:solidFill>
                              </a:rPr>
                            </m:ctrlPr>
                          </m:sSubPr>
                          <m:e>
                            <m:r>
                              <a:rPr lang="en-US" b="1" i="0">
                                <a:solidFill>
                                  <a:srgbClr val="FF0000"/>
                                </a:solidFill>
                              </a:rPr>
                              <m:t>𝐥𝐨𝐠</m:t>
                            </m:r>
                          </m:e>
                          <m:sub>
                            <m:r>
                              <a:rPr lang="en-US" b="1" i="0">
                                <a:solidFill>
                                  <a:srgbClr val="FF0000"/>
                                </a:solidFill>
                              </a:rPr>
                              <m:t>𝟏𝟎</m:t>
                            </m:r>
                          </m:sub>
                        </m:sSub>
                      </m:fName>
                      <m:e>
                        <m:r>
                          <a:rPr lang="en-US" b="1" i="1">
                            <a:solidFill>
                              <a:srgbClr val="FF0000"/>
                            </a:solidFill>
                          </a:rPr>
                          <m:t>𝑱</m:t>
                        </m:r>
                      </m:e>
                    </m:func>
                    <m:r>
                      <a:rPr lang="en-US" b="1" i="0">
                        <a:solidFill>
                          <a:srgbClr val="FF0000"/>
                        </a:solidFill>
                      </a:rPr>
                      <m:t>∼</m:t>
                    </m:r>
                    <m:r>
                      <a:rPr lang="en-US" b="1" i="0">
                        <a:solidFill>
                          <a:srgbClr val="FF0000"/>
                        </a:solidFill>
                      </a:rPr>
                      <m:t>𝟎</m:t>
                    </m:r>
                    <m:r>
                      <a:rPr lang="en-US" b="1" i="0">
                        <a:solidFill>
                          <a:srgbClr val="FF0000"/>
                        </a:solidFill>
                      </a:rPr>
                      <m:t>.</m:t>
                    </m:r>
                    <m:r>
                      <a:rPr lang="en-US" b="1" i="0">
                        <a:solidFill>
                          <a:srgbClr val="FF0000"/>
                        </a:solidFill>
                      </a:rPr>
                      <m:t>𝟓</m:t>
                    </m:r>
                  </m:oMath>
                </a14:m>
                <a:r>
                  <a:rPr lang="en-US" b="1">
                    <a:solidFill>
                      <a:srgbClr val="FF0000"/>
                    </a:solidFill>
                    <a:effectLst/>
                  </a:rPr>
                  <a:t>程度の不確実性を追加すべきである。本研究はこの誤差が解析に与える影響を定量化する。</a:t>
                </a:r>
                <a:endParaRPr lang="en-US" b="1">
                  <a:solidFill>
                    <a:srgbClr val="FF0000"/>
                  </a:solidFill>
                </a:endParaRPr>
              </a:p>
            </p:txBody>
          </p:sp>
        </mc:Choice>
        <mc:Fallback>
          <p:sp>
            <p:nvSpPr>
              <p:cNvPr id="13" name="TextBox 12">
                <a:extLst>
                  <a:ext uri="{FF2B5EF4-FFF2-40B4-BE49-F238E27FC236}">
                    <a16:creationId xmlns:a16="http://schemas.microsoft.com/office/drawing/2014/main" id="{9B168F33-6AF8-44EF-AD29-2B3ECE2C3E0D}"/>
                  </a:ext>
                </a:extLst>
              </p:cNvPr>
              <p:cNvSpPr txBox="1">
                <a:spLocks noRot="1" noChangeAspect="1" noMove="1" noResize="1" noEditPoints="1" noAdjustHandles="1" noChangeArrowheads="1" noChangeShapeType="1" noTextEdit="1"/>
              </p:cNvSpPr>
              <p:nvPr/>
            </p:nvSpPr>
            <p:spPr>
              <a:xfrm>
                <a:off x="1679431" y="5021273"/>
                <a:ext cx="8833138" cy="646331"/>
              </a:xfrm>
              <a:prstGeom prst="rect">
                <a:avLst/>
              </a:prstGeom>
              <a:blipFill>
                <a:blip r:embed="rId4"/>
                <a:stretch>
                  <a:fillRect l="-552" t="-9434" b="-10377"/>
                </a:stretch>
              </a:blipFill>
            </p:spPr>
            <p:txBody>
              <a:bodyPr/>
              <a:lstStyle/>
              <a:p>
                <a:r>
                  <a:rPr lang="en-US">
                    <a:noFill/>
                  </a:rPr>
                  <a:t> </a:t>
                </a:r>
              </a:p>
            </p:txBody>
          </p:sp>
        </mc:Fallback>
      </mc:AlternateContent>
    </p:spTree>
    <p:extLst>
      <p:ext uri="{BB962C8B-B14F-4D97-AF65-F5344CB8AC3E}">
        <p14:creationId xmlns:p14="http://schemas.microsoft.com/office/powerpoint/2010/main" val="3097806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8242B-07FA-1E2D-EE4C-1D59BAF4FD00}"/>
              </a:ext>
            </a:extLst>
          </p:cNvPr>
          <p:cNvSpPr>
            <a:spLocks noGrp="1"/>
          </p:cNvSpPr>
          <p:nvPr>
            <p:ph type="title"/>
          </p:nvPr>
        </p:nvSpPr>
        <p:spPr>
          <a:xfrm>
            <a:off x="391391" y="178090"/>
            <a:ext cx="2424545" cy="809048"/>
          </a:xfrm>
        </p:spPr>
        <p:txBody>
          <a:bodyPr>
            <a:normAutofit/>
          </a:bodyPr>
          <a:lstStyle/>
          <a:p>
            <a:r>
              <a:rPr lang="en-US"/>
              <a:t>検証手法</a:t>
            </a:r>
          </a:p>
        </p:txBody>
      </p:sp>
      <p:pic>
        <p:nvPicPr>
          <p:cNvPr id="5" name="Picture 4">
            <a:extLst>
              <a:ext uri="{FF2B5EF4-FFF2-40B4-BE49-F238E27FC236}">
                <a16:creationId xmlns:a16="http://schemas.microsoft.com/office/drawing/2014/main" id="{D6E61CAD-D710-B67E-8866-A83F1DD370E5}"/>
              </a:ext>
            </a:extLst>
          </p:cNvPr>
          <p:cNvPicPr>
            <a:picLocks noChangeAspect="1"/>
          </p:cNvPicPr>
          <p:nvPr/>
        </p:nvPicPr>
        <p:blipFill>
          <a:blip r:embed="rId2"/>
          <a:stretch>
            <a:fillRect/>
          </a:stretch>
        </p:blipFill>
        <p:spPr>
          <a:xfrm>
            <a:off x="4022148" y="236305"/>
            <a:ext cx="6751905" cy="1600339"/>
          </a:xfrm>
          <a:prstGeom prst="rect">
            <a:avLst/>
          </a:prstGeom>
        </p:spPr>
      </p:pic>
      <p:sp>
        <p:nvSpPr>
          <p:cNvPr id="7" name="TextBox 6">
            <a:extLst>
              <a:ext uri="{FF2B5EF4-FFF2-40B4-BE49-F238E27FC236}">
                <a16:creationId xmlns:a16="http://schemas.microsoft.com/office/drawing/2014/main" id="{C7F5D527-D29F-C969-1FB1-C544D45AA806}"/>
              </a:ext>
            </a:extLst>
          </p:cNvPr>
          <p:cNvSpPr txBox="1"/>
          <p:nvPr/>
        </p:nvSpPr>
        <p:spPr>
          <a:xfrm>
            <a:off x="667615" y="1980197"/>
            <a:ext cx="10564958" cy="646331"/>
          </a:xfrm>
          <a:prstGeom prst="rect">
            <a:avLst/>
          </a:prstGeom>
          <a:noFill/>
        </p:spPr>
        <p:txBody>
          <a:bodyPr wrap="square">
            <a:spAutoFit/>
          </a:bodyPr>
          <a:lstStyle/>
          <a:p>
            <a:r>
              <a:rPr lang="en-US" b="1"/>
              <a:t>想定する不確実性を大きくした場合の効果と、実際の不確実性よりも小さい値を採用した場合の結末の両方を研究</a:t>
            </a:r>
            <a:r>
              <a:rPr lang="ja-JP" altLang="en-US" b="1"/>
              <a:t>することが</a:t>
            </a:r>
            <a:r>
              <a:rPr lang="en-US" b="1"/>
              <a:t>できた</a:t>
            </a:r>
          </a:p>
        </p:txBody>
      </p:sp>
      <p:sp>
        <p:nvSpPr>
          <p:cNvPr id="9" name="TextBox 8">
            <a:extLst>
              <a:ext uri="{FF2B5EF4-FFF2-40B4-BE49-F238E27FC236}">
                <a16:creationId xmlns:a16="http://schemas.microsoft.com/office/drawing/2014/main" id="{6D151E7E-A603-D79F-31D5-17DB47C18D0E}"/>
              </a:ext>
            </a:extLst>
          </p:cNvPr>
          <p:cNvSpPr txBox="1"/>
          <p:nvPr/>
        </p:nvSpPr>
        <p:spPr>
          <a:xfrm>
            <a:off x="338571" y="2698319"/>
            <a:ext cx="11853429" cy="369332"/>
          </a:xfrm>
          <a:prstGeom prst="rect">
            <a:avLst/>
          </a:prstGeom>
          <a:noFill/>
        </p:spPr>
        <p:txBody>
          <a:bodyPr wrap="square">
            <a:spAutoFit/>
          </a:bodyPr>
          <a:lstStyle/>
          <a:p>
            <a:r>
              <a:rPr lang="ja-JP" altLang="en-US">
                <a:effectLst/>
                <a:latin typeface="+mn-lt"/>
              </a:rPr>
              <a:t>①</a:t>
            </a:r>
            <a:r>
              <a:rPr lang="en-US">
                <a:effectLst/>
                <a:latin typeface="+mn-lt"/>
              </a:rPr>
              <a:t>パソコンの中に「</a:t>
            </a:r>
            <a:r>
              <a:rPr lang="en-US" b="1">
                <a:effectLst/>
                <a:latin typeface="+mn-lt"/>
              </a:rPr>
              <a:t>本当のダークマターのシグナルが存在</a:t>
            </a:r>
            <a:r>
              <a:rPr lang="ja-JP" altLang="en-US" b="1">
                <a:effectLst/>
                <a:latin typeface="+mn-lt"/>
              </a:rPr>
              <a:t>する宇宙」を</a:t>
            </a:r>
            <a:r>
              <a:rPr lang="en-US">
                <a:effectLst/>
                <a:latin typeface="+mn-lt"/>
              </a:rPr>
              <a:t>シミュレーションで作</a:t>
            </a:r>
            <a:r>
              <a:rPr lang="ja-JP" altLang="en-US">
                <a:effectLst/>
                <a:latin typeface="+mn-lt"/>
              </a:rPr>
              <a:t>る</a:t>
            </a:r>
            <a:r>
              <a:rPr lang="en-US">
                <a:effectLst/>
                <a:latin typeface="+mn-lt"/>
              </a:rPr>
              <a:t>。</a:t>
            </a:r>
            <a:endParaRPr lang="en-US"/>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D3C45FC-49BF-940D-5A18-2ED77F814D4B}"/>
                  </a:ext>
                </a:extLst>
              </p:cNvPr>
              <p:cNvSpPr txBox="1"/>
              <p:nvPr/>
            </p:nvSpPr>
            <p:spPr>
              <a:xfrm>
                <a:off x="391391" y="3211204"/>
                <a:ext cx="8164657" cy="369332"/>
              </a:xfrm>
              <a:prstGeom prst="rect">
                <a:avLst/>
              </a:prstGeom>
              <a:noFill/>
            </p:spPr>
            <p:txBody>
              <a:bodyPr wrap="square">
                <a:spAutoFit/>
              </a:bodyPr>
              <a:lstStyle/>
              <a:p>
                <a:r>
                  <a:rPr lang="ja-JP" altLang="en-US" b="1">
                    <a:effectLst/>
                    <a:latin typeface="+mn-lt"/>
                  </a:rPr>
                  <a:t>②</a:t>
                </a:r>
                <a:r>
                  <a:rPr lang="en-US" b="1">
                    <a:effectLst/>
                    <a:latin typeface="+mn-lt"/>
                  </a:rPr>
                  <a:t>ソフトに与える「誤差の想定値（</a:t>
                </a:r>
                <a14:m>
                  <m:oMath xmlns:m="http://schemas.openxmlformats.org/officeDocument/2006/math">
                    <m:sSub>
                      <m:sSubPr>
                        <m:ctrlPr>
                          <a:rPr lang="en-US" i="1">
                            <a:latin typeface="+mn-lt"/>
                          </a:rPr>
                        </m:ctrlPr>
                      </m:sSubPr>
                      <m:e>
                        <m:r>
                          <a:rPr lang="en-US" i="1">
                            <a:latin typeface="+mn-lt"/>
                          </a:rPr>
                          <m:t>𝜎</m:t>
                        </m:r>
                      </m:e>
                      <m:sub>
                        <m:r>
                          <a:rPr lang="en-US" i="0">
                            <a:latin typeface="+mn-lt"/>
                          </a:rPr>
                          <m:t>ℒ</m:t>
                        </m:r>
                      </m:sub>
                    </m:sSub>
                  </m:oMath>
                </a14:m>
                <a:r>
                  <a:rPr lang="en-US" b="1">
                    <a:effectLst/>
                    <a:latin typeface="+mn-lt"/>
                  </a:rPr>
                  <a:t>）」を変えてテスト</a:t>
                </a:r>
                <a:r>
                  <a:rPr lang="en-US">
                    <a:effectLst/>
                    <a:latin typeface="+mn-lt"/>
                  </a:rPr>
                  <a:t>しました。</a:t>
                </a:r>
                <a:endParaRPr lang="en-US"/>
              </a:p>
            </p:txBody>
          </p:sp>
        </mc:Choice>
        <mc:Fallback>
          <p:sp>
            <p:nvSpPr>
              <p:cNvPr id="11" name="TextBox 10">
                <a:extLst>
                  <a:ext uri="{FF2B5EF4-FFF2-40B4-BE49-F238E27FC236}">
                    <a16:creationId xmlns:a16="http://schemas.microsoft.com/office/drawing/2014/main" id="{AD3C45FC-49BF-940D-5A18-2ED77F814D4B}"/>
                  </a:ext>
                </a:extLst>
              </p:cNvPr>
              <p:cNvSpPr txBox="1">
                <a:spLocks noRot="1" noChangeAspect="1" noMove="1" noResize="1" noEditPoints="1" noAdjustHandles="1" noChangeArrowheads="1" noChangeShapeType="1" noTextEdit="1"/>
              </p:cNvSpPr>
              <p:nvPr/>
            </p:nvSpPr>
            <p:spPr>
              <a:xfrm>
                <a:off x="391391" y="3211204"/>
                <a:ext cx="8164657" cy="369332"/>
              </a:xfrm>
              <a:prstGeom prst="rect">
                <a:avLst/>
              </a:prstGeom>
              <a:blipFill>
                <a:blip r:embed="rId3"/>
                <a:stretch>
                  <a:fillRect l="-597" t="-16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29F78021-5308-DD56-34C9-6D42D0CCF7B7}"/>
                  </a:ext>
                </a:extLst>
              </p:cNvPr>
              <p:cNvSpPr txBox="1"/>
              <p:nvPr/>
            </p:nvSpPr>
            <p:spPr>
              <a:xfrm>
                <a:off x="391391" y="3724089"/>
                <a:ext cx="11682845" cy="2585323"/>
              </a:xfrm>
              <a:prstGeom prst="rect">
                <a:avLst/>
              </a:prstGeom>
              <a:noFill/>
            </p:spPr>
            <p:txBody>
              <a:bodyPr wrap="square">
                <a:spAutoFit/>
              </a:bodyPr>
              <a:lstStyle/>
              <a:p>
                <a:pPr marR="0" lvl="0"/>
                <a:r>
                  <a:rPr lang="ja-JP" altLang="en-US">
                    <a:effectLst/>
                    <a:latin typeface="+mn-lt"/>
                  </a:rPr>
                  <a:t>③</a:t>
                </a:r>
                <a:endParaRPr lang="en-US">
                  <a:effectLst/>
                  <a:latin typeface="+mn-lt"/>
                </a:endParaRPr>
              </a:p>
              <a:p>
                <a:pPr marL="0" marR="0" lvl="1" indent="-285750">
                  <a:buFont typeface="Arial" panose="020B0604020202020204" pitchFamily="34" charset="0"/>
                  <a:buChar char="•"/>
                </a:pPr>
                <a:r>
                  <a:rPr lang="en-US">
                    <a:effectLst/>
                    <a:latin typeface="+mn-lt"/>
                  </a:rPr>
                  <a:t>ソフトへの指示：「誤差は</a:t>
                </a:r>
                <a:r>
                  <a:rPr lang="en-US" b="1">
                    <a:effectLst/>
                    <a:latin typeface="+mn-lt"/>
                  </a:rPr>
                  <a:t>小さい</a:t>
                </a:r>
                <a:r>
                  <a:rPr lang="en-US">
                    <a:effectLst/>
                    <a:latin typeface="+mn-lt"/>
                  </a:rPr>
                  <a:t>（過小評価）から、厳しく判定してね！」（</a:t>
                </a:r>
                <a14:m>
                  <m:oMath xmlns:m="http://schemas.openxmlformats.org/officeDocument/2006/math">
                    <m:r>
                      <a:rPr lang="en-US" i="1" smtClean="0">
                        <a:latin typeface="+mn-lt"/>
                      </a:rPr>
                      <m:t>𝜎</m:t>
                    </m:r>
                    <m:r>
                      <a:rPr lang="en-US" i="0">
                        <a:latin typeface="+mn-lt"/>
                      </a:rPr>
                      <m:t>&gt;</m:t>
                    </m:r>
                    <m:sSub>
                      <m:sSubPr>
                        <m:ctrlPr>
                          <a:rPr lang="en-US" i="1">
                            <a:latin typeface="+mn-lt"/>
                          </a:rPr>
                        </m:ctrlPr>
                      </m:sSubPr>
                      <m:e>
                        <m:r>
                          <a:rPr lang="en-US" i="1">
                            <a:latin typeface="+mn-lt"/>
                          </a:rPr>
                          <m:t>𝜎</m:t>
                        </m:r>
                      </m:e>
                      <m:sub>
                        <m:r>
                          <a:rPr lang="en-US" i="0">
                            <a:latin typeface="+mn-lt"/>
                          </a:rPr>
                          <m:t>ℒ</m:t>
                        </m:r>
                      </m:sub>
                    </m:sSub>
                  </m:oMath>
                </a14:m>
                <a:r>
                  <a:rPr lang="en-US">
                    <a:effectLst/>
                    <a:latin typeface="+mn-lt"/>
                  </a:rPr>
                  <a:t> ） </a:t>
                </a:r>
              </a:p>
              <a:p>
                <a:pPr marL="0" marR="0" lvl="1" indent="-285750">
                  <a:buFont typeface="Arial" panose="020B0604020202020204" pitchFamily="34" charset="0"/>
                  <a:buChar char="•"/>
                </a:pPr>
                <a:r>
                  <a:rPr lang="en-US">
                    <a:effectLst/>
                    <a:latin typeface="+mn-lt"/>
                  </a:rPr>
                  <a:t>結果：ソフトがガチガチに厳しく判定しすぎたせいで、</a:t>
                </a:r>
                <a:r>
                  <a:rPr lang="en-US" b="1">
                    <a:effectLst/>
                    <a:latin typeface="+mn-lt"/>
                  </a:rPr>
                  <a:t>裏設定として仕込んでおいた「本当のダークマター」を「偽物だ」と誤判定して見落としてしまった</a:t>
                </a:r>
                <a:r>
                  <a:rPr lang="en-US">
                    <a:effectLst/>
                    <a:latin typeface="+mn-lt"/>
                  </a:rPr>
                  <a:t>。 </a:t>
                </a:r>
              </a:p>
              <a:p>
                <a:pPr marL="0" marR="0" lvl="1" indent="-285750">
                  <a:buFont typeface="Arial" panose="020B0604020202020204" pitchFamily="34" charset="0"/>
                  <a:buChar char="•"/>
                </a:pPr>
                <a:endParaRPr lang="en-US">
                  <a:effectLst/>
                  <a:latin typeface="+mn-lt"/>
                </a:endParaRPr>
              </a:p>
              <a:p>
                <a:pPr marR="0" lvl="0"/>
                <a:r>
                  <a:rPr lang="ja-JP" altLang="en-US" b="1"/>
                  <a:t>④</a:t>
                </a:r>
                <a:endParaRPr lang="en-US" altLang="ja-JP" b="1"/>
              </a:p>
              <a:p>
                <a:pPr marR="0" lvl="0"/>
                <a:r>
                  <a:rPr lang="en-US">
                    <a:effectLst/>
                    <a:latin typeface="+mn-lt"/>
                  </a:rPr>
                  <a:t>ソフトへの指示：「実際の誤差は</a:t>
                </a:r>
                <a:r>
                  <a:rPr lang="en-US" b="1">
                    <a:effectLst/>
                    <a:latin typeface="+mn-lt"/>
                  </a:rPr>
                  <a:t>大きい</a:t>
                </a:r>
                <a:r>
                  <a:rPr lang="en-US">
                    <a:effectLst/>
                    <a:latin typeface="+mn-lt"/>
                  </a:rPr>
                  <a:t>はずだから、余裕を持って判定してね</a:t>
                </a:r>
                <a:r>
                  <a:rPr lang="ja-JP" altLang="en-US">
                    <a:effectLst/>
                    <a:latin typeface="+mn-lt"/>
                  </a:rPr>
                  <a:t>」</a:t>
                </a:r>
                <a:endParaRPr lang="en-US">
                  <a:effectLst/>
                  <a:latin typeface="+mn-lt"/>
                </a:endParaRPr>
              </a:p>
              <a:p>
                <a:pPr marL="0" marR="0" lvl="1" indent="-285750">
                  <a:buFont typeface="Arial" panose="020B0604020202020204" pitchFamily="34" charset="0"/>
                  <a:buChar char="•"/>
                </a:pPr>
                <a:r>
                  <a:rPr lang="en-US">
                    <a:effectLst/>
                    <a:latin typeface="+mn-lt"/>
                  </a:rPr>
                  <a:t>結果：判定に余裕が生まれ、本当のダークマターを誤判定せずに済んだ（保守的なカバレッジを回復できた）。</a:t>
                </a:r>
                <a:endParaRPr lang="en-US">
                  <a:effectLst/>
                  <a:latin typeface="Google Sans Text"/>
                </a:endParaRPr>
              </a:p>
            </p:txBody>
          </p:sp>
        </mc:Choice>
        <mc:Fallback>
          <p:sp>
            <p:nvSpPr>
              <p:cNvPr id="13" name="TextBox 12">
                <a:extLst>
                  <a:ext uri="{FF2B5EF4-FFF2-40B4-BE49-F238E27FC236}">
                    <a16:creationId xmlns:a16="http://schemas.microsoft.com/office/drawing/2014/main" id="{29F78021-5308-DD56-34C9-6D42D0CCF7B7}"/>
                  </a:ext>
                </a:extLst>
              </p:cNvPr>
              <p:cNvSpPr txBox="1">
                <a:spLocks noRot="1" noChangeAspect="1" noMove="1" noResize="1" noEditPoints="1" noAdjustHandles="1" noChangeArrowheads="1" noChangeShapeType="1" noTextEdit="1"/>
              </p:cNvSpPr>
              <p:nvPr/>
            </p:nvSpPr>
            <p:spPr>
              <a:xfrm>
                <a:off x="391391" y="3724089"/>
                <a:ext cx="11682845" cy="2585323"/>
              </a:xfrm>
              <a:prstGeom prst="rect">
                <a:avLst/>
              </a:prstGeom>
              <a:blipFill>
                <a:blip r:embed="rId4"/>
                <a:stretch>
                  <a:fillRect l="-417" t="-1415" r="-313" b="-2123"/>
                </a:stretch>
              </a:blipFill>
            </p:spPr>
            <p:txBody>
              <a:bodyPr/>
              <a:lstStyle/>
              <a:p>
                <a:r>
                  <a:rPr lang="en-US">
                    <a:noFill/>
                  </a:rPr>
                  <a:t> </a:t>
                </a:r>
              </a:p>
            </p:txBody>
          </p:sp>
        </mc:Fallback>
      </mc:AlternateContent>
    </p:spTree>
    <p:extLst>
      <p:ext uri="{BB962C8B-B14F-4D97-AF65-F5344CB8AC3E}">
        <p14:creationId xmlns:p14="http://schemas.microsoft.com/office/powerpoint/2010/main" val="2929114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72B4EE-5E4A-2FBF-1759-59671C52AC8C}"/>
              </a:ext>
            </a:extLst>
          </p:cNvPr>
          <p:cNvSpPr txBox="1"/>
          <p:nvPr/>
        </p:nvSpPr>
        <p:spPr>
          <a:xfrm>
            <a:off x="511753" y="189407"/>
            <a:ext cx="1130011" cy="646331"/>
          </a:xfrm>
          <a:prstGeom prst="rect">
            <a:avLst/>
          </a:prstGeom>
          <a:noFill/>
        </p:spPr>
        <p:txBody>
          <a:bodyPr wrap="square">
            <a:spAutoFit/>
          </a:bodyPr>
          <a:lstStyle/>
          <a:p>
            <a:r>
              <a:rPr lang="en-US" sz="3600"/>
              <a:t>結論</a:t>
            </a:r>
          </a:p>
        </p:txBody>
      </p:sp>
      <p:sp>
        <p:nvSpPr>
          <p:cNvPr id="9" name="TextBox 8">
            <a:extLst>
              <a:ext uri="{FF2B5EF4-FFF2-40B4-BE49-F238E27FC236}">
                <a16:creationId xmlns:a16="http://schemas.microsoft.com/office/drawing/2014/main" id="{C394E4F8-58FD-4AED-E469-4FA23592DE15}"/>
              </a:ext>
            </a:extLst>
          </p:cNvPr>
          <p:cNvSpPr txBox="1"/>
          <p:nvPr/>
        </p:nvSpPr>
        <p:spPr>
          <a:xfrm>
            <a:off x="511753" y="1297955"/>
            <a:ext cx="11224896" cy="646331"/>
          </a:xfrm>
          <a:prstGeom prst="rect">
            <a:avLst/>
          </a:prstGeom>
          <a:noFill/>
        </p:spPr>
        <p:txBody>
          <a:bodyPr wrap="square">
            <a:spAutoFit/>
          </a:bodyPr>
          <a:lstStyle/>
          <a:p>
            <a:r>
              <a:rPr lang="ja-JP" altLang="en-US"/>
              <a:t>①</a:t>
            </a:r>
            <a:r>
              <a:rPr lang="en-US"/>
              <a:t>Jファクターの誤差や空間の広がりを正確にモデル化しないと、銀河中心のシグナルと矮小銀河の観測結果との間の</a:t>
            </a:r>
            <a:r>
              <a:rPr lang="en-US" b="1"/>
              <a:t>矛盾が、過剰に誇張（overstated）されてしまう</a:t>
            </a:r>
            <a:r>
              <a:rPr lang="en-US"/>
              <a:t>ことを我々の結果は示している。</a:t>
            </a:r>
          </a:p>
        </p:txBody>
      </p:sp>
      <p:sp>
        <p:nvSpPr>
          <p:cNvPr id="11" name="TextBox 10">
            <a:extLst>
              <a:ext uri="{FF2B5EF4-FFF2-40B4-BE49-F238E27FC236}">
                <a16:creationId xmlns:a16="http://schemas.microsoft.com/office/drawing/2014/main" id="{665BBE95-302F-CFBA-C012-950393D5A6DE}"/>
              </a:ext>
            </a:extLst>
          </p:cNvPr>
          <p:cNvSpPr txBox="1"/>
          <p:nvPr/>
        </p:nvSpPr>
        <p:spPr>
          <a:xfrm>
            <a:off x="511753" y="2782669"/>
            <a:ext cx="8103093" cy="646331"/>
          </a:xfrm>
          <a:prstGeom prst="rect">
            <a:avLst/>
          </a:prstGeom>
          <a:noFill/>
        </p:spPr>
        <p:txBody>
          <a:bodyPr wrap="square">
            <a:spAutoFit/>
          </a:bodyPr>
          <a:lstStyle/>
          <a:p>
            <a:r>
              <a:rPr lang="ja-JP" altLang="en-US"/>
              <a:t>②</a:t>
            </a:r>
            <a:r>
              <a:rPr lang="en-US"/>
              <a:t>解析において、</a:t>
            </a:r>
            <a:r>
              <a:rPr lang="en-US" b="1"/>
              <a:t>すべての矮小銀河を点源（point sources）として扱うと、注入した真のシグナルの棄却率が大幅に増加してしまう</a:t>
            </a:r>
            <a:r>
              <a:rPr lang="en-US"/>
              <a:t>。」 </a:t>
            </a:r>
          </a:p>
        </p:txBody>
      </p:sp>
      <p:sp>
        <p:nvSpPr>
          <p:cNvPr id="13" name="TextBox 12">
            <a:extLst>
              <a:ext uri="{FF2B5EF4-FFF2-40B4-BE49-F238E27FC236}">
                <a16:creationId xmlns:a16="http://schemas.microsoft.com/office/drawing/2014/main" id="{B0A37330-DC9F-A691-BE71-C96FF526286D}"/>
              </a:ext>
            </a:extLst>
          </p:cNvPr>
          <p:cNvSpPr txBox="1"/>
          <p:nvPr/>
        </p:nvSpPr>
        <p:spPr>
          <a:xfrm>
            <a:off x="511753" y="4267383"/>
            <a:ext cx="11290177" cy="923330"/>
          </a:xfrm>
          <a:prstGeom prst="rect">
            <a:avLst/>
          </a:prstGeom>
          <a:noFill/>
        </p:spPr>
        <p:txBody>
          <a:bodyPr wrap="square">
            <a:spAutoFit/>
          </a:bodyPr>
          <a:lstStyle/>
          <a:p>
            <a:r>
              <a:rPr lang="ja-JP" altLang="en-US"/>
              <a:t>③</a:t>
            </a:r>
            <a:r>
              <a:rPr lang="en-US"/>
              <a:t>「将来、より長時間のガンマ線観測や新しいターゲットの発見によって感度が向上したとしても、暗黒物質への強固な制約を得るには、</a:t>
            </a:r>
            <a:r>
              <a:rPr lang="en-US" b="1"/>
              <a:t>Jファクターの不確実性（誤差）を根本的により良く制御することが求められる</a:t>
            </a:r>
            <a:r>
              <a:rPr lang="en-US"/>
              <a:t>。」 </a:t>
            </a:r>
          </a:p>
        </p:txBody>
      </p:sp>
    </p:spTree>
    <p:extLst>
      <p:ext uri="{BB962C8B-B14F-4D97-AF65-F5344CB8AC3E}">
        <p14:creationId xmlns:p14="http://schemas.microsoft.com/office/powerpoint/2010/main" val="2431586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B2DB1-F398-7FED-4F8C-499984E2F3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954505-846A-612C-0B93-812E450E95E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1642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317</Words>
  <Application>Microsoft Office PowerPoint</Application>
  <PresentationFormat>Widescreen</PresentationFormat>
  <Paragraphs>38</Paragraphs>
  <Slides>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Google Sans Text</vt:lpstr>
      <vt:lpstr>Aptos</vt:lpstr>
      <vt:lpstr>Aptos Display</vt:lpstr>
      <vt:lpstr>Arial</vt:lpstr>
      <vt:lpstr>Office Theme</vt:lpstr>
      <vt:lpstr>Systematic Uncertainties and Their Impact on Gamma-Ray Searches for Dark Matter in Dwarf Galaxies</vt:lpstr>
      <vt:lpstr>PowerPoint Presentation</vt:lpstr>
      <vt:lpstr>内容ーなにしたの？</vt:lpstr>
      <vt:lpstr>検証手法</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202304239</dc:creator>
  <cp:lastModifiedBy>202304239</cp:lastModifiedBy>
  <cp:revision>1</cp:revision>
  <dcterms:created xsi:type="dcterms:W3CDTF">2026-09-28T03:29:54Z</dcterms:created>
  <dcterms:modified xsi:type="dcterms:W3CDTF">2026-09-28T05:31:29Z</dcterms:modified>
</cp:coreProperties>
</file>