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56FDFF-018F-490D-9719-867BBBF6B84B}" v="1" dt="2026-10-06T05:54:37.3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87876" autoAdjust="0"/>
  </p:normalViewPr>
  <p:slideViewPr>
    <p:cSldViewPr snapToGrid="0" showGuides="1">
      <p:cViewPr>
        <p:scale>
          <a:sx n="89" d="100"/>
          <a:sy n="89" d="100"/>
        </p:scale>
        <p:origin x="605" y="5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55:25.907" v="1003" actId="14100"/>
      <pc:docMkLst>
        <pc:docMk/>
      </pc:docMkLst>
      <pc:sldChg chg="addSp delSp modSp mod">
        <pc:chgData name="202304239" userId="ab1adf7a-b8eb-4038-b404-de23e20d8a3a" providerId="ADAL" clId="{6C0E59ED-D716-49AF-B2FA-B94E7B8E5A8C}" dt="2026-10-06T05:55:25.907" v="1003" actId="14100"/>
        <pc:sldMkLst>
          <pc:docMk/>
          <pc:sldMk cId="0" sldId="257"/>
        </pc:sldMkLst>
        <pc:spChg chg="mod">
          <ac:chgData name="202304239" userId="ab1adf7a-b8eb-4038-b404-de23e20d8a3a" providerId="ADAL" clId="{6C0E59ED-D716-49AF-B2FA-B94E7B8E5A8C}" dt="2026-10-06T05:50:18.636" v="866" actId="20577"/>
          <ac:spMkLst>
            <pc:docMk/>
            <pc:sldMk cId="0" sldId="257"/>
            <ac:spMk id="2" creationId="{00000000-0000-0000-0000-000000000000}"/>
          </ac:spMkLst>
        </pc:spChg>
        <pc:spChg chg="add del mod">
          <ac:chgData name="202304239" userId="ab1adf7a-b8eb-4038-b404-de23e20d8a3a" providerId="ADAL" clId="{6C0E59ED-D716-49AF-B2FA-B94E7B8E5A8C}" dt="2026-10-06T05:55:25.907" v="1003" actId="14100"/>
          <ac:spMkLst>
            <pc:docMk/>
            <pc:sldMk cId="0" sldId="257"/>
            <ac:spMk id="3" creationId="{00000000-0000-0000-0000-000000000000}"/>
          </ac:spMkLst>
        </pc:spChg>
        <pc:picChg chg="del">
          <ac:chgData name="202304239" userId="ab1adf7a-b8eb-4038-b404-de23e20d8a3a" providerId="ADAL" clId="{6C0E59ED-D716-49AF-B2FA-B94E7B8E5A8C}" dt="2026-10-06T05:55:21.602" v="1002" actId="478"/>
          <ac:picMkLst>
            <pc:docMk/>
            <pc:sldMk cId="0" sldId="257"/>
            <ac:picMk id="4" creationId="{00000000-0000-0000-0000-000000000000}"/>
          </ac:picMkLst>
        </pc:pic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結論：わかったこと 3 つ</a:t>
            </a:r>
          </a:p>
        </p:txBody>
      </p:sp>
      <p:sp>
        <p:nvSpPr>
          <p:cNvPr id="3" name="TextBox 2"/>
          <p:cNvSpPr txBox="1"/>
          <p:nvPr/>
        </p:nvSpPr>
        <p:spPr>
          <a:xfrm>
            <a:off x="548640" y="1280160"/>
            <a:ext cx="9009428" cy="3316292"/>
          </a:xfrm>
          <a:prstGeom prst="rect">
            <a:avLst/>
          </a:prstGeom>
          <a:noFill/>
        </p:spPr>
        <p:txBody>
          <a:bodyPr wrap="square">
            <a:spAutoFit/>
          </a:bodyPr>
          <a:lstStyle/>
          <a:p>
            <a:pPr>
              <a:spcAft>
                <a:spcPts val="500"/>
              </a:spcAft>
            </a:pPr>
            <a:r>
              <a:rPr lang="ja-JP" altLang="en-US" sz="1900"/>
              <a:t>①</a:t>
            </a:r>
            <a:r>
              <a:rPr lang="ja-JP" altLang="en-US" sz="1900" b="0">
                <a:latin typeface="+mn-lt"/>
                <a:ea typeface="+mn-ea"/>
              </a:rPr>
              <a:t>前回の疑問点の解決</a:t>
            </a:r>
            <a:endParaRPr lang="en-US" altLang="ja-JP" sz="1900" b="0">
              <a:latin typeface="+mn-lt"/>
              <a:ea typeface="+mn-ea"/>
            </a:endParaRPr>
          </a:p>
          <a:p>
            <a:pPr lvl="0"/>
            <a:r>
              <a:rPr lang="en-US" b="1"/>
              <a:t>① 1.2〜1.3 は「引く」？「割る」？</a:t>
            </a:r>
            <a:endParaRPr lang="en-US"/>
          </a:p>
          <a:p>
            <a:pPr lvl="0"/>
            <a:r>
              <a:rPr lang="en-US" b="1"/>
              <a:t>② 何も無い空の分布はどこから来たのか</a:t>
            </a:r>
            <a:endParaRPr lang="en-US"/>
          </a:p>
          <a:p>
            <a:pPr lvl="0"/>
            <a:r>
              <a:rPr lang="en-US" b="1"/>
              <a:t>③ 何も無い空での係数</a:t>
            </a:r>
            <a:endParaRPr lang="en-US"/>
          </a:p>
          <a:p>
            <a:pPr lvl="0"/>
            <a:r>
              <a:rPr lang="en-US" b="1"/>
              <a:t>④ ICS とハローは本当に縮退しているのか</a:t>
            </a:r>
            <a:endParaRPr lang="en-US"/>
          </a:p>
          <a:p>
            <a:pPr lvl="0"/>
            <a:r>
              <a:rPr lang="en-US" b="1"/>
              <a:t>⑤ 矮小銀河の標準的な方法は何か</a:t>
            </a:r>
            <a:br>
              <a:rPr lang="en-US"/>
            </a:br>
            <a:endParaRPr lang="en-US"/>
          </a:p>
          <a:p>
            <a:pPr lvl="0"/>
            <a:r>
              <a:rPr lang="ja-JP" altLang="en-US" sz="1900" b="1"/>
              <a:t>②</a:t>
            </a:r>
            <a:r>
              <a:rPr lang="ja-JP" altLang="en-US" sz="1900" b="1">
                <a:latin typeface="+mn-lt"/>
                <a:ea typeface="+mn-ea"/>
              </a:rPr>
              <a:t>論文拡張</a:t>
            </a:r>
            <a:endParaRPr lang="ja-JP" sz="1900" b="1">
              <a:latin typeface="+mn-lt"/>
              <a:ea typeface="+mn-ea"/>
            </a:endParaRPr>
          </a:p>
          <a:p>
            <a:pPr>
              <a:spcAft>
                <a:spcPts val="500"/>
              </a:spcAft>
            </a:pPr>
            <a:r>
              <a:rPr lang="ja-JP" sz="1600" b="0">
                <a:latin typeface="+mn-lt"/>
                <a:ea typeface="+mn-ea"/>
              </a:rPr>
              <a:t>　　</a:t>
            </a:r>
          </a:p>
          <a:p>
            <a:pPr>
              <a:spcAft>
                <a:spcPts val="500"/>
              </a:spcAft>
            </a:pPr>
            <a:r>
              <a:rPr lang="ja-JP" sz="1900" b="1">
                <a:latin typeface="+mn-lt"/>
                <a:ea typeface="+mn-ea"/>
              </a:rPr>
              <a:t>・</a:t>
            </a:r>
          </a:p>
          <a:p>
            <a:pPr>
              <a:spcAft>
                <a:spcPts val="500"/>
              </a:spcAft>
            </a:pPr>
            <a:r>
              <a:rPr lang="ja-JP" sz="1600" b="0">
                <a:latin typeface="+mn-lt"/>
                <a:ea typeface="+mn-ea"/>
              </a:rPr>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・何も無い空で σ を測ると、真ん中は 0 のまま、幅だけ 1.2 倍に広がる（右の図）</a:t>
            </a:r>
          </a:p>
          <a:p>
            <a:pPr>
              <a:spcAft>
                <a:spcPts val="500"/>
              </a:spcAft>
            </a:pPr>
            <a:r>
              <a:rPr lang="ja-JP" sz="1700" b="1">
                <a:latin typeface="+mn-lt"/>
                <a:ea typeface="+mn-ea"/>
              </a:rPr>
              <a:t>・「ずれ」ではなく「伸び」→ 引くのではなく割る</a:t>
            </a:r>
          </a:p>
          <a:p>
            <a:pPr>
              <a:spcAft>
                <a:spcPts val="500"/>
              </a:spcAft>
            </a:pPr>
            <a:r>
              <a:rPr lang="ja-JP" sz="1400" b="0">
                <a:latin typeface="+mn-lt"/>
                <a:ea typeface="+mn-ea"/>
              </a:rPr>
              <a:t>　　たとえ：目盛りが 1.2 倍に伸びた定規。引き算では直らず、1.2 で割ると直る</a:t>
            </a:r>
          </a:p>
          <a:p>
            <a:pPr>
              <a:spcAft>
                <a:spcPts val="500"/>
              </a:spcAft>
            </a:pPr>
            <a:r>
              <a:rPr lang="ja-JP" sz="1700" b="0">
                <a:latin typeface="+mn-lt"/>
                <a:ea typeface="+mn-ea"/>
              </a:rPr>
              <a:t>・グラフに「名目 6σ 以上が、本当の 5σ」と線を引いても同じこと（割るのと同じ意味）</a:t>
            </a:r>
          </a:p>
          <a:p>
            <a:pPr>
              <a:spcAft>
                <a:spcPts val="500"/>
              </a:spcAft>
            </a:pPr>
            <a:r>
              <a:rPr lang="ja-JP" sz="1700" b="0">
                <a:latin typeface="+mn-lt"/>
                <a:ea typeface="+mn-ea"/>
              </a:rPr>
              <a:t>・1.2 は σ の値ではなく倍率。「1.2σ 以下は使えない」という意味ではない</a:t>
            </a:r>
          </a:p>
          <a:p>
            <a:pPr>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・本物の何も無い空：既知の天体が無い高緯度の 23 か所を、実際のデータから取った</a:t>
            </a:r>
          </a:p>
          <a:p>
            <a:pPr>
              <a:spcAft>
                <a:spcPts val="500"/>
              </a:spcAft>
            </a:pPr>
            <a:r>
              <a:rPr lang="ja-JP" sz="1400" b="0">
                <a:latin typeface="+mn-lt"/>
                <a:ea typeface="+mn-ea"/>
              </a:rPr>
              <a:t>　　「何も無い」＝探している天体が無い。背景の光（ガス・ICS・遠い銀河）はどこにでもある → だから係数を合わせる</a:t>
            </a:r>
          </a:p>
          <a:p>
            <a:pPr>
              <a:spcAft>
                <a:spcPts val="500"/>
              </a:spcAft>
            </a:pPr>
            <a:r>
              <a:rPr lang="ja-JP" sz="1700" b="0">
                <a:latin typeface="+mn-lt"/>
                <a:ea typeface="+mn-ea"/>
              </a:rPr>
              <a:t>・パラメータ 0（ハロー＝0 で偽の空を作る）もやった → ばらつきは 1.0</a:t>
            </a:r>
          </a:p>
          <a:p>
            <a:pPr>
              <a:spcAft>
                <a:spcPts val="500"/>
              </a:spcAft>
            </a:pPr>
            <a:r>
              <a:rPr lang="ja-JP" sz="1400" b="0">
                <a:latin typeface="+mn-lt"/>
                <a:ea typeface="+mn-ea"/>
              </a:rPr>
              <a:t>　　→ 計算のやり方そのものは正しい</a:t>
            </a:r>
          </a:p>
          <a:p>
            <a:pPr>
              <a:spcAft>
                <a:spcPts val="500"/>
              </a:spcAft>
            </a:pPr>
            <a:r>
              <a:rPr lang="ja-JP" sz="1700" b="1">
                <a:latin typeface="+mn-lt"/>
                <a:ea typeface="+mn-ea"/>
              </a:rPr>
              <a:t>・2 つの差（1.2 と 1.0）が、本物の空にしかないもの</a:t>
            </a:r>
          </a:p>
          <a:p>
            <a:pPr>
              <a:spcAft>
                <a:spcPts val="500"/>
              </a:spcAft>
            </a:pPr>
            <a:r>
              <a:rPr lang="ja-JP" sz="1400" b="0">
                <a:latin typeface="+mn-lt"/>
                <a:ea typeface="+mn-ea"/>
              </a:rPr>
              <a:t>　　型紙のずれ・まだ見つかっていない暗い天体</a:t>
            </a:r>
          </a:p>
          <a:p>
            <a:pPr>
              <a:spcAft>
                <a:spcPts val="500"/>
              </a:spcAft>
            </a:pPr>
            <a:r>
              <a:rPr lang="ja-JP" sz="1700" b="0">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lang="ja-JP" sz="1700" b="0">
                <a:latin typeface="+mn-lt"/>
                <a:ea typeface="+mn-ea"/>
              </a:rPr>
              <a:t>・ガス：真ん中 1.1、点源：真ん中 1.0（どちらも予想どおりなら 1）</a:t>
            </a:r>
          </a:p>
          <a:p>
            <a:pPr>
              <a:spcAft>
                <a:spcPts val="500"/>
              </a:spcAft>
            </a:pPr>
            <a:r>
              <a:rPr lang="ja-JP" sz="1700" b="0">
                <a:latin typeface="+mn-lt"/>
                <a:ea typeface="+mn-ea"/>
              </a:rPr>
              <a:t>・ハロー：0 のまわりでプラス・マイナスがほぼ半々（光子 −6〜+12 個分）→ 片寄りなし</a:t>
            </a:r>
          </a:p>
          <a:p>
            <a:pPr>
              <a:spcAft>
                <a:spcPts val="500"/>
              </a:spcAft>
            </a:pPr>
            <a:r>
              <a:rPr lang="ja-JP" sz="1700" b="1">
                <a:latin typeface="+mn-lt"/>
                <a:ea typeface="+mn-ea"/>
              </a:rPr>
              <a:t>・0 に張り付いたり、とんでもない値になったものは無い（23 か所 × 13 ビン ＝ 299 件すべて確認）</a:t>
            </a:r>
          </a:p>
          <a:p>
            <a:pPr>
              <a:spcAft>
                <a:spcPts val="500"/>
              </a:spcAft>
            </a:pPr>
            <a:r>
              <a:rPr lang="ja-JP" sz="1700" b="0">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3"/>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lang="ja-JP" sz="1600" b="0">
                <a:latin typeface="+mn-lt"/>
                <a:ea typeface="+mn-ea"/>
              </a:rPr>
              <a:t>・「似ている度」を数字で測った（20.8 GeV、本番の解析と同じ見方）→ 一番似ているのは ICS、次がガス</a:t>
            </a:r>
          </a:p>
          <a:p>
            <a:pPr>
              <a:spcAft>
                <a:spcPts val="500"/>
              </a:spcAft>
            </a:pPr>
            <a:r>
              <a:rPr lang="ja-JP" sz="1600" b="1">
                <a:latin typeface="+mn-lt"/>
                <a:ea typeface="+mn-ea"/>
              </a:rPr>
              <a:t>・ハローを入れると ICS は 57% 減る（ガスは 16%）→ 一番取り合っているのは ICS</a:t>
            </a:r>
          </a:p>
          <a:p>
            <a:pPr>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a:spcAft>
                <a:spcPts val="500"/>
              </a:spcAft>
            </a:pPr>
            <a:r>
              <a:rPr lang="ja-JP" sz="1600" b="0">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3"/>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lang="ja-JP" sz="1700" b="1">
                <a:latin typeface="+mn-lt"/>
                <a:ea typeface="+mn-ea"/>
              </a:rPr>
              <a:t>・考え方（型紙の足し算 × 尤度）は同じ → Totani のやり方を当てはめるのは筋が通っている</a:t>
            </a:r>
          </a:p>
          <a:p>
            <a:pPr>
              <a:spcAft>
                <a:spcPts val="500"/>
              </a:spcAft>
            </a:pPr>
            <a:r>
              <a:rPr lang="ja-JP" sz="1700" b="0">
                <a:latin typeface="+mn-lt"/>
                <a:ea typeface="+mn-ea"/>
              </a:rPr>
              <a:t>・違いは「背景の型紙」と「何も無い空の数」→ 本研究は簡単な版</a:t>
            </a:r>
          </a:p>
          <a:p>
            <a:pPr>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lang="ja-JP" sz="1800" b="0">
                <a:latin typeface="+mn-lt"/>
                <a:ea typeface="+mn-ea"/>
              </a:rPr>
              <a:t>・J ＝ その矮小銀河の暗黒物質の「量と近さ」。星の動きから推定するので、1/3〜3 倍くらいずれうる</a:t>
            </a:r>
          </a:p>
          <a:p>
            <a:pPr>
              <a:spcAft>
                <a:spcPts val="500"/>
              </a:spcAft>
            </a:pPr>
            <a:r>
              <a:rPr lang="ja-JP" sz="1800" b="0">
                <a:latin typeface="+mn-lt"/>
                <a:ea typeface="+mn-ea"/>
              </a:rPr>
              <a:t>・論文：答えが分かっている偽のデータで、解析が本物を見落とさないか試した</a:t>
            </a:r>
          </a:p>
          <a:p>
            <a:pPr>
              <a:spcAft>
                <a:spcPts val="500"/>
              </a:spcAft>
            </a:pPr>
            <a:r>
              <a:rPr lang="ja-JP" sz="1800" b="1">
                <a:latin typeface="+mn-lt"/>
                <a:ea typeface="+mn-ea"/>
              </a:rPr>
              <a:t>・ずれを甘く見ると、見落としが「5% のはず」→ 21〜88% に増える</a:t>
            </a:r>
          </a:p>
          <a:p>
            <a:pPr>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lang="ja-JP" sz="1800" b="0">
                <a:latin typeface="+mn-lt"/>
                <a:ea typeface="+mn-ea"/>
              </a:rPr>
              <a:t>・43 個の矮小銀河の「光って見えた度」を、1 つの点数 T にまとめた（明るく見えるはずの銀河ほど重く数える）</a:t>
            </a:r>
          </a:p>
          <a:p>
            <a:pPr>
              <a:spcAft>
                <a:spcPts val="500"/>
              </a:spcAft>
            </a:pPr>
            <a:r>
              <a:rPr lang="ja-JP" sz="1800" b="1">
                <a:latin typeface="+mn-lt"/>
                <a:ea typeface="+mn-ea"/>
              </a:rPr>
              <a:t>・暗黒物質が無ければ T ≈ 0、天の川の光が暗黒物質なら T ≈ 1.8 のはず → 実測は 0.4</a:t>
            </a:r>
          </a:p>
          <a:p>
            <a:pPr>
              <a:spcAft>
                <a:spcPts val="500"/>
              </a:spcAft>
            </a:pPr>
            <a:r>
              <a:rPr lang="ja-JP" sz="1800" b="0">
                <a:latin typeface="+mn-lt"/>
                <a:ea typeface="+mn-ea"/>
              </a:rPr>
              <a:t>・論文の「J は 3 倍ずれうる」を入れると、「あれば」の予想は 1.4〜5.2 に広がる。ずれは 1.4σ</a:t>
            </a:r>
          </a:p>
          <a:p>
            <a:pPr>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lang="ja-JP" sz="1900" b="1">
                <a:latin typeface="+mn-lt"/>
                <a:ea typeface="+mn-ea"/>
              </a:rPr>
              <a:t>・型紙（GALPROP）が完璧ではない → σ が 1.2〜1.3 倍ふくらむ</a:t>
            </a:r>
          </a:p>
          <a:p>
            <a:pPr>
              <a:spcAft>
                <a:spcPts val="500"/>
              </a:spcAft>
            </a:pPr>
            <a:r>
              <a:rPr lang="ja-JP" sz="1600" b="0">
                <a:latin typeface="+mn-lt"/>
                <a:ea typeface="+mn-ea"/>
              </a:rPr>
              <a:t>　　シミュレーションの誤差を統計に入れる方法（データ同化）で扱いたい</a:t>
            </a:r>
          </a:p>
          <a:p>
            <a:pPr>
              <a:spcAft>
                <a:spcPts val="500"/>
              </a:spcAft>
            </a:pPr>
            <a:r>
              <a:rPr lang="ja-JP" sz="1900" b="0">
                <a:latin typeface="+mn-lt"/>
                <a:ea typeface="+mn-ea"/>
              </a:rPr>
              <a:t>・何も無い空を 23 → 数百か所に増やす（標準は 6,500 か所）</a:t>
            </a:r>
          </a:p>
          <a:p>
            <a:pPr>
              <a:spcAft>
                <a:spcPts val="500"/>
              </a:spcAft>
            </a:pPr>
            <a:r>
              <a:rPr lang="ja-JP" sz="1900" b="0">
                <a:latin typeface="+mn-lt"/>
                <a:ea typeface="+mn-ea"/>
              </a:rPr>
              <a:t>・矮小銀河を、Fermi 公式の背景モデルでもやり直す</a:t>
            </a:r>
          </a:p>
          <a:p>
            <a:pPr>
              <a:spcAft>
                <a:spcPts val="500"/>
              </a:spcAft>
            </a:pPr>
            <a:r>
              <a:rPr lang="ja-JP" sz="1900" b="0">
                <a:latin typeface="+mn-lt"/>
                <a:ea typeface="+mn-ea"/>
              </a:rPr>
              <a:t>・ICS の「空での形」のずれは、まだ否定できていない</a:t>
            </a:r>
          </a:p>
          <a:p>
            <a:pPr>
              <a:spcAft>
                <a:spcPts val="500"/>
              </a:spcAft>
            </a:pPr>
            <a:r>
              <a:rPr lang="ja-JP" sz="19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369</TotalTime>
  <Words>2780</Words>
  <Application>Microsoft Office PowerPoint</Application>
  <PresentationFormat>Widescreen</PresentationFormat>
  <Paragraphs>85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結論：わかったこと 3 つ</vt:lpstr>
      <vt:lpstr>先週の疑問①：1.2〜1.3 は「引く」？「割る」？</vt:lpstr>
      <vt:lpstr>先週の疑問②：何も無い空はどこから？パラメータ 0 ではだめ？</vt:lpstr>
      <vt:lpstr>先週の疑問③：何も無い空で、係数は変になっていない？</vt:lpstr>
      <vt:lpstr>先週の疑問④：ICS とハローは本当に似ている？ガスの方が似てない？</vt:lpstr>
      <vt:lpstr>矮小銀河：このやり方で当てはめていいのか（標準の方法と比べる）</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2026-10-06T05:55:33Z</dcterms:modified>
</cp:coreProperties>
</file>