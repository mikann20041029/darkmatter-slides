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9"/>
    <p:sldId id="257" r:id="rId10"/>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microsoft.com/office/2016/11/relationships/changesInfo" Target="changesInfos/changesInfo1.xml"/><Relationship Id="rId5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7:59.931" v="864"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a:p>
            <a:r>
              <a:t>② の根拠: ICS の型紙をバブルの長方形 (|l|&lt;22°, 10°&lt;|b|&lt;55°) の内側と外側に分け、別々の強さを許すと、ハローなしでも内側が外側の 2.1 倍になり、ハローの有意度は 17.6σ → 5.7σ に下がる (ハローが良くした点数の 93% を説明; results/ics_inner_boost_irf)。だから『型紙のずれ』と『ハロー』はまだ区別できない。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まず結論：わかったこと 3 つ</a:t>
            </a:r>
          </a:p>
        </p:txBody>
      </p:sp>
      <p:sp>
        <p:nvSpPr>
          <p:cNvPr id="3" name="TextBox 2"/>
          <p:cNvSpPr txBox="1"/>
          <p:nvPr/>
        </p:nvSpPr>
        <p:spPr>
          <a:xfrm>
            <a:off x="548640" y="1463040"/>
            <a:ext cx="6035040" cy="4754880"/>
          </a:xfrm>
          <a:prstGeom prst="rect">
            <a:avLst/>
          </a:prstGeom>
          <a:noFill/>
        </p:spPr>
        <p:txBody>
          <a:bodyPr wrap="square">
            <a:spAutoFit/>
          </a:bodyPr>
          <a:lstStyle/>
          <a:p>
            <a:pPr marL="274320" indent="-274320">
              <a:spcAft>
                <a:spcPts val="500"/>
              </a:spcAft>
            </a:pPr>
            <a:r>
              <a:rPr sz="1900" b="0" lang="ja-JP">
                <a:latin typeface="+mn-lt"/>
                <a:ea typeface="+mn-ea"/>
              </a:rPr>
              <a:t>・やったこと：Totani さんの「20 GeV のハロー状の光」を、同じデータ・同じ方法で計算し直した</a:t>
            </a:r>
          </a:p>
          <a:p>
            <a:pPr marL="274320" indent="-274320">
              <a:spcAft>
                <a:spcPts val="500"/>
              </a:spcAft>
            </a:pPr>
            <a:r>
              <a:rPr sz="1900" b="1" lang="ja-JP">
                <a:latin typeface="+mn-lt"/>
                <a:ea typeface="+mn-ea"/>
              </a:rPr>
              <a:t>・① 同じ光が見えた</a:t>
            </a:r>
          </a:p>
          <a:p>
            <a:pPr marL="548640" indent="0">
              <a:spcAft>
                <a:spcPts val="500"/>
              </a:spcAft>
            </a:pPr>
            <a:r>
              <a:rPr sz="1600" b="0" lang="ja-JP">
                <a:latin typeface="+mn-lt"/>
                <a:ea typeface="+mn-ea"/>
              </a:rPr>
              <a:t>20.8 GeV で 17.6σ（Totani の同じ形は 14.3σ）</a:t>
            </a:r>
          </a:p>
          <a:p>
            <a:pPr marL="548640" indent="0">
              <a:spcAft>
                <a:spcPts val="500"/>
              </a:spcAft>
            </a:pPr>
            <a:r>
              <a:rPr sz="1600" b="0" lang="ja-JP">
                <a:latin typeface="+mn-lt"/>
                <a:ea typeface="+mn-ea"/>
              </a:rPr>
              <a:t>山の位置・形・一番合うハローの形が一致</a:t>
            </a:r>
          </a:p>
          <a:p>
            <a:pPr marL="274320" indent="-274320">
              <a:spcAft>
                <a:spcPts val="500"/>
              </a:spcAft>
            </a:pPr>
            <a:r>
              <a:rPr sz="1900" b="1" lang="ja-JP">
                <a:latin typeface="+mn-lt"/>
                <a:ea typeface="+mn-ea"/>
              </a:rPr>
              <a:t>・② でも、暗黒物質とはまだ決められない</a:t>
            </a:r>
          </a:p>
          <a:p>
            <a:pPr marL="548640" indent="0">
              <a:spcAft>
                <a:spcPts val="500"/>
              </a:spcAft>
            </a:pPr>
            <a:r>
              <a:rPr sz="1600" b="0" lang="ja-JP">
                <a:latin typeface="+mn-lt"/>
                <a:ea typeface="+mn-ea"/>
              </a:rPr>
              <a:t>背景の光（ICS）の型紙が中心付近で 2 倍ずれていても、ほぼ同じ結果になる</a:t>
            </a:r>
          </a:p>
          <a:p>
            <a:pPr marL="274320" indent="-274320">
              <a:spcAft>
                <a:spcPts val="500"/>
              </a:spcAft>
            </a:pPr>
            <a:r>
              <a:rPr sz="1900" b="1" lang="ja-JP">
                <a:latin typeface="+mn-lt"/>
                <a:ea typeface="+mn-ea"/>
              </a:rPr>
              <a:t>・③ 矮小銀河では見えない</a:t>
            </a:r>
          </a:p>
          <a:p>
            <a:pPr marL="548640" indent="0">
              <a:spcAft>
                <a:spcPts val="500"/>
              </a:spcAft>
            </a:pPr>
            <a:r>
              <a:rPr sz="1600" b="0" lang="ja-JP">
                <a:latin typeface="+mn-lt"/>
                <a:ea typeface="+mn-ea"/>
              </a:rPr>
              <a:t>でも「無い」とも言えない（判定できない）</a:t>
            </a:r>
          </a:p>
        </p:txBody>
      </p:sp>
      <p:pic>
        <p:nvPicPr>
          <p:cNvPr id="4" name="Picture 3" descr="fig_significance_calib.png"/>
          <p:cNvPicPr>
            <a:picLocks noChangeAspect="1"/>
          </p:cNvPicPr>
          <p:nvPr/>
        </p:nvPicPr>
        <p:blipFill>
          <a:blip r:embed="rId2"/>
          <a:stretch>
            <a:fillRect/>
          </a:stretch>
        </p:blipFill>
        <p:spPr>
          <a:xfrm>
            <a:off x="6675120" y="1371600"/>
            <a:ext cx="5212080" cy="359054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疑問①：1.2〜1.3 は「引く」？「割る」？</a:t>
            </a:r>
          </a:p>
        </p:txBody>
      </p:sp>
      <p:sp>
        <p:nvSpPr>
          <p:cNvPr id="3" name="TextBox 2"/>
          <p:cNvSpPr txBox="1"/>
          <p:nvPr/>
        </p:nvSpPr>
        <p:spPr>
          <a:xfrm>
            <a:off x="548640" y="1463040"/>
            <a:ext cx="5852160" cy="4937760"/>
          </a:xfrm>
          <a:prstGeom prst="rect">
            <a:avLst/>
          </a:prstGeom>
          <a:noFill/>
        </p:spPr>
        <p:txBody>
          <a:bodyPr wrap="square">
            <a:spAutoFit/>
          </a:bodyPr>
          <a:lstStyle/>
          <a:p>
            <a:pPr marL="274320" indent="-274320">
              <a:spcAft>
                <a:spcPts val="500"/>
              </a:spcAft>
            </a:pPr>
            <a:r>
              <a:rPr sz="1700" b="0" lang="ja-JP">
                <a:latin typeface="+mn-lt"/>
                <a:ea typeface="+mn-ea"/>
              </a:rPr>
              <a:t>・何も無い空で σ を測ると、真ん中は 0 のまま、幅だけ 1.2 倍に広がる（右の図）</a:t>
            </a:r>
          </a:p>
          <a:p>
            <a:pPr marL="274320" indent="-274320">
              <a:spcAft>
                <a:spcPts val="500"/>
              </a:spcAft>
            </a:pPr>
            <a:r>
              <a:rPr sz="1700" b="1" lang="ja-JP">
                <a:latin typeface="+mn-lt"/>
                <a:ea typeface="+mn-ea"/>
              </a:rPr>
              <a:t>・「ずれ」ではなく「伸び」→ 引くのではなく割る</a:t>
            </a:r>
          </a:p>
          <a:p>
            <a:pPr marL="548640" indent="0">
              <a:spcAft>
                <a:spcPts val="500"/>
              </a:spcAft>
            </a:pPr>
            <a:r>
              <a:rPr sz="1400" b="0" lang="ja-JP">
                <a:latin typeface="+mn-lt"/>
                <a:ea typeface="+mn-ea"/>
              </a:rPr>
              <a:t>たとえ：目盛りが 1.2 倍に伸びた定規。引き算では直らず、1.2 で割ると直る</a:t>
            </a:r>
          </a:p>
          <a:p>
            <a:pPr marL="274320" indent="-274320">
              <a:spcAft>
                <a:spcPts val="500"/>
              </a:spcAft>
            </a:pPr>
            <a:r>
              <a:rPr sz="1700" b="0" lang="ja-JP">
                <a:latin typeface="+mn-lt"/>
                <a:ea typeface="+mn-ea"/>
              </a:rPr>
              <a:t>・グラフに「名目 6σ 以上が、本当の 5σ」と線を引いても同じこと（割るのと同じ意味）</a:t>
            </a:r>
          </a:p>
          <a:p>
            <a:pPr marL="274320" indent="-274320">
              <a:spcAft>
                <a:spcPts val="500"/>
              </a:spcAft>
            </a:pPr>
            <a:r>
              <a:rPr sz="1700" b="0" lang="ja-JP">
                <a:latin typeface="+mn-lt"/>
                <a:ea typeface="+mn-ea"/>
              </a:rPr>
              <a:t>・1.2 は σ の値ではなく倍率。「1.2σ 以下は使えない」という意味ではない</a:t>
            </a:r>
          </a:p>
          <a:p>
            <a:pPr marL="274320" indent="-274320">
              <a:spcAft>
                <a:spcPts val="500"/>
              </a:spcAft>
            </a:pPr>
            <a:r>
              <a:rPr sz="1700" b="0" lang="ja-JP">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2"/>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疑問②：何も無い空はどこから？　0 ではだめ？</a:t>
            </a:r>
          </a:p>
        </p:txBody>
      </p:sp>
      <p:sp>
        <p:nvSpPr>
          <p:cNvPr id="3" name="TextBox 2"/>
          <p:cNvSpPr txBox="1"/>
          <p:nvPr/>
        </p:nvSpPr>
        <p:spPr>
          <a:xfrm>
            <a:off x="548640" y="1463040"/>
            <a:ext cx="5852160" cy="4937760"/>
          </a:xfrm>
          <a:prstGeom prst="rect">
            <a:avLst/>
          </a:prstGeom>
          <a:noFill/>
        </p:spPr>
        <p:txBody>
          <a:bodyPr wrap="square">
            <a:spAutoFit/>
          </a:bodyPr>
          <a:lstStyle/>
          <a:p>
            <a:pPr marL="274320" indent="-274320">
              <a:spcAft>
                <a:spcPts val="500"/>
              </a:spcAft>
            </a:pPr>
            <a:r>
              <a:rPr sz="1700" b="0" lang="ja-JP">
                <a:latin typeface="+mn-lt"/>
                <a:ea typeface="+mn-ea"/>
              </a:rPr>
              <a:t>・本物の何も無い空：既知の天体が無い高緯度の 23 か所を、実際のデータから取った</a:t>
            </a:r>
          </a:p>
          <a:p>
            <a:pPr marL="548640" indent="0">
              <a:spcAft>
                <a:spcPts val="500"/>
              </a:spcAft>
            </a:pPr>
            <a:r>
              <a:rPr sz="1400" b="0" lang="ja-JP">
                <a:latin typeface="+mn-lt"/>
                <a:ea typeface="+mn-ea"/>
              </a:rPr>
              <a:t>「何も無い」＝探している天体が無い。背景の光（ガス・ICS・遠い銀河）はどこにでもある → だから係数を合わせる</a:t>
            </a:r>
          </a:p>
          <a:p>
            <a:pPr marL="274320" indent="-274320">
              <a:spcAft>
                <a:spcPts val="500"/>
              </a:spcAft>
            </a:pPr>
            <a:r>
              <a:rPr sz="1700" b="0" lang="ja-JP">
                <a:latin typeface="+mn-lt"/>
                <a:ea typeface="+mn-ea"/>
              </a:rPr>
              <a:t>・パラメータ 0（ハロー＝0 で偽の空を作る）もやった → ばらつきは 1.0</a:t>
            </a:r>
          </a:p>
          <a:p>
            <a:pPr marL="548640" indent="0">
              <a:spcAft>
                <a:spcPts val="500"/>
              </a:spcAft>
            </a:pPr>
            <a:r>
              <a:rPr sz="1400" b="0" lang="ja-JP">
                <a:latin typeface="+mn-lt"/>
                <a:ea typeface="+mn-ea"/>
              </a:rPr>
              <a:t>→ 計算のやり方そのものは正しい</a:t>
            </a:r>
          </a:p>
          <a:p>
            <a:pPr marL="274320" indent="-274320">
              <a:spcAft>
                <a:spcPts val="500"/>
              </a:spcAft>
            </a:pPr>
            <a:r>
              <a:rPr sz="1700" b="1" lang="ja-JP">
                <a:latin typeface="+mn-lt"/>
                <a:ea typeface="+mn-ea"/>
              </a:rPr>
              <a:t>・2 つの差（1.2 と 1.0）が、本物の空にしかないもの</a:t>
            </a:r>
          </a:p>
          <a:p>
            <a:pPr marL="548640" indent="0">
              <a:spcAft>
                <a:spcPts val="500"/>
              </a:spcAft>
            </a:pPr>
            <a:r>
              <a:rPr sz="1400" b="0" lang="ja-JP">
                <a:latin typeface="+mn-lt"/>
                <a:ea typeface="+mn-ea"/>
              </a:rPr>
              <a:t>型紙のずれ・まだ見つかっていない暗い天体</a:t>
            </a:r>
          </a:p>
          <a:p>
            <a:pPr marL="274320" indent="-274320">
              <a:spcAft>
                <a:spcPts val="500"/>
              </a:spcAft>
            </a:pPr>
            <a:r>
              <a:rPr sz="1700" b="0" lang="ja-JP">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2"/>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疑問③：何も無い空で、係数は変になっていない？</a:t>
            </a:r>
          </a:p>
        </p:txBody>
      </p:sp>
      <p:sp>
        <p:nvSpPr>
          <p:cNvPr id="3" name="TextBox 2"/>
          <p:cNvSpPr txBox="1"/>
          <p:nvPr/>
        </p:nvSpPr>
        <p:spPr>
          <a:xfrm>
            <a:off x="548640" y="1463040"/>
            <a:ext cx="11155680" cy="2103120"/>
          </a:xfrm>
          <a:prstGeom prst="rect">
            <a:avLst/>
          </a:prstGeom>
          <a:noFill/>
        </p:spPr>
        <p:txBody>
          <a:bodyPr wrap="square">
            <a:spAutoFit/>
          </a:bodyPr>
          <a:lstStyle/>
          <a:p>
            <a:pPr marL="274320" indent="-274320">
              <a:spcAft>
                <a:spcPts val="500"/>
              </a:spcAft>
            </a:pPr>
            <a:r>
              <a:rPr sz="1700" b="0" lang="ja-JP">
                <a:latin typeface="+mn-lt"/>
                <a:ea typeface="+mn-ea"/>
              </a:rPr>
              <a:t>・ガス：真ん中 1.1、点源：真ん中 1.0（どちらも予想どおりなら 1）</a:t>
            </a:r>
          </a:p>
          <a:p>
            <a:pPr marL="274320" indent="-274320">
              <a:spcAft>
                <a:spcPts val="500"/>
              </a:spcAft>
            </a:pPr>
            <a:r>
              <a:rPr sz="1700" b="0" lang="ja-JP">
                <a:latin typeface="+mn-lt"/>
                <a:ea typeface="+mn-ea"/>
              </a:rPr>
              <a:t>・ハロー：0 のまわりでプラス・マイナスがほぼ半々（光子 −6〜+12 個分）→ 片寄りなし</a:t>
            </a:r>
          </a:p>
          <a:p>
            <a:pPr marL="274320" indent="-274320">
              <a:spcAft>
                <a:spcPts val="500"/>
              </a:spcAft>
            </a:pPr>
            <a:r>
              <a:rPr sz="1700" b="1" lang="ja-JP">
                <a:latin typeface="+mn-lt"/>
                <a:ea typeface="+mn-ea"/>
              </a:rPr>
              <a:t>・0 に張り付いたり、とんでもない値になったものは無い（23 か所 × 13 ビン ＝ 299 件すべて確認）</a:t>
            </a:r>
          </a:p>
          <a:p>
            <a:pPr marL="274320" indent="-274320">
              <a:spcAft>
                <a:spcPts val="500"/>
              </a:spcAft>
            </a:pPr>
            <a:r>
              <a:rPr sz="1700" b="0" lang="ja-JP">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2"/>
          <a:stretch>
            <a:fillRect/>
          </a:stretch>
        </p:blipFill>
        <p:spPr>
          <a:xfrm>
            <a:off x="1463040" y="3611880"/>
            <a:ext cx="9334500" cy="32004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疑問④：ICS とハローは本当に似ている？</a:t>
            </a:r>
          </a:p>
        </p:txBody>
      </p:sp>
      <p:sp>
        <p:nvSpPr>
          <p:cNvPr id="3" name="TextBox 2"/>
          <p:cNvSpPr txBox="1"/>
          <p:nvPr/>
        </p:nvSpPr>
        <p:spPr>
          <a:xfrm>
            <a:off x="548640" y="1463040"/>
            <a:ext cx="11155680" cy="2286000"/>
          </a:xfrm>
          <a:prstGeom prst="rect">
            <a:avLst/>
          </a:prstGeom>
          <a:noFill/>
        </p:spPr>
        <p:txBody>
          <a:bodyPr wrap="square">
            <a:spAutoFit/>
          </a:bodyPr>
          <a:lstStyle/>
          <a:p>
            <a:pPr marL="274320" indent="-274320">
              <a:spcAft>
                <a:spcPts val="500"/>
              </a:spcAft>
            </a:pPr>
            <a:r>
              <a:rPr sz="1600" b="0" lang="ja-JP">
                <a:latin typeface="+mn-lt"/>
                <a:ea typeface="+mn-ea"/>
              </a:rPr>
              <a:t>・「似ている度」を数字で測った（20.8 GeV、本番の解析と同じ見方）→ 一番似ているのは ICS、次がガス</a:t>
            </a:r>
          </a:p>
          <a:p>
            <a:pPr marL="274320" indent="-274320">
              <a:spcAft>
                <a:spcPts val="500"/>
              </a:spcAft>
            </a:pPr>
            <a:r>
              <a:rPr sz="1600" b="1" lang="ja-JP">
                <a:latin typeface="+mn-lt"/>
                <a:ea typeface="+mn-ea"/>
              </a:rPr>
              <a:t>・ハローを入れると ICS は 57% 減る（ガスは 16%）→ 一番取り合っているのは ICS</a:t>
            </a:r>
          </a:p>
          <a:p>
            <a:pPr marL="274320" indent="-274320">
              <a:spcAft>
                <a:spcPts val="500"/>
              </a:spcAft>
            </a:pPr>
            <a:r>
              <a:rPr sz="1600" b="0" lang="ja-JP">
                <a:latin typeface="+mn-lt"/>
                <a:ea typeface="+mn-ea"/>
              </a:rPr>
              <a:t>・地図で形が違って見えるのは、銀河面まで写しているから。解析で使う |b| ≥ 10° では、どちらも「中心から外へなだらかに暗くなる」</a:t>
            </a:r>
          </a:p>
          <a:p>
            <a:pPr marL="274320" indent="-274320">
              <a:spcAft>
                <a:spcPts val="500"/>
              </a:spcAft>
            </a:pPr>
            <a:r>
              <a:rPr sz="1600" b="0" lang="ja-JP">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2"/>
          <a:stretch>
            <a:fillRect/>
          </a:stretch>
        </p:blipFill>
        <p:spPr>
          <a:xfrm>
            <a:off x="1828800" y="3703320"/>
            <a:ext cx="8041005" cy="30632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疑問⑤：矮小銀河にこのやり方を使っていい？</a:t>
            </a:r>
          </a:p>
        </p:txBody>
      </p:sp>
      <p:graphicFrame>
        <p:nvGraphicFramePr>
          <p:cNvPr id="3" name="Table 2"/>
          <p:cNvGraphicFramePr>
            <a:graphicFrameLocks noGrp="1"/>
          </p:cNvGraphicFramePr>
          <p:nvPr/>
        </p:nvGraphicFramePr>
        <p:xfrm>
          <a:off x="457200" y="1463040"/>
          <a:ext cx="11247120" cy="2057400"/>
        </p:xfrm>
        <a:graphic>
          <a:graphicData uri="http://schemas.openxmlformats.org/drawingml/2006/table">
            <a:tbl>
              <a:tblPr firstRow="1" bandRow="1">
                <a:tableStyleId>{5C22544A-7EE6-4342-B048-85BDC9FD1C3A}</a:tableStyleId>
              </a:tblPr>
              <a:tblGrid>
                <a:gridCol w="1554480"/>
                <a:gridCol w="4846320"/>
                <a:gridCol w="4846320"/>
              </a:tblGrid>
              <a:tr h="411480">
                <a:tc>
                  <a:txBody>
                    <a:bodyPr/>
                    <a:lstStyle/>
                    <a:p>
                      <a:r>
                        <a:rPr sz="1500" b="1" lang="ja-JP">
                          <a:latin typeface="+mn-lt"/>
                          <a:ea typeface="+mn-ea"/>
                        </a:rPr>
                        <a:t/>
                      </a:r>
                    </a:p>
                  </a:txBody>
                  <a:tcPr/>
                </a:tc>
                <a:tc>
                  <a:txBody>
                    <a:bodyPr/>
                    <a:lstStyle/>
                    <a:p>
                      <a:r>
                        <a:rPr sz="1500" b="1" lang="ja-JP">
                          <a:latin typeface="+mn-lt"/>
                          <a:ea typeface="+mn-ea"/>
                        </a:rPr>
                        <a:t>Fermi チームの標準（McDaniel ほか 2024・2026）</a:t>
                      </a:r>
                    </a:p>
                  </a:txBody>
                  <a:tcPr/>
                </a:tc>
                <a:tc>
                  <a:txBody>
                    <a:bodyPr/>
                    <a:lstStyle/>
                    <a:p>
                      <a:r>
                        <a:rPr sz="1500" b="1" lang="ja-JP">
                          <a:latin typeface="+mn-lt"/>
                          <a:ea typeface="+mn-ea"/>
                        </a:rPr>
                        <a:t>本研究（Totani の方法を当てはめた）</a:t>
                      </a:r>
                    </a:p>
                  </a:txBody>
                  <a:tcPr/>
                </a:tc>
              </a:tr>
              <a:tr h="411480">
                <a:tc>
                  <a:txBody>
                    <a:bodyPr/>
                    <a:lstStyle/>
                    <a:p>
                      <a:r>
                        <a:rPr sz="1500" b="1" lang="ja-JP">
                          <a:latin typeface="+mn-lt"/>
                          <a:ea typeface="+mn-ea"/>
                        </a:rPr>
                        <a:t>見る範囲</a:t>
                      </a:r>
                    </a:p>
                  </a:txBody>
                  <a:tcPr/>
                </a:tc>
                <a:tc>
                  <a:txBody>
                    <a:bodyPr/>
                    <a:lstStyle/>
                    <a:p>
                      <a:r>
                        <a:rPr sz="1500" b="0" lang="ja-JP">
                          <a:latin typeface="+mn-lt"/>
                          <a:ea typeface="+mn-ea"/>
                        </a:rPr>
                        <a:t>10° × 10°、0.08° の画素</a:t>
                      </a:r>
                    </a:p>
                  </a:txBody>
                  <a:tcPr/>
                </a:tc>
                <a:tc>
                  <a:txBody>
                    <a:bodyPr/>
                    <a:lstStyle/>
                    <a:p>
                      <a:r>
                        <a:rPr sz="1500" b="0" lang="ja-JP">
                          <a:latin typeface="+mn-lt"/>
                          <a:ea typeface="+mn-ea"/>
                        </a:rPr>
                        <a:t>半径 10°、1° のマス目</a:t>
                      </a:r>
                    </a:p>
                  </a:txBody>
                  <a:tcPr/>
                </a:tc>
              </a:tr>
              <a:tr h="411480">
                <a:tc>
                  <a:txBody>
                    <a:bodyPr/>
                    <a:lstStyle/>
                    <a:p>
                      <a:r>
                        <a:rPr sz="1500" b="1" lang="ja-JP">
                          <a:latin typeface="+mn-lt"/>
                          <a:ea typeface="+mn-ea"/>
                        </a:rPr>
                        <a:t>背景</a:t>
                      </a:r>
                    </a:p>
                  </a:txBody>
                  <a:tcPr/>
                </a:tc>
                <a:tc>
                  <a:txBody>
                    <a:bodyPr/>
                    <a:lstStyle/>
                    <a:p>
                      <a:r>
                        <a:rPr sz="1500" b="0" lang="ja-JP">
                          <a:latin typeface="+mn-lt"/>
                          <a:ea typeface="+mn-ea"/>
                        </a:rPr>
                        <a:t>Fermi 公式の背景モデル＋カタログの天体</a:t>
                      </a:r>
                    </a:p>
                  </a:txBody>
                  <a:tcPr/>
                </a:tc>
                <a:tc>
                  <a:txBody>
                    <a:bodyPr/>
                    <a:lstStyle/>
                    <a:p>
                      <a:r>
                        <a:rPr sz="1500" b="0" lang="ja-JP">
                          <a:latin typeface="+mn-lt"/>
                          <a:ea typeface="+mn-ea"/>
                        </a:rPr>
                        <a:t>GALPROP の型紙（Totani と同じ）＋カタログの天体</a:t>
                      </a:r>
                    </a:p>
                  </a:txBody>
                  <a:tcPr/>
                </a:tc>
              </a:tr>
              <a:tr h="411480">
                <a:tc>
                  <a:txBody>
                    <a:bodyPr/>
                    <a:lstStyle/>
                    <a:p>
                      <a:r>
                        <a:rPr sz="1500" b="1" lang="ja-JP">
                          <a:latin typeface="+mn-lt"/>
                          <a:ea typeface="+mn-ea"/>
                        </a:rPr>
                        <a:t>比べ方</a:t>
                      </a:r>
                    </a:p>
                  </a:txBody>
                  <a:tcPr/>
                </a:tc>
                <a:tc>
                  <a:txBody>
                    <a:bodyPr/>
                    <a:lstStyle/>
                    <a:p>
                      <a:r>
                        <a:rPr sz="1500" b="0" lang="ja-JP">
                          <a:latin typeface="+mn-lt"/>
                          <a:ea typeface="+mn-ea"/>
                        </a:rPr>
                        <a:t>尤度（光子の数え方の点数）。J の誤差も尤度に入れる</a:t>
                      </a:r>
                    </a:p>
                  </a:txBody>
                  <a:tcPr/>
                </a:tc>
                <a:tc>
                  <a:txBody>
                    <a:bodyPr/>
                    <a:lstStyle/>
                    <a:p>
                      <a:r>
                        <a:rPr sz="1500" b="0" lang="ja-JP">
                          <a:latin typeface="+mn-lt"/>
                          <a:ea typeface="+mn-ea"/>
                        </a:rPr>
                        <a:t>尤度（同じ）。J の誤差は後から入れた</a:t>
                      </a:r>
                    </a:p>
                  </a:txBody>
                  <a:tcPr/>
                </a:tc>
              </a:tr>
              <a:tr h="411480">
                <a:tc>
                  <a:txBody>
                    <a:bodyPr/>
                    <a:lstStyle/>
                    <a:p>
                      <a:r>
                        <a:rPr sz="1500" b="1" lang="ja-JP">
                          <a:latin typeface="+mn-lt"/>
                          <a:ea typeface="+mn-ea"/>
                        </a:rPr>
                        <a:t>σ の確かめ</a:t>
                      </a:r>
                    </a:p>
                  </a:txBody>
                  <a:tcPr/>
                </a:tc>
                <a:tc>
                  <a:txBody>
                    <a:bodyPr/>
                    <a:lstStyle/>
                    <a:p>
                      <a:r>
                        <a:rPr sz="1500" b="0" lang="ja-JP">
                          <a:latin typeface="+mn-lt"/>
                          <a:ea typeface="+mn-ea"/>
                        </a:rPr>
                        <a:t>何も無い空 6,500 か所</a:t>
                      </a:r>
                    </a:p>
                  </a:txBody>
                  <a:tcPr/>
                </a:tc>
                <a:tc>
                  <a:txBody>
                    <a:bodyPr/>
                    <a:lstStyle/>
                    <a:p>
                      <a:r>
                        <a:rPr sz="1500" b="0" lang="ja-JP">
                          <a:latin typeface="+mn-lt"/>
                          <a:ea typeface="+mn-ea"/>
                        </a:rPr>
                        <a:t>何も無い空 23 か所</a:t>
                      </a:r>
                    </a:p>
                  </a:txBody>
                  <a:tcPr/>
                </a:tc>
              </a:tr>
            </a:tbl>
          </a:graphicData>
        </a:graphic>
      </p:graphicFrame>
      <p:sp>
        <p:nvSpPr>
          <p:cNvPr id="4" name="TextBox 3"/>
          <p:cNvSpPr txBox="1"/>
          <p:nvPr/>
        </p:nvSpPr>
        <p:spPr>
          <a:xfrm>
            <a:off x="548640" y="4023360"/>
            <a:ext cx="11155680" cy="2194560"/>
          </a:xfrm>
          <a:prstGeom prst="rect">
            <a:avLst/>
          </a:prstGeom>
          <a:noFill/>
        </p:spPr>
        <p:txBody>
          <a:bodyPr wrap="square">
            <a:spAutoFit/>
          </a:bodyPr>
          <a:lstStyle/>
          <a:p>
            <a:pPr marL="274320" indent="-274320">
              <a:spcAft>
                <a:spcPts val="500"/>
              </a:spcAft>
            </a:pPr>
            <a:r>
              <a:rPr sz="1700" b="1" lang="ja-JP">
                <a:latin typeface="+mn-lt"/>
                <a:ea typeface="+mn-ea"/>
              </a:rPr>
              <a:t>・考え方（型紙の足し算 × 尤度）は同じ → Totani のやり方を当てはめるのは筋が通っている</a:t>
            </a:r>
          </a:p>
          <a:p>
            <a:pPr marL="274320" indent="-274320">
              <a:spcAft>
                <a:spcPts val="500"/>
              </a:spcAft>
            </a:pPr>
            <a:r>
              <a:rPr sz="1700" b="0" lang="ja-JP">
                <a:latin typeface="+mn-lt"/>
                <a:ea typeface="+mn-ea"/>
              </a:rPr>
              <a:t>・違いは「背景の型紙」と「何も無い空の数」→ 本研究は簡単な版</a:t>
            </a:r>
          </a:p>
          <a:p>
            <a:pPr marL="274320" indent="-274320">
              <a:spcAft>
                <a:spcPts val="500"/>
              </a:spcAft>
            </a:pPr>
            <a:r>
              <a:rPr sz="1700" b="0" lang="ja-JP">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論文の考え：J のずれを甘く見ると、本物を見落とす</a:t>
            </a:r>
          </a:p>
        </p:txBody>
      </p:sp>
      <p:sp>
        <p:nvSpPr>
          <p:cNvPr id="3" name="Rounded Rectangle 2"/>
          <p:cNvSpPr/>
          <p:nvPr/>
        </p:nvSpPr>
        <p:spPr>
          <a:xfrm>
            <a:off x="731520" y="155448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solidFill>
                  <a:srgbClr val="101010"/>
                </a:solidFill>
                <a:latin typeface="+mn-lt"/>
                <a:ea typeface="+mn-ea"/>
              </a:rPr>
              <a:t>表に書かれた J（星の動きからの推定）</a:t>
            </a:r>
          </a:p>
        </p:txBody>
      </p:sp>
      <p:sp>
        <p:nvSpPr>
          <p:cNvPr id="4" name="Rounded Rectangle 3"/>
          <p:cNvSpPr/>
          <p:nvPr/>
        </p:nvSpPr>
        <p:spPr>
          <a:xfrm>
            <a:off x="7589520" y="155448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solidFill>
                  <a:srgbClr val="101010"/>
                </a:solidFill>
                <a:latin typeface="+mn-lt"/>
                <a:ea typeface="+mn-ea"/>
              </a:rPr>
              <a:t>本当の J</a:t>
            </a:r>
          </a:p>
        </p:txBody>
      </p:sp>
      <p:sp>
        <p:nvSpPr>
          <p:cNvPr id="5" name="Left-Right Arrow 4"/>
          <p:cNvSpPr/>
          <p:nvPr/>
        </p:nvSpPr>
        <p:spPr>
          <a:xfrm>
            <a:off x="4754880" y="192024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108960"/>
            <a:ext cx="11155680" cy="3474720"/>
          </a:xfrm>
          <a:prstGeom prst="rect">
            <a:avLst/>
          </a:prstGeom>
          <a:noFill/>
        </p:spPr>
        <p:txBody>
          <a:bodyPr wrap="square">
            <a:spAutoFit/>
          </a:bodyPr>
          <a:lstStyle/>
          <a:p>
            <a:pPr marL="274320" indent="-274320">
              <a:spcAft>
                <a:spcPts val="500"/>
              </a:spcAft>
            </a:pPr>
            <a:r>
              <a:rPr sz="1800" b="0" lang="ja-JP">
                <a:latin typeface="+mn-lt"/>
                <a:ea typeface="+mn-ea"/>
              </a:rPr>
              <a:t>・J ＝ その矮小銀河の暗黒物質の「量と近さ」。星の動きから推定するので、1/3〜3 倍くらいずれうる</a:t>
            </a:r>
          </a:p>
          <a:p>
            <a:pPr marL="274320" indent="-274320">
              <a:spcAft>
                <a:spcPts val="500"/>
              </a:spcAft>
            </a:pPr>
            <a:r>
              <a:rPr sz="1800" b="0" lang="ja-JP">
                <a:latin typeface="+mn-lt"/>
                <a:ea typeface="+mn-ea"/>
              </a:rPr>
              <a:t>・論文：答えが分かっている偽のデータで、解析が本物を見落とさないか試した</a:t>
            </a:r>
          </a:p>
          <a:p>
            <a:pPr marL="274320" indent="-274320">
              <a:spcAft>
                <a:spcPts val="500"/>
              </a:spcAft>
            </a:pPr>
            <a:r>
              <a:rPr sz="1800" b="1" lang="ja-JP">
                <a:latin typeface="+mn-lt"/>
                <a:ea typeface="+mn-ea"/>
              </a:rPr>
              <a:t>・ずれを甘く見ると、見落としが「5% のはず」→ 21〜88% に増える</a:t>
            </a:r>
          </a:p>
          <a:p>
            <a:pPr marL="548640" indent="0">
              <a:spcAft>
                <a:spcPts val="500"/>
              </a:spcAft>
            </a:pPr>
            <a:r>
              <a:rPr sz="1500" b="0" lang="ja-JP">
                <a:latin typeface="+mn-lt"/>
                <a:ea typeface="+mn-ea"/>
              </a:rPr>
              <a:t>たとえ：宝の地図の「ここに 10 個」が 3 個の間違いかもしれない。掘って 0 個でも、宝が無いとは言い切れない</a:t>
            </a:r>
          </a:p>
          <a:p>
            <a:pPr marL="274320" indent="-274320">
              <a:spcAft>
                <a:spcPts val="500"/>
              </a:spcAft>
            </a:pPr>
            <a:r>
              <a:rPr sz="1800" b="1" lang="ja-JP">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自分の結果に当てはめると：判定できない</a:t>
            </a:r>
          </a:p>
        </p:txBody>
      </p:sp>
      <p:sp>
        <p:nvSpPr>
          <p:cNvPr id="3" name="TextBox 2"/>
          <p:cNvSpPr txBox="1"/>
          <p:nvPr/>
        </p:nvSpPr>
        <p:spPr>
          <a:xfrm>
            <a:off x="548640" y="1463040"/>
            <a:ext cx="11155680" cy="2377440"/>
          </a:xfrm>
          <a:prstGeom prst="rect">
            <a:avLst/>
          </a:prstGeom>
          <a:noFill/>
        </p:spPr>
        <p:txBody>
          <a:bodyPr wrap="square">
            <a:spAutoFit/>
          </a:bodyPr>
          <a:lstStyle/>
          <a:p>
            <a:pPr marL="274320" indent="-274320">
              <a:spcAft>
                <a:spcPts val="500"/>
              </a:spcAft>
            </a:pPr>
            <a:r>
              <a:rPr sz="1800" b="0" lang="ja-JP">
                <a:latin typeface="+mn-lt"/>
                <a:ea typeface="+mn-ea"/>
              </a:rPr>
              <a:t>・43 個の矮小銀河の「光って見えた度」を、1 つの点数 T にまとめた（明るく見えるはずの銀河ほど重く数える）</a:t>
            </a:r>
          </a:p>
          <a:p>
            <a:pPr marL="274320" indent="-274320">
              <a:spcAft>
                <a:spcPts val="500"/>
              </a:spcAft>
            </a:pPr>
            <a:r>
              <a:rPr sz="1800" b="1" lang="ja-JP">
                <a:latin typeface="+mn-lt"/>
                <a:ea typeface="+mn-ea"/>
              </a:rPr>
              <a:t>・暗黒物質が無ければ T ≈ 0、天の川の光が暗黒物質なら T ≈ 1.8 のはず → 実測は 0.4</a:t>
            </a:r>
          </a:p>
          <a:p>
            <a:pPr marL="274320" indent="-274320">
              <a:spcAft>
                <a:spcPts val="500"/>
              </a:spcAft>
            </a:pPr>
            <a:r>
              <a:rPr sz="1800" b="0" lang="ja-JP">
                <a:latin typeface="+mn-lt"/>
                <a:ea typeface="+mn-ea"/>
              </a:rPr>
              <a:t>・論文の「J は 3 倍ずれうる」を入れると、「あれば」の予想は 1.4〜5.2 に広がる。ずれは 1.4σ</a:t>
            </a:r>
          </a:p>
          <a:p>
            <a:pPr marL="274320" indent="-274320">
              <a:spcAft>
                <a:spcPts val="500"/>
              </a:spcAft>
            </a:pPr>
            <a:r>
              <a:rPr sz="1800" b="1" lang="ja-JP">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2"/>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lang="ja-JP">
                <a:latin typeface="+mj-lt"/>
                <a:ea typeface="+mj-ea"/>
              </a:rPr>
              <a:t>課題と、次にやること</a:t>
            </a:r>
          </a:p>
        </p:txBody>
      </p:sp>
      <p:sp>
        <p:nvSpPr>
          <p:cNvPr id="3" name="TextBox 2"/>
          <p:cNvSpPr txBox="1"/>
          <p:nvPr/>
        </p:nvSpPr>
        <p:spPr>
          <a:xfrm>
            <a:off x="548640" y="1463040"/>
            <a:ext cx="11155680" cy="4572000"/>
          </a:xfrm>
          <a:prstGeom prst="rect">
            <a:avLst/>
          </a:prstGeom>
          <a:noFill/>
        </p:spPr>
        <p:txBody>
          <a:bodyPr wrap="square">
            <a:spAutoFit/>
          </a:bodyPr>
          <a:lstStyle/>
          <a:p>
            <a:pPr marL="274320" indent="-274320">
              <a:spcAft>
                <a:spcPts val="500"/>
              </a:spcAft>
            </a:pPr>
            <a:r>
              <a:rPr sz="2200" b="1" lang="ja-JP">
                <a:latin typeface="+mn-lt"/>
                <a:ea typeface="+mn-ea"/>
              </a:rPr>
              <a:t>・型紙（GALPROP）が完璧ではない → σ が 1.2〜1.3 倍ふくらむ</a:t>
            </a:r>
          </a:p>
          <a:p>
            <a:pPr marL="548640" indent="0">
              <a:spcAft>
                <a:spcPts val="500"/>
              </a:spcAft>
            </a:pPr>
            <a:r>
              <a:rPr sz="1900" b="0" lang="ja-JP">
                <a:latin typeface="+mn-lt"/>
                <a:ea typeface="+mn-ea"/>
              </a:rPr>
              <a:t>シミュレーションの誤差を統計に入れる方法（データ同化）で扱いたい</a:t>
            </a:r>
          </a:p>
          <a:p>
            <a:pPr marL="274320" indent="-274320">
              <a:spcAft>
                <a:spcPts val="500"/>
              </a:spcAft>
            </a:pPr>
            <a:r>
              <a:rPr sz="2200" b="0" lang="ja-JP">
                <a:latin typeface="+mn-lt"/>
                <a:ea typeface="+mn-ea"/>
              </a:rPr>
              <a:t>・何も無い空を 23 → 数百か所に増やす（標準は 6,500 か所）</a:t>
            </a:r>
          </a:p>
          <a:p>
            <a:pPr marL="274320" indent="-274320">
              <a:spcAft>
                <a:spcPts val="500"/>
              </a:spcAft>
            </a:pPr>
            <a:r>
              <a:rPr sz="2200" b="0" lang="ja-JP">
                <a:latin typeface="+mn-lt"/>
                <a:ea typeface="+mn-ea"/>
              </a:rPr>
              <a:t>・矮小銀河を、Fermi 公式の背景モデルでもやり直す</a:t>
            </a:r>
          </a:p>
          <a:p>
            <a:pPr marL="274320" indent="-274320">
              <a:spcAft>
                <a:spcPts val="500"/>
              </a:spcAft>
            </a:pPr>
            <a:r>
              <a:rPr sz="2200" b="0" lang="ja-JP">
                <a:latin typeface="+mn-lt"/>
                <a:ea typeface="+mn-ea"/>
              </a:rPr>
              <a:t>・ICS の型紙の形のずれ（中心付近 2 倍）は、まだ否定できていない</a:t>
            </a:r>
          </a:p>
          <a:p>
            <a:pPr marL="274320" indent="-274320">
              <a:spcAft>
                <a:spcPts val="500"/>
              </a:spcAft>
            </a:pPr>
            <a:r>
              <a:rPr sz="2200" b="1" lang="ja-JP">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364</TotalTime>
  <Words>16381</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が原因なら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論文の考え方を、卒研の結果に当てはめる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2026-10-05T05:58:07Z</dcterms:modified>
</cp:coreProperties>
</file>