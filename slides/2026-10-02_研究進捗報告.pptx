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5"/>
    <p:sldId id="258" r:id="rId3"/>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45" autoAdjust="0"/>
    <p:restoredTop sz="94660"/>
  </p:normalViewPr>
  <p:slideViewPr>
    <p:cSldViewPr snapToGrid="0" showGuides="1">
      <p:cViewPr varScale="1">
        <p:scale>
          <a:sx n="47" d="100"/>
          <a:sy n="47" d="100"/>
        </p:scale>
        <p:origin x="62" y="1109"/>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ポアソン分布: 平均 λ のとき、n 個来る確率は λ^n e^(−λ) / n!。その対数を全セルで足したものが ln L (n に依存する定数 ln n! は省略)。</a:t>
            </a:r>
          </a:p>
          <a:p>
            <a:r>
              <a:t>銀河面を除いた有効なセルは 120 個。セルを 10° と大きくとるのは、望遠鏡のぼやけ (PSF) よりずっと大きく、PSF の畳み込みを省略できるため (Totani と同じ)。</a:t>
            </a:r>
          </a:p>
          <a:p>
            <a:r>
              <a:t>最大化は L-BFGS-B (範囲の制約つきの勾配法) で、出発点を変えて何度か行う。</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青が本研究 (v20r、10/1 にコードの版と設定の記録つきで再計算)、赤が Totani Fig. 9。</a:t>
            </a:r>
          </a:p>
          <a:p>
            <a:r>
              <a:t>ただしこの 19.0σ は Wilks の定理を信じた「名目の値」。後で較正する。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ICS の倍率 (GALPROP の予測の何倍か)。ハローなしでは全エネルギーで約 1.6 倍で平ら。ハローを入れると、ハローが効くビンでだけへこむ。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a:p>
            <a:r>
              <a:t>③ 同じ設定で計算し直しても一致しなかった。</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倍と低いことで説明できる。この内外の差は約 1.5σ で、意味のある差ではない。</a:t>
            </a:r>
          </a:p>
          <a:p>
            <a:r>
              <a:t>対照: 同じ形の矩形を経度方向に ±20°, ±30°, ±38° ずらして外すと 13.4〜16.3σ。</a:t>
            </a:r>
          </a:p>
          <a:p>
            <a:r>
              <a:t>たとえ: 写真の真ん中を隠すと自信が下がるが、それは見分けるヒントが真ん中に集まっていたから。</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種類の光を電子がはね上げたもの。19.5σ と 18.4σ はクラウドの計算機で同じ条件で比べた値 (本人 PC の基準は 19.0σ なので、差で言う)。Totani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結果ファイルに「どの状態のコードで計算したか」の記録が無かった。</a:t>
            </a:r>
          </a:p>
          <a:p>
            <a:r>
              <a:t>10/1 に同じ計算を 2 回して、テンプレート・尤度・全パラメータが一致することを確認。</a:t>
            </a:r>
          </a:p>
          <a:p>
            <a:r>
              <a:t>有意度は 19.1σ → 19.0σ でほぼ同じ。全 13 ビンで差は 1σ 未満。</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 予測フラックス ÷ 各天体の測定誤差。</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(1.73 − 0.39) ÷ 1 = 1.3σ。天の川側の局所密度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灰色の山: J の誤差を入れたときの予測の分布 (20 万回)。点線: J の誤差なしの予測 1.73。黒い点: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予測は天の川側の局所密度 ρ☉ の −2 乗に比例する (天の川の J が密度の 2 乗に比例し、天の川の実測の明るさは固定のため)。</a:t>
            </a:r>
          </a:p>
          <a:p>
            <a:r>
              <a:t>ρ☉ = 0.3: 期待 3.38 (誤差なし) / 4.74 (誤差あり、68% 2.58–9.72)、ずれ 2.4σ / 2.0σ (s = 1.26)。</a:t>
            </a:r>
          </a:p>
          <a:p>
            <a:r>
              <a:t>ρ☉ = 0.6: 期待 0.85 / 1.19 (0.64–2.43)、ずれ 0.4σ / 0.7σ。</a:t>
            </a:r>
          </a:p>
          <a:p>
            <a:r>
              <a:t>J の誤差を入れると、期待の幅が大きく広がり、「判定できない」がより強くなる。</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15σ は「ハローがあるか」の強さ、1.3σ は「天の川と矮小銀河が食い違うか」の強さ。</a:t>
            </a:r>
          </a:p>
          <a:p>
            <a:r>
              <a:t>どちらも Wilks の定理だけに頼らず、何も無い空で較正した値 (1.26) を使っている。</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10/1/2026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研究の目的</a:t>
            </a:r>
          </a:p>
        </p:txBody>
      </p:sp>
      <p:sp>
        <p:nvSpPr>
          <p:cNvPr id="3" name="Content Placeholder 2"/>
          <p:cNvSpPr>
            <a:spLocks noGrp="1"/>
          </p:cNvSpPr>
          <p:nvPr>
            <p:ph idx="1"/>
          </p:nvPr>
        </p:nvSpPr>
        <p:spPr>
          <a:xfrm>
            <a:off x="841248" y="1463040"/>
            <a:ext cx="10515600" cy="4114800"/>
          </a:xfrm>
        </p:spPr>
        <p:txBody>
          <a:bodyPr/>
          <a:lstStyle/>
          <a:p>
            <a:pPr/>
            <a:r>
              <a:rPr sz="2400"/>
              <a:t>暗黒物質どうしがぶつかると消えて、ガンマ線を出すと考えられている（対消滅）</a:t>
            </a:r>
          </a:p>
          <a:p>
            <a:pPr/>
            <a:r>
              <a:rPr sz="2400"/>
              <a:t>天の川は暗黒物質の「ハロー」に包まれている</a:t>
            </a:r>
          </a:p>
          <a:p>
            <a:pPr lvl="1"/>
            <a:r>
              <a:rPr sz="2000"/>
              <a:t>→ 空全体から、かすかなガンマ線が来るはず</a:t>
            </a:r>
          </a:p>
          <a:p>
            <a:pPr/>
            <a:r>
              <a:rPr sz="2400"/>
              <a:t>Totani (2025)：20 GeV 付近にハロー型の超過を報告（13–19σ）</a:t>
            </a:r>
          </a:p>
          <a:p>
            <a:pPr/>
            <a:r>
              <a:rPr sz="2400"/>
              <a:t>僕の研究：これを自分で再現し、本物かどうか確かめる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データ：光子を数える</a:t>
            </a:r>
          </a:p>
        </p:txBody>
      </p:sp>
      <p:sp>
        <p:nvSpPr>
          <p:cNvPr id="3" name="Content Placeholder 2"/>
          <p:cNvSpPr>
            <a:spLocks noGrp="1"/>
          </p:cNvSpPr>
          <p:nvPr>
            <p:ph idx="1"/>
          </p:nvPr>
        </p:nvSpPr>
        <p:spPr>
          <a:xfrm>
            <a:off x="841248" y="1463040"/>
            <a:ext cx="10515600" cy="4114800"/>
          </a:xfrm>
        </p:spPr>
        <p:txBody>
          <a:bodyPr/>
          <a:lstStyle/>
          <a:p>
            <a:pPr/>
            <a:r>
              <a:rPr sz="2400"/>
              <a:t>Fermi-LAT 衛星が集めたガンマ線の光子（約 15 年分）</a:t>
            </a:r>
          </a:p>
          <a:p>
            <a:pPr lvl="1"/>
            <a:r>
              <a:rPr sz="2000"/>
              <a:t>2008-08 〜 2023-08、UltraClean（雑音の少ない事象）、1 GeV 以上</a:t>
            </a:r>
          </a:p>
          <a:p>
            <a:pPr/>
            <a:r>
              <a:rPr sz="2400"/>
              <a:t>空の範囲：銀経・銀緯とも ±60°（銀河面 |b| &lt; 10° は除く）</a:t>
            </a:r>
          </a:p>
          <a:p>
            <a:pPr/>
            <a:r>
              <a:rPr sz="2400"/>
              <a:t>エネルギーを 13 個のビンに分ける（1.5 〜 814 GeV）</a:t>
            </a:r>
          </a:p>
          <a:p>
            <a:pPr lvl="1"/>
            <a:r>
              <a:rPr sz="2000"/>
              <a:t>ビンごとに別々に解析する</a:t>
            </a:r>
          </a:p>
          <a:p>
            <a:pPr/>
            <a:r>
              <a:rPr sz="2400"/>
              <a:t>各ビンで「空のどこに、光子が何個来たか」の地図を作る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§2.1</a:t>
            </a:r>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手法①：テンプレートフィット</a:t>
            </a:r>
          </a:p>
        </p:txBody>
      </p:sp>
      <p:sp>
        <p:nvSpPr>
          <p:cNvPr id="3" name="Content Placeholder 2"/>
          <p:cNvSpPr>
            <a:spLocks noGrp="1"/>
          </p:cNvSpPr>
          <p:nvPr>
            <p:ph idx="1"/>
          </p:nvPr>
        </p:nvSpPr>
        <p:spPr>
          <a:xfrm>
            <a:off x="841248" y="1463040"/>
            <a:ext cx="10515600" cy="4114800"/>
          </a:xfrm>
        </p:spPr>
        <p:txBody>
          <a:bodyPr/>
          <a:lstStyle/>
          <a:p>
            <a:pPr/>
            <a:r>
              <a:rPr sz="2400"/>
              <a:t>空の光を「知っている光源の型紙の足し算」で表す</a:t>
            </a:r>
          </a:p>
          <a:p>
            <a:pPr lvl="1"/>
            <a:r>
              <a:rPr sz="2000"/>
              <a:t>予測 = Σ（倍率 f_l）×（型紙 l）</a:t>
            </a:r>
          </a:p>
          <a:p>
            <a:pPr/>
            <a:r>
              <a:rPr sz="2400"/>
              <a:t>型紙は 9 枚</a:t>
            </a:r>
          </a:p>
          <a:p>
            <a:pPr lvl="1"/>
            <a:r>
              <a:rPr sz="2000"/>
              <a:t>等方背景、ガス（π⁰ 崩壊＋制動放射）、ICS、点源</a:t>
            </a:r>
          </a:p>
          <a:p>
            <a:pPr lvl="1"/>
            <a:r>
              <a:rPr sz="2000"/>
              <a:t>Loop I（2 枚）、フェルミバブル（正・負）、ハロー</a:t>
            </a:r>
          </a:p>
          <a:p>
            <a:pPr/>
            <a:r>
              <a:rPr sz="2400"/>
              <a:t>ガスと ICS の型紙は、宇宙線のシミュレーション GALPROP で計算</a:t>
            </a:r>
          </a:p>
          <a:p>
            <a:pPr/>
            <a:r>
              <a:rPr sz="2400"/>
              <a:t>倍率 f_l をデータに合うように決める（ハローの f は負も許す）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§2.3</a:t>
            </a:r>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手法②：尤度（どれだけ合っているか）</a:t>
            </a:r>
          </a:p>
        </p:txBody>
      </p:sp>
      <p:sp>
        <p:nvSpPr>
          <p:cNvPr id="3" name="Content Placeholder 2"/>
          <p:cNvSpPr>
            <a:spLocks noGrp="1"/>
          </p:cNvSpPr>
          <p:nvPr>
            <p:ph idx="1"/>
          </p:nvPr>
        </p:nvSpPr>
        <p:spPr>
          <a:xfrm>
            <a:off x="841248" y="1463040"/>
            <a:ext cx="10515600" cy="4114800"/>
          </a:xfrm>
        </p:spPr>
        <p:txBody>
          <a:bodyPr/>
          <a:lstStyle/>
          <a:p>
            <a:pPr/>
            <a:r>
              <a:rPr sz="2400"/>
              <a:t>光子の数はポアソン分布でばらつく</a:t>
            </a:r>
          </a:p>
          <a:p>
            <a:pPr/>
            <a:r>
              <a:rPr sz="2400"/>
              <a:t>尤度：ln L = Σ_i [ C_obs,i ln C_exp,i − C_exp,i ]</a:t>
            </a:r>
          </a:p>
          <a:p>
            <a:pPr lvl="1"/>
            <a:r>
              <a:rPr sz="2000"/>
              <a:t>C_obs：観測した光子数、C_exp：予測した光子数</a:t>
            </a:r>
          </a:p>
          <a:p>
            <a:pPr lvl="1"/>
            <a:r>
              <a:rPr sz="2000"/>
              <a:t>i：10° × 10° のセル（空をマス目に分ける）</a:t>
            </a:r>
          </a:p>
          <a:p>
            <a:pPr/>
            <a:r>
              <a:rPr sz="2400"/>
              <a:t>ln L が最大になる倍率 f を探す（最尤推定）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T. Totani (2025), arXiv:2507.07209 式 (2.1)</a:t>
            </a:r>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pPr/>
            <a:r>
              <a:rPr sz="2400"/>
              <a:t>ハロー「あり」と「なし」の 2 通りで当てはめる</a:t>
            </a:r>
          </a:p>
          <a:p>
            <a:pPr/>
            <a:r>
              <a:rPr sz="2400"/>
              <a:t>差 Δln L = ln L(あり) − ln L(なし)</a:t>
            </a:r>
          </a:p>
          <a:p>
            <a:pPr/>
            <a:r>
              <a:rPr sz="2400"/>
              <a:t>有意度 σ = √( 2 Δln L )</a:t>
            </a:r>
          </a:p>
          <a:p>
            <a:pPr/>
            <a:r>
              <a:rPr sz="2400"/>
              <a:t>根拠：Wilks の定理</a:t>
            </a:r>
          </a:p>
          <a:p>
            <a:pPr lvl="1"/>
            <a:r>
              <a:rPr sz="2000"/>
              <a:t>データが十分多いと、2Δln L は自由度 1 の χ² 分布に従う</a:t>
            </a:r>
          </a:p>
          <a:p>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S. S. Wilks (1938), Ann. Math. Stat. 9, 60</a:t>
            </a:r>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手法④：MCMC（誤差の見積もり）</a:t>
            </a:r>
          </a:p>
        </p:txBody>
      </p:sp>
      <p:sp>
        <p:nvSpPr>
          <p:cNvPr id="3" name="Content Placeholder 2"/>
          <p:cNvSpPr>
            <a:spLocks noGrp="1"/>
          </p:cNvSpPr>
          <p:nvPr>
            <p:ph idx="1"/>
          </p:nvPr>
        </p:nvSpPr>
        <p:spPr>
          <a:xfrm>
            <a:off x="841248" y="1463040"/>
            <a:ext cx="10515600" cy="4114800"/>
          </a:xfrm>
        </p:spPr>
        <p:txBody>
          <a:bodyPr/>
          <a:lstStyle/>
          <a:p>
            <a:pPr/>
            <a:r>
              <a:rPr sz="2400"/>
              <a:t>最尤の 1 点だけでなく、倍率 f が「どれくらいの範囲にありうるか」を知りたい</a:t>
            </a:r>
          </a:p>
          <a:p>
            <a:pPr/>
            <a:r>
              <a:rPr sz="2400"/>
              <a:t>MCMC：尤度に比例する確率で、パラメータの空間を歩き回る</a:t>
            </a:r>
          </a:p>
          <a:p>
            <a:pPr lvl="1"/>
            <a:r>
              <a:rPr sz="2000"/>
              <a:t>歩いた跡の分布 = パラメータの事後分布 → 誤差棒</a:t>
            </a:r>
          </a:p>
          <a:p>
            <a:pPr/>
            <a:r>
              <a:rPr sz="2400"/>
              <a:t>emcee を使用：32 本の歩行者、最初の 400 歩は捨てる</a:t>
            </a:r>
          </a:p>
          <a:p>
            <a:pPr lvl="1"/>
            <a:r>
              <a:rPr sz="2000"/>
              <a:t>自己相関時間の 50 倍以上の長さがあるか確認</a:t>
            </a:r>
          </a:p>
          <a:p>
            <a:pPr/>
            <a:r>
              <a:rPr sz="2400"/>
              <a:t>有意度 σ は Δln L から出すので、MCMC の有無で変わらない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D. Foreman-Mackey et al. (2013), PASP 125, 306</a:t>
            </a:r>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結果：Totani の超過を再現</a:t>
            </a:r>
          </a:p>
        </p:txBody>
      </p:sp>
      <p:pic>
        <p:nvPicPr>
          <p:cNvPr id="3" name="Picture 2" descr="fig_significance_v20r.png"/>
          <p:cNvPicPr>
            <a:picLocks noChangeAspect="1"/>
          </p:cNvPicPr>
          <p:nvPr/>
        </p:nvPicPr>
        <p:blipFill>
          <a:blip r:embed="rId2"/>
          <a:stretch>
            <a:fillRect/>
          </a:stretch>
        </p:blipFill>
        <p:spPr>
          <a:xfrm>
            <a:off x="2377440" y="1234440"/>
            <a:ext cx="5334000" cy="416052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20.8 GeV で 19.0σ（Totani は 13–19σ）。山の位置も一致</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6035040"/>
            <a:ext cx="6093372" cy="923330"/>
          </a:xfrm>
          <a:prstGeom prst="rect">
            <a:avLst/>
          </a:prstGeom>
          <a:noFill/>
        </p:spPr>
        <p:txBody>
          <a:bodyPr wrap="square">
            <a:spAutoFit/>
          </a:bodyPr>
          <a:lstStyle/>
          <a:p>
            <a:r>
              <a:rPr lang="en-US" b="1" sz="1400"/>
              <a:t>Reference:</a:t>
            </a:r>
            <a:r>
              <a:rPr lang="en-US" sz="1400"/>
              <a:t> T. Totani (2025), arXiv:2507.07209 Fig. 9</a:t>
            </a:r>
            <a:endParaRPr lang="en-US"/>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pPr/>
            <a:r>
              <a:rPr sz="2200"/>
              <a:t>ICS とハローは、空の上での形がよく似ている</a:t>
            </a:r>
          </a:p>
          <a:p>
            <a:pPr lvl="1"/>
            <a:r>
              <a:rPr sz="1800"/>
              <a:t>緯度 25° → 55° で暗くなる割合：ハロー 2.74 倍、ICS 2.75 倍</a:t>
            </a:r>
          </a:p>
          <a:p>
            <a:pPr/>
            <a:r>
              <a:rPr sz="2200"/>
              <a:t>違いは「銀河中心の方向に集まっているか」だけ</a:t>
            </a:r>
          </a:p>
          <a:p>
            <a:pPr/>
            <a:r>
              <a:rPr sz="2200"/>
              <a:t>ハローを入れると、その分 ICS が暗くなる</a:t>
            </a:r>
          </a:p>
          <a:p>
            <a:pPr lvl="1"/>
            <a:r>
              <a:rPr sz="1800"/>
              <a:t>ハローの光の 8〜10 割は ICS から移ったもの</a:t>
            </a:r>
          </a:p>
        </p:txBody>
      </p:sp>
      <p:pic>
        <p:nvPicPr>
          <p:cNvPr id="4" name="Picture 3" descr="fig_ics_norm_v20r.png"/>
          <p:cNvPicPr>
            <a:picLocks noChangeAspect="1"/>
          </p:cNvPicPr>
          <p:nvPr/>
        </p:nvPicPr>
        <p:blipFill>
          <a:blip r:embed="rId3"/>
          <a:stretch>
            <a:fillRect/>
          </a:stretch>
        </p:blipFill>
        <p:spPr>
          <a:xfrm>
            <a:off x="6309360" y="1737360"/>
            <a:ext cx="5669280" cy="396849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縮退が引き起こした 3 つの疑問</a:t>
            </a:r>
          </a:p>
        </p:txBody>
      </p:sp>
      <p:sp>
        <p:nvSpPr>
          <p:cNvPr id="3" name="Content Placeholder 2"/>
          <p:cNvSpPr>
            <a:spLocks noGrp="1"/>
          </p:cNvSpPr>
          <p:nvPr>
            <p:ph idx="1"/>
          </p:nvPr>
        </p:nvSpPr>
        <p:spPr>
          <a:xfrm>
            <a:off x="841248" y="1463040"/>
            <a:ext cx="10515600" cy="4937760"/>
          </a:xfrm>
        </p:spPr>
        <p:txBody>
          <a:bodyPr/>
          <a:lstStyle/>
          <a:p>
            <a:pPr/>
            <a:r>
              <a:rPr sz="2400"/>
              <a:t>① バブル領域を外すと 19.0σ → 5.0σ に落ちる</a:t>
            </a:r>
          </a:p>
          <a:p>
            <a:pPr lvl="1"/>
            <a:r>
              <a:rPr sz="2000"/>
              <a:t>ハローは、本当は ICS やバブルの間違いでは？</a:t>
            </a:r>
          </a:p>
          <a:p>
            <a:pPr/>
            <a:r>
              <a:rPr sz="2400"/>
              <a:t>② 何も無い空でも、最大 4.5σ が出る</a:t>
            </a:r>
          </a:p>
          <a:p>
            <a:pPr lvl="1"/>
            <a:r>
              <a:rPr sz="2000"/>
              <a:t>σ をそのまま信じてよいのか？</a:t>
            </a:r>
          </a:p>
          <a:p>
            <a:pPr/>
            <a:r>
              <a:rPr sz="2400"/>
              <a:t>③ 7/23 に出した 19.1σ が再現できない</a:t>
            </a:r>
          </a:p>
          <a:p>
            <a:pPr lvl="1"/>
            <a:r>
              <a:rPr sz="2000"/>
              <a:t>結果そのものを信じてよいのか？</a:t>
            </a:r>
          </a:p>
          <a:p>
            <a:pPr/>
            <a:r>
              <a:rPr sz="2400"/>
              <a:t>→ 次から、1 つずつ調べた結果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pPr/>
            <a:r>
              <a:rPr sz="2200"/>
              <a:t>フィッシャー情報：データがパラメータをどれだけ決められるか</a:t>
            </a:r>
          </a:p>
          <a:p>
            <a:pPr/>
            <a:r>
              <a:rPr sz="2200"/>
              <a:t>ICS など他の成分では説明できない「ハローだけの手がかり」を、空の場所ごとに計算</a:t>
            </a:r>
          </a:p>
          <a:p>
            <a:pPr lvl="1"/>
            <a:r>
              <a:rPr sz="1800"/>
              <a:t>その 54% がバブル領域（面積は 34%）に集中</a:t>
            </a:r>
          </a:p>
          <a:p>
            <a:pPr/>
            <a:r>
              <a:rPr sz="2200"/>
              <a:t>手がかりの減り方だけで予測すると 6.4σ、実測 5.0σ</a:t>
            </a:r>
          </a:p>
          <a:p>
            <a:pPr/>
            <a:r>
              <a:rPr sz="2200"/>
              <a:t>同じ形の領域を横にずらして外すと 13〜16σ（予測とも一致）</a:t>
            </a:r>
          </a:p>
          <a:p>
            <a:pPr/>
            <a:r>
              <a:rPr sz="2200"/>
              <a:t>→ 19 → 5σ は「手がかりを捨てた」から。汚染の証拠ではない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pPr/>
            <a:r>
              <a:rPr sz="2200"/>
              <a:t>ICS をバブルの内と外で別々の明るさにして当てはめた</a:t>
            </a:r>
          </a:p>
          <a:p>
            <a:pPr lvl="1"/>
            <a:r>
              <a:rPr sz="1800"/>
              <a:t>内側が約 2.3 倍明るければ、ハローの改善の 92% を ICS が説明</a:t>
            </a:r>
          </a:p>
          <a:p>
            <a:pPr/>
            <a:r>
              <a:rPr sz="2200"/>
              <a:t>ICS の計算の近似（等方近似）を直しても 1.1〜1.3 倍</a:t>
            </a:r>
          </a:p>
          <a:p>
            <a:pPr lvl="1"/>
            <a:r>
              <a:rPr sz="1800"/>
              <a:t>しかも外側のほうが大きくなる → 2.3 倍には届かない</a:t>
            </a:r>
          </a:p>
          <a:p>
            <a:pPr/>
            <a:r>
              <a:rPr sz="2200"/>
              <a:t>ICS を 3 種類に分けて、それぞれ自由に動かしても</a:t>
            </a:r>
          </a:p>
          <a:p>
            <a:pPr lvl="1"/>
            <a:r>
              <a:rPr sz="1800"/>
              <a:t>19.5σ → 18.4σ（約 1σ しか下がらない）</a:t>
            </a:r>
          </a:p>
          <a:p>
            <a:pPr/>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I. V. Moskalenko &amp; A. W. Strong (2000), ApJ 528, 357</a:t>
            </a:r>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pPr/>
            <a:r>
              <a:rPr sz="2200"/>
              <a:t>何も無い空 23 か所で、天の川と同じ解析をした</a:t>
            </a:r>
          </a:p>
          <a:p>
            <a:pPr/>
            <a:r>
              <a:rPr sz="2200"/>
              <a:t>本物の信号が無ければ、σ は「平均 0、ばらつき 1」になるはず</a:t>
            </a:r>
          </a:p>
          <a:p>
            <a:pPr lvl="1"/>
            <a:r>
              <a:rPr sz="1800"/>
              <a:t>Wilks の定理が成り立っていれば</a:t>
            </a:r>
          </a:p>
          <a:p>
            <a:pPr/>
            <a:r>
              <a:rPr sz="2200"/>
              <a:t>実際のばらつき：1.26（95% 区間 1.14–1.39）</a:t>
            </a:r>
          </a:p>
          <a:p>
            <a:pPr lvl="1"/>
            <a:r>
              <a:rPr sz="1800"/>
              <a:t>σ は 1.26 倍大きく出ている</a:t>
            </a:r>
          </a:p>
          <a:p>
            <a:pPr/>
            <a:r>
              <a:rPr sz="2200"/>
              <a:t>19.0σ を較正すると 19.0 ÷ 1.26 ≈ 15σ（13.7–16.6σ）</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 Efron &amp; R. J. Tibshirani (1993), An Introduction to the Bootstrap</a:t>
            </a:r>
            <a:endParaRPr lang="en-US"/>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② の結果：エネルギーごとのばらつき</a:t>
            </a:r>
          </a:p>
        </p:txBody>
      </p:sp>
      <p:pic>
        <p:nvPicPr>
          <p:cNvPr id="3" name="Picture 2" descr="fig_null_variance.png"/>
          <p:cNvPicPr>
            <a:picLocks noChangeAspect="1"/>
          </p:cNvPicPr>
          <p:nvPr/>
        </p:nvPicPr>
        <p:blipFill>
          <a:blip r:embed="rId2"/>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どのエネルギーでもばらつきは 1 より大きい（光子が十分ある範囲）</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③ を調べる：19.1σ が再現できない理由</a:t>
            </a:r>
          </a:p>
        </p:txBody>
      </p:sp>
      <p:sp>
        <p:nvSpPr>
          <p:cNvPr id="3" name="Content Placeholder 2"/>
          <p:cNvSpPr>
            <a:spLocks noGrp="1"/>
          </p:cNvSpPr>
          <p:nvPr>
            <p:ph idx="1"/>
          </p:nvPr>
        </p:nvSpPr>
        <p:spPr>
          <a:xfrm>
            <a:off x="841248" y="1463040"/>
            <a:ext cx="10515600" cy="4937760"/>
          </a:xfrm>
        </p:spPr>
        <p:txBody>
          <a:bodyPr/>
          <a:lstStyle/>
          <a:p>
            <a:pPr/>
            <a:r>
              <a:rPr sz="2400"/>
              <a:t>7/23 の計算の直後にコードを直していて、当時の状態が残っていなかった</a:t>
            </a:r>
          </a:p>
          <a:p>
            <a:pPr/>
            <a:r>
              <a:rPr sz="2400"/>
              <a:t>今のコードは、何度計算しても同じ答えになる（10/1 に確認）</a:t>
            </a:r>
          </a:p>
          <a:p>
            <a:pPr/>
            <a:r>
              <a:rPr sz="2400"/>
              <a:t>結果ファイルに、コードの版と設定を自動で記録するようにした</a:t>
            </a:r>
          </a:p>
          <a:p>
            <a:pPr/>
            <a:r>
              <a:rPr sz="2400"/>
              <a:t>→ 主結果を 19.0σ（10/1 の再計算）に統一</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pPr/>
            <a:r>
              <a:rPr sz="2400"/>
              <a:t>ICS の明るさ・バブル・計算の近似の間違いでは、超過を説明できない</a:t>
            </a:r>
          </a:p>
          <a:p>
            <a:pPr/>
            <a:r>
              <a:rPr sz="2400"/>
              <a:t>σ は 1.26 倍の過大評価 → 較正すると約 15σ</a:t>
            </a:r>
          </a:p>
          <a:p>
            <a:pPr/>
            <a:r>
              <a:rPr sz="2400"/>
              <a:t>ただし、暗黒物質の証拠ではない</a:t>
            </a:r>
          </a:p>
          <a:p>
            <a:pPr lvl="1"/>
            <a:r>
              <a:rPr sz="2000"/>
              <a:t>ICS の「空間の形」の間違いは否定できていない</a:t>
            </a:r>
          </a:p>
          <a:p>
            <a:pPr/>
            <a:r>
              <a:rPr sz="2400"/>
              <a:t>→ 独立な確認として、矮小銀河を見る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pPr/>
            <a:r>
              <a:rPr sz="2400"/>
              <a:t>矮小銀河：天の川のまわりの小さな銀河</a:t>
            </a:r>
          </a:p>
          <a:p>
            <a:pPr lvl="1"/>
            <a:r>
              <a:rPr sz="2000"/>
              <a:t>暗黒物質が多く、ガスや星形成が少ない（雑音が少ない）</a:t>
            </a:r>
          </a:p>
          <a:p>
            <a:pPr/>
            <a:r>
              <a:rPr sz="2400"/>
              <a:t>暗黒物質なら、矮小銀河からも同じ 20 GeV の光が来るはず</a:t>
            </a:r>
          </a:p>
          <a:p>
            <a:pPr/>
            <a:r>
              <a:rPr sz="2400"/>
              <a:t>同じ手法を、各天体のまわり半径 10° に使った</a:t>
            </a:r>
          </a:p>
          <a:p>
            <a:pPr lvl="1"/>
            <a:r>
              <a:rPr sz="2000"/>
              <a:t>矮小銀河 54 ＋ M31・M33 ＋ 何も無い空 23 か所</a:t>
            </a:r>
          </a:p>
          <a:p>
            <a:pPr/>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A. B. Pace (2025), Open J. Astrophys. 8, 142</a:t>
            </a:r>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pPr/>
            <a:r>
              <a:rPr sz="2400"/>
              <a:t>対消滅の明るさ：F = ⟨σv⟩ / (8π m²) × dN/dE × J</a:t>
            </a:r>
          </a:p>
          <a:p>
            <a:pPr/>
            <a:r>
              <a:rPr sz="2400"/>
              <a:t>J ファクター = 暗黒物質の密度の 2 乗を、視線方向に足し合わせた量</a:t>
            </a:r>
          </a:p>
          <a:p>
            <a:pPr/>
            <a:r>
              <a:rPr sz="2400"/>
              <a:t>天の川と矮小銀河で粒子は同じ → 比をとると J の比だけが残る</a:t>
            </a:r>
          </a:p>
          <a:p>
            <a:pPr lvl="1"/>
            <a:r>
              <a:rPr sz="2000"/>
              <a:t>F_矮小 = F_天の川 × J_矮小 / J_天の川</a:t>
            </a:r>
          </a:p>
          <a:p>
            <a:pPr/>
            <a:r>
              <a:rPr sz="2400"/>
              <a:t>粒子の質量などを仮定せずに「何σ見えるはずか」が出る</a:t>
            </a:r>
          </a:p>
          <a:p>
            <a:pPr/>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A. B. Pace &amp; L. E. Strigari (2019), MNRAS 482, 3480</a:t>
            </a:r>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結果：どこにも信号は見えなかった</a:t>
            </a:r>
          </a:p>
        </p:txBody>
      </p:sp>
      <p:pic>
        <p:nvPicPr>
          <p:cNvPr id="3" name="Picture 2" descr="fig_dwarf_results.png"/>
          <p:cNvPicPr>
            <a:picLocks noChangeAspect="1"/>
          </p:cNvPicPr>
          <p:nvPr/>
        </p:nvPicPr>
        <p:blipFill>
          <a:blip r:embed="rId2"/>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+3.46σ（何も無い空でも 4.50σ）</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pPr/>
            <a:r>
              <a:rPr sz="2400"/>
              <a:t>1 個ずつでは弱いので、J が求まる 43 天体をまとめる</a:t>
            </a:r>
          </a:p>
          <a:p>
            <a:pPr/>
            <a:r>
              <a:rPr sz="2400"/>
              <a:t>T = Σ w_i z_i / √( Σ w_i² )、重み w_i = 天体 i の予測 σ</a:t>
            </a:r>
          </a:p>
          <a:p>
            <a:pPr lvl="1"/>
            <a:r>
              <a:rPr sz="2000"/>
              <a:t>z_i：天体 i の実測の σ（20 GeV）</a:t>
            </a:r>
          </a:p>
          <a:p>
            <a:pPr/>
            <a:r>
              <a:rPr sz="2400"/>
              <a:t>暗黒物質が無ければ：T は平均 0、ばらつき 1</a:t>
            </a:r>
          </a:p>
          <a:p>
            <a:pPr/>
            <a:r>
              <a:rPr sz="2400"/>
              <a:t>暗黒物質があれば：T の平均 = √( Σ pred_i² ) = 1.73</a:t>
            </a:r>
          </a:p>
          <a:p>
            <a:pPr/>
            <a:r>
              <a:rPr sz="2400"/>
              <a:t>実測 T = 0.39 → ずれ 1.3σ</a:t>
            </a:r>
          </a:p>
          <a:p>
            <a:pPr/>
            <a:r>
              <a:rPr sz="2400"/>
              <a:t>ただし、ここでは J に誤差は無いとしていた</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pPr/>
            <a:r>
              <a:rPr sz="2400"/>
              <a:t>文献ごとの J の値は、書かれた誤差よりも大きくばらつく</a:t>
            </a:r>
          </a:p>
          <a:p>
            <a:pPr/>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pPr/>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§II</a:t>
            </a:r>
            <a:endParaRPr lang="en-US"/>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pPr/>
            <a:r>
              <a:rPr sz="2200"/>
              <a:t>Fermi-LAT の観測を計算機の中で作る（FermiTools、fermipy）</a:t>
            </a:r>
          </a:p>
          <a:p>
            <a:pPr lvl="1"/>
            <a:r>
              <a:rPr sz="1800"/>
              <a:t>17.4 年分、0.5 GeV〜1 TeV、10° × 10° の領域、0.08° の画素</a:t>
            </a:r>
          </a:p>
          <a:p>
            <a:pPr/>
            <a:r>
              <a:rPr sz="2200"/>
              <a:t>背景：銀河の拡散光＋等方の光から、ポアソン乱数で光子を作る</a:t>
            </a:r>
          </a:p>
          <a:p>
            <a:pPr/>
            <a:r>
              <a:rPr sz="2200"/>
              <a:t>暗黒物質の信号を入れる</a:t>
            </a:r>
          </a:p>
          <a:p>
            <a:pPr lvl="1"/>
            <a:r>
              <a:rPr sz="1800"/>
              <a:t>質量 42 GeV、b クォーク対、⟨σv⟩ = 1.4 × 10⁻²⁶ cm³/s</a:t>
            </a:r>
          </a:p>
          <a:p>
            <a:pPr lvl="1"/>
            <a:r>
              <a:rPr sz="1800"/>
              <a:t>銀河中心 GeV 超過（GCE）に合う値</a:t>
            </a:r>
          </a:p>
          <a:p>
            <a:pPr/>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§III</a:t>
            </a:r>
            <a:endParaRPr lang="en-US"/>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pPr/>
            <a:r>
              <a:rPr sz="2200"/>
              <a:t>各天体の尤度 = 光子のポアソン尤度 × J の尤度</a:t>
            </a:r>
          </a:p>
          <a:p>
            <a:pPr lvl="1"/>
            <a:r>
              <a:rPr sz="1800"/>
              <a:t>L_J ∝ exp[ −(log₁₀J − log₁₀J_obs)² / 2σ_L² ]</a:t>
            </a:r>
          </a:p>
          <a:p>
            <a:pPr/>
            <a:r>
              <a:rPr sz="2200"/>
              <a:t>27 個は尤度の積でまとめる（⟨σv⟩ は共通、J は天体ごと）</a:t>
            </a:r>
          </a:p>
          <a:p>
            <a:pPr/>
            <a:r>
              <a:rPr sz="2200"/>
              <a:t>2 つの誤差を分けて動かす</a:t>
            </a:r>
          </a:p>
          <a:p>
            <a:pPr lvl="1"/>
            <a:r>
              <a:rPr sz="1800"/>
              <a:t>σ：J の本当のばらつき（J_obs を J_true のまわりに σ でばらつかせる）</a:t>
            </a:r>
          </a:p>
          <a:p>
            <a:pPr lvl="1"/>
            <a:r>
              <a:rPr sz="1800"/>
              <a:t>σ_L：解析で仮定する幅</a:t>
            </a:r>
          </a:p>
          <a:p>
            <a:pPr/>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式 (6)–(10)</a:t>
            </a:r>
            <a:endParaRPr lang="en-US"/>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pPr/>
            <a:r>
              <a:rPr sz="2400"/>
              <a:t>本物の信号を入れた仮想データを何度も作る</a:t>
            </a:r>
          </a:p>
          <a:p>
            <a:pPr lvl="1"/>
            <a:r>
              <a:rPr sz="2000"/>
              <a:t>Ursa Minor で 1000 回（基準の設定では 1 万回）</a:t>
            </a:r>
          </a:p>
          <a:p>
            <a:pPr/>
            <a:r>
              <a:rPr sz="2400"/>
              <a:t>それぞれで 95% 上限を出す</a:t>
            </a:r>
          </a:p>
          <a:p>
            <a:pPr/>
            <a:r>
              <a:rPr sz="2400"/>
              <a:t>上限が本物の ⟨σv⟩ より下 =「本物を無いと間違えた」</a:t>
            </a:r>
          </a:p>
          <a:p>
            <a:pPr/>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a:t>
            </a:r>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pPr/>
            <a:r>
              <a:rPr sz="2400"/>
              <a:t>σ_L を 0.3 / 0.5 / 1.0 だけ大きくすると</a:t>
            </a:r>
          </a:p>
          <a:p>
            <a:pPr lvl="1"/>
            <a:r>
              <a:rPr sz="2000"/>
              <a:t>上限が 1.5 / 2.5 / 11 倍ゆるくなる</a:t>
            </a:r>
          </a:p>
          <a:p>
            <a:pPr/>
            <a:r>
              <a:rPr sz="2400"/>
              <a:t>本当の誤差 σ だけ大きく、σ_L は小さいままだと</a:t>
            </a:r>
          </a:p>
          <a:p>
            <a:pPr lvl="1"/>
            <a:r>
              <a:rPr sz="2000"/>
              <a:t>本物を除外する割合 1.7% / 8.0% / 22%</a:t>
            </a:r>
          </a:p>
          <a:p>
            <a:pPr lvl="1"/>
            <a:r>
              <a:rPr sz="2000"/>
              <a:t>σ_L を σ に合わせれば 5% 以下に戻る</a:t>
            </a:r>
          </a:p>
          <a:p>
            <a:pPr/>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 Fig. 2–4</a:t>
            </a:r>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pPr/>
            <a:r>
              <a:rPr sz="2200"/>
              <a:t>σ_L を 0.3 / 0.5 / 1.0 → 上限 1.14 / 1.44 / 3.23 倍ゆるく</a:t>
            </a:r>
          </a:p>
          <a:p>
            <a:pPr/>
            <a:r>
              <a:rPr sz="2200"/>
              <a:t>誤差を正しく入れても、本物を除外する割合 21%（5% のはず）</a:t>
            </a:r>
          </a:p>
          <a:p>
            <a:pPr lvl="1"/>
            <a:r>
              <a:rPr sz="1800"/>
              <a:t>J の数が天体の数と一緒に増え、Wilks の定理の前提が崩れる</a:t>
            </a:r>
          </a:p>
          <a:p>
            <a:pPr/>
            <a:r>
              <a:rPr sz="2200"/>
              <a:t>本当の誤差を 0.3 / 0.5 / 1.0 大きくすると 31% / 49% / 88%</a:t>
            </a:r>
          </a:p>
          <a:p>
            <a:pPr lvl="1"/>
            <a:r>
              <a:rPr sz="1800"/>
              <a:t>σ_L を合わせても 23% / 28% / 38%</a:t>
            </a:r>
          </a:p>
          <a:p>
            <a:pPr/>
            <a:r>
              <a:rPr sz="2200"/>
              <a:t>原因：J が上に振れた天体が、上限を決めてしまう</a:t>
            </a:r>
          </a:p>
          <a:p>
            <a:pPr/>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§V, Fig. 5–7</a:t>
            </a:r>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pPr/>
            <a:r>
              <a:rPr sz="2400"/>
              <a:t>J の誤差や形を雑に扱うと、上限は厳しく出すぎ、本物の信号を除外しやすい</a:t>
            </a:r>
          </a:p>
          <a:p>
            <a:pPr/>
            <a:r>
              <a:rPr sz="2400"/>
              <a:t>「銀河中心と矮小銀河が矛盾する」とは、まだ言えない</a:t>
            </a:r>
          </a:p>
          <a:p>
            <a:pPr/>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§VI</a:t>
            </a:r>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pPr/>
            <a:r>
              <a:rPr sz="2400"/>
              <a:t>これまで：J の誤差 = 0（J は推定値そのまま）</a:t>
            </a:r>
          </a:p>
          <a:p>
            <a:pPr/>
            <a:r>
              <a:rPr sz="2400"/>
              <a:t>今回：各天体の本当の J = 推定値 × 10^δ_i</a:t>
            </a:r>
          </a:p>
          <a:p>
            <a:pPr lvl="1"/>
            <a:r>
              <a:rPr sz="2000"/>
              <a:t>δ_i は平均 0、幅 0.5 の正規分布（天体ごとに独立）</a:t>
            </a:r>
          </a:p>
          <a:p>
            <a:pPr lvl="1"/>
            <a:r>
              <a:rPr sz="2000"/>
              <a:t>→ J がおよそ 1/3 倍〜3 倍の範囲でずれる</a:t>
            </a:r>
          </a:p>
          <a:p>
            <a:pPr/>
            <a:r>
              <a:rPr sz="2400"/>
              <a:t>予測 σ は J に比例 → pred_i × 10^δ_i</a:t>
            </a:r>
          </a:p>
          <a:p>
            <a:pPr/>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Bertólez-Martínez, Hooper &amp; Khatee Zathul (2026), arXiv:2609.20944 §IV</a:t>
            </a:r>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pPr/>
            <a:r>
              <a:rPr sz="2400"/>
              <a:t>暗黒物質ありで期待される T</a:t>
            </a:r>
          </a:p>
          <a:p>
            <a:pPr lvl="1"/>
            <a:r>
              <a:rPr sz="2000"/>
              <a:t>誤差なし：E[T] = Σ w_i pred_i / √Σ w_i² = 1.73</a:t>
            </a:r>
          </a:p>
          <a:p>
            <a:pPr lvl="1"/>
            <a:r>
              <a:rPr sz="2000"/>
              <a:t>誤差あり：E[T] = Σ w_i pred_i 10^δ_i / √Σ w_i²  ← δ でばらつく</a:t>
            </a:r>
          </a:p>
          <a:p>
            <a:pPr/>
            <a:r>
              <a:rPr sz="2400"/>
              <a:t>実測 T にも測定の揺れ s がある（s = 1、または空で測った 1.26）</a:t>
            </a:r>
          </a:p>
          <a:p>
            <a:pPr/>
            <a:r>
              <a:rPr sz="2400"/>
              <a:t>暗黒物質ありで、実測 0.39 以下になる確率</a:t>
            </a:r>
          </a:p>
          <a:p>
            <a:pPr lvl="1"/>
            <a:r>
              <a:rPr sz="2000"/>
              <a:t>p = （δ について平均）Φ( (0.39 − E[T]) / s )</a:t>
            </a:r>
          </a:p>
          <a:p>
            <a:pPr/>
            <a:r>
              <a:rPr sz="2400"/>
              <a:t>p を σ に直したもの =「ずれ」</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結果：予測の幅と実測</a:t>
            </a:r>
          </a:p>
        </p:txBody>
      </p:sp>
      <p:pic>
        <p:nvPicPr>
          <p:cNvPr id="3" name="Picture 2" descr="fig_dwarf_J_uncertainty.png"/>
          <p:cNvPicPr>
            <a:picLocks noChangeAspect="1"/>
          </p:cNvPicPr>
          <p:nvPr/>
        </p:nvPicPr>
        <p:blipFill>
          <a:blip r:embed="rId2"/>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1.7σ → J の誤差で 1.3〜5.0σ に広がる。実測 0.4σ ± 1.26。ずれ 1.3σ</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pPr/>
            <a:r>
              <a:rPr sz="2400"/>
              <a:t>局所密度 0.42 GeV/cm³ の場合（43 天体、20 GeV）</a:t>
            </a:r>
          </a:p>
          <a:p>
            <a:pPr lvl="1"/>
            <a:r>
              <a:rPr sz="2000"/>
              <a:t>J の誤差なし：期待 1.73、ずれ 1.3σ（s = 1.26 なら 1.1σ）</a:t>
            </a:r>
          </a:p>
          <a:p>
            <a:pPr lvl="1"/>
            <a:r>
              <a:rPr sz="2000"/>
              <a:t>J の誤差あり：期待 2.4（68% で 1.3–5.0）、ずれ 1.5σ（1.3σ）</a:t>
            </a:r>
          </a:p>
          <a:p>
            <a:pPr/>
            <a:r>
              <a:rPr sz="2400"/>
              <a:t>天の川側の局所密度を 0.3〜0.6 GeV/cm³ で動かしても</a:t>
            </a:r>
          </a:p>
          <a:p>
            <a:pPr lvl="1"/>
            <a:r>
              <a:rPr sz="2000"/>
              <a:t>ずれは較正後 2.4σ 以下</a:t>
            </a:r>
          </a:p>
          <a:p>
            <a:pPr/>
            <a:r>
              <a:rPr sz="2400"/>
              <a:t>→ 暗黒物質と矛盾はしないが、確認もできない（判定できない）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2 つの数字の違い：15σ と 1.3σ</a:t>
            </a:r>
          </a:p>
        </p:txBody>
      </p:sp>
      <p:sp>
        <p:nvSpPr>
          <p:cNvPr id="3" name="Content Placeholder 2"/>
          <p:cNvSpPr>
            <a:spLocks noGrp="1"/>
          </p:cNvSpPr>
          <p:nvPr>
            <p:ph idx="1"/>
          </p:nvPr>
        </p:nvSpPr>
        <p:spPr>
          <a:xfrm>
            <a:off x="841248" y="1463040"/>
            <a:ext cx="10515600" cy="4937760"/>
          </a:xfrm>
        </p:spPr>
        <p:txBody>
          <a:bodyPr/>
          <a:lstStyle/>
          <a:p>
            <a:pPr/>
            <a:r>
              <a:rPr sz="2400"/>
              <a:t>約 15σ：天の川のハロー超過の強さ</a:t>
            </a:r>
          </a:p>
          <a:p>
            <a:pPr lvl="1"/>
            <a:r>
              <a:rPr sz="2000"/>
              <a:t>19.0σ を、何も無い空でのばらつき 1.26 で割ったもの</a:t>
            </a:r>
          </a:p>
          <a:p>
            <a:pPr lvl="1"/>
            <a:r>
              <a:rPr sz="2000"/>
              <a:t>「天の川に、背景では説明しにくい何かがある」</a:t>
            </a:r>
          </a:p>
          <a:p>
            <a:pPr/>
            <a:r>
              <a:rPr sz="2400"/>
              <a:t>1.3σ：矮小銀河での「予測と実測のずれ」</a:t>
            </a:r>
          </a:p>
          <a:p>
            <a:pPr lvl="1"/>
            <a:r>
              <a:rPr sz="2000"/>
              <a:t>「天の川の超過が暗黒物質だとしても、矮小銀河の結果と矛盾しない」</a:t>
            </a:r>
          </a:p>
          <a:p>
            <a:pPr/>
            <a:r>
              <a:rPr sz="2400"/>
              <a:t>別のものを測った、別の数字</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pPr/>
            <a:r>
              <a:rPr sz="2400"/>
              <a:t>Totani の超過を再現（名目 19.0σ、較正後 約 15σ）</a:t>
            </a:r>
          </a:p>
          <a:p>
            <a:pPr/>
            <a:r>
              <a:rPr sz="2400"/>
              <a:t>ICS の明るさ・バブル・計算の近似の間違いでは説明できない</a:t>
            </a:r>
          </a:p>
          <a:p>
            <a:pPr lvl="1"/>
            <a:r>
              <a:rPr sz="2000"/>
              <a:t>暗黒物質の証拠ではない（ICS の空間の形は未確認）</a:t>
            </a:r>
          </a:p>
          <a:p>
            <a:pPr/>
            <a:r>
              <a:rPr sz="2400"/>
              <a:t>矮小銀河では非検出</a:t>
            </a:r>
          </a:p>
          <a:p>
            <a:pPr lvl="1"/>
            <a:r>
              <a:rPr sz="2000"/>
              <a:t>J の誤差（約 3 倍）を入れると、予測とのずれは 1.3σ → 判定できない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pPr/>
            <a:r>
              <a:rPr sz="2400"/>
              <a:t>σ が 1.26 倍に膨らんだ原因</a:t>
            </a:r>
          </a:p>
          <a:p>
            <a:pPr lvl="1"/>
            <a:r>
              <a:rPr sz="2000"/>
              <a:t>尤度は「型紙（GALPROP）は完璧、誤差は光子の数のばらつきだけ」と仮定</a:t>
            </a:r>
          </a:p>
          <a:p>
            <a:pPr lvl="1"/>
            <a:r>
              <a:rPr sz="2000"/>
              <a:t>型紙そのものの誤差が、統計モデルに入っていない</a:t>
            </a:r>
          </a:p>
          <a:p>
            <a:pPr/>
            <a:r>
              <a:rPr sz="2400"/>
              <a:t>データ同化：シミュレーションの誤差と観測の誤差を分けて、統計モデルに入れる枠組み</a:t>
            </a:r>
          </a:p>
          <a:p>
            <a:pPr/>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sz="1400"/>
              <a:t>Reference:</a:t>
            </a:r>
            <a:r>
              <a:rPr lang="en-US" sz="1400"/>
              <a:t> 中村和幸 (2017), 数理解析研究所講究録 2057, 59–66</a:t>
            </a:r>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pPr/>
            <a:r>
              <a:rPr sz="1800"/>
              <a:t>T. Totani (2025), arXiv:2507.07209</a:t>
            </a:r>
          </a:p>
          <a:p>
            <a:pPr/>
            <a:r>
              <a:rPr sz="1800"/>
              <a:t>Bertólez-Martínez, Hooper &amp; Khatee Zathul (2026), arXiv:2609.20944</a:t>
            </a:r>
          </a:p>
          <a:p>
            <a:pPr/>
            <a:r>
              <a:rPr sz="1800"/>
              <a:t>S. S. Wilks (1938), Ann. Math. Stat. 9, 60</a:t>
            </a:r>
          </a:p>
          <a:p>
            <a:pPr/>
            <a:r>
              <a:rPr sz="1800"/>
              <a:t>D. Foreman-Mackey et al. (2013), PASP 125, 306</a:t>
            </a:r>
          </a:p>
          <a:p>
            <a:pPr/>
            <a:r>
              <a:rPr sz="1800"/>
              <a:t>I. V. Moskalenko &amp; A. W. Strong (2000), ApJ 528, 357</a:t>
            </a:r>
          </a:p>
          <a:p>
            <a:pPr/>
            <a:r>
              <a:rPr sz="1800"/>
              <a:t>B. Efron &amp; R. J. Tibshirani (1993), An Introduction to the Bootstrap</a:t>
            </a:r>
          </a:p>
          <a:p>
            <a:pPr/>
            <a:r>
              <a:rPr sz="1800"/>
              <a:t>A. B. Pace (2025), Open J. Astrophys. 8, 142</a:t>
            </a:r>
          </a:p>
          <a:p>
            <a:pPr/>
            <a:r>
              <a:rPr sz="1800"/>
              <a:t>A. B. Pace &amp; L. E. Strigari (2019), MNRAS 482, 3480</a:t>
            </a:r>
          </a:p>
          <a:p>
            <a:pPr/>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65</Words>
  <Application>Microsoft Office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PowerPoint Presentation</vt:lpstr>
      <vt:lpstr>PowerPoint Presentation</vt:lpstr>
      <vt:lpstr>詳細なmethodについて</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1</cp:revision>
  <dcterms:created xsi:type="dcterms:W3CDTF">2026-10-01T06:55:31Z</dcterms:created>
  <dcterms:modified xsi:type="dcterms:W3CDTF">2026-10-01T06:57:06Z</dcterms:modified>
</cp:coreProperties>
</file>