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5"/>
    <p:sldId id="257" r:id="rId3"/>
    <p:sldId id="258" r:id="rId2"/>
    <p:sldId id="259" r:id="rId10"/>
    <p:sldId id="260" r:id="rId11"/>
    <p:sldId id="261" r:id="rId12"/>
    <p:sldId id="262" r:id="rId13"/>
    <p:sldId id="263" r:id="rId14"/>
    <p:sldId id="264" r:id="rId15"/>
    <p:sldId id="265" r:id="rId16"/>
    <p:sldId id="266" r:id="rId17"/>
    <p:sldId id="267" r:id="rId18"/>
    <p:sldId id="2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47" d="100"/>
          <a:sy n="47" d="100"/>
        </p:scale>
        <p:origin x="62" y="1109"/>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今日は、前回までの再現の結果、そこで起きた問題、その原因を調べた結果、矮小銀河への適用の順に話します。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(2025, arXiv:2507.07209) は、天の川を包む暗黒物質のハローから 20 GeV 付近に余分なガンマ線があると報告した (13–19σ)。WIMP の質量 0.5–0.8 TeV。</a:t>
            </a:r>
          </a:p>
          <a:p>
            <a:r>
              <a:t>これは銀河中心の GeV 超過 (GCE、35–65 GeV の WIMP) とは別の信号。</a:t>
            </a:r>
          </a:p>
          <a:p>
            <a:r>
              <a:t>方法: Fermi-LAT の 15 年分のデータ。13 のエネルギーごとに、9 種類の成分 (等方背景、GALPROP のガスと ICS、点源、Loop I、フェルミバブル正負、NFW ハロー) の明るさを同時に決める。ハロー有り・無しの当てはまりの差から有意度を出す。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青が本研究、赤が Totani の Fig.9 を読み取ったもの。</a:t>
            </a:r>
          </a:p>
          <a:p>
            <a:r>
              <a:t>Bin6 (20.76 GeV) で 19.0σ、Bin5 (12.3 GeV) で 19.7σ。1.5 GeV で負になる・2.5 GeV で谷・12–21 GeV で頂点・200 GeV 以上でほぼ 0、という形も Totani と同じ。</a:t>
            </a:r>
          </a:p>
          <a:p>
            <a:r>
              <a:t>本研究のほうが 1.3〜1.6 倍大きく出ている。</a:t>
            </a:r>
          </a:p>
          <a:p>
            <a:r>
              <a:t>7/23 の値 (19.1σ) は計算時の記録が無く再現できなかったので、10/1 に記録付きで再計算した v20r に差し替えた。同じ計算を 2 回して最後の桁まで一致することも確認した。</a:t>
            </a:r>
          </a:p>
          <a:p>
            <a:r>
              <a:t>注意: σ は名目値。空の領域で試すと過大評価になっている (後で説明)。</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部屋に電球 (ICS) がついていて、もう 1 つの光 (ハロー) を探している。写真で見ると 2 つの光の形がほとんど同じなので、余った明るさが本当にもう 1 つの光なのか、電球が少し明るいだけなのか見分けにくい。これが縮退。</a:t>
            </a:r>
          </a:p>
          <a:p>
            <a:r>
              <a:t>図: ICS の明るさ (GALPROP の予測の何倍か)。ハロー無しだと全エネルギーで約 1.6 倍で平ら。ハローを入れると、ハローが効く 7〜170 GeV でだけ大きくへこむ (59 GeV で 0.18)。</a:t>
            </a:r>
          </a:p>
          <a:p>
            <a:r>
              <a:t>ハローを入れたときに ICS から減った光は、ハローの光とほぼ同じ量 (0.8〜1.0 倍)。</a:t>
            </a:r>
          </a:p>
          <a:p>
            <a:r>
              <a:t>緯度方向の暗くなり方も、ハローと ICS (星の光) でほぼ同じ (|b| 25°→55° で 2.74 倍と 2.75 倍)。</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フェルミバブル = 銀河中心から上下に伸びる巨大なガンマ線の泡。矩形 |l|&lt;22°, 10°&lt;|b|&lt;55° を当てはめから外した。</a:t>
            </a:r>
          </a:p>
          <a:p>
            <a:r>
              <a:t>同じ形の矩形を経度方向に ±20°, ±30°, ±38° ずらして外すと 13.4〜16.3σ までしか下がらない。バブルの位置だけで大きく下がる。</a:t>
            </a:r>
          </a:p>
          <a:p>
            <a:r>
              <a:t>ここから 2 つの疑いが出た: バブル領域の何かがハローのふりをしているのか、ICS のモデルが間違っているのか。これを順番に調べた。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ハローと他の成分の違いは「銀河中心の方向に光が集まっているか」だけ。その手がかり (統計でいうフィッシャー情報) の 54% がバブル矩形の中にある。矩形の面積は 34% しかない。</a:t>
            </a:r>
          </a:p>
          <a:p>
            <a:r>
              <a:t>手がかりの量の減り方だけで有意度を予測すると 6.4σ。実測 5.0σ とほぼ合う。経度をずらした対照の矩形でも予測と実測は合う (比 0.9〜1.2)。</a:t>
            </a:r>
          </a:p>
          <a:p>
            <a:r>
              <a:t>バブルの外だけで当てはめたハローの明るさは 1.14 ± 0.23 倍、全体では 1.48 倍。差は 1.5σ で意味のある差ではない。</a:t>
            </a:r>
          </a:p>
          <a:p>
            <a:r>
              <a:t>たとえ: 写真の真ん中を隠すと自信が下がるが、それは見分けるヒントが真ん中に集まっていたから。ズルではない。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GALPROP の設定で IC_anisotropic = 0 (等方近似) になっていた。実際の星の光は銀河面から来るので向きに偏りがあり、Fermi チームはその補正 (非等方) をかけている。</a:t>
            </a:r>
          </a:p>
          <a:p>
            <a:r>
              <a:t>Moskalenko &amp; Strong (2000, ApJ 528, 357) の Fig.6: 10 GeV 付近で、銀河中心の上 (0°, 45°) は約 1.13〜1.2 倍、外側 (90°, 45°) は約 1.18〜1.3 倍。</a:t>
            </a:r>
          </a:p>
          <a:p>
            <a:r>
              <a:t>ハローの代わりになるには、バブル領域の中だけ約 2.3 倍明るい必要がある (次のスライド)。大きさも向きも足りない。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も §3.4.4 で同じ種類の確認 (gas rings &amp; 3 ICS) をしていて、ハローは残ったと報告している。</a:t>
            </a:r>
          </a:p>
          <a:p>
            <a:r>
              <a:t>19.5σ → 18.4σ は、同じ計算機・同じ条件で ICS 1 枚と 3 枚を比べた値 (クラウドで計算)。</a:t>
            </a:r>
          </a:p>
          <a:p>
            <a:r>
              <a:t>2.3 倍の条件: ICS をバブル矩形の内と外で別々の明るさにすると、内側が 2.3 倍のとき、ハローの当てはまりの改善の 92% を ICS が説明してしまう (ハローは 6.6σ まで下がる)。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 電球の勘違い説は 3 回ためして 3 回とも外れた。</a:t>
            </a:r>
          </a:p>
          <a:p>
            <a:r>
              <a:t>σ の較正: 何も無い対照領域 23 か所 (250 個の有意度) で同じ解析をすると、σ の分布の標準偏差は 1 ではなく 1.362、最大 4.50σ。19σ という数字そのものは過大評価になっている。</a:t>
            </a:r>
          </a:p>
          <a:p>
            <a:r>
              <a:t>言えるのは「既知の背景では説明できない超過がある」まで。それが暗黒物質かどうかは別の主張。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矮小銀河 54 個は Local Volume Database (Pace 2025) の確認済み銀河 (LMC/SMC を含む)。対照領域は |b|&gt;20°、互いに 20° 以上離した何も無い場所。</a:t>
            </a:r>
          </a:p>
          <a:p>
            <a:r>
              <a:t>成分は等方・ガス・ICS・点源・ハロー (バブルと Loop I は銀河中心の構造なので入れない)。</a:t>
            </a:r>
          </a:p>
          <a:p>
            <a:r>
              <a:t>たとえ: 天の川のハローは部屋全体を照らす光なので電球と見分けにくかった。矮小銀河は遠くの豆電球 (0.2〜0.4°) なので、半径 10° の範囲では電球はほぼ平らな背景にしか見えず、混ざらない。</a:t>
            </a:r>
          </a:p>
          <a:p>
            <a:r>
              <a:t>矮小銀河は望遠鏡のぼやけ (PSF) より小さいので、この手法では点源と区別できない点には注意。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 有意度の分布。期待される正規分布 (点線) より少し広い。真ん中: 天体ごとの最大の σ。右: 解析した位置。</a:t>
            </a:r>
          </a:p>
          <a:p>
            <a:r>
              <a:t>矮小銀河・M31/M33 のどこにも検出は無い (833 個の有意度のうち最大 +3.46σ)。</a:t>
            </a:r>
          </a:p>
          <a:p>
            <a:r>
              <a:t>何も無い対照領域 23 か所の 250 個の有意度: 平均 −0.021、標準偏差 1.362 (期待は 1)、最大 +4.50σ、|σ|&gt;3 が 2.4% (期待 0.27%)。この手法の名目 σ は過大評価になっている。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期待信号の出し方: 天の川のハローの明るさ × (矮小銀河の J ファクター / 天の川の J ファクター)。J ファクター = 暗黒物質の密度の 2 乗を視線方向に足した量。粒子の性質は比をとると消える。</a:t>
            </a:r>
          </a:p>
          <a:p>
            <a:r>
              <a:t>幅が 1.35〜5.4σ と広いのは、天の川の暗黒物質の密度の仮定 (局所密度 0.2〜0.6 GeV/cm³) が 2 乗で効くため。</a:t>
            </a:r>
          </a:p>
          <a:p>
            <a:r>
              <a:t>さらに、矮小銀河の J の誤差をゼロとして扱っている。Bertólez-Martínez+ (2026) は約 3 倍 (Δlog₁₀J ≈ 0.5) の誤差を見込むべきとしているので、実際の幅はもっと広い。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矮小銀河の格上げの中心は J の誤差。Bertólez-Martínez+ (2026, arXiv:2609.20944) が、J の誤差を小さく見積もると本物の信号を見落としやすくなると示している。</a:t>
            </a:r>
          </a:p>
          <a:p>
            <a:r>
              <a:t>天の川: ICS の明るさはエネルギーに対してなめらかに変わるはず。ハローは 20 GeV 付近だけ強い。全エネルギーをまとめて当てはめれば、形が似ていても色で見分けられる可能性がある。</a:t>
            </a:r>
          </a:p>
          <a:p>
            <a:r>
              <a:t>大がかりな新しい解析は増やさず、卒論の執筆を優先する。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400"/>
              <a:t>天の川の 20 GeV ガンマ線超過の検証と</a:t>
            </a:r>
          </a:p>
          <a:p>
            <a:r>
              <a:rPr sz="3400"/>
              <a:t>矮小銀河への適用</a:t>
            </a:r>
          </a:p>
        </p:txBody>
      </p:sp>
      <p:sp>
        <p:nvSpPr>
          <p:cNvPr id="3" name="Subtitle 2"/>
          <p:cNvSpPr>
            <a:spLocks noGrp="1"/>
          </p:cNvSpPr>
          <p:nvPr>
            <p:ph type="subTitle" idx="1"/>
          </p:nvPr>
        </p:nvSpPr>
        <p:spPr/>
        <p:txBody>
          <a:bodyPr/>
          <a:lstStyle/>
          <a:p>
            <a:r>
              <a:rPr sz="2400"/>
              <a:t>中村惺一　研究進捗報告　2026年10月2日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今の研究</a:t>
            </a:r>
          </a:p>
        </p:txBody>
      </p:sp>
      <p:sp>
        <p:nvSpPr>
          <p:cNvPr id="3" name="Content Placeholder 2"/>
          <p:cNvSpPr>
            <a:spLocks noGrp="1"/>
          </p:cNvSpPr>
          <p:nvPr>
            <p:ph idx="1"/>
          </p:nvPr>
        </p:nvSpPr>
        <p:spPr/>
        <p:txBody>
          <a:bodyPr/>
          <a:lstStyle/>
          <a:p>
            <a:pPr/>
            <a:r>
              <a:rPr sz="2800"/>
              <a:t>Totani (2025)：天の川のハローから 20 GeV のガンマ線超過（13–19σ）</a:t>
            </a:r>
          </a:p>
          <a:p>
            <a:pPr lvl="1"/>
            <a:r>
              <a:rPr sz="2200"/>
              <a:t>暗黒物質（WIMP）の対消滅なら説明できる</a:t>
            </a:r>
          </a:p>
          <a:p>
            <a:pPr/>
            <a:r>
              <a:rPr sz="2800"/>
              <a:t>目的：同じ手法で独立に再現し、どこまで信じてよいかを確かめる</a:t>
            </a:r>
          </a:p>
          <a:p>
            <a:pPr/>
            <a:r>
              <a:rPr sz="2800"/>
              <a:t>方法：既知の光（ガス・ICS・点源・バブルなど）と</a:t>
            </a:r>
            <a:br/>
            <a:r>
              <a:rPr sz="2800"/>
              <a:t>ハローを同時に当てはめる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再現できた：20 GeV で 19.0σ</a:t>
            </a:r>
          </a:p>
        </p:txBody>
      </p:sp>
      <p:sp>
        <p:nvSpPr>
          <p:cNvPr id="3" name="Content Placeholder 2"/>
          <p:cNvSpPr>
            <a:spLocks noGrp="1"/>
          </p:cNvSpPr>
          <p:nvPr>
            <p:ph idx="1"/>
          </p:nvPr>
        </p:nvSpPr>
        <p:spPr>
          <a:xfrm>
            <a:ext cx="3931920" cy="0"/>
          </a:xfrm>
        </p:spPr>
        <p:txBody>
          <a:bodyPr/>
          <a:lstStyle/>
          <a:p>
            <a:pPr/>
            <a:r>
              <a:rPr sz="2400"/>
              <a:t>Totani の 13–19σ とほぼ一致</a:t>
            </a:r>
          </a:p>
          <a:p>
            <a:pPr/>
            <a:r>
              <a:rPr sz="2400"/>
              <a:t>山・谷の位置も一致</a:t>
            </a:r>
          </a:p>
          <a:p>
            <a:pPr/>
            <a:r>
              <a:rPr sz="2400"/>
              <a:t>10/1 に再計算し、</a:t>
            </a:r>
            <a:br/>
            <a:r>
              <a:rPr sz="2400"/>
              <a:t>コードと設定の記録付きで確定</a:t>
            </a:r>
          </a:p>
        </p:txBody>
      </p:sp>
      <p:pic>
        <p:nvPicPr>
          <p:cNvPr id="4" name="Picture 3" descr="significance_spectrum.png"/>
          <p:cNvPicPr>
            <a:picLocks noChangeAspect="1"/>
          </p:cNvPicPr>
          <p:nvPr/>
        </p:nvPicPr>
        <p:blipFill>
          <a:blip r:embed="rId3"/>
          <a:stretch>
            <a:fillRect/>
          </a:stretch>
        </p:blipFill>
        <p:spPr>
          <a:xfrm>
            <a:off x="4663440" y="1463040"/>
            <a:ext cx="6213231" cy="4846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問題①：ハローと ICS が見分けにくい</a:t>
            </a:r>
          </a:p>
        </p:txBody>
      </p:sp>
      <p:sp>
        <p:nvSpPr>
          <p:cNvPr id="3" name="Content Placeholder 2"/>
          <p:cNvSpPr>
            <a:spLocks noGrp="1"/>
          </p:cNvSpPr>
          <p:nvPr>
            <p:ph idx="1"/>
          </p:nvPr>
        </p:nvSpPr>
        <p:spPr>
          <a:xfrm>
            <a:ext cx="4937760" cy="0"/>
          </a:xfrm>
        </p:spPr>
        <p:txBody>
          <a:bodyPr/>
          <a:lstStyle/>
          <a:p>
            <a:pPr/>
            <a:r>
              <a:rPr sz="2400"/>
              <a:t>ICS：宇宙線の電子が星の光をはね上げたガンマ線</a:t>
            </a:r>
          </a:p>
          <a:p>
            <a:pPr/>
            <a:r>
              <a:rPr sz="2400"/>
              <a:t>空での形がハローとよく似ている（縮退）</a:t>
            </a:r>
          </a:p>
          <a:p>
            <a:pPr/>
            <a:r>
              <a:rPr sz="2400"/>
              <a:t>ハローを入れると、その分 ICS が暗くなる</a:t>
            </a:r>
          </a:p>
          <a:p>
            <a:pPr lvl="1"/>
            <a:r>
              <a:rPr sz="1800"/>
              <a:t>ハローの光の 8〜10 割は ICS から移ったもの</a:t>
            </a:r>
          </a:p>
        </p:txBody>
      </p:sp>
      <p:pic>
        <p:nvPicPr>
          <p:cNvPr id="4" name="Picture 3" descr="fig_ics_v20r.png"/>
          <p:cNvPicPr>
            <a:picLocks noChangeAspect="1"/>
          </p:cNvPicPr>
          <p:nvPr/>
        </p:nvPicPr>
        <p:blipFill>
          <a:blip r:embed="rId3"/>
          <a:stretch>
            <a:fillRect/>
          </a:stretch>
        </p:blipFill>
        <p:spPr>
          <a:xfrm>
            <a:off x="5852160" y="1828800"/>
            <a:ext cx="5852160" cy="40965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問題②：バブルを外すとハローが弱まる</a:t>
            </a:r>
          </a:p>
        </p:txBody>
      </p:sp>
      <p:sp>
        <p:nvSpPr>
          <p:cNvPr id="3" name="Content Placeholder 2"/>
          <p:cNvSpPr>
            <a:spLocks noGrp="1"/>
          </p:cNvSpPr>
          <p:nvPr>
            <p:ph idx="1"/>
          </p:nvPr>
        </p:nvSpPr>
        <p:spPr/>
        <p:txBody>
          <a:bodyPr/>
          <a:lstStyle/>
          <a:p>
            <a:pPr/>
            <a:r>
              <a:rPr sz="2800"/>
              <a:t>フェルミバブルの領域を外すと 19.0σ → 5.0σ</a:t>
            </a:r>
          </a:p>
          <a:p>
            <a:pPr/>
            <a:r>
              <a:rPr sz="2800"/>
              <a:t>同じ広さを横にずらして外すと 13〜16σ</a:t>
            </a:r>
          </a:p>
          <a:p>
            <a:pPr/>
            <a:r>
              <a:rPr sz="2800"/>
              <a:t>→「バブルが偽のハローを作っているのでは？」</a:t>
            </a:r>
          </a:p>
          <a:p>
            <a:pPr/>
            <a:r>
              <a:rPr sz="2800"/>
              <a:t>→「ICS の計算が間違っているのでは？」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調べたこと①：バブルの汚染？ → 違う</a:t>
            </a:r>
          </a:p>
        </p:txBody>
      </p:sp>
      <p:sp>
        <p:nvSpPr>
          <p:cNvPr id="3" name="Content Placeholder 2"/>
          <p:cNvSpPr>
            <a:spLocks noGrp="1"/>
          </p:cNvSpPr>
          <p:nvPr>
            <p:ph idx="1"/>
          </p:nvPr>
        </p:nvSpPr>
        <p:spPr/>
        <p:txBody>
          <a:bodyPr/>
          <a:lstStyle/>
          <a:p>
            <a:pPr/>
            <a:r>
              <a:rPr sz="2800"/>
              <a:t>ハローを見分ける手がかりの半分以上がバブル領域にある</a:t>
            </a:r>
          </a:p>
          <a:p>
            <a:pPr lvl="1"/>
            <a:r>
              <a:rPr sz="2200"/>
              <a:t>手がかりの量だけで予測すると 6.4σ（実測 5.0σ）</a:t>
            </a:r>
          </a:p>
          <a:p>
            <a:pPr/>
            <a:r>
              <a:rPr sz="2800"/>
              <a:t>バブルの内と外で、ハローの明るさの差は 1.5σ</a:t>
            </a:r>
          </a:p>
          <a:p>
            <a:pPr/>
            <a:r>
              <a:rPr sz="2800"/>
              <a:t>→ 汚染ではなく、手がかりの置き場所のせい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調べたこと②：ICS の計算の近似？ → 違う</a:t>
            </a:r>
          </a:p>
        </p:txBody>
      </p:sp>
      <p:sp>
        <p:nvSpPr>
          <p:cNvPr id="3" name="Content Placeholder 2"/>
          <p:cNvSpPr>
            <a:spLocks noGrp="1"/>
          </p:cNvSpPr>
          <p:nvPr>
            <p:ph idx="1"/>
          </p:nvPr>
        </p:nvSpPr>
        <p:spPr/>
        <p:txBody>
          <a:bodyPr/>
          <a:lstStyle/>
          <a:p>
            <a:pPr/>
            <a:r>
              <a:rPr sz="2800"/>
              <a:t>ICS は「等方近似」という簡単な方法で計算していた</a:t>
            </a:r>
          </a:p>
          <a:p>
            <a:pPr/>
            <a:r>
              <a:rPr sz="2800"/>
              <a:t>正確な計算（非等方）にしても 1.1〜1.3 倍</a:t>
            </a:r>
          </a:p>
          <a:p>
            <a:pPr lvl="1"/>
            <a:r>
              <a:rPr sz="2200"/>
              <a:t>しかも銀河中心寄りより外側のほうが明るくなる</a:t>
            </a:r>
          </a:p>
          <a:p>
            <a:pPr/>
            <a:r>
              <a:rPr sz="2800"/>
              <a:t>→ ハローの代わりにはなれない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調べたこと③：ICS の形を自由に → 残る</a:t>
            </a:r>
          </a:p>
        </p:txBody>
      </p:sp>
      <p:sp>
        <p:nvSpPr>
          <p:cNvPr id="3" name="Content Placeholder 2"/>
          <p:cNvSpPr>
            <a:spLocks noGrp="1"/>
          </p:cNvSpPr>
          <p:nvPr>
            <p:ph idx="1"/>
          </p:nvPr>
        </p:nvSpPr>
        <p:spPr/>
        <p:txBody>
          <a:bodyPr/>
          <a:lstStyle/>
          <a:p>
            <a:pPr/>
            <a:r>
              <a:rPr sz="2800"/>
              <a:t>ICS を 3 種類（星の光・ちりの光・宇宙背景の光）に分け、</a:t>
            </a:r>
            <a:br/>
            <a:r>
              <a:rPr sz="2800"/>
              <a:t>明るさをそれぞれ自由にした</a:t>
            </a:r>
          </a:p>
          <a:p>
            <a:pPr/>
            <a:r>
              <a:rPr sz="2800"/>
              <a:t>20 GeV のハロー：19.5σ → 18.4σ（ほぼ残る）</a:t>
            </a:r>
          </a:p>
          <a:p>
            <a:pPr/>
            <a:r>
              <a:rPr sz="2800"/>
              <a:t>ハローが偽物なら、ICS がバブル領域で約 2.3 倍明るい必要がある</a:t>
            </a:r>
          </a:p>
          <a:p>
            <a:pPr lvl="1"/>
            <a:r>
              <a:rPr sz="2200"/>
              <a:t>3 種類の混ぜ方では、そんな形は作れない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ここまででわかったこと</a:t>
            </a:r>
          </a:p>
        </p:txBody>
      </p:sp>
      <p:sp>
        <p:nvSpPr>
          <p:cNvPr id="3" name="Content Placeholder 2"/>
          <p:cNvSpPr>
            <a:spLocks noGrp="1"/>
          </p:cNvSpPr>
          <p:nvPr>
            <p:ph idx="1"/>
          </p:nvPr>
        </p:nvSpPr>
        <p:spPr/>
        <p:txBody>
          <a:bodyPr/>
          <a:lstStyle/>
          <a:p>
            <a:pPr/>
            <a:r>
              <a:rPr sz="2600"/>
              <a:t>ハローは「ICS の勘違い」では説明しにくい</a:t>
            </a:r>
          </a:p>
          <a:p>
            <a:pPr lvl="1"/>
            <a:r>
              <a:rPr sz="2000"/>
              <a:t>バブルの汚染・計算の近似・ICS の形、の 3 つを否定</a:t>
            </a:r>
          </a:p>
          <a:p>
            <a:pPr/>
            <a:r>
              <a:rPr sz="2600"/>
              <a:t>勘違いなら、ICS がバブル領域で約 2.3 倍ずれている必要がある</a:t>
            </a:r>
          </a:p>
          <a:p>
            <a:pPr/>
            <a:r>
              <a:rPr sz="2600"/>
              <a:t>ただし σ は名目値で、過大評価になっている</a:t>
            </a:r>
          </a:p>
          <a:p>
            <a:pPr lvl="1"/>
            <a:r>
              <a:rPr sz="2000"/>
              <a:t>何も無い空の領域で試すと、ばらつきが 1.36 倍</a:t>
            </a:r>
          </a:p>
          <a:p>
            <a:pPr/>
            <a:r>
              <a:rPr sz="2600"/>
              <a:t>「暗黒物質だ」とまでは言えない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矮小銀河への適用</a:t>
            </a:r>
          </a:p>
        </p:txBody>
      </p:sp>
      <p:sp>
        <p:nvSpPr>
          <p:cNvPr id="3" name="Content Placeholder 2"/>
          <p:cNvSpPr>
            <a:spLocks noGrp="1"/>
          </p:cNvSpPr>
          <p:nvPr>
            <p:ph idx="1"/>
          </p:nvPr>
        </p:nvSpPr>
        <p:spPr/>
        <p:txBody>
          <a:bodyPr/>
          <a:lstStyle/>
          <a:p>
            <a:pPr/>
            <a:r>
              <a:rPr sz="2600"/>
              <a:t>本当に暗黒物質なら、矮小銀河からも同じ光が来るはず</a:t>
            </a:r>
          </a:p>
          <a:p>
            <a:pPr lvl="1"/>
            <a:r>
              <a:rPr sz="2000"/>
              <a:t>信号は弱いが、雑音（ガス・星形成）が少ない</a:t>
            </a:r>
          </a:p>
          <a:p>
            <a:pPr/>
            <a:r>
              <a:rPr sz="2600"/>
              <a:t>同じ手法を、各天体のまわり半径 10° に当てはめる</a:t>
            </a:r>
          </a:p>
          <a:p>
            <a:pPr/>
            <a:r>
              <a:rPr sz="2600"/>
              <a:t>対象：矮小銀河 54 ＋ M31・M33 ＋ 何も無い対照領域 23</a:t>
            </a:r>
          </a:p>
          <a:p>
            <a:pPr/>
            <a:r>
              <a:rPr sz="2600"/>
              <a:t>天の川の縮退はほぼ起きない</a:t>
            </a:r>
          </a:p>
          <a:p>
            <a:pPr lvl="1"/>
            <a:r>
              <a:rPr sz="2000"/>
              <a:t>矮小銀河は小さな点、ICS は広がった平らな光</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結果①：どこにも信号は見えなかった</a:t>
            </a:r>
          </a:p>
        </p:txBody>
      </p:sp>
      <p:pic>
        <p:nvPicPr>
          <p:cNvPr id="3" name="Picture 2" descr="ensemble_significance.png"/>
          <p:cNvPicPr>
            <a:picLocks noChangeAspect="1"/>
          </p:cNvPicPr>
          <p:nvPr/>
        </p:nvPicPr>
        <p:blipFill>
          <a:blip r:embed="rId2"/>
          <a:stretch>
            <a:fillRect/>
          </a:stretch>
        </p:blipFill>
        <p:spPr>
          <a:xfrm>
            <a:off x="365760" y="1554480"/>
            <a:ext cx="11430000" cy="3810000"/>
          </a:xfrm>
          <a:prstGeom prst="rect">
            <a:avLst/>
          </a:prstGeom>
        </p:spPr>
      </p:pic>
      <p:sp>
        <p:nvSpPr>
          <p:cNvPr id="4" name="TextBox 3"/>
          <p:cNvSpPr txBox="1"/>
          <p:nvPr/>
        </p:nvSpPr>
        <p:spPr>
          <a:xfrm>
            <a:off x="548640" y="5486400"/>
            <a:ext cx="11064240" cy="914400"/>
          </a:xfrm>
          <a:prstGeom prst="rect">
            <a:avLst/>
          </a:prstGeom>
          <a:noFill/>
        </p:spPr>
        <p:txBody>
          <a:bodyPr wrap="square">
            <a:spAutoFit/>
          </a:bodyPr>
          <a:lstStyle/>
          <a:p>
            <a:r>
              <a:rPr sz="2200"/>
              <a:t>77 天体 × 13 ビンの有意度のうち最大 +3.46σ。何も無い対照領域でも最大 +4.50σ が出る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結果②：矮小銀河では白黒つけられない</a:t>
            </a:r>
          </a:p>
        </p:txBody>
      </p:sp>
      <p:sp>
        <p:nvSpPr>
          <p:cNvPr id="3" name="Content Placeholder 2"/>
          <p:cNvSpPr>
            <a:spLocks noGrp="1"/>
          </p:cNvSpPr>
          <p:nvPr>
            <p:ph idx="1"/>
          </p:nvPr>
        </p:nvSpPr>
        <p:spPr/>
        <p:txBody>
          <a:bodyPr/>
          <a:lstStyle/>
          <a:p>
            <a:pPr/>
            <a:r>
              <a:rPr sz="2800"/>
              <a:t>天の川の超過が暗黒物質なら、矮小銀河で期待される信号は 1.35〜5.4σ</a:t>
            </a:r>
          </a:p>
          <a:p>
            <a:pPr/>
            <a:r>
              <a:rPr sz="2800"/>
              <a:t>実際は −0.18σ（45 天体の合計、20 GeV）</a:t>
            </a:r>
          </a:p>
          <a:p>
            <a:pPr/>
            <a:r>
              <a:rPr sz="2800"/>
              <a:t>→ 矛盾はしないが、確認もできない</a:t>
            </a:r>
          </a:p>
          <a:p>
            <a:pPr lvl="1"/>
            <a:r>
              <a:rPr sz="2200"/>
              <a:t>期待される信号が小さすぎる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a:t>今後</a:t>
            </a:r>
          </a:p>
        </p:txBody>
      </p:sp>
      <p:sp>
        <p:nvSpPr>
          <p:cNvPr id="3" name="Content Placeholder 2"/>
          <p:cNvSpPr>
            <a:spLocks noGrp="1"/>
          </p:cNvSpPr>
          <p:nvPr>
            <p:ph idx="1"/>
          </p:nvPr>
        </p:nvSpPr>
        <p:spPr/>
        <p:txBody>
          <a:bodyPr/>
          <a:lstStyle/>
          <a:p>
            <a:pPr/>
            <a:r>
              <a:rPr sz="2800"/>
              <a:t>矮小銀河の手法を格上げする</a:t>
            </a:r>
          </a:p>
          <a:p>
            <a:pPr lvl="1"/>
            <a:r>
              <a:rPr sz="2200"/>
              <a:t>J ファクターの誤差（約 3 倍）を入れる</a:t>
            </a:r>
          </a:p>
          <a:p>
            <a:pPr lvl="1"/>
            <a:r>
              <a:rPr sz="2200"/>
              <a:t>近くの点源との取り違えを確かめる</a:t>
            </a:r>
          </a:p>
          <a:p>
            <a:pPr lvl="1"/>
            <a:r>
              <a:rPr sz="2200"/>
              <a:t>たくさんまとめたときの統計の注意（見落とし）</a:t>
            </a:r>
          </a:p>
          <a:p>
            <a:pPr/>
            <a:r>
              <a:rPr sz="2800"/>
              <a:t>天の川：光の「色」（エネルギーごとの明るさ）で ICS と見分ける</a:t>
            </a:r>
          </a:p>
          <a:p>
            <a:pPr/>
            <a:r>
              <a:rPr sz="2800"/>
              <a:t>卒論：12 月に執筆、1 月に発表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65</Words>
  <Application>Microsoft Office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詳細なmethodについて</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1</cp:revision>
  <dcterms:created xsi:type="dcterms:W3CDTF">2026-10-01T06:55:31Z</dcterms:created>
  <dcterms:modified xsi:type="dcterms:W3CDTF">2026-10-01T06:57:06Z</dcterms:modified>
</cp:coreProperties>
</file>