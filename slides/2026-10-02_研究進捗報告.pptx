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5"/>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47" d="100"/>
          <a:sy n="47" d="100"/>
        </p:scale>
        <p:origin x="62" y="1109"/>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今日の流れ: 今の研究 → 起きた問題 3 つ → 調べて分かったこと → 矮小銀河への適用 (7 月に実施済み) と結果 → 矮小銀河の J ファクターの誤差を論じた論文 (Bertólez-Martínez+ 2026) の解説 → その誤差を自分の結果に当てはめた結果 → まとめ。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(2025, arXiv:2507.07209): 天の川を包む暗黒物質ハローから 20 GeV 付近に超過、13–19σ。WIMP なら 0.5–0.8 TeV。銀河中心 GeV 超過 (GCE、35–65 GeV) とは別の信号。</a:t>
            </a:r>
          </a:p>
          <a:p>
            <a:r>
              <a:t>Fermi-LAT 15 年分、13 エネルギービン、9 成分を同時に当てはめ、ハロー有り・無しの差から有意度を出す。</a:t>
            </a:r>
          </a:p>
          <a:p>
            <a:r>
              <a:t>図: 青が本研究 (v20r、10/1 に記録付きで再計算)、赤が Totani Fig.9。山・谷の位置も一致。Bin6 (20.76 GeV) で 19.0σ。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何も無い対照領域 23 か所 (250 個の有意度) で同じ解析をすると、σ の分布の標準偏差は 1 ではなく 1.362、最大 +4.50σ、|σ|&gt;3 が 2.4% (期待 0.27%)。19σ という数字そのものは過大評価になっている。</a:t>
            </a:r>
          </a:p>
          <a:p>
            <a:r>
              <a:t>(b) フェルミバブルの矩形 |l|&lt;22°, 10°&lt;|b|&lt;55° を当てはめから外すと 19.0σ → 4.96σ。</a:t>
            </a:r>
          </a:p>
          <a:p>
            <a:r>
              <a:t>(c) 7/23 に出した v20 (19.1σ) を同じ設定で計算し直しても一致しなかった。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部屋に電球 (ICS) がついていて、もう 1 つの光 (ハロー) を探している。写真では 2 つの光の形がほとんど同じなので、余った明るさが本当にもう 1 つの光なのか、電球が少し明るいだけなのか見分けにくい。これが縮退。</a:t>
            </a:r>
          </a:p>
          <a:p>
            <a:r>
              <a:t>図: ICS の明るさ (GALPROP の予測の何倍か)。ハロー無しでは全エネルギーで約 1.6 倍で平ら。ハローを入れると、ハローが効くビンでだけへこむ。ハローの光の 8〜10 割は ICS から移ったもの。</a:t>
            </a:r>
          </a:p>
          <a:p>
            <a:r>
              <a:t>緯度方向の暗くなり方もハローと ICS でほぼ同じ (|b| 25°→55° で 2.74 倍と 2.75 倍)。違いは「銀河中心の方向に集まっているか」だけ。</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ハローと他の成分の違いは「銀河中心の方向に光が集まっているか」だけ。その手がかり (フィッシャー情報) の 54% がバブル矩形 (面積は ROI の 34%) にある。</a:t>
            </a:r>
          </a:p>
          <a:p>
            <a:r>
              <a:t>手がかりの量の減り方だけで有意度を予測すると 6.4σ、実測 4.96σ。残りの差は、バブル外でハローの明るさが 23% 低いことで説明でき、その差は有意ではない (約 1.5σ)。</a:t>
            </a:r>
          </a:p>
          <a:p>
            <a:r>
              <a:t>同じ形の矩形を経度方向に ±20°, ±30°, ±38° ずらして外すと 13.4〜16.3σ。こちらも予測と実測が合う。</a:t>
            </a:r>
          </a:p>
          <a:p>
            <a:r>
              <a:t>たとえ: 写真の真ん中を隠すと自信が下がるが、それは見分けるヒントが真ん中に集まっていたから。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倍: ICS をバブル矩形の内と外で別々の明るさにすると、内側が 2.3 倍のときハローの当てはまりの改善の 92% を ICS が説明してしまう。全体の明るさのずれ (f_ics が 1.6 倍など) は倍率が吸収するのでハローにならない。必要なのは内と外の比のずれ。</a:t>
            </a:r>
          </a:p>
          <a:p>
            <a:r>
              <a:t>等方近似: GALPROP の設定が IC_anisotropic = 0。Moskalenko &amp; Strong (2000) の Fig.6 では、非等方の補正は 10 GeV 付近で 1.1〜1.3 倍、銀河中心の上より外側のほうが大きい。</a:t>
            </a:r>
          </a:p>
          <a:p>
            <a:r>
              <a:t>3 分割: 星の光・ちり・宇宙背景の光に分けて明るさを自由にすると、20 GeV のハローは 19.5σ → 18.4σ。この 2 つはクラウドの計算機で同じ条件で比べた値で、基準が 19.0σ (本人 PC) と少し違うので「約 1σ 下がる」と差で言う。Totani §3.4.4 の同種の確認とも同じ結論。</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結果ファイルに「どの状態のコードで計算したか」の記録が無かった (ローカルの調査)。</a:t>
            </a:r>
          </a:p>
          <a:p>
            <a:r>
              <a:t>10/1 に同じ計算を 2 回して、テンプレート・尤度・全パラメータが最後の桁まで一致することを確認。今後の結果ファイルにはコミット番号と設定を自動で記録する。</a:t>
            </a:r>
          </a:p>
          <a:p>
            <a:r>
              <a:t>有意度は 19.1σ → 19.0σ でほぼ同じ。全 13 ビンで差は 1σ 未満。ガスと ICS の分け方は少し変わった (成分比: ガス 0.91 / ICS 1.15)。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言えるのは「既知の背景では説明できない超過がある」まで。それが暗黒物質かどうかは別の主張。</a:t>
            </a:r>
          </a:p>
          <a:p>
            <a:r>
              <a:t>残る可能性: ICS の空間分布が銀河中心寄りで 2.3 倍もずれている場合。今の道具では確かめられない。</a:t>
            </a:r>
          </a:p>
          <a:p>
            <a:r>
              <a:t>→ 独立な確認として、矮小銀河を見る。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矮小銀河 54 個は Local Volume Database (Pace 2025) の確認済み銀河。対照領域は |b|&gt;20° で互いに 20° 以上離した何も無い場所。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 (0.2〜0.4°) なので、半径 10° の中では電球は平らな背景にしか見えない。</a:t>
            </a:r>
          </a:p>
          <a:p>
            <a:r>
              <a:t>注意: 矮小銀河は望遠鏡のぼやけ (PSF) より小さいので、この手法では点源と区別できない。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 有意度の分布。期待される正規分布 (点線) より少し広い。真ん中: 天体ごとの最大の σ。右: 解析した位置。</a:t>
            </a:r>
          </a:p>
          <a:p>
            <a:r>
              <a:t>矮小銀河・M31/M33 のどこにも検出は無い。何も無い対照領域 23 か所の 250 個の有意度は平均 −0.021、標準偏差 1.362、最大 +4.50σ。</a:t>
            </a:r>
          </a:p>
          <a:p>
            <a:r>
              <a:t>では、天の川の超過が暗黒物質だとしたら、矮小銀河でどれくらい見えるはずだったのか? → この問いに、次の論文が関わる。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arXiv:2609.20944。J ファクター = 暗黒物質の密度を 2 乗して視線方向に足し合わせた量。矮小銀河では星の動きから推定する (Jeans 解析)。</a:t>
            </a:r>
          </a:p>
          <a:p>
            <a:r>
              <a:t>Section II の 8 つの原因: (1) 広がりを無視して点源扱い (重ねた解析で上限が 1.5〜1.8 倍きつくなる) (2) ハローの形 (コアがあると制限が数倍ゆるむ) (3) 星の分布の形 (Plummer 分布の仮定) (4) 球対称からのずれ (log₁₀J が最大 0.4 ずれる) (5) 平衡からのずれ (0.1 程度) (6) 見分けられない連星 (Reticulum II で 0.3) (7) 手前の星の混入 (8) J の誤差が正規分布でない (すそが重い)。</a:t>
            </a:r>
          </a:p>
          <a:p>
            <a:r>
              <a:t>Fig.1: 同じ矮小銀河の J を測った複数の文献が、書かれた誤差より大きくばらついている。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III: FermiTools と fermipy で 10°×10° の ROI を 0.08° の画素で解析。背景は Fermi 標準の拡散モデル (gll_iem_v07) と等方背景。</a:t>
            </a:r>
          </a:p>
          <a:p>
            <a:r>
              <a:t>信号は bb̄ に消滅する 42 GeV の WIMP (GCE を説明する値)。古典的な矮小銀河は核のある NFW、超暗い矮小銀河は NFW。</a:t>
            </a:r>
          </a:p>
          <a:p>
            <a:r>
              <a:t>注入した本物の信号を、95% 上限が誤って除外してしまう割合 (本来 5% 以下であるべき) を数える。</a:t>
            </a:r>
          </a:p>
          <a:p>
            <a:r>
              <a:t>σ_L を σ より小さくすると「ソフトが自信満々」の状態。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IV (Ursa Minor): 本当のばらつき σ を 0.3 / 0.5 / 1.0 増やして σ_L は据え置くと、本物を除外する割合が 1.7% / 8.0% / 22%。σ_L を σ に合わせれば 5% 以下に戻る。σ_L を広げると上限は 1.5 / 2.5 / 11 倍ゆるむ。形の誤り: 核のある NFW を球対称 NFW で当てると 2.4 倍、点源扱いで 1.4 倍、上限がきつく出すぎる。</a:t>
            </a:r>
          </a:p>
          <a:p>
            <a:r>
              <a:t>Section V (27 個): 基準のままでも 21% (95% のはずが)。σ を 0.3 / 0.5 / 1.0 増やすと 31% / 49% / 88%。σ_L を σ に合わせても 23% / 28% / 38%。理由: J は対数正規分布で上に長いすそがあり、27 個あれば 1.5σ 以上上振れする天体がどれか 1 つある確率が 0.85。</a:t>
            </a:r>
          </a:p>
          <a:p>
            <a:r>
              <a:t>結論: シミュレーションや blank field で較正すべき。J の誤差をもっと良く抑えることが必要。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 各天体の「DM なら何σで見えたはずか」(pred_i) に、J のずれ 10^δ (δ は平均 0、幅 0.5 の正規分布) を掛ける。天体ごとの重み付き和 T = Σ pred_i·meas_i / √Σpred_i² で、予測と実測を同じまとめ方で比べる。</a:t>
            </a:r>
          </a:p>
          <a:p>
            <a:r>
              <a:t>SMC・LMC: それ自体が広がったガンマ線源なので、解析で中心がマスクされ、ハローの形の 1〜2% しか残っていなかった (結果ファイルに usable=false)。9/28 の計算はこれを見落とし、SMC 1 天体が予測 2.69σ のうち 2.06σ 分を占めていた。修正案は cloud_reports/2026-10-02_dwarf_consistency_usable.patch。</a:t>
            </a:r>
          </a:p>
          <a:p>
            <a:r>
              <a:t>天の川側の密度の仮定 (局所密度 0.3〜0.6 GeV/cm³) も別に動かした。</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使える 43 天体、20 GeV、天の川側の局所密度 0.42 GeV/cm³。</a:t>
            </a:r>
          </a:p>
          <a:p>
            <a:r>
              <a:t>J の誤差なし: 期待 1.73σ、実測 0.39σ、ずれ 1.3σ (空の領域の σ のばらつき 1.362 で補正すると 1.0σ)。</a:t>
            </a:r>
          </a:p>
          <a:p>
            <a:r>
              <a:t>J の誤差 (約 3 倍) あり: 期待の中央値 2.4σ、68% の範囲 1.3〜5.0σ。ずれ 1.5σ (補正後 1.2σ)。</a:t>
            </a:r>
          </a:p>
          <a:p>
            <a:r>
              <a:t>天の川側の密度を 0.3〜0.6 GeV/cm³ で動かすと、期待は 0.6〜9.7σ まで広がる (密度が低いほど期待は大きい)。どの組み合わせでもずれは補正後 2.2σ 以下。</a:t>
            </a:r>
          </a:p>
          <a:p>
            <a:r>
              <a:t>→ 暗黒物質と矛盾はしないが、確認もできない。誤差を正直に入れるほど「判定できない」が強くなる。教授の「矮小銀河では粗すぎる」を数字で裏付けた形。</a:t>
            </a:r>
          </a:p>
          <a:p>
            <a:r>
              <a:t>注意: 9/28 の「期待 1.35〜5.4σ」は使えない天体 (SMC・LMC) 込みの値。使える 43 天体では 0.9〜3.4σ (J の誤差なし)。</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 再現 → 3 つの問題 → 原因を調べて背景の間違い説を 3 つ否定 → 矮小銀河は非検出だが判定できない (J の誤差込みで定量化)。</a:t>
            </a:r>
          </a:p>
          <a:p>
            <a:r>
              <a:t>今後の案: ICS の明るさはエネルギーに対してなめらかなはず、ハローは 20 GeV 付近だけ強い。全エネルギーをまとめて当てはめれば形が似ていても見分けられる可能性がある。ただし卒論までに入れるには大きいので、今後の課題として述べる程度にする。</a:t>
            </a:r>
          </a:p>
          <a:p>
            <a:r>
              <a:t>矮小銀河の解析は広げない。J の誤差の扱いを卒論に一言入れる。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400"/>
              <a:t>天の川の 20 GeV ガンマ線超過の検証と</a:t>
            </a:r>
          </a:p>
          <a:p>
            <a:r>
              <a:rPr sz="3400"/>
              <a:t>矮小銀河による確認</a:t>
            </a:r>
          </a:p>
        </p:txBody>
      </p:sp>
      <p:sp>
        <p:nvSpPr>
          <p:cNvPr id="3" name="Subtitle 2"/>
          <p:cNvSpPr>
            <a:spLocks noGrp="1"/>
          </p:cNvSpPr>
          <p:nvPr>
            <p:ph type="subTitle" idx="1"/>
          </p:nvPr>
        </p:nvSpPr>
        <p:spPr/>
        <p:txBody>
          <a:bodyPr/>
          <a:lstStyle/>
          <a:p>
            <a:r>
              <a:rPr sz="2400"/>
              <a:t>中村惺一　研究進捗報告　2026年10月2日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今の研究：Totani (2025) の再現</a:t>
            </a:r>
          </a:p>
        </p:txBody>
      </p:sp>
      <p:sp>
        <p:nvSpPr>
          <p:cNvPr id="3" name="Content Placeholder 2"/>
          <p:cNvSpPr>
            <a:spLocks noGrp="1"/>
          </p:cNvSpPr>
          <p:nvPr>
            <p:ph idx="1"/>
          </p:nvPr>
        </p:nvSpPr>
        <p:spPr>
          <a:xfrm>
            <a:ext cx="4206240" cy="0"/>
          </a:xfrm>
        </p:spPr>
        <p:txBody>
          <a:bodyPr/>
          <a:lstStyle/>
          <a:p>
            <a:pPr/>
            <a:r>
              <a:rPr sz="2400"/>
              <a:t>天の川のハローから 20 GeV のガンマ線超過（13–19σ）</a:t>
            </a:r>
          </a:p>
          <a:p>
            <a:pPr/>
            <a:r>
              <a:rPr sz="2400"/>
              <a:t>同じ手法で独立に再現</a:t>
            </a:r>
          </a:p>
          <a:p>
            <a:pPr lvl="1"/>
            <a:r>
              <a:rPr sz="1800"/>
              <a:t>既知の光（ガス・ICS・点源・バブルなど）と</a:t>
            </a:r>
            <a:br/>
            <a:r>
              <a:rPr sz="1800"/>
              <a:t>ハローを同時に当てはめる</a:t>
            </a:r>
          </a:p>
          <a:p>
            <a:pPr/>
            <a:r>
              <a:rPr sz="2400"/>
              <a:t>結果：20 GeV で 19.0σ</a:t>
            </a:r>
          </a:p>
        </p:txBody>
      </p:sp>
      <p:pic>
        <p:nvPicPr>
          <p:cNvPr id="4" name="Picture 3" descr="significance_spectrum.png"/>
          <p:cNvPicPr>
            <a:picLocks noChangeAspect="1"/>
          </p:cNvPicPr>
          <p:nvPr/>
        </p:nvPicPr>
        <p:blipFill>
          <a:blip r:embed="rId3"/>
          <a:stretch>
            <a:fillRect/>
          </a:stretch>
        </p:blipFill>
        <p:spPr>
          <a:xfrm>
            <a:off x="4846320" y="1463040"/>
            <a:ext cx="6213231" cy="48463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起きた問題（3 つ）</a:t>
            </a:r>
          </a:p>
        </p:txBody>
      </p:sp>
      <p:sp>
        <p:nvSpPr>
          <p:cNvPr id="3" name="Content Placeholder 2"/>
          <p:cNvSpPr>
            <a:spLocks noGrp="1"/>
          </p:cNvSpPr>
          <p:nvPr>
            <p:ph idx="1"/>
          </p:nvPr>
        </p:nvSpPr>
        <p:spPr/>
        <p:txBody>
          <a:bodyPr/>
          <a:lstStyle/>
          <a:p>
            <a:pPr/>
            <a:r>
              <a:rPr sz="2800"/>
              <a:t>(a) 何も無い空でも最大 4.5σ が出る</a:t>
            </a:r>
          </a:p>
          <a:p>
            <a:pPr lvl="1"/>
            <a:r>
              <a:rPr sz="2200"/>
              <a:t>→ σ は過大評価になっている</a:t>
            </a:r>
          </a:p>
          <a:p>
            <a:pPr/>
            <a:r>
              <a:rPr sz="2800"/>
              <a:t>(b) バブル領域を外すと 19.0σ → 5.0σ に落ちる</a:t>
            </a:r>
          </a:p>
          <a:p>
            <a:pPr lvl="1"/>
            <a:r>
              <a:rPr sz="2200"/>
              <a:t>→ バブルの汚染を疑った</a:t>
            </a:r>
          </a:p>
          <a:p>
            <a:pPr/>
            <a:r>
              <a:rPr sz="2800"/>
              <a:t>(c) 7/23 の 19.1σ が再現できなかった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(b) の背景：ハローと ICS は見分けにくい</a:t>
            </a:r>
          </a:p>
        </p:txBody>
      </p:sp>
      <p:sp>
        <p:nvSpPr>
          <p:cNvPr id="3" name="Content Placeholder 2"/>
          <p:cNvSpPr>
            <a:spLocks noGrp="1"/>
          </p:cNvSpPr>
          <p:nvPr>
            <p:ph idx="1"/>
          </p:nvPr>
        </p:nvSpPr>
        <p:spPr>
          <a:xfrm>
            <a:ext cx="4937760" cy="0"/>
          </a:xfrm>
        </p:spPr>
        <p:txBody>
          <a:bodyPr/>
          <a:lstStyle/>
          <a:p>
            <a:pPr/>
            <a:r>
              <a:rPr sz="2400"/>
              <a:t>ICS：宇宙線の電子が星の光をはね上げたガンマ線</a:t>
            </a:r>
          </a:p>
          <a:p>
            <a:pPr/>
            <a:r>
              <a:rPr sz="2400"/>
              <a:t>空での形がハローとよく似ている（縮退）</a:t>
            </a:r>
          </a:p>
          <a:p>
            <a:pPr/>
            <a:r>
              <a:rPr sz="2400"/>
              <a:t>ハローを入れると、その分 ICS が暗くなる</a:t>
            </a:r>
          </a:p>
        </p:txBody>
      </p:sp>
      <p:pic>
        <p:nvPicPr>
          <p:cNvPr id="4" name="Picture 3" descr="fig_ics_v20r.png"/>
          <p:cNvPicPr>
            <a:picLocks noChangeAspect="1"/>
          </p:cNvPicPr>
          <p:nvPr/>
        </p:nvPicPr>
        <p:blipFill>
          <a:blip r:embed="rId3"/>
          <a:stretch>
            <a:fillRect/>
          </a:stretch>
        </p:blipFill>
        <p:spPr>
          <a:xfrm>
            <a:off x="5852160" y="1828800"/>
            <a:ext cx="5852160" cy="40965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分かったこと①：(b) は汚染ではない</a:t>
            </a:r>
          </a:p>
        </p:txBody>
      </p:sp>
      <p:sp>
        <p:nvSpPr>
          <p:cNvPr id="3" name="Content Placeholder 2"/>
          <p:cNvSpPr>
            <a:spLocks noGrp="1"/>
          </p:cNvSpPr>
          <p:nvPr>
            <p:ph idx="1"/>
          </p:nvPr>
        </p:nvSpPr>
        <p:spPr/>
        <p:txBody>
          <a:bodyPr/>
          <a:lstStyle/>
          <a:p>
            <a:pPr/>
            <a:r>
              <a:rPr sz="2800"/>
              <a:t>ハローを見分ける手がかりの 54% がバブル領域にある</a:t>
            </a:r>
          </a:p>
          <a:p>
            <a:pPr lvl="1"/>
            <a:r>
              <a:rPr sz="2200"/>
              <a:t>手がかりの量だけで予測すると 6.4σ（実測 5.0σ）</a:t>
            </a:r>
          </a:p>
          <a:p>
            <a:pPr/>
            <a:r>
              <a:rPr sz="2800"/>
              <a:t>同じ広さを横にずらして外すと 13〜16σ</a:t>
            </a:r>
          </a:p>
          <a:p>
            <a:pPr/>
            <a:r>
              <a:rPr sz="2800"/>
              <a:t>バブルの内と外で、ハローの明るさに意味のある差は無い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分かったこと②：ICS が犯人とは言いにくい</a:t>
            </a:r>
          </a:p>
        </p:txBody>
      </p:sp>
      <p:sp>
        <p:nvSpPr>
          <p:cNvPr id="3" name="Content Placeholder 2"/>
          <p:cNvSpPr>
            <a:spLocks noGrp="1"/>
          </p:cNvSpPr>
          <p:nvPr>
            <p:ph idx="1"/>
          </p:nvPr>
        </p:nvSpPr>
        <p:spPr/>
        <p:txBody>
          <a:bodyPr/>
          <a:lstStyle/>
          <a:p>
            <a:pPr/>
            <a:r>
              <a:rPr sz="2800"/>
              <a:t>ICS が犯人なら、銀河中心寄りで約 2.3 倍の「形のずれ」が必要</a:t>
            </a:r>
          </a:p>
          <a:p>
            <a:pPr/>
            <a:r>
              <a:rPr sz="2800"/>
              <a:t>ICS の計算の近似（等方近似）を直しても 1.1〜1.3 倍</a:t>
            </a:r>
          </a:p>
          <a:p>
            <a:pPr lvl="1"/>
            <a:r>
              <a:rPr sz="2200"/>
              <a:t>しかも外側のほうが明るくなる → 届かない</a:t>
            </a:r>
          </a:p>
          <a:p>
            <a:pPr/>
            <a:r>
              <a:rPr sz="2800"/>
              <a:t>ICS を 3 種類に分けて自由にしても、約 1σ しか下がらない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分かったこと③：(c) は記録の問題</a:t>
            </a:r>
          </a:p>
        </p:txBody>
      </p:sp>
      <p:sp>
        <p:nvSpPr>
          <p:cNvPr id="3" name="Content Placeholder 2"/>
          <p:cNvSpPr>
            <a:spLocks noGrp="1"/>
          </p:cNvSpPr>
          <p:nvPr>
            <p:ph idx="1"/>
          </p:nvPr>
        </p:nvSpPr>
        <p:spPr/>
        <p:txBody>
          <a:bodyPr/>
          <a:lstStyle/>
          <a:p>
            <a:pPr/>
            <a:r>
              <a:rPr sz="2800"/>
              <a:t>7/23 の計算の直後にコードを直していたため、</a:t>
            </a:r>
            <a:br/>
            <a:r>
              <a:rPr sz="2800"/>
              <a:t>当時の状態が残っていなかった</a:t>
            </a:r>
          </a:p>
          <a:p>
            <a:pPr/>
            <a:r>
              <a:rPr sz="2800"/>
              <a:t>今のコードは、何度計算しても同じ答え</a:t>
            </a:r>
          </a:p>
          <a:p>
            <a:pPr/>
            <a:r>
              <a:rPr sz="2800"/>
              <a:t>→ 主結果を 19.0σ（10/1 再計算、記録付き）に統一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ここまでのまとめ</a:t>
            </a:r>
          </a:p>
        </p:txBody>
      </p:sp>
      <p:sp>
        <p:nvSpPr>
          <p:cNvPr id="3" name="Content Placeholder 2"/>
          <p:cNvSpPr>
            <a:spLocks noGrp="1"/>
          </p:cNvSpPr>
          <p:nvPr>
            <p:ph idx="1"/>
          </p:nvPr>
        </p:nvSpPr>
        <p:spPr/>
        <p:txBody>
          <a:bodyPr/>
          <a:lstStyle/>
          <a:p>
            <a:pPr/>
            <a:r>
              <a:rPr sz="2800"/>
              <a:t>Totani の 20 GeV 超過は再現できた（19.0σ）</a:t>
            </a:r>
          </a:p>
          <a:p>
            <a:pPr/>
            <a:r>
              <a:rPr sz="2800"/>
              <a:t>「背景（ICS・バブル）の間違いでは説明できない」が増えた</a:t>
            </a:r>
          </a:p>
          <a:p>
            <a:pPr lvl="1"/>
            <a:r>
              <a:rPr sz="2200"/>
              <a:t>バブルの汚染・計算の近似・ICS の形、の 3 つを否定</a:t>
            </a:r>
          </a:p>
          <a:p>
            <a:pPr/>
            <a:r>
              <a:rPr sz="2800"/>
              <a:t>ただし σ は過大評価で、暗黒物質の証拠とまでは言えない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矮小銀河への適用（7 月に実施済み）</a:t>
            </a:r>
          </a:p>
        </p:txBody>
      </p:sp>
      <p:sp>
        <p:nvSpPr>
          <p:cNvPr id="3" name="Content Placeholder 2"/>
          <p:cNvSpPr>
            <a:spLocks noGrp="1"/>
          </p:cNvSpPr>
          <p:nvPr>
            <p:ph idx="1"/>
          </p:nvPr>
        </p:nvSpPr>
        <p:spPr/>
        <p:txBody>
          <a:bodyPr/>
          <a:lstStyle/>
          <a:p>
            <a:pPr/>
            <a:r>
              <a:rPr sz="2600"/>
              <a:t>暗黒物質なら、矮小銀河からも同じ光が来るはず</a:t>
            </a:r>
          </a:p>
          <a:p>
            <a:pPr/>
            <a:r>
              <a:rPr sz="2600"/>
              <a:t>同じ手法を各天体のまわり半径 10° に</a:t>
            </a:r>
          </a:p>
          <a:p>
            <a:pPr/>
            <a:r>
              <a:rPr sz="2600"/>
              <a:t>対象：矮小銀河 54 ＋ M31・M33 ＋ 何も無い対照領域 23</a:t>
            </a:r>
          </a:p>
          <a:p>
            <a:pPr/>
            <a:r>
              <a:rPr sz="2600"/>
              <a:t>天の川のような縮退は起きない</a:t>
            </a:r>
          </a:p>
          <a:p>
            <a:pPr lvl="1"/>
            <a:r>
              <a:rPr sz="2000"/>
              <a:t>矮小銀河は点に近く、ICS は広がった平らな光</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結果：どこにも信号は見えなかった</a:t>
            </a:r>
          </a:p>
        </p:txBody>
      </p:sp>
      <p:pic>
        <p:nvPicPr>
          <p:cNvPr id="3" name="Picture 2" descr="ensemble_significance.png"/>
          <p:cNvPicPr>
            <a:picLocks noChangeAspect="1"/>
          </p:cNvPicPr>
          <p:nvPr/>
        </p:nvPicPr>
        <p:blipFill>
          <a:blip r:embed="rId2"/>
          <a:stretch>
            <a:fillRect/>
          </a:stretch>
        </p:blipFill>
        <p:spPr>
          <a:xfrm>
            <a:off x="365760" y="1554480"/>
            <a:ext cx="11430000" cy="3810000"/>
          </a:xfrm>
          <a:prstGeom prst="rect">
            <a:avLst/>
          </a:prstGeom>
        </p:spPr>
      </p:pic>
      <p:sp>
        <p:nvSpPr>
          <p:cNvPr id="4" name="TextBox 3"/>
          <p:cNvSpPr txBox="1"/>
          <p:nvPr/>
        </p:nvSpPr>
        <p:spPr>
          <a:xfrm>
            <a:off x="548640" y="5806440"/>
            <a:ext cx="11064240" cy="822960"/>
          </a:xfrm>
          <a:prstGeom prst="rect">
            <a:avLst/>
          </a:prstGeom>
          <a:noFill/>
        </p:spPr>
        <p:txBody>
          <a:bodyPr wrap="square">
            <a:spAutoFit/>
          </a:bodyPr>
          <a:lstStyle/>
          <a:p>
            <a:r>
              <a:rPr sz="2200"/>
              <a:t>77 天体 × 13 ビンの有意度のうち最大 +3.46σ。何も無い対照領域でも最大 +4.50σ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論文：Bertólez-Martínez ら (2026)</a:t>
            </a:r>
          </a:p>
        </p:txBody>
      </p:sp>
      <p:sp>
        <p:nvSpPr>
          <p:cNvPr id="3" name="Content Placeholder 2"/>
          <p:cNvSpPr>
            <a:spLocks noGrp="1"/>
          </p:cNvSpPr>
          <p:nvPr>
            <p:ph idx="1"/>
          </p:nvPr>
        </p:nvSpPr>
        <p:spPr/>
        <p:txBody>
          <a:bodyPr/>
          <a:lstStyle/>
          <a:p>
            <a:pPr/>
            <a:r>
              <a:rPr sz="2400"/>
              <a:t>矮小銀河の J ファクター（暗黒物質の量の指標）の</a:t>
            </a:r>
            <a:br/>
            <a:r>
              <a:rPr sz="2400"/>
              <a:t>誤差は小さく見積もられている</a:t>
            </a:r>
          </a:p>
          <a:p>
            <a:pPr/>
            <a:r>
              <a:rPr sz="2400"/>
              <a:t>見落とされがちな原因の例</a:t>
            </a:r>
          </a:p>
          <a:p>
            <a:pPr lvl="1"/>
            <a:r>
              <a:rPr sz="1800"/>
              <a:t>点として扱う・ハローや星の分布の形の仮定・球対称からのずれ</a:t>
            </a:r>
          </a:p>
          <a:p>
            <a:pPr lvl="1"/>
            <a:r>
              <a:rPr sz="1800"/>
              <a:t>力学的な釣り合いからのずれ・連星・手前の星の混入</a:t>
            </a:r>
          </a:p>
          <a:p>
            <a:pPr/>
            <a:r>
              <a:rPr sz="2400"/>
              <a:t>文献ごとの J のばらつきから、約 3 倍（Δlog₁₀J ≈ 0.5）は見込むべき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論文：何をしたか</a:t>
            </a:r>
          </a:p>
        </p:txBody>
      </p:sp>
      <p:sp>
        <p:nvSpPr>
          <p:cNvPr id="3" name="Content Placeholder 2"/>
          <p:cNvSpPr>
            <a:spLocks noGrp="1"/>
          </p:cNvSpPr>
          <p:nvPr>
            <p:ph idx="1"/>
          </p:nvPr>
        </p:nvSpPr>
        <p:spPr/>
        <p:txBody>
          <a:bodyPr/>
          <a:lstStyle/>
          <a:p>
            <a:pPr/>
            <a:r>
              <a:rPr sz="2800"/>
              <a:t>暗黒物質の信号を入れた疑似データを何度も作る</a:t>
            </a:r>
          </a:p>
          <a:p>
            <a:pPr lvl="1"/>
            <a:r>
              <a:rPr sz="2200"/>
              <a:t>Fermi-LAT 17.4 年分、銀河中心超過と同じ 42 GeV の WIMP</a:t>
            </a:r>
          </a:p>
          <a:p>
            <a:pPr/>
            <a:r>
              <a:rPr sz="2800"/>
              <a:t>J の誤差を 2 つに分けて動かす</a:t>
            </a:r>
          </a:p>
          <a:p>
            <a:pPr lvl="1"/>
            <a:r>
              <a:rPr sz="2200"/>
              <a:t>σ：J の本当のばらつき　σ_L：解析で仮定する幅</a:t>
            </a:r>
          </a:p>
          <a:p>
            <a:pPr/>
            <a:r>
              <a:rPr sz="2800"/>
              <a:t>対象：Ursa Minor 1 個、27 個をまとめた解析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論文：分かったこと</a:t>
            </a:r>
          </a:p>
        </p:txBody>
      </p:sp>
      <p:sp>
        <p:nvSpPr>
          <p:cNvPr id="3" name="Content Placeholder 2"/>
          <p:cNvSpPr>
            <a:spLocks noGrp="1"/>
          </p:cNvSpPr>
          <p:nvPr>
            <p:ph idx="1"/>
          </p:nvPr>
        </p:nvSpPr>
        <p:spPr/>
        <p:txBody>
          <a:bodyPr/>
          <a:lstStyle/>
          <a:p>
            <a:pPr/>
            <a:r>
              <a:rPr sz="2400"/>
              <a:t>Ursa Minor：J の誤差を小さく見積もると、</a:t>
            </a:r>
            <a:br/>
            <a:r>
              <a:rPr sz="2400"/>
              <a:t>本物を誤って除外する割合が 1.7% → 8% → 22%</a:t>
            </a:r>
          </a:p>
          <a:p>
            <a:pPr/>
            <a:r>
              <a:rPr sz="2400"/>
              <a:t>27 個まとめると、ふつうの設定でも 21%</a:t>
            </a:r>
          </a:p>
          <a:p>
            <a:pPr lvl="1"/>
            <a:r>
              <a:rPr sz="1800"/>
              <a:t>誤差を小さく見積もると 31% → 49% → 88%</a:t>
            </a:r>
          </a:p>
          <a:p>
            <a:pPr/>
            <a:r>
              <a:rPr sz="2400"/>
              <a:t>ハローを点として扱うと、上限が 1.4 倍きつく出すぎる</a:t>
            </a:r>
          </a:p>
          <a:p>
            <a:pPr/>
            <a:r>
              <a:rPr sz="2400"/>
              <a:t>→ 銀河中心と矮小銀河の「矛盾」は誇張されうる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論文の誤差を、僕の結果に当てはめる</a:t>
            </a:r>
          </a:p>
        </p:txBody>
      </p:sp>
      <p:sp>
        <p:nvSpPr>
          <p:cNvPr id="3" name="Content Placeholder 2"/>
          <p:cNvSpPr>
            <a:spLocks noGrp="1"/>
          </p:cNvSpPr>
          <p:nvPr>
            <p:ph idx="1"/>
          </p:nvPr>
        </p:nvSpPr>
        <p:spPr/>
        <p:txBody>
          <a:bodyPr/>
          <a:lstStyle/>
          <a:p>
            <a:pPr/>
            <a:r>
              <a:rPr sz="2600"/>
              <a:t>これまで：矮小銀河の J の誤差をゼロとして扱っていた</a:t>
            </a:r>
          </a:p>
          <a:p>
            <a:pPr/>
            <a:r>
              <a:rPr sz="2600"/>
              <a:t>各天体の J を「約 3 倍の範囲」でランダムにずらし、</a:t>
            </a:r>
            <a:br/>
            <a:r>
              <a:rPr sz="2600"/>
              <a:t>暗黒物質なら何σ見えたはずかを 20 万回計算</a:t>
            </a:r>
          </a:p>
          <a:p>
            <a:pPr/>
            <a:r>
              <a:rPr sz="2600"/>
              <a:t>ついでに見つけた誤り：使えない天体 2 つ（SMC・LMC）が</a:t>
            </a:r>
            <a:br/>
            <a:r>
              <a:rPr sz="2600"/>
              <a:t>予測に混ざっていた → 除いて 43 天体で計算</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結果：「判定できない」がはっきりした</a:t>
            </a:r>
          </a:p>
        </p:txBody>
      </p:sp>
      <p:pic>
        <p:nvPicPr>
          <p:cNvPr id="3" name="Picture 2" descr="fig_J.png"/>
          <p:cNvPicPr>
            <a:picLocks noChangeAspect="1"/>
          </p:cNvPicPr>
          <p:nvPr/>
        </p:nvPicPr>
        <p:blipFill>
          <a:blip r:embed="rId2"/>
          <a:stretch>
            <a:fillRect/>
          </a:stretch>
        </p:blipFill>
        <p:spPr>
          <a:xfrm>
            <a:off x="1828800" y="1371600"/>
            <a:ext cx="6847367" cy="4206240"/>
          </a:xfrm>
          <a:prstGeom prst="rect">
            <a:avLst/>
          </a:prstGeom>
        </p:spPr>
      </p:pic>
      <p:sp>
        <p:nvSpPr>
          <p:cNvPr id="4" name="TextBox 3"/>
          <p:cNvSpPr txBox="1"/>
          <p:nvPr/>
        </p:nvSpPr>
        <p:spPr>
          <a:xfrm>
            <a:off x="548640" y="5806440"/>
            <a:ext cx="11064240" cy="822960"/>
          </a:xfrm>
          <a:prstGeom prst="rect">
            <a:avLst/>
          </a:prstGeom>
          <a:noFill/>
        </p:spPr>
        <p:txBody>
          <a:bodyPr wrap="square">
            <a:spAutoFit/>
          </a:bodyPr>
          <a:lstStyle/>
          <a:p>
            <a:r>
              <a:rPr sz="2200"/>
              <a:t>期待 1.7σ → 1.3〜5.0σ（J の誤差あり）　実測 0.4σ　ずれ約 1.2σ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まとめと今後</a:t>
            </a:r>
          </a:p>
        </p:txBody>
      </p:sp>
      <p:sp>
        <p:nvSpPr>
          <p:cNvPr id="3" name="Content Placeholder 2"/>
          <p:cNvSpPr>
            <a:spLocks noGrp="1"/>
          </p:cNvSpPr>
          <p:nvPr>
            <p:ph idx="1"/>
          </p:nvPr>
        </p:nvSpPr>
        <p:spPr/>
        <p:txBody>
          <a:bodyPr/>
          <a:lstStyle/>
          <a:p>
            <a:pPr/>
            <a:r>
              <a:rPr sz="2600"/>
              <a:t>Totani の超過は再現できた（19.0σ、ただし過大評価）</a:t>
            </a:r>
          </a:p>
          <a:p>
            <a:pPr/>
            <a:r>
              <a:rPr sz="2600"/>
              <a:t>背景（ICS・バブル）の間違いでは説明できない、が増えた</a:t>
            </a:r>
          </a:p>
          <a:p>
            <a:pPr lvl="1"/>
            <a:r>
              <a:rPr sz="2000"/>
              <a:t>暗黒物質の証拠ではない</a:t>
            </a:r>
          </a:p>
          <a:p>
            <a:pPr/>
            <a:r>
              <a:rPr sz="2600"/>
              <a:t>矮小銀河では判定できない（J の誤差を入れるとさらに）</a:t>
            </a:r>
          </a:p>
          <a:p>
            <a:pPr/>
            <a:r>
              <a:rPr sz="2600"/>
              <a:t>今後：光の「色」（エネルギーごとの明るさ）で ICS と見分ける</a:t>
            </a:r>
          </a:p>
          <a:p>
            <a:pPr/>
            <a:r>
              <a:rPr sz="2600"/>
              <a:t>卒論：12 月に執筆、1 月に発表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65</Words>
  <Application>Microsoft Office PowerPoint</Application>
  <PresentationFormat>Widescreen</PresentationFormat>
  <Paragraphs>4</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詳細なmethodについて</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1</cp:revision>
  <dcterms:created xsi:type="dcterms:W3CDTF">2026-10-01T06:55:31Z</dcterms:created>
  <dcterms:modified xsi:type="dcterms:W3CDTF">2026-10-01T06:57:06Z</dcterms:modified>
</cp:coreProperties>
</file>